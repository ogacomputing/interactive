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cap &amp; Recall" id="{09fd49c7-761b-17f7-188f-347a72a9ef38}">
          <p14:sldIdLst>
            <p14:sldId id="256"/>
            <p14:sldId id="257"/>
          </p14:sldIdLst>
        </p14:section>
        <p14:section name="Title" id="{b78d03af-18f6-b465-6096-3768205745a2}">
          <p14:sldIdLst>
            <p14:sldId id="258"/>
            <p14:sldId id="259"/>
          </p14:sldIdLst>
        </p14:section>
        <p14:section name="Iteration" id="{fe769597-9400-2148-7a92-ef3f9f9dd743}">
          <p14:sldIdLst>
            <p14:sldId id="260"/>
            <p14:sldId id="261"/>
            <p14:sldId id="262"/>
            <p14:sldId id="263"/>
            <p14:sldId id="264"/>
          </p14:sldIdLst>
        </p14:section>
        <p14:section name="Round 1 — counting" id="{3ead5979-8091-eee3-aa46-108707ddb8bb}">
          <p14:sldIdLst>
            <p14:sldId id="265"/>
            <p14:sldId id="266"/>
            <p14:sldId id="267"/>
            <p14:sldId id="268"/>
            <p14:sldId id="269"/>
          </p14:sldIdLst>
        </p14:section>
        <p14:section name="Round 2 — input()" id="{c0c3aa6f-bc06-1dbd-bdd5-3216f780c9cf}">
          <p14:sldIdLst>
            <p14:sldId id="270"/>
            <p14:sldId id="271"/>
          </p14:sldIdLst>
        </p14:section>
        <p14:section name="Numbers into text" id="{fcc87a2c-cc0c-e155-3162-7053a7da9f07}">
          <p14:sldIdLst>
            <p14:sldId id="272"/>
          </p14:sldIdLst>
        </p14:section>
        <p14:section name="Locked In" id="{3dea5715-2065-8d76-ad8f-3c791b10f17c}">
          <p14:sldIdLst>
            <p14:sldId id="273"/>
            <p14:sldId id="274"/>
          </p14:sldIdLst>
        </p14:section>
        <p14:section name="Plenary" id="{da50c2aa-68bf-376d-427b-1a75208fa26f}">
          <p14:sldIdLst>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5 minutes, silent, no notes. Mini-whiteboards or books.
All four are from last lesson, Proximity: conditions, if / elif / else, == and int().
Q1–2 are multiple choice (everyone commits to an answer). Q3–4 need a written answer.
Confidence rating 1–3 next to each answer — confident-but-wrong is the one most worth correcting.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self-mark. Hands up for "confident and wrong" on each.
Q1: &gt;= means "more than OR equal to", so 30 &gt;= 30 is True. 30 &gt; 30 is False: the boundary again.
Q2: else: has no condition: it runs when none of the conditions above it were True. elif means "else if": it has its own condition, checked only if everything above it was False.
Q3: one = STORES, two == ASK. An if needs a question, so ==. The one-= version is a SyntaxError.
Q4: int() turned the text "14" into the number 14, so + ADDS: 15. Keep this in your head: today we'll need to go the other way, a number back into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story out loud — don't put it on screen:
"Last lesson you got the proximity sensors working, and for one frame they caught a figure in Hale's overalls, moving wrong. Then every airlock light turned red: WARDEN locked the airlock and changed the code. Navigation is on the other side — and Navigation is the only way to call the rescue ship."
Today we rewrite the airlock keypad. A keypad has to keep asking until the code is right — that's a loop.
In Slide Show this slide fades in through black and the red alarm creeps in: let it finish before you speak.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question = the whole unit. Last lesson was "make decisions"; today is "repeat".
Lesson question = today. This is new for everyone: loops weren't in Year 8.
We come back to this question in the plenary.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lesson: an if checks its condition ONCE. True → the block runs once, then the program moves on.
Click: a while loop. Same diamond, same True or False. But after the body runs, the program goes BACK TO THE TOP and checks again. It keeps going round while the condition is True. Only when it's False does the program carry on.
"A while is an if that keeps checking."
Ask: "Where would an airlock keypad need this?" (Keep asking for the code until it's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is new this year (Year 8 only had == &lt; &gt; &lt;= &gt;=). Read it as "is not equal to". Like ==, it's two characters, typed with no space.
Before each click, ask the class "True or False?" and get a show of hands.
Click 1: "1234" != "4271" → True: they ARE different.
Click 2: "4271" != "4271" → False: they're the same, so "not equal" is False.
The double negative trips people up: say it as a question. "Are these different?"
They're in quotes because input() gives text — the codes are text, not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2 minutes. Boards up on 3-2-1.
Number 2 (5 != 5) and number 5 ("y" != "y") are the ones to watch: the same value on both sides makes != False.
Number 3 (3 &lt; 3) is retrieval from last lesson's boundary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any the class split on.
5 != 5: are they different? No → False. "y" != "y": same text → False.
In today's loop, the condition is code != "4271": it stays True for every wrong code, and turns False the moment the right one is typed.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clicks: one label per line, then the warning. These four steps are the recipe on the wall and in the activity.
① The variable needs a value BEFORE the loop, or line 2 has nothing to check (NameError).
② while, the condition, a colon. Same shape as an if.
③ The indented lines are the BODY. They run while the condition is True — then Python goes back up to line 2.
④ Something inside must change code, or the condition can never become False.
Line 5 isn't indented: it runs once, when the loop ends.
Ask: "What happens if I delete line 4?" (Infinite loop — they'll do exactly this in Investigate's Break it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aloud in 20 seconds, then into the first trace. The story so far, for anyone who missed Lesson 2.
It leaves out Lesson 2's choices (which pod, the lockdown, the power): they differ from student to student, and the activity's own "Previously…" recap covers them.
Link it: the keypad has to keep asking until the code is right — but first, a loop that just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model it out loud, students just watch. The same four steps every time (the strip at the bottom).
Each ROW is one time Python checks the condition on line 2.
Click 1 — "fuel is 0. Is 0 &lt; 3? True. Run the body: fuel becomes 1, print Pump. Back to the top."
Click 2 — "fuel is 1. 1 &lt; 3? True. fuel becomes 2, Pump." Click 3 — "2 &lt; 3, True. fuel becomes 3, Pump."
Click 4 — "fuel is 3. 3 &lt; 3? FALSE. Carry on after the loop: Full."
Read the Printed column down: that's the output. Point out: 3 Pumps, and Full only once, because line 5 isn't indented.
This counting shape is next lesson's for loop in disguise.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students answer each row on boards BEFORE you click.
For each row ask: "What's in oxygen? True or False? What's printed?" Boards up → click.
Row 1: 10 &gt; 7 True → oxygen becomes 9, print 9 (it prints AFTER the subtraction, so 9, not 10).
Row 4: 7 &gt; 7 is False (boundary again: 7 is not MORE than 7) → Refill.
Common mistakes: printing 10 first (line 3 runs before line 4), or printing 6 (forgetting the check is at the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 silent, on your own, 4 minutes. Boards up together at the end.
Stuck? Draw a trace table like the last two slides: one row per check.
Number 2 is the trap: the condition is checked BEFORE the loop runs even once. Number 3: look at the spaces in front of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boards. Most common mistakes:
1: "1 2 3 4" — after 3 prints, n becomes 4, and 4 &lt;= 3 is False, so it stops.
2: "5, End" — 5 &lt; 5 is False straight away, so the body NEVER runs. A while can run zero times.
3: "2 4 6" — print(n) isn't indented, so it's not in the loop: it runs once, after the loop, when n is 6.
If most of the class got 2 or 3 wrong, trace one more together before Round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the airlock keypad, the same program as today's activity. Now the variable changes because the USER types something new each time round.
Click 1 — "Line 1 asks: 1234. Is "1234" != "4271"? Yes, True. ACCESS DENIED, then line 4 asks again: 0000."
Click 2 — "0000 != 4271? True. ACCESS DENIED, ask again: 4271."
Click 3 — "4271 != 4271? False. The loop ends: Airlock open."
Read the Printed column down: two denials for two wrong codes. We don't know in advance how many times it will loop — that's what a while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boards before each click: "What's in answer? True or False? What's printed?"
Then: "How many times did the program ASK?" (3: once on line 1, twice on line 4.) The activity's Predict asks exactly this.
Follow-up: "What if they typed 42 first?" (Correct! only — the body never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lesson int() turned text INTO a number. Today we need the opposite.
6 clicks: each line, then what's on screen, then what's in memory.
Line 1: "Tries: " is text, attempts is a number. + can join two texts, or add two numbers, but not one of each: TypeError. (The full message is "can only concatenate str (not "int") to str".)
Line 2: str(attempts) makes the TEXT "3" just for this line, so + joins it. Memory is the same both times: attempts is still the number 3.
In today's activity, Modification 2 counts the tries at the keypad and prints them exactly like this (the code is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open "Locked In — While Loops" from Google Classroom (Y9 › Python › Lesson 3).
Predict (5 questions on the keypad loop; the worked example appears after question 1) → Run (twice: 4271 first time, then 3+ wrong codes first) → Investigate (4 steps: while → if, indent Airlock open into the loop, != → ==, then Break it: the line that asks again is deleted → an infinite loop) → Modify (4 steps: the airlock code choice, count the tries with str(), number each ACCESS DENIED, a pressure loop) → Make (the backup lock: a guessing game, plus the seals choice).
The three calls: Investigate step 1 opens with the CRISIS — the airlock and the Cryo Bay heaters share one power line. Keep the heaters on, and the airlock cycles slowly while something comes down the corridor (the student is "hunted"); fast-cycle it, and the Cryo Bay freezes. There's no right answer: let them argue.
Modify 1: WARDEN's code (9013) or an engineer override (0000) — Hale's log said not to trust WARDEN. Make: who holds the seals. On both paths the report shows WARDEN doing the right thing; that's deliberate, and pays off in Lesson 5. Don't tell them.
Break it: the loop never ends, so ACCESS DENIED floods the output until the editor stops it after 4 seconds (InfiniteLoopError). Tell them that's expected — it's the "emergency override".
Circulate. During Investigate, point students back to the debugging recipe before they press Get help.
Fast finishers: the Make extension (Too high / Too low hints: an if INSIDE the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feedback after the activity — this was the Break it step in Investigate.
Ask: "What's in code?" (the text "1234") "Is "1234" != "4271"?" (True) "What changes code inside the loop?" (nothing — so it's True for ever).
Our editor stops a loop after 4 seconds. Real Python doesn't: the program just hangs. In IDLE or a terminal, Ctrl+C stops it.
The fix is the missing line, INDENTED, inside the loop: code = input("Code: "). Put it after the loop and it never runs while the loop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task on whiteboards or a sticky note.
1. password = input("Password? ") / while password != "open": / (indented) password = input("Password? "). Check for all four recipe steps — especially ① asking BEFORE the loop and ④ asking again INSIDE it.
2. Nothing inside the loop changes fuel, so fuel &lt; 100 stays True for ever. Fix: put fuel = fuel + 10 (or ask for the fuel again) inside the loop, indented.
Close the story: "You're through the airlock. Behind you, something hits the outer door. Then the intercom crackles, and it's Hale's voice: 'Let me in. It's me.' But the voiceprint says NO MATCH. Ahead of you, Navigation is dark — and the rescue ship can't find you."
Quick hands-up: "Who handed the seals to WARDEN? Who kept them?" Don't say which was better — Lesson 5 answers that.
In Slide Show this slide fades in through black and the static creeps in by itself: Chapter 4's state, which Lesson 4's deck opens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Z_DARK">
    <p:bg>
      <p:bgPr>
        <a:solidFill>
          <a:srgbClr val="1E1E24"/>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200" spc="200" kern="0" dirty="0">
                <a:solidFill>
                  <a:srgbClr val="6E6E7A"/>
                </a:solidFill>
                <a:latin typeface="Calibri" pitchFamily="34" charset="0"/>
                <a:ea typeface="Calibri" pitchFamily="34" charset="-122"/>
                <a:cs typeface="Calibri" pitchFamily="34" charset="-120"/>
              </a:rPr>
              <a:t>STATION ZERO  ·  Y9 PYTHON  ·  LESSON 3</a:t>
            </a:r>
            <a:endParaRPr lang="en-US" sz="1200" dirty="0"/>
          </a:p>
        </p:txBody>
      </p:sp>
      <p:sp>
        <p:nvSpPr>
          <p:cNvPr id="3" name="Text 1"/>
          <p:cNvSpPr/>
          <p:nvPr>
            <p:ph idx="101" type="title" hasCustomPrompt="1"/>
          </p:nvPr>
        </p:nvSpPr>
        <p:spPr>
          <a:xfrm>
            <a:off x="548640" y="411480"/>
            <a:ext cx="9418320" cy="777240"/>
          </a:xfrm>
          <a:prstGeom prst="rect">
            <a:avLst/>
          </a:prstGeom>
          <a:noFill/>
          <a:ln/>
        </p:spPr>
        <p:txBody>
          <a:bodyPr wrap="square" rtlCol="0"/>
          <a:lstStyle>
            <a:lvl1pPr algn="l" indent="0" marL="0">
              <a:buNone/>
              <a:defRPr lang="en-US" sz="3600" b="1" dirty="0">
                <a:solidFill>
                  <a:srgbClr val="F5F5F3"/>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Z_LIGHT">
    <p:bg>
      <p:bgPr>
        <a:solidFill>
          <a:srgbClr val="F5F5F3"/>
        </a:solidFill>
      </p:bgPr>
    </p:bg>
    <p:spTree>
      <p:nvGrpSpPr>
        <p:cNvPr id="1" name=""/>
        <p:cNvGrpSpPr/>
        <p:nvPr/>
      </p:nvGrpSpPr>
      <p:grpSpPr>
        <a:xfrm>
          <a:off x="0" y="0"/>
          <a:ext cx="0" cy="0"/>
          <a:chOff x="0" y="0"/>
          <a:chExt cx="0" cy="0"/>
        </a:xfrm>
      </p:grpSpPr>
      <p:sp>
        <p:nvSpPr>
          <p:cNvPr id="2" name="Text 0"/>
          <p:cNvSpPr/>
          <p:nvPr/>
        </p:nvSpPr>
        <p:spPr>
          <a:xfrm>
            <a:off x="548640" y="6382512"/>
            <a:ext cx="5486400" cy="274320"/>
          </a:xfrm>
          <a:prstGeom prst="rect">
            <a:avLst/>
          </a:prstGeom>
          <a:noFill/>
          <a:ln/>
        </p:spPr>
        <p:txBody>
          <a:bodyPr wrap="square" lIns="0" tIns="0" rIns="0" bIns="0" rtlCol="0" anchor="ctr"/>
          <a:lstStyle/>
          <a:p>
            <a:pPr indent="0" marL="0">
              <a:buNone/>
            </a:pPr>
            <a:r>
              <a:rPr lang="en-US" sz="1200" spc="200" kern="0" dirty="0">
                <a:solidFill>
                  <a:srgbClr val="8A8A93"/>
                </a:solidFill>
                <a:latin typeface="Calibri" pitchFamily="34" charset="0"/>
                <a:ea typeface="Calibri" pitchFamily="34" charset="-122"/>
                <a:cs typeface="Calibri" pitchFamily="34" charset="-120"/>
              </a:rPr>
              <a:t>STATION ZERO  ·  Y9 PYTHON  ·  LESSON 3</a:t>
            </a:r>
            <a:endParaRPr lang="en-US" sz="1200" dirty="0"/>
          </a:p>
        </p:txBody>
      </p:sp>
      <p:sp>
        <p:nvSpPr>
          <p:cNvPr id="3" name="Text 1"/>
          <p:cNvSpPr/>
          <p:nvPr>
            <p:ph idx="101" type="title" hasCustomPrompt="1"/>
          </p:nvPr>
        </p:nvSpPr>
        <p:spPr>
          <a:xfrm>
            <a:off x="548640" y="411480"/>
            <a:ext cx="9418320" cy="777240"/>
          </a:xfrm>
          <a:prstGeom prst="rect">
            <a:avLst/>
          </a:prstGeom>
          <a:noFill/>
          <a:ln/>
        </p:spPr>
        <p:txBody>
          <a:bodyPr wrap="square" rtlCol="0"/>
          <a:lstStyle>
            <a:lvl1pPr algn="l" indent="0" marL="0">
              <a:buNone/>
              <a:defRPr lang="en-US" sz="3600" b="1" dirty="0">
                <a:solidFill>
                  <a:srgbClr val="1E1E24"/>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A9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Z_COVER">
    <p:bg>
      <p:bgPr>
        <a:solidFill>
          <a:srgbClr val="141418"/>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2.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2.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2.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8A8A93"/>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1E1E24"/>
                </a:solidFill>
                <a:latin typeface="Cambria" pitchFamily="34" charset="0"/>
                <a:ea typeface="Cambria" pitchFamily="34" charset="-122"/>
                <a:cs typeface="Cambria" pitchFamily="34" charset="-120"/>
              </a:rPr>
              <a:t>Recap &amp; Recall</a:t>
            </a:r>
            <a:endParaRPr lang="en-US" sz="3600" dirty="0"/>
          </a:p>
        </p:txBody>
      </p:sp>
      <p:sp>
        <p:nvSpPr>
          <p:cNvPr id="6" name="Text 2"/>
          <p:cNvSpPr txBox="1"/>
          <p:nvPr/>
        </p:nvSpPr>
        <p:spPr>
          <a:xfrm>
            <a:off x="548640" y="1170432"/>
            <a:ext cx="10241280" cy="365760"/>
          </a:xfrm>
          <a:prstGeom prst="rect">
            <a:avLst/>
          </a:prstGeom>
          <a:noFill/>
          <a:ln/>
        </p:spPr>
        <p:txBody>
          <a:bodyPr wrap="square" lIns="0" tIns="0" rIns="0" bIns="0" rtlCol="0" anchor="ctr"/>
          <a:lstStyle/>
          <a:p>
            <a:pPr indent="0" marL="0">
              <a:buNone/>
            </a:pPr>
            <a:r>
              <a:rPr lang="en-US" sz="1800" dirty="0">
                <a:solidFill>
                  <a:srgbClr val="55555F"/>
                </a:solidFill>
                <a:latin typeface="Calibri" pitchFamily="34" charset="0"/>
                <a:ea typeface="Calibri" pitchFamily="34" charset="-122"/>
                <a:cs typeface="Calibri" pitchFamily="34" charset="-120"/>
              </a:rPr>
              <a:t>No notes. Answer every question — a guess beats a blank. Then rate your confidence: 1, 2 or 3.</a:t>
            </a:r>
            <a:endParaRPr lang="en-US" sz="1800" dirty="0"/>
          </a:p>
        </p:txBody>
      </p:sp>
      <p:sp>
        <p:nvSpPr>
          <p:cNvPr id="7" name="q1"/>
          <p:cNvSpPr/>
          <p:nvPr/>
        </p:nvSpPr>
        <p:spPr>
          <a:xfrm>
            <a:off x="548640" y="1600200"/>
            <a:ext cx="5413248" cy="2286000"/>
          </a:xfrm>
          <a:prstGeom prst="roundRect">
            <a:avLst>
              <a:gd name="adj" fmla="val 3200"/>
            </a:avLst>
          </a:prstGeom>
          <a:solidFill>
            <a:srgbClr val="FFFFFF"/>
          </a:solidFill>
          <a:ln w="15875">
            <a:solidFill>
              <a:srgbClr val="D6D5D0"/>
            </a:solidFill>
            <a:prstDash val="solid"/>
          </a:ln>
        </p:spPr>
      </p:sp>
      <p:sp>
        <p:nvSpPr>
          <p:cNvPr id="8" name="Shape 4"/>
          <p:cNvSpPr/>
          <p:nvPr/>
        </p:nvSpPr>
        <p:spPr>
          <a:xfrm>
            <a:off x="777240" y="1801368"/>
            <a:ext cx="384048" cy="384048"/>
          </a:xfrm>
          <a:prstGeom prst="ellipse">
            <a:avLst/>
          </a:prstGeom>
          <a:solidFill>
            <a:srgbClr val="1E1E24"/>
          </a:solidFill>
          <a:ln/>
        </p:spPr>
      </p:sp>
      <p:sp>
        <p:nvSpPr>
          <p:cNvPr id="9" name="Text 5"/>
          <p:cNvSpPr txBox="1"/>
          <p:nvPr/>
        </p:nvSpPr>
        <p:spPr>
          <a:xfrm>
            <a:off x="777240" y="180136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1</a:t>
            </a:r>
            <a:endParaRPr lang="en-US" sz="1600" dirty="0"/>
          </a:p>
        </p:txBody>
      </p:sp>
      <p:sp>
        <p:nvSpPr>
          <p:cNvPr id="10" name="Shape 6"/>
          <p:cNvSpPr/>
          <p:nvPr/>
        </p:nvSpPr>
        <p:spPr>
          <a:xfrm>
            <a:off x="1280160" y="1828800"/>
            <a:ext cx="1600200" cy="310896"/>
          </a:xfrm>
          <a:prstGeom prst="roundRect">
            <a:avLst>
              <a:gd name="adj" fmla="val 52941"/>
            </a:avLst>
          </a:prstGeom>
          <a:solidFill>
            <a:srgbClr val="EDE6D3"/>
          </a:solidFill>
          <a:ln/>
        </p:spPr>
      </p:sp>
      <p:sp>
        <p:nvSpPr>
          <p:cNvPr id="11" name="Text 7"/>
          <p:cNvSpPr txBox="1"/>
          <p:nvPr/>
        </p:nvSpPr>
        <p:spPr>
          <a:xfrm>
            <a:off x="1280160"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LAST LESSON</a:t>
            </a:r>
            <a:endParaRPr lang="en-US" sz="1200" dirty="0"/>
          </a:p>
        </p:txBody>
      </p:sp>
      <p:sp>
        <p:nvSpPr>
          <p:cNvPr id="12" name="Shape 8"/>
          <p:cNvSpPr/>
          <p:nvPr/>
        </p:nvSpPr>
        <p:spPr>
          <a:xfrm>
            <a:off x="2971800" y="1828800"/>
            <a:ext cx="1783080" cy="310896"/>
          </a:xfrm>
          <a:prstGeom prst="roundRect">
            <a:avLst>
              <a:gd name="adj" fmla="val 52941"/>
            </a:avLst>
          </a:prstGeom>
          <a:solidFill>
            <a:srgbClr val="F5F5F3"/>
          </a:solidFill>
          <a:ln w="15875">
            <a:solidFill>
              <a:srgbClr val="D6D5D0"/>
            </a:solidFill>
            <a:prstDash val="solid"/>
          </a:ln>
        </p:spPr>
      </p:sp>
      <p:sp>
        <p:nvSpPr>
          <p:cNvPr id="13" name="Text 9"/>
          <p:cNvSpPr txBox="1"/>
          <p:nvPr/>
        </p:nvSpPr>
        <p:spPr>
          <a:xfrm>
            <a:off x="2971800"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CHOOSE A, B OR C</a:t>
            </a:r>
            <a:endParaRPr lang="en-US" sz="1200" dirty="0"/>
          </a:p>
        </p:txBody>
      </p:sp>
      <p:sp>
        <p:nvSpPr>
          <p:cNvPr id="14" name="Text 10"/>
          <p:cNvSpPr txBox="1"/>
          <p:nvPr/>
        </p:nvSpPr>
        <p:spPr>
          <a:xfrm>
            <a:off x="777240" y="224028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x holds 30. Which one is True?</a:t>
            </a:r>
            <a:endParaRPr lang="en-US" sz="2000" dirty="0"/>
          </a:p>
        </p:txBody>
      </p:sp>
      <p:sp>
        <p:nvSpPr>
          <p:cNvPr id="15" name="Text 11"/>
          <p:cNvSpPr txBox="1"/>
          <p:nvPr/>
        </p:nvSpPr>
        <p:spPr>
          <a:xfrm>
            <a:off x="777240" y="2651760"/>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A   </a:t>
            </a:r>
            <a:pPr indent="0" marL="0">
              <a:buNone/>
            </a:pPr>
            <a:r>
              <a:rPr lang="en-US" sz="1800" dirty="0">
                <a:solidFill>
                  <a:srgbClr val="1E1E24"/>
                </a:solidFill>
                <a:latin typeface="Calibri" pitchFamily="34" charset="0"/>
                <a:ea typeface="Calibri" pitchFamily="34" charset="-122"/>
                <a:cs typeface="Calibri" pitchFamily="34" charset="-120"/>
              </a:rPr>
              <a:t>x &gt; 30</a:t>
            </a:r>
            <a:endParaRPr lang="en-US" sz="1800" dirty="0"/>
          </a:p>
        </p:txBody>
      </p:sp>
      <p:sp>
        <p:nvSpPr>
          <p:cNvPr id="16" name="Text 12"/>
          <p:cNvSpPr txBox="1"/>
          <p:nvPr/>
        </p:nvSpPr>
        <p:spPr>
          <a:xfrm>
            <a:off x="777240" y="2980944"/>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B   </a:t>
            </a:r>
            <a:pPr indent="0" marL="0">
              <a:buNone/>
            </a:pPr>
            <a:r>
              <a:rPr lang="en-US" sz="1800" dirty="0">
                <a:solidFill>
                  <a:srgbClr val="1E1E24"/>
                </a:solidFill>
                <a:latin typeface="Calibri" pitchFamily="34" charset="0"/>
                <a:ea typeface="Calibri" pitchFamily="34" charset="-122"/>
                <a:cs typeface="Calibri" pitchFamily="34" charset="-120"/>
              </a:rPr>
              <a:t>x &lt; 30</a:t>
            </a:r>
            <a:endParaRPr lang="en-US" sz="1800" dirty="0"/>
          </a:p>
        </p:txBody>
      </p:sp>
      <p:sp>
        <p:nvSpPr>
          <p:cNvPr id="17" name="Text 13"/>
          <p:cNvSpPr txBox="1"/>
          <p:nvPr/>
        </p:nvSpPr>
        <p:spPr>
          <a:xfrm>
            <a:off x="777240" y="3310128"/>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C   </a:t>
            </a:r>
            <a:pPr indent="0" marL="0">
              <a:buNone/>
            </a:pPr>
            <a:r>
              <a:rPr lang="en-US" sz="1800" dirty="0">
                <a:solidFill>
                  <a:srgbClr val="1E1E24"/>
                </a:solidFill>
                <a:latin typeface="Calibri" pitchFamily="34" charset="0"/>
                <a:ea typeface="Calibri" pitchFamily="34" charset="-122"/>
                <a:cs typeface="Calibri" pitchFamily="34" charset="-120"/>
              </a:rPr>
              <a:t>x &gt;= 30</a:t>
            </a:r>
            <a:endParaRPr lang="en-US" sz="1800" dirty="0"/>
          </a:p>
        </p:txBody>
      </p:sp>
      <p:sp>
        <p:nvSpPr>
          <p:cNvPr id="18" name="q2"/>
          <p:cNvSpPr/>
          <p:nvPr/>
        </p:nvSpPr>
        <p:spPr>
          <a:xfrm>
            <a:off x="6236208" y="1600200"/>
            <a:ext cx="5413248" cy="2286000"/>
          </a:xfrm>
          <a:prstGeom prst="roundRect">
            <a:avLst>
              <a:gd name="adj" fmla="val 3200"/>
            </a:avLst>
          </a:prstGeom>
          <a:solidFill>
            <a:srgbClr val="FFFFFF"/>
          </a:solidFill>
          <a:ln w="15875">
            <a:solidFill>
              <a:srgbClr val="D6D5D0"/>
            </a:solidFill>
            <a:prstDash val="solid"/>
          </a:ln>
        </p:spPr>
      </p:sp>
      <p:sp>
        <p:nvSpPr>
          <p:cNvPr id="19" name="Shape 15"/>
          <p:cNvSpPr/>
          <p:nvPr/>
        </p:nvSpPr>
        <p:spPr>
          <a:xfrm>
            <a:off x="6464808" y="1801368"/>
            <a:ext cx="384048" cy="384048"/>
          </a:xfrm>
          <a:prstGeom prst="ellipse">
            <a:avLst/>
          </a:prstGeom>
          <a:solidFill>
            <a:srgbClr val="1E1E24"/>
          </a:solidFill>
          <a:ln/>
        </p:spPr>
      </p:sp>
      <p:sp>
        <p:nvSpPr>
          <p:cNvPr id="20" name="Text 16"/>
          <p:cNvSpPr txBox="1"/>
          <p:nvPr/>
        </p:nvSpPr>
        <p:spPr>
          <a:xfrm>
            <a:off x="6464808" y="180136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2</a:t>
            </a:r>
            <a:endParaRPr lang="en-US" sz="1600" dirty="0"/>
          </a:p>
        </p:txBody>
      </p:sp>
      <p:sp>
        <p:nvSpPr>
          <p:cNvPr id="21" name="Shape 17"/>
          <p:cNvSpPr/>
          <p:nvPr/>
        </p:nvSpPr>
        <p:spPr>
          <a:xfrm>
            <a:off x="6967728" y="1828800"/>
            <a:ext cx="1600200" cy="310896"/>
          </a:xfrm>
          <a:prstGeom prst="roundRect">
            <a:avLst>
              <a:gd name="adj" fmla="val 52941"/>
            </a:avLst>
          </a:prstGeom>
          <a:solidFill>
            <a:srgbClr val="EDE6D3"/>
          </a:solidFill>
          <a:ln/>
        </p:spPr>
      </p:sp>
      <p:sp>
        <p:nvSpPr>
          <p:cNvPr id="22" name="Text 18"/>
          <p:cNvSpPr txBox="1"/>
          <p:nvPr/>
        </p:nvSpPr>
        <p:spPr>
          <a:xfrm>
            <a:off x="6967728"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LAST LESSON</a:t>
            </a:r>
            <a:endParaRPr lang="en-US" sz="1200" dirty="0"/>
          </a:p>
        </p:txBody>
      </p:sp>
      <p:sp>
        <p:nvSpPr>
          <p:cNvPr id="23" name="Shape 19"/>
          <p:cNvSpPr/>
          <p:nvPr/>
        </p:nvSpPr>
        <p:spPr>
          <a:xfrm>
            <a:off x="8659368" y="1828800"/>
            <a:ext cx="1783080" cy="310896"/>
          </a:xfrm>
          <a:prstGeom prst="roundRect">
            <a:avLst>
              <a:gd name="adj" fmla="val 52941"/>
            </a:avLst>
          </a:prstGeom>
          <a:solidFill>
            <a:srgbClr val="F5F5F3"/>
          </a:solidFill>
          <a:ln w="15875">
            <a:solidFill>
              <a:srgbClr val="D6D5D0"/>
            </a:solidFill>
            <a:prstDash val="solid"/>
          </a:ln>
        </p:spPr>
      </p:sp>
      <p:sp>
        <p:nvSpPr>
          <p:cNvPr id="24" name="Text 20"/>
          <p:cNvSpPr txBox="1"/>
          <p:nvPr/>
        </p:nvSpPr>
        <p:spPr>
          <a:xfrm>
            <a:off x="8659368"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CHOOSE A, B OR C</a:t>
            </a:r>
            <a:endParaRPr lang="en-US" sz="1200" dirty="0"/>
          </a:p>
        </p:txBody>
      </p:sp>
      <p:sp>
        <p:nvSpPr>
          <p:cNvPr id="25" name="Text 21"/>
          <p:cNvSpPr txBox="1"/>
          <p:nvPr/>
        </p:nvSpPr>
        <p:spPr>
          <a:xfrm>
            <a:off x="6464808" y="224028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Which line has no condition?</a:t>
            </a:r>
            <a:endParaRPr lang="en-US" sz="2000" dirty="0"/>
          </a:p>
        </p:txBody>
      </p:sp>
      <p:sp>
        <p:nvSpPr>
          <p:cNvPr id="26" name="Text 22"/>
          <p:cNvSpPr txBox="1"/>
          <p:nvPr/>
        </p:nvSpPr>
        <p:spPr>
          <a:xfrm>
            <a:off x="6464808" y="2651760"/>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A   </a:t>
            </a:r>
            <a:pPr indent="0" marL="0">
              <a:buNone/>
            </a:pPr>
            <a:r>
              <a:rPr lang="en-US" sz="1800" dirty="0">
                <a:solidFill>
                  <a:srgbClr val="1E1E24"/>
                </a:solidFill>
                <a:latin typeface="Calibri" pitchFamily="34" charset="0"/>
                <a:ea typeface="Calibri" pitchFamily="34" charset="-122"/>
                <a:cs typeface="Calibri" pitchFamily="34" charset="-120"/>
              </a:rPr>
              <a:t>elif x &gt; 5:</a:t>
            </a:r>
            <a:endParaRPr lang="en-US" sz="1800" dirty="0"/>
          </a:p>
        </p:txBody>
      </p:sp>
      <p:sp>
        <p:nvSpPr>
          <p:cNvPr id="27" name="Text 23"/>
          <p:cNvSpPr txBox="1"/>
          <p:nvPr/>
        </p:nvSpPr>
        <p:spPr>
          <a:xfrm>
            <a:off x="6464808" y="2980944"/>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B   </a:t>
            </a:r>
            <a:pPr indent="0" marL="0">
              <a:buNone/>
            </a:pPr>
            <a:r>
              <a:rPr lang="en-US" sz="1800" dirty="0">
                <a:solidFill>
                  <a:srgbClr val="1E1E24"/>
                </a:solidFill>
                <a:latin typeface="Calibri" pitchFamily="34" charset="0"/>
                <a:ea typeface="Calibri" pitchFamily="34" charset="-122"/>
                <a:cs typeface="Calibri" pitchFamily="34" charset="-120"/>
              </a:rPr>
              <a:t>else:</a:t>
            </a:r>
            <a:endParaRPr lang="en-US" sz="1800" dirty="0"/>
          </a:p>
        </p:txBody>
      </p:sp>
      <p:sp>
        <p:nvSpPr>
          <p:cNvPr id="28" name="Text 24"/>
          <p:cNvSpPr txBox="1"/>
          <p:nvPr/>
        </p:nvSpPr>
        <p:spPr>
          <a:xfrm>
            <a:off x="6464808" y="3310128"/>
            <a:ext cx="3017520" cy="329184"/>
          </a:xfrm>
          <a:prstGeom prst="rect">
            <a:avLst/>
          </a:prstGeom>
          <a:noFill/>
          <a:ln/>
        </p:spPr>
        <p:txBody>
          <a:bodyPr wrap="square" lIns="0" tIns="0" rIns="0" bIns="0" rtlCol="0" anchor="ctr"/>
          <a:lstStyle/>
          <a:p>
            <a:pPr indent="0" marL="0">
              <a:buNone/>
            </a:pPr>
            <a:r>
              <a:rPr lang="en-US" sz="1800" b="1" dirty="0">
                <a:solidFill>
                  <a:srgbClr val="7A5A12"/>
                </a:solidFill>
                <a:latin typeface="Calibri" pitchFamily="34" charset="0"/>
                <a:ea typeface="Calibri" pitchFamily="34" charset="-122"/>
                <a:cs typeface="Calibri" pitchFamily="34" charset="-120"/>
              </a:rPr>
              <a:t>C   </a:t>
            </a:r>
            <a:pPr indent="0" marL="0">
              <a:buNone/>
            </a:pPr>
            <a:r>
              <a:rPr lang="en-US" sz="1800" dirty="0">
                <a:solidFill>
                  <a:srgbClr val="1E1E24"/>
                </a:solidFill>
                <a:latin typeface="Calibri" pitchFamily="34" charset="0"/>
                <a:ea typeface="Calibri" pitchFamily="34" charset="-122"/>
                <a:cs typeface="Calibri" pitchFamily="34" charset="-120"/>
              </a:rPr>
              <a:t>if x &gt; 5:</a:t>
            </a:r>
            <a:endParaRPr lang="en-US" sz="1800" dirty="0"/>
          </a:p>
        </p:txBody>
      </p:sp>
      <p:sp>
        <p:nvSpPr>
          <p:cNvPr id="29" name="q3"/>
          <p:cNvSpPr/>
          <p:nvPr/>
        </p:nvSpPr>
        <p:spPr>
          <a:xfrm>
            <a:off x="548640" y="4023360"/>
            <a:ext cx="5413248" cy="2286000"/>
          </a:xfrm>
          <a:prstGeom prst="roundRect">
            <a:avLst>
              <a:gd name="adj" fmla="val 3200"/>
            </a:avLst>
          </a:prstGeom>
          <a:solidFill>
            <a:srgbClr val="FFFFFF"/>
          </a:solidFill>
          <a:ln w="15875">
            <a:solidFill>
              <a:srgbClr val="D6D5D0"/>
            </a:solidFill>
            <a:prstDash val="solid"/>
          </a:ln>
        </p:spPr>
      </p:sp>
      <p:sp>
        <p:nvSpPr>
          <p:cNvPr id="30" name="Shape 26"/>
          <p:cNvSpPr/>
          <p:nvPr/>
        </p:nvSpPr>
        <p:spPr>
          <a:xfrm>
            <a:off x="777240" y="4224528"/>
            <a:ext cx="384048" cy="384048"/>
          </a:xfrm>
          <a:prstGeom prst="ellipse">
            <a:avLst/>
          </a:prstGeom>
          <a:solidFill>
            <a:srgbClr val="1E1E24"/>
          </a:solidFill>
          <a:ln/>
        </p:spPr>
      </p:sp>
      <p:sp>
        <p:nvSpPr>
          <p:cNvPr id="31" name="Text 27"/>
          <p:cNvSpPr txBox="1"/>
          <p:nvPr/>
        </p:nvSpPr>
        <p:spPr>
          <a:xfrm>
            <a:off x="777240" y="422452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3</a:t>
            </a:r>
            <a:endParaRPr lang="en-US" sz="1600" dirty="0"/>
          </a:p>
        </p:txBody>
      </p:sp>
      <p:sp>
        <p:nvSpPr>
          <p:cNvPr id="32" name="Shape 28"/>
          <p:cNvSpPr/>
          <p:nvPr/>
        </p:nvSpPr>
        <p:spPr>
          <a:xfrm>
            <a:off x="1280160" y="4251960"/>
            <a:ext cx="1600200" cy="310896"/>
          </a:xfrm>
          <a:prstGeom prst="roundRect">
            <a:avLst>
              <a:gd name="adj" fmla="val 52941"/>
            </a:avLst>
          </a:prstGeom>
          <a:solidFill>
            <a:srgbClr val="EDE6D3"/>
          </a:solidFill>
          <a:ln/>
        </p:spPr>
      </p:sp>
      <p:sp>
        <p:nvSpPr>
          <p:cNvPr id="33" name="Text 29"/>
          <p:cNvSpPr txBox="1"/>
          <p:nvPr/>
        </p:nvSpPr>
        <p:spPr>
          <a:xfrm>
            <a:off x="1280160"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LAST LESSON</a:t>
            </a:r>
            <a:endParaRPr lang="en-US" sz="1200" dirty="0"/>
          </a:p>
        </p:txBody>
      </p:sp>
      <p:sp>
        <p:nvSpPr>
          <p:cNvPr id="34" name="Shape 30"/>
          <p:cNvSpPr/>
          <p:nvPr/>
        </p:nvSpPr>
        <p:spPr>
          <a:xfrm>
            <a:off x="2971800" y="4251960"/>
            <a:ext cx="1783080" cy="310896"/>
          </a:xfrm>
          <a:prstGeom prst="roundRect">
            <a:avLst>
              <a:gd name="adj" fmla="val 52941"/>
            </a:avLst>
          </a:prstGeom>
          <a:solidFill>
            <a:srgbClr val="F5F5F3"/>
          </a:solidFill>
          <a:ln w="15875">
            <a:solidFill>
              <a:srgbClr val="D6D5D0"/>
            </a:solidFill>
            <a:prstDash val="solid"/>
          </a:ln>
        </p:spPr>
      </p:sp>
      <p:sp>
        <p:nvSpPr>
          <p:cNvPr id="35" name="Text 31"/>
          <p:cNvSpPr txBox="1"/>
          <p:nvPr/>
        </p:nvSpPr>
        <p:spPr>
          <a:xfrm>
            <a:off x="2971800"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WRITE IT</a:t>
            </a:r>
            <a:endParaRPr lang="en-US" sz="1200" dirty="0"/>
          </a:p>
        </p:txBody>
      </p:sp>
      <p:sp>
        <p:nvSpPr>
          <p:cNvPr id="36" name="Text 32"/>
          <p:cNvSpPr txBox="1"/>
          <p:nvPr/>
        </p:nvSpPr>
        <p:spPr>
          <a:xfrm>
            <a:off x="777240" y="466344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This line crashes. Write it correctly.</a:t>
            </a:r>
            <a:endParaRPr lang="en-US" sz="2000" dirty="0"/>
          </a:p>
        </p:txBody>
      </p:sp>
      <p:sp>
        <p:nvSpPr>
          <p:cNvPr id="37" name="Shape 33"/>
          <p:cNvSpPr/>
          <p:nvPr/>
        </p:nvSpPr>
        <p:spPr>
          <a:xfrm>
            <a:off x="777240" y="5074920"/>
            <a:ext cx="4956048" cy="484632"/>
          </a:xfrm>
          <a:prstGeom prst="roundRect">
            <a:avLst>
              <a:gd name="adj" fmla="val 11321"/>
            </a:avLst>
          </a:prstGeom>
          <a:solidFill>
            <a:srgbClr val="111115"/>
          </a:solidFill>
          <a:ln/>
        </p:spPr>
      </p:sp>
      <p:sp>
        <p:nvSpPr>
          <p:cNvPr id="38" name="Text 34"/>
          <p:cNvSpPr txBox="1"/>
          <p:nvPr/>
        </p:nvSpPr>
        <p:spPr>
          <a:xfrm>
            <a:off x="914400" y="5166360"/>
            <a:ext cx="4681728" cy="301752"/>
          </a:xfrm>
          <a:prstGeom prst="rect">
            <a:avLst/>
          </a:prstGeom>
          <a:noFill/>
          <a:ln/>
        </p:spPr>
        <p:txBody>
          <a:bodyPr wrap="square" lIns="0" tIns="0" rIns="0" bIns="0" rtlCol="0" anchor="ctr"/>
          <a:lstStyle/>
          <a:p>
            <a:pPr indent="0" marL="0">
              <a:buNone/>
            </a:pPr>
            <a:r>
              <a:rPr lang="en-US" sz="1800" b="1" dirty="0">
                <a:solidFill>
                  <a:srgbClr val="F5F5F3"/>
                </a:solidFill>
                <a:latin typeface="Consolas" pitchFamily="34" charset="0"/>
                <a:ea typeface="Consolas" pitchFamily="34" charset="-122"/>
                <a:cs typeface="Consolas" pitchFamily="34" charset="-120"/>
              </a:rPr>
              <a:t>if</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F5F5F3"/>
                </a:solidFill>
                <a:latin typeface="Consolas" pitchFamily="34" charset="0"/>
                <a:ea typeface="Consolas" pitchFamily="34" charset="-122"/>
                <a:cs typeface="Consolas" pitchFamily="34" charset="-120"/>
              </a:rPr>
              <a:t>answer</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E69F00"/>
                </a:solidFill>
                <a:latin typeface="Consolas" pitchFamily="34" charset="0"/>
                <a:ea typeface="Consolas" pitchFamily="34" charset="-122"/>
                <a:cs typeface="Consolas" pitchFamily="34" charset="-120"/>
              </a:rPr>
              <a:t>"y"</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39" name="q4"/>
          <p:cNvSpPr/>
          <p:nvPr/>
        </p:nvSpPr>
        <p:spPr>
          <a:xfrm>
            <a:off x="6236208" y="4023360"/>
            <a:ext cx="5413248" cy="2286000"/>
          </a:xfrm>
          <a:prstGeom prst="roundRect">
            <a:avLst>
              <a:gd name="adj" fmla="val 3200"/>
            </a:avLst>
          </a:prstGeom>
          <a:solidFill>
            <a:srgbClr val="FFFFFF"/>
          </a:solidFill>
          <a:ln w="15875">
            <a:solidFill>
              <a:srgbClr val="D6D5D0"/>
            </a:solidFill>
            <a:prstDash val="solid"/>
          </a:ln>
        </p:spPr>
      </p:sp>
      <p:sp>
        <p:nvSpPr>
          <p:cNvPr id="40" name="Shape 36"/>
          <p:cNvSpPr/>
          <p:nvPr/>
        </p:nvSpPr>
        <p:spPr>
          <a:xfrm>
            <a:off x="6464808" y="4224528"/>
            <a:ext cx="384048" cy="384048"/>
          </a:xfrm>
          <a:prstGeom prst="ellipse">
            <a:avLst/>
          </a:prstGeom>
          <a:solidFill>
            <a:srgbClr val="1E1E24"/>
          </a:solidFill>
          <a:ln/>
        </p:spPr>
      </p:sp>
      <p:sp>
        <p:nvSpPr>
          <p:cNvPr id="41" name="Text 37"/>
          <p:cNvSpPr txBox="1"/>
          <p:nvPr/>
        </p:nvSpPr>
        <p:spPr>
          <a:xfrm>
            <a:off x="6464808" y="4224528"/>
            <a:ext cx="384048" cy="384048"/>
          </a:xfrm>
          <a:prstGeom prst="rect">
            <a:avLst/>
          </a:prstGeom>
          <a:noFill/>
          <a:ln/>
        </p:spPr>
        <p:txBody>
          <a:bodyPr wrap="square" lIns="0" tIns="0" rIns="0" bIns="0" rtlCol="0" anchor="ctr"/>
          <a:lstStyle/>
          <a:p>
            <a:pPr algn="ctr" indent="0" marL="0">
              <a:buNone/>
            </a:pPr>
            <a:r>
              <a:rPr lang="en-US" sz="1600" b="1" dirty="0">
                <a:solidFill>
                  <a:srgbClr val="F5F5F3"/>
                </a:solidFill>
                <a:latin typeface="Cambria" pitchFamily="34" charset="0"/>
                <a:ea typeface="Cambria" pitchFamily="34" charset="-122"/>
                <a:cs typeface="Cambria" pitchFamily="34" charset="-120"/>
              </a:rPr>
              <a:t>4</a:t>
            </a:r>
            <a:endParaRPr lang="en-US" sz="1600" dirty="0"/>
          </a:p>
        </p:txBody>
      </p:sp>
      <p:sp>
        <p:nvSpPr>
          <p:cNvPr id="42" name="Shape 38"/>
          <p:cNvSpPr/>
          <p:nvPr/>
        </p:nvSpPr>
        <p:spPr>
          <a:xfrm>
            <a:off x="6967728" y="4251960"/>
            <a:ext cx="1600200" cy="310896"/>
          </a:xfrm>
          <a:prstGeom prst="roundRect">
            <a:avLst>
              <a:gd name="adj" fmla="val 52941"/>
            </a:avLst>
          </a:prstGeom>
          <a:solidFill>
            <a:srgbClr val="EDE6D3"/>
          </a:solidFill>
          <a:ln/>
        </p:spPr>
      </p:sp>
      <p:sp>
        <p:nvSpPr>
          <p:cNvPr id="43" name="Text 39"/>
          <p:cNvSpPr txBox="1"/>
          <p:nvPr/>
        </p:nvSpPr>
        <p:spPr>
          <a:xfrm>
            <a:off x="6967728"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7A5A12"/>
                </a:solidFill>
                <a:latin typeface="Calibri" pitchFamily="34" charset="0"/>
                <a:ea typeface="Calibri" pitchFamily="34" charset="-122"/>
                <a:cs typeface="Calibri" pitchFamily="34" charset="-120"/>
              </a:rPr>
              <a:t>LAST LESSON</a:t>
            </a:r>
            <a:endParaRPr lang="en-US" sz="1200" dirty="0"/>
          </a:p>
        </p:txBody>
      </p:sp>
      <p:sp>
        <p:nvSpPr>
          <p:cNvPr id="44" name="Shape 40"/>
          <p:cNvSpPr/>
          <p:nvPr/>
        </p:nvSpPr>
        <p:spPr>
          <a:xfrm>
            <a:off x="8659368" y="4251960"/>
            <a:ext cx="1783080" cy="310896"/>
          </a:xfrm>
          <a:prstGeom prst="roundRect">
            <a:avLst>
              <a:gd name="adj" fmla="val 52941"/>
            </a:avLst>
          </a:prstGeom>
          <a:solidFill>
            <a:srgbClr val="F5F5F3"/>
          </a:solidFill>
          <a:ln w="15875">
            <a:solidFill>
              <a:srgbClr val="D6D5D0"/>
            </a:solidFill>
            <a:prstDash val="solid"/>
          </a:ln>
        </p:spPr>
      </p:sp>
      <p:sp>
        <p:nvSpPr>
          <p:cNvPr id="45" name="Text 41"/>
          <p:cNvSpPr txBox="1"/>
          <p:nvPr/>
        </p:nvSpPr>
        <p:spPr>
          <a:xfrm>
            <a:off x="8659368"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55555F"/>
                </a:solidFill>
                <a:latin typeface="Calibri" pitchFamily="34" charset="0"/>
                <a:ea typeface="Calibri" pitchFamily="34" charset="-122"/>
                <a:cs typeface="Calibri" pitchFamily="34" charset="-120"/>
              </a:rPr>
              <a:t>WRITE IT</a:t>
            </a:r>
            <a:endParaRPr lang="en-US" sz="1200" dirty="0"/>
          </a:p>
        </p:txBody>
      </p:sp>
      <p:sp>
        <p:nvSpPr>
          <p:cNvPr id="46" name="Text 42"/>
          <p:cNvSpPr txBox="1"/>
          <p:nvPr/>
        </p:nvSpPr>
        <p:spPr>
          <a:xfrm>
            <a:off x="6464808" y="4663440"/>
            <a:ext cx="4956048" cy="411480"/>
          </a:xfrm>
          <a:prstGeom prst="rect">
            <a:avLst/>
          </a:prstGeom>
          <a:noFill/>
          <a:ln/>
        </p:spPr>
        <p:txBody>
          <a:bodyPr wrap="square" lIns="0" tIns="0" rIns="0" bIns="0" rtlCol="0" anchor="ctr"/>
          <a:lstStyle/>
          <a:p>
            <a:pPr indent="0" marL="0">
              <a:buNone/>
            </a:pPr>
            <a:r>
              <a:rPr lang="en-US" sz="2000" b="1" dirty="0">
                <a:solidFill>
                  <a:srgbClr val="1E1E24"/>
                </a:solidFill>
                <a:latin typeface="Calibri" pitchFamily="34" charset="0"/>
                <a:ea typeface="Calibri" pitchFamily="34" charset="-122"/>
                <a:cs typeface="Calibri" pitchFamily="34" charset="-120"/>
              </a:rPr>
              <a:t>They type 14. What is printed?</a:t>
            </a:r>
            <a:endParaRPr lang="en-US" sz="2000" dirty="0"/>
          </a:p>
        </p:txBody>
      </p:sp>
      <p:sp>
        <p:nvSpPr>
          <p:cNvPr id="47" name="Shape 43"/>
          <p:cNvSpPr/>
          <p:nvPr/>
        </p:nvSpPr>
        <p:spPr>
          <a:xfrm>
            <a:off x="6464808" y="5074920"/>
            <a:ext cx="4956048" cy="786384"/>
          </a:xfrm>
          <a:prstGeom prst="roundRect">
            <a:avLst>
              <a:gd name="adj" fmla="val 6977"/>
            </a:avLst>
          </a:prstGeom>
          <a:solidFill>
            <a:srgbClr val="111115"/>
          </a:solidFill>
          <a:ln/>
        </p:spPr>
      </p:sp>
      <p:sp>
        <p:nvSpPr>
          <p:cNvPr id="48" name="Text 44"/>
          <p:cNvSpPr txBox="1"/>
          <p:nvPr/>
        </p:nvSpPr>
        <p:spPr>
          <a:xfrm>
            <a:off x="6601968" y="5166360"/>
            <a:ext cx="4681728"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age</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E8C878"/>
                </a:solidFill>
                <a:latin typeface="Consolas" pitchFamily="34" charset="0"/>
                <a:ea typeface="Consolas" pitchFamily="34" charset="-122"/>
                <a:cs typeface="Consolas" pitchFamily="34" charset="-120"/>
              </a:rPr>
              <a:t>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8C878"/>
                </a:solidFill>
                <a:latin typeface="Consolas" pitchFamily="34" charset="0"/>
                <a:ea typeface="Consolas" pitchFamily="34" charset="-122"/>
                <a:cs typeface="Consolas" pitchFamily="34" charset="-120"/>
              </a:rPr>
              <a:t>input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69F00"/>
                </a:solidFill>
                <a:latin typeface="Consolas" pitchFamily="34" charset="0"/>
                <a:ea typeface="Consolas" pitchFamily="34" charset="-122"/>
                <a:cs typeface="Consolas" pitchFamily="34" charset="-120"/>
              </a:rPr>
              <a:t>"Age?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49" name="Text 45"/>
          <p:cNvSpPr txBox="1"/>
          <p:nvPr/>
        </p:nvSpPr>
        <p:spPr>
          <a:xfrm>
            <a:off x="6601968" y="5468112"/>
            <a:ext cx="4681728"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age</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1</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50" name="Shape 46"/>
          <p:cNvSpPr/>
          <p:nvPr/>
        </p:nvSpPr>
        <p:spPr>
          <a:xfrm>
            <a:off x="9464040" y="566928"/>
            <a:ext cx="1280160" cy="329184"/>
          </a:xfrm>
          <a:prstGeom prst="roundRect">
            <a:avLst>
              <a:gd name="adj" fmla="val 50000"/>
            </a:avLst>
          </a:prstGeom>
          <a:solidFill>
            <a:srgbClr val="F5F5F3"/>
          </a:solidFill>
          <a:ln w="15875">
            <a:solidFill>
              <a:srgbClr val="1E1E24"/>
            </a:solidFill>
            <a:prstDash val="solid"/>
          </a:ln>
        </p:spPr>
      </p:sp>
      <p:sp>
        <p:nvSpPr>
          <p:cNvPr id="51" name="Text 47"/>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1E1E24"/>
                </a:solidFill>
                <a:latin typeface="Calibri" pitchFamily="34" charset="0"/>
                <a:ea typeface="Calibri" pitchFamily="34" charset="-122"/>
                <a:cs typeface="Calibri" pitchFamily="34" charset="-120"/>
              </a:rPr>
              <a:t>⏱  5 MIN</a:t>
            </a:r>
            <a:endParaRPr lang="en-US" sz="1400" dirty="0"/>
          </a:p>
        </p:txBody>
      </p:sp>
      <p:pic>
        <p:nvPicPr>
          <p:cNvPr id="52" name="Image 2" descr="Recap and recall">    </p:cNvPr>
          <p:cNvPicPr>
            <a:picLocks noChangeAspect="1"/>
          </p:cNvPicPr>
          <p:nvPr/>
        </p:nvPicPr>
        <p:blipFill>
          <a:blip r:embed="rId3"/>
          <a:stretch>
            <a:fillRect/>
          </a:stretch>
        </p:blipFill>
        <p:spPr>
          <a:xfrm>
            <a:off x="10972800" y="384048"/>
            <a:ext cx="731520" cy="731520"/>
          </a:xfrm>
          <a:prstGeom prst="rect">
            <a:avLst/>
          </a:prstGeom>
        </p:spPr>
      </p:pic>
      <p:sp>
        <p:nvSpPr>
          <p:cNvPr id="53"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8A8A9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Recap &amp; Recall — answers</a:t>
            </a:r>
            <a:endParaRPr lang="en-US" sz="3600" dirty="0"/>
          </a:p>
        </p:txBody>
      </p:sp>
      <p:sp>
        <p:nvSpPr>
          <p:cNvPr id="6" name="Text 2"/>
          <p:cNvSpPr txBox="1"/>
          <p:nvPr/>
        </p:nvSpPr>
        <p:spPr>
          <a:xfrm>
            <a:off x="548640" y="1170432"/>
            <a:ext cx="10241280" cy="365760"/>
          </a:xfrm>
          <a:prstGeom prst="rect">
            <a:avLst/>
          </a:prstGeom>
          <a:noFill/>
          <a:ln/>
        </p:spPr>
        <p:txBody>
          <a:bodyPr wrap="square" lIns="0" tIns="0" rIns="0" bIns="0" rtlCol="0" anchor="ctr"/>
          <a:lstStyle/>
          <a:p>
            <a:pPr indent="0" marL="0">
              <a:buNone/>
            </a:pPr>
            <a:r>
              <a:rPr lang="en-US" sz="1800" dirty="0">
                <a:solidFill>
                  <a:srgbClr val="A9A9B4"/>
                </a:solidFill>
                <a:latin typeface="Calibri" pitchFamily="34" charset="0"/>
                <a:ea typeface="Calibri" pitchFamily="34" charset="-122"/>
                <a:cs typeface="Calibri" pitchFamily="34" charset="-120"/>
              </a:rPr>
              <a:t>Mark your own. Confident but wrong? Those are the ones to fix.</a:t>
            </a:r>
            <a:endParaRPr lang="en-US" sz="1800" dirty="0"/>
          </a:p>
        </p:txBody>
      </p:sp>
      <p:sp>
        <p:nvSpPr>
          <p:cNvPr id="7" name="q1"/>
          <p:cNvSpPr/>
          <p:nvPr/>
        </p:nvSpPr>
        <p:spPr>
          <a:xfrm>
            <a:off x="548640" y="1600200"/>
            <a:ext cx="5413248" cy="2286000"/>
          </a:xfrm>
          <a:prstGeom prst="roundRect">
            <a:avLst>
              <a:gd name="adj" fmla="val 3200"/>
            </a:avLst>
          </a:prstGeom>
          <a:solidFill>
            <a:srgbClr val="2A2A32"/>
          </a:solidFill>
          <a:ln w="15875">
            <a:solidFill>
              <a:srgbClr val="3A3A44"/>
            </a:solidFill>
            <a:prstDash val="solid"/>
          </a:ln>
        </p:spPr>
      </p:sp>
      <p:sp>
        <p:nvSpPr>
          <p:cNvPr id="8" name="Shape 4"/>
          <p:cNvSpPr/>
          <p:nvPr/>
        </p:nvSpPr>
        <p:spPr>
          <a:xfrm>
            <a:off x="777240" y="1801368"/>
            <a:ext cx="384048" cy="384048"/>
          </a:xfrm>
          <a:prstGeom prst="ellipse">
            <a:avLst/>
          </a:prstGeom>
          <a:solidFill>
            <a:srgbClr val="D8A73D"/>
          </a:solidFill>
          <a:ln/>
        </p:spPr>
      </p:sp>
      <p:sp>
        <p:nvSpPr>
          <p:cNvPr id="9" name="Text 5"/>
          <p:cNvSpPr txBox="1"/>
          <p:nvPr/>
        </p:nvSpPr>
        <p:spPr>
          <a:xfrm>
            <a:off x="777240" y="1801368"/>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10" name="Shape 6"/>
          <p:cNvSpPr/>
          <p:nvPr/>
        </p:nvSpPr>
        <p:spPr>
          <a:xfrm>
            <a:off x="1280160" y="1828800"/>
            <a:ext cx="1600200" cy="310896"/>
          </a:xfrm>
          <a:prstGeom prst="roundRect">
            <a:avLst>
              <a:gd name="adj" fmla="val 52941"/>
            </a:avLst>
          </a:prstGeom>
          <a:solidFill>
            <a:srgbClr val="1E1E24"/>
          </a:solidFill>
          <a:ln w="15875">
            <a:solidFill>
              <a:srgbClr val="D8A73D"/>
            </a:solidFill>
            <a:prstDash val="solid"/>
          </a:ln>
        </p:spPr>
      </p:sp>
      <p:sp>
        <p:nvSpPr>
          <p:cNvPr id="11" name="Text 7"/>
          <p:cNvSpPr txBox="1"/>
          <p:nvPr/>
        </p:nvSpPr>
        <p:spPr>
          <a:xfrm>
            <a:off x="1280160"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D8A73D"/>
                </a:solidFill>
                <a:latin typeface="Calibri" pitchFamily="34" charset="0"/>
                <a:ea typeface="Calibri" pitchFamily="34" charset="-122"/>
                <a:cs typeface="Calibri" pitchFamily="34" charset="-120"/>
              </a:rPr>
              <a:t>LAST LESSON</a:t>
            </a:r>
            <a:endParaRPr lang="en-US" sz="1200" dirty="0"/>
          </a:p>
        </p:txBody>
      </p:sp>
      <p:sp>
        <p:nvSpPr>
          <p:cNvPr id="12" name="Shape 8"/>
          <p:cNvSpPr/>
          <p:nvPr/>
        </p:nvSpPr>
        <p:spPr>
          <a:xfrm>
            <a:off x="2971800" y="1828800"/>
            <a:ext cx="1783080" cy="310896"/>
          </a:xfrm>
          <a:prstGeom prst="roundRect">
            <a:avLst>
              <a:gd name="adj" fmla="val 52941"/>
            </a:avLst>
          </a:prstGeom>
          <a:solidFill>
            <a:srgbClr val="1E1E24"/>
          </a:solidFill>
          <a:ln w="15875">
            <a:solidFill>
              <a:srgbClr val="3A3A44"/>
            </a:solidFill>
            <a:prstDash val="solid"/>
          </a:ln>
        </p:spPr>
      </p:sp>
      <p:sp>
        <p:nvSpPr>
          <p:cNvPr id="13" name="Text 9"/>
          <p:cNvSpPr txBox="1"/>
          <p:nvPr/>
        </p:nvSpPr>
        <p:spPr>
          <a:xfrm>
            <a:off x="2971800"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A9A9B4"/>
                </a:solidFill>
                <a:latin typeface="Calibri" pitchFamily="34" charset="0"/>
                <a:ea typeface="Calibri" pitchFamily="34" charset="-122"/>
                <a:cs typeface="Calibri" pitchFamily="34" charset="-120"/>
              </a:rPr>
              <a:t>CHOOSE A, B OR C</a:t>
            </a:r>
            <a:endParaRPr lang="en-US" sz="1200" dirty="0"/>
          </a:p>
        </p:txBody>
      </p:sp>
      <p:sp>
        <p:nvSpPr>
          <p:cNvPr id="14" name="Text 10"/>
          <p:cNvSpPr txBox="1"/>
          <p:nvPr/>
        </p:nvSpPr>
        <p:spPr>
          <a:xfrm>
            <a:off x="777240" y="2240280"/>
            <a:ext cx="4956048" cy="411480"/>
          </a:xfrm>
          <a:prstGeom prst="rect">
            <a:avLst/>
          </a:prstGeom>
          <a:noFill/>
          <a:ln/>
        </p:spPr>
        <p:txBody>
          <a:bodyPr wrap="square" lIns="0" tIns="0" rIns="0" bIns="0" rtlCol="0" anchor="ctr"/>
          <a:lstStyle/>
          <a:p>
            <a:pPr indent="0" marL="0">
              <a:buNone/>
            </a:pPr>
            <a:r>
              <a:rPr lang="en-US" sz="2000" b="1" dirty="0">
                <a:solidFill>
                  <a:srgbClr val="F5F5F3"/>
                </a:solidFill>
                <a:latin typeface="Calibri" pitchFamily="34" charset="0"/>
                <a:ea typeface="Calibri" pitchFamily="34" charset="-122"/>
                <a:cs typeface="Calibri" pitchFamily="34" charset="-120"/>
              </a:rPr>
              <a:t>x holds 30. Which one is True?</a:t>
            </a:r>
            <a:endParaRPr lang="en-US" sz="2000" dirty="0"/>
          </a:p>
        </p:txBody>
      </p:sp>
      <p:sp>
        <p:nvSpPr>
          <p:cNvPr id="15" name="Text 11"/>
          <p:cNvSpPr txBox="1"/>
          <p:nvPr/>
        </p:nvSpPr>
        <p:spPr>
          <a:xfrm>
            <a:off x="777240" y="2651760"/>
            <a:ext cx="3017520" cy="329184"/>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A   </a:t>
            </a:r>
            <a:pPr indent="0" marL="0">
              <a:buNone/>
            </a:pPr>
            <a:r>
              <a:rPr lang="en-US" sz="1800" dirty="0">
                <a:solidFill>
                  <a:srgbClr val="A9A9B4"/>
                </a:solidFill>
                <a:latin typeface="Calibri" pitchFamily="34" charset="0"/>
                <a:ea typeface="Calibri" pitchFamily="34" charset="-122"/>
                <a:cs typeface="Calibri" pitchFamily="34" charset="-120"/>
              </a:rPr>
              <a:t>x &gt; 30</a:t>
            </a:r>
            <a:endParaRPr lang="en-US" sz="1800" dirty="0"/>
          </a:p>
        </p:txBody>
      </p:sp>
      <p:sp>
        <p:nvSpPr>
          <p:cNvPr id="16" name="Text 12"/>
          <p:cNvSpPr txBox="1"/>
          <p:nvPr/>
        </p:nvSpPr>
        <p:spPr>
          <a:xfrm>
            <a:off x="777240" y="2980944"/>
            <a:ext cx="3017520" cy="329184"/>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B   </a:t>
            </a:r>
            <a:pPr indent="0" marL="0">
              <a:buNone/>
            </a:pPr>
            <a:r>
              <a:rPr lang="en-US" sz="1800" dirty="0">
                <a:solidFill>
                  <a:srgbClr val="A9A9B4"/>
                </a:solidFill>
                <a:latin typeface="Calibri" pitchFamily="34" charset="0"/>
                <a:ea typeface="Calibri" pitchFamily="34" charset="-122"/>
                <a:cs typeface="Calibri" pitchFamily="34" charset="-120"/>
              </a:rPr>
              <a:t>x &lt; 30</a:t>
            </a:r>
            <a:endParaRPr lang="en-US" sz="1800" dirty="0"/>
          </a:p>
        </p:txBody>
      </p:sp>
      <p:sp>
        <p:nvSpPr>
          <p:cNvPr id="17" name="Text 13"/>
          <p:cNvSpPr txBox="1"/>
          <p:nvPr/>
        </p:nvSpPr>
        <p:spPr>
          <a:xfrm>
            <a:off x="777240" y="3310128"/>
            <a:ext cx="3017520" cy="329184"/>
          </a:xfrm>
          <a:prstGeom prst="rect">
            <a:avLst/>
          </a:prstGeom>
          <a:noFill/>
          <a:ln/>
        </p:spPr>
        <p:txBody>
          <a:bodyPr wrap="square" lIns="0" tIns="0" rIns="0" bIns="0" rtlCol="0" anchor="ctr"/>
          <a:lstStyle/>
          <a:p>
            <a:pPr indent="0" marL="0">
              <a:buNone/>
            </a:pPr>
            <a:r>
              <a:rPr lang="en-US" sz="1800" b="1" dirty="0">
                <a:solidFill>
                  <a:srgbClr val="7FD99A"/>
                </a:solidFill>
                <a:latin typeface="Calibri" pitchFamily="34" charset="0"/>
                <a:ea typeface="Calibri" pitchFamily="34" charset="-122"/>
                <a:cs typeface="Calibri" pitchFamily="34" charset="-120"/>
              </a:rPr>
              <a:t>C   </a:t>
            </a:r>
            <a:pPr indent="0" marL="0">
              <a:buNone/>
            </a:pPr>
            <a:r>
              <a:rPr lang="en-US" sz="1800" b="1" dirty="0">
                <a:solidFill>
                  <a:srgbClr val="7FD99A"/>
                </a:solidFill>
                <a:latin typeface="Calibri" pitchFamily="34" charset="0"/>
                <a:ea typeface="Calibri" pitchFamily="34" charset="-122"/>
                <a:cs typeface="Calibri" pitchFamily="34" charset="-120"/>
              </a:rPr>
              <a:t>x &gt;= 30</a:t>
            </a:r>
            <a:endParaRPr lang="en-US" sz="1800" dirty="0"/>
          </a:p>
        </p:txBody>
      </p:sp>
      <p:sp>
        <p:nvSpPr>
          <p:cNvPr id="18" name="Text 14"/>
          <p:cNvSpPr txBox="1"/>
          <p:nvPr/>
        </p:nvSpPr>
        <p:spPr>
          <a:xfrm>
            <a:off x="3886200" y="2651760"/>
            <a:ext cx="1892808" cy="987552"/>
          </a:xfrm>
          <a:prstGeom prst="rect">
            <a:avLst/>
          </a:prstGeom>
          <a:noFill/>
          <a:ln/>
        </p:spPr>
        <p:txBody>
          <a:bodyPr wrap="square" lIns="0" tIns="0" rIns="0" bIns="0" rtlCol="0" anchor="ctr"/>
          <a:lstStyle/>
          <a:p>
            <a:pPr indent="0" marL="0">
              <a:buNone/>
            </a:pPr>
            <a:r>
              <a:rPr lang="en-US" sz="1800" i="1" dirty="0">
                <a:solidFill>
                  <a:srgbClr val="A9A9B4"/>
                </a:solidFill>
                <a:latin typeface="Calibri" pitchFamily="34" charset="0"/>
                <a:ea typeface="Calibri" pitchFamily="34" charset="-122"/>
                <a:cs typeface="Calibri" pitchFamily="34" charset="-120"/>
              </a:rPr>
              <a:t>&gt;= includes "equal to"</a:t>
            </a:r>
            <a:endParaRPr lang="en-US" sz="1800" dirty="0"/>
          </a:p>
        </p:txBody>
      </p:sp>
      <p:sp>
        <p:nvSpPr>
          <p:cNvPr id="19" name="q2"/>
          <p:cNvSpPr/>
          <p:nvPr/>
        </p:nvSpPr>
        <p:spPr>
          <a:xfrm>
            <a:off x="6236208" y="1600200"/>
            <a:ext cx="5413248" cy="2286000"/>
          </a:xfrm>
          <a:prstGeom prst="roundRect">
            <a:avLst>
              <a:gd name="adj" fmla="val 3200"/>
            </a:avLst>
          </a:prstGeom>
          <a:solidFill>
            <a:srgbClr val="2A2A32"/>
          </a:solidFill>
          <a:ln w="15875">
            <a:solidFill>
              <a:srgbClr val="3A3A44"/>
            </a:solidFill>
            <a:prstDash val="solid"/>
          </a:ln>
        </p:spPr>
      </p:sp>
      <p:sp>
        <p:nvSpPr>
          <p:cNvPr id="20" name="Shape 16"/>
          <p:cNvSpPr/>
          <p:nvPr/>
        </p:nvSpPr>
        <p:spPr>
          <a:xfrm>
            <a:off x="6464808" y="1801368"/>
            <a:ext cx="384048" cy="384048"/>
          </a:xfrm>
          <a:prstGeom prst="ellipse">
            <a:avLst/>
          </a:prstGeom>
          <a:solidFill>
            <a:srgbClr val="D8A73D"/>
          </a:solidFill>
          <a:ln/>
        </p:spPr>
      </p:sp>
      <p:sp>
        <p:nvSpPr>
          <p:cNvPr id="21" name="Text 17"/>
          <p:cNvSpPr txBox="1"/>
          <p:nvPr/>
        </p:nvSpPr>
        <p:spPr>
          <a:xfrm>
            <a:off x="6464808" y="1801368"/>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22" name="Shape 18"/>
          <p:cNvSpPr/>
          <p:nvPr/>
        </p:nvSpPr>
        <p:spPr>
          <a:xfrm>
            <a:off x="6967728" y="1828800"/>
            <a:ext cx="1600200" cy="310896"/>
          </a:xfrm>
          <a:prstGeom prst="roundRect">
            <a:avLst>
              <a:gd name="adj" fmla="val 52941"/>
            </a:avLst>
          </a:prstGeom>
          <a:solidFill>
            <a:srgbClr val="1E1E24"/>
          </a:solidFill>
          <a:ln w="15875">
            <a:solidFill>
              <a:srgbClr val="D8A73D"/>
            </a:solidFill>
            <a:prstDash val="solid"/>
          </a:ln>
        </p:spPr>
      </p:sp>
      <p:sp>
        <p:nvSpPr>
          <p:cNvPr id="23" name="Text 19"/>
          <p:cNvSpPr txBox="1"/>
          <p:nvPr/>
        </p:nvSpPr>
        <p:spPr>
          <a:xfrm>
            <a:off x="6967728" y="1828800"/>
            <a:ext cx="1600200" cy="310896"/>
          </a:xfrm>
          <a:prstGeom prst="rect">
            <a:avLst/>
          </a:prstGeom>
          <a:noFill/>
          <a:ln/>
        </p:spPr>
        <p:txBody>
          <a:bodyPr wrap="square" lIns="0" tIns="0" rIns="0" bIns="0" rtlCol="0" anchor="ctr"/>
          <a:lstStyle/>
          <a:p>
            <a:pPr algn="ctr" indent="0" marL="0">
              <a:buNone/>
            </a:pPr>
            <a:r>
              <a:rPr lang="en-US" sz="1200" b="1" spc="100" kern="0" dirty="0">
                <a:solidFill>
                  <a:srgbClr val="D8A73D"/>
                </a:solidFill>
                <a:latin typeface="Calibri" pitchFamily="34" charset="0"/>
                <a:ea typeface="Calibri" pitchFamily="34" charset="-122"/>
                <a:cs typeface="Calibri" pitchFamily="34" charset="-120"/>
              </a:rPr>
              <a:t>LAST LESSON</a:t>
            </a:r>
            <a:endParaRPr lang="en-US" sz="1200" dirty="0"/>
          </a:p>
        </p:txBody>
      </p:sp>
      <p:sp>
        <p:nvSpPr>
          <p:cNvPr id="24" name="Shape 20"/>
          <p:cNvSpPr/>
          <p:nvPr/>
        </p:nvSpPr>
        <p:spPr>
          <a:xfrm>
            <a:off x="8659368" y="1828800"/>
            <a:ext cx="1783080" cy="310896"/>
          </a:xfrm>
          <a:prstGeom prst="roundRect">
            <a:avLst>
              <a:gd name="adj" fmla="val 52941"/>
            </a:avLst>
          </a:prstGeom>
          <a:solidFill>
            <a:srgbClr val="1E1E24"/>
          </a:solidFill>
          <a:ln w="15875">
            <a:solidFill>
              <a:srgbClr val="3A3A44"/>
            </a:solidFill>
            <a:prstDash val="solid"/>
          </a:ln>
        </p:spPr>
      </p:sp>
      <p:sp>
        <p:nvSpPr>
          <p:cNvPr id="25" name="Text 21"/>
          <p:cNvSpPr txBox="1"/>
          <p:nvPr/>
        </p:nvSpPr>
        <p:spPr>
          <a:xfrm>
            <a:off x="8659368" y="1828800"/>
            <a:ext cx="1783080" cy="310896"/>
          </a:xfrm>
          <a:prstGeom prst="rect">
            <a:avLst/>
          </a:prstGeom>
          <a:noFill/>
          <a:ln/>
        </p:spPr>
        <p:txBody>
          <a:bodyPr wrap="square" lIns="0" tIns="0" rIns="0" bIns="0" rtlCol="0" anchor="ctr"/>
          <a:lstStyle/>
          <a:p>
            <a:pPr algn="ctr" indent="0" marL="0">
              <a:buNone/>
            </a:pPr>
            <a:r>
              <a:rPr lang="en-US" sz="1200" b="1" spc="100" kern="0" dirty="0">
                <a:solidFill>
                  <a:srgbClr val="A9A9B4"/>
                </a:solidFill>
                <a:latin typeface="Calibri" pitchFamily="34" charset="0"/>
                <a:ea typeface="Calibri" pitchFamily="34" charset="-122"/>
                <a:cs typeface="Calibri" pitchFamily="34" charset="-120"/>
              </a:rPr>
              <a:t>CHOOSE A, B OR C</a:t>
            </a:r>
            <a:endParaRPr lang="en-US" sz="1200" dirty="0"/>
          </a:p>
        </p:txBody>
      </p:sp>
      <p:sp>
        <p:nvSpPr>
          <p:cNvPr id="26" name="Text 22"/>
          <p:cNvSpPr txBox="1"/>
          <p:nvPr/>
        </p:nvSpPr>
        <p:spPr>
          <a:xfrm>
            <a:off x="6464808" y="2240280"/>
            <a:ext cx="4956048" cy="411480"/>
          </a:xfrm>
          <a:prstGeom prst="rect">
            <a:avLst/>
          </a:prstGeom>
          <a:noFill/>
          <a:ln/>
        </p:spPr>
        <p:txBody>
          <a:bodyPr wrap="square" lIns="0" tIns="0" rIns="0" bIns="0" rtlCol="0" anchor="ctr"/>
          <a:lstStyle/>
          <a:p>
            <a:pPr indent="0" marL="0">
              <a:buNone/>
            </a:pPr>
            <a:r>
              <a:rPr lang="en-US" sz="2000" b="1" dirty="0">
                <a:solidFill>
                  <a:srgbClr val="F5F5F3"/>
                </a:solidFill>
                <a:latin typeface="Calibri" pitchFamily="34" charset="0"/>
                <a:ea typeface="Calibri" pitchFamily="34" charset="-122"/>
                <a:cs typeface="Calibri" pitchFamily="34" charset="-120"/>
              </a:rPr>
              <a:t>Which line has no condition?</a:t>
            </a:r>
            <a:endParaRPr lang="en-US" sz="2000" dirty="0"/>
          </a:p>
        </p:txBody>
      </p:sp>
      <p:sp>
        <p:nvSpPr>
          <p:cNvPr id="27" name="Text 23"/>
          <p:cNvSpPr txBox="1"/>
          <p:nvPr/>
        </p:nvSpPr>
        <p:spPr>
          <a:xfrm>
            <a:off x="6464808" y="2651760"/>
            <a:ext cx="3017520" cy="329184"/>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A   </a:t>
            </a:r>
            <a:pPr indent="0" marL="0">
              <a:buNone/>
            </a:pPr>
            <a:r>
              <a:rPr lang="en-US" sz="1800" dirty="0">
                <a:solidFill>
                  <a:srgbClr val="A9A9B4"/>
                </a:solidFill>
                <a:latin typeface="Calibri" pitchFamily="34" charset="0"/>
                <a:ea typeface="Calibri" pitchFamily="34" charset="-122"/>
                <a:cs typeface="Calibri" pitchFamily="34" charset="-120"/>
              </a:rPr>
              <a:t>elif x &gt; 5:</a:t>
            </a:r>
            <a:endParaRPr lang="en-US" sz="1800" dirty="0"/>
          </a:p>
        </p:txBody>
      </p:sp>
      <p:sp>
        <p:nvSpPr>
          <p:cNvPr id="28" name="Text 24"/>
          <p:cNvSpPr txBox="1"/>
          <p:nvPr/>
        </p:nvSpPr>
        <p:spPr>
          <a:xfrm>
            <a:off x="6464808" y="2980944"/>
            <a:ext cx="3017520" cy="329184"/>
          </a:xfrm>
          <a:prstGeom prst="rect">
            <a:avLst/>
          </a:prstGeom>
          <a:noFill/>
          <a:ln/>
        </p:spPr>
        <p:txBody>
          <a:bodyPr wrap="square" lIns="0" tIns="0" rIns="0" bIns="0" rtlCol="0" anchor="ctr"/>
          <a:lstStyle/>
          <a:p>
            <a:pPr indent="0" marL="0">
              <a:buNone/>
            </a:pPr>
            <a:r>
              <a:rPr lang="en-US" sz="1800" b="1" dirty="0">
                <a:solidFill>
                  <a:srgbClr val="7FD99A"/>
                </a:solidFill>
                <a:latin typeface="Calibri" pitchFamily="34" charset="0"/>
                <a:ea typeface="Calibri" pitchFamily="34" charset="-122"/>
                <a:cs typeface="Calibri" pitchFamily="34" charset="-120"/>
              </a:rPr>
              <a:t>B   </a:t>
            </a:r>
            <a:pPr indent="0" marL="0">
              <a:buNone/>
            </a:pPr>
            <a:r>
              <a:rPr lang="en-US" sz="1800" b="1" dirty="0">
                <a:solidFill>
                  <a:srgbClr val="7FD99A"/>
                </a:solidFill>
                <a:latin typeface="Calibri" pitchFamily="34" charset="0"/>
                <a:ea typeface="Calibri" pitchFamily="34" charset="-122"/>
                <a:cs typeface="Calibri" pitchFamily="34" charset="-120"/>
              </a:rPr>
              <a:t>else:</a:t>
            </a:r>
            <a:endParaRPr lang="en-US" sz="1800" dirty="0"/>
          </a:p>
        </p:txBody>
      </p:sp>
      <p:sp>
        <p:nvSpPr>
          <p:cNvPr id="29" name="Text 25"/>
          <p:cNvSpPr txBox="1"/>
          <p:nvPr/>
        </p:nvSpPr>
        <p:spPr>
          <a:xfrm>
            <a:off x="6464808" y="3310128"/>
            <a:ext cx="3017520" cy="329184"/>
          </a:xfrm>
          <a:prstGeom prst="rect">
            <a:avLst/>
          </a:prstGeom>
          <a:noFill/>
          <a:ln/>
        </p:spPr>
        <p:txBody>
          <a:bodyPr wrap="square" lIns="0" tIns="0" rIns="0" bIns="0" rtlCol="0" anchor="ctr"/>
          <a:lstStyle/>
          <a:p>
            <a:pPr indent="0" marL="0">
              <a:buNone/>
            </a:pPr>
            <a:r>
              <a:rPr lang="en-US" sz="1800" b="1" dirty="0">
                <a:solidFill>
                  <a:srgbClr val="D8A73D"/>
                </a:solidFill>
                <a:latin typeface="Calibri" pitchFamily="34" charset="0"/>
                <a:ea typeface="Calibri" pitchFamily="34" charset="-122"/>
                <a:cs typeface="Calibri" pitchFamily="34" charset="-120"/>
              </a:rPr>
              <a:t>C   </a:t>
            </a:r>
            <a:pPr indent="0" marL="0">
              <a:buNone/>
            </a:pPr>
            <a:r>
              <a:rPr lang="en-US" sz="1800" dirty="0">
                <a:solidFill>
                  <a:srgbClr val="A9A9B4"/>
                </a:solidFill>
                <a:latin typeface="Calibri" pitchFamily="34" charset="0"/>
                <a:ea typeface="Calibri" pitchFamily="34" charset="-122"/>
                <a:cs typeface="Calibri" pitchFamily="34" charset="-120"/>
              </a:rPr>
              <a:t>if x &gt; 5:</a:t>
            </a:r>
            <a:endParaRPr lang="en-US" sz="1800" dirty="0"/>
          </a:p>
        </p:txBody>
      </p:sp>
      <p:sp>
        <p:nvSpPr>
          <p:cNvPr id="30" name="Text 26"/>
          <p:cNvSpPr txBox="1"/>
          <p:nvPr/>
        </p:nvSpPr>
        <p:spPr>
          <a:xfrm>
            <a:off x="9573768" y="2651760"/>
            <a:ext cx="1892808" cy="987552"/>
          </a:xfrm>
          <a:prstGeom prst="rect">
            <a:avLst/>
          </a:prstGeom>
          <a:noFill/>
          <a:ln/>
        </p:spPr>
        <p:txBody>
          <a:bodyPr wrap="square" lIns="0" tIns="0" rIns="0" bIns="0" rtlCol="0" anchor="ctr"/>
          <a:lstStyle/>
          <a:p>
            <a:pPr indent="0" marL="0">
              <a:buNone/>
            </a:pPr>
            <a:r>
              <a:rPr lang="en-US" sz="1800" i="1" dirty="0">
                <a:solidFill>
                  <a:srgbClr val="A9A9B4"/>
                </a:solidFill>
                <a:latin typeface="Calibri" pitchFamily="34" charset="0"/>
                <a:ea typeface="Calibri" pitchFamily="34" charset="-122"/>
                <a:cs typeface="Calibri" pitchFamily="34" charset="-120"/>
              </a:rPr>
              <a:t>else runs when nothing above was True</a:t>
            </a:r>
            <a:endParaRPr lang="en-US" sz="1800" dirty="0"/>
          </a:p>
        </p:txBody>
      </p:sp>
      <p:sp>
        <p:nvSpPr>
          <p:cNvPr id="31" name="q3"/>
          <p:cNvSpPr/>
          <p:nvPr/>
        </p:nvSpPr>
        <p:spPr>
          <a:xfrm>
            <a:off x="548640" y="4023360"/>
            <a:ext cx="5413248" cy="2286000"/>
          </a:xfrm>
          <a:prstGeom prst="roundRect">
            <a:avLst>
              <a:gd name="adj" fmla="val 3200"/>
            </a:avLst>
          </a:prstGeom>
          <a:solidFill>
            <a:srgbClr val="2A2A32"/>
          </a:solidFill>
          <a:ln w="15875">
            <a:solidFill>
              <a:srgbClr val="3A3A44"/>
            </a:solidFill>
            <a:prstDash val="solid"/>
          </a:ln>
        </p:spPr>
      </p:sp>
      <p:sp>
        <p:nvSpPr>
          <p:cNvPr id="32" name="Shape 28"/>
          <p:cNvSpPr/>
          <p:nvPr/>
        </p:nvSpPr>
        <p:spPr>
          <a:xfrm>
            <a:off x="777240" y="4224528"/>
            <a:ext cx="384048" cy="384048"/>
          </a:xfrm>
          <a:prstGeom prst="ellipse">
            <a:avLst/>
          </a:prstGeom>
          <a:solidFill>
            <a:srgbClr val="D8A73D"/>
          </a:solidFill>
          <a:ln/>
        </p:spPr>
      </p:sp>
      <p:sp>
        <p:nvSpPr>
          <p:cNvPr id="33" name="Text 29"/>
          <p:cNvSpPr txBox="1"/>
          <p:nvPr/>
        </p:nvSpPr>
        <p:spPr>
          <a:xfrm>
            <a:off x="777240" y="4224528"/>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4" name="Shape 30"/>
          <p:cNvSpPr/>
          <p:nvPr/>
        </p:nvSpPr>
        <p:spPr>
          <a:xfrm>
            <a:off x="1280160" y="4251960"/>
            <a:ext cx="1600200" cy="310896"/>
          </a:xfrm>
          <a:prstGeom prst="roundRect">
            <a:avLst>
              <a:gd name="adj" fmla="val 52941"/>
            </a:avLst>
          </a:prstGeom>
          <a:solidFill>
            <a:srgbClr val="1E1E24"/>
          </a:solidFill>
          <a:ln w="15875">
            <a:solidFill>
              <a:srgbClr val="D8A73D"/>
            </a:solidFill>
            <a:prstDash val="solid"/>
          </a:ln>
        </p:spPr>
      </p:sp>
      <p:sp>
        <p:nvSpPr>
          <p:cNvPr id="35" name="Text 31"/>
          <p:cNvSpPr txBox="1"/>
          <p:nvPr/>
        </p:nvSpPr>
        <p:spPr>
          <a:xfrm>
            <a:off x="1280160"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D8A73D"/>
                </a:solidFill>
                <a:latin typeface="Calibri" pitchFamily="34" charset="0"/>
                <a:ea typeface="Calibri" pitchFamily="34" charset="-122"/>
                <a:cs typeface="Calibri" pitchFamily="34" charset="-120"/>
              </a:rPr>
              <a:t>LAST LESSON</a:t>
            </a:r>
            <a:endParaRPr lang="en-US" sz="1200" dirty="0"/>
          </a:p>
        </p:txBody>
      </p:sp>
      <p:sp>
        <p:nvSpPr>
          <p:cNvPr id="36" name="Shape 32"/>
          <p:cNvSpPr/>
          <p:nvPr/>
        </p:nvSpPr>
        <p:spPr>
          <a:xfrm>
            <a:off x="2971800" y="4251960"/>
            <a:ext cx="1783080" cy="310896"/>
          </a:xfrm>
          <a:prstGeom prst="roundRect">
            <a:avLst>
              <a:gd name="adj" fmla="val 52941"/>
            </a:avLst>
          </a:prstGeom>
          <a:solidFill>
            <a:srgbClr val="1E1E24"/>
          </a:solidFill>
          <a:ln w="15875">
            <a:solidFill>
              <a:srgbClr val="3A3A44"/>
            </a:solidFill>
            <a:prstDash val="solid"/>
          </a:ln>
        </p:spPr>
      </p:sp>
      <p:sp>
        <p:nvSpPr>
          <p:cNvPr id="37" name="Text 33"/>
          <p:cNvSpPr txBox="1"/>
          <p:nvPr/>
        </p:nvSpPr>
        <p:spPr>
          <a:xfrm>
            <a:off x="2971800"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A9A9B4"/>
                </a:solidFill>
                <a:latin typeface="Calibri" pitchFamily="34" charset="0"/>
                <a:ea typeface="Calibri" pitchFamily="34" charset="-122"/>
                <a:cs typeface="Calibri" pitchFamily="34" charset="-120"/>
              </a:rPr>
              <a:t>WRITE IT</a:t>
            </a:r>
            <a:endParaRPr lang="en-US" sz="1200" dirty="0"/>
          </a:p>
        </p:txBody>
      </p:sp>
      <p:sp>
        <p:nvSpPr>
          <p:cNvPr id="38" name="Text 34"/>
          <p:cNvSpPr txBox="1"/>
          <p:nvPr/>
        </p:nvSpPr>
        <p:spPr>
          <a:xfrm>
            <a:off x="777240" y="4663440"/>
            <a:ext cx="4956048" cy="411480"/>
          </a:xfrm>
          <a:prstGeom prst="rect">
            <a:avLst/>
          </a:prstGeom>
          <a:noFill/>
          <a:ln/>
        </p:spPr>
        <p:txBody>
          <a:bodyPr wrap="square" lIns="0" tIns="0" rIns="0" bIns="0" rtlCol="0" anchor="ctr"/>
          <a:lstStyle/>
          <a:p>
            <a:pPr indent="0" marL="0">
              <a:buNone/>
            </a:pPr>
            <a:r>
              <a:rPr lang="en-US" sz="2000" b="1" dirty="0">
                <a:solidFill>
                  <a:srgbClr val="F5F5F3"/>
                </a:solidFill>
                <a:latin typeface="Calibri" pitchFamily="34" charset="0"/>
                <a:ea typeface="Calibri" pitchFamily="34" charset="-122"/>
                <a:cs typeface="Calibri" pitchFamily="34" charset="-120"/>
              </a:rPr>
              <a:t>This line crashes. Write it correctly.</a:t>
            </a:r>
            <a:endParaRPr lang="en-US" sz="2000" dirty="0"/>
          </a:p>
        </p:txBody>
      </p:sp>
      <p:sp>
        <p:nvSpPr>
          <p:cNvPr id="39" name="Shape 35"/>
          <p:cNvSpPr/>
          <p:nvPr/>
        </p:nvSpPr>
        <p:spPr>
          <a:xfrm>
            <a:off x="777240" y="5074920"/>
            <a:ext cx="4956048" cy="484632"/>
          </a:xfrm>
          <a:prstGeom prst="roundRect">
            <a:avLst>
              <a:gd name="adj" fmla="val 11321"/>
            </a:avLst>
          </a:prstGeom>
          <a:solidFill>
            <a:srgbClr val="111115"/>
          </a:solidFill>
          <a:ln/>
        </p:spPr>
      </p:sp>
      <p:sp>
        <p:nvSpPr>
          <p:cNvPr id="40" name="Text 36"/>
          <p:cNvSpPr txBox="1"/>
          <p:nvPr/>
        </p:nvSpPr>
        <p:spPr>
          <a:xfrm>
            <a:off x="914400" y="5166360"/>
            <a:ext cx="4681728" cy="301752"/>
          </a:xfrm>
          <a:prstGeom prst="rect">
            <a:avLst/>
          </a:prstGeom>
          <a:noFill/>
          <a:ln/>
        </p:spPr>
        <p:txBody>
          <a:bodyPr wrap="square" lIns="0" tIns="0" rIns="0" bIns="0" rtlCol="0" anchor="ctr"/>
          <a:lstStyle/>
          <a:p>
            <a:pPr indent="0" marL="0">
              <a:buNone/>
            </a:pPr>
            <a:r>
              <a:rPr lang="en-US" sz="1800" b="1" dirty="0">
                <a:solidFill>
                  <a:srgbClr val="F5F5F3"/>
                </a:solidFill>
                <a:latin typeface="Consolas" pitchFamily="34" charset="0"/>
                <a:ea typeface="Consolas" pitchFamily="34" charset="-122"/>
                <a:cs typeface="Consolas" pitchFamily="34" charset="-120"/>
              </a:rPr>
              <a:t>if</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F5F5F3"/>
                </a:solidFill>
                <a:latin typeface="Consolas" pitchFamily="34" charset="0"/>
                <a:ea typeface="Consolas" pitchFamily="34" charset="-122"/>
                <a:cs typeface="Consolas" pitchFamily="34" charset="-120"/>
              </a:rPr>
              <a:t>answer</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E69F00"/>
                </a:solidFill>
                <a:latin typeface="Consolas" pitchFamily="34" charset="0"/>
                <a:ea typeface="Consolas" pitchFamily="34" charset="-122"/>
                <a:cs typeface="Consolas" pitchFamily="34" charset="-120"/>
              </a:rPr>
              <a:t>"y"</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41" name="Text 37"/>
          <p:cNvSpPr txBox="1"/>
          <p:nvPr/>
        </p:nvSpPr>
        <p:spPr>
          <a:xfrm>
            <a:off x="777240" y="5632704"/>
            <a:ext cx="4956048" cy="365760"/>
          </a:xfrm>
          <a:prstGeom prst="rect">
            <a:avLst/>
          </a:prstGeom>
          <a:noFill/>
          <a:ln/>
        </p:spPr>
        <p:txBody>
          <a:bodyPr wrap="square" lIns="0" tIns="0" rIns="0" bIns="0" rtlCol="0" anchor="ctr"/>
          <a:lstStyle/>
          <a:p>
            <a:pPr indent="0" marL="0">
              <a:buNone/>
            </a:pPr>
            <a:r>
              <a:rPr lang="en-US" sz="2200" b="1" dirty="0">
                <a:solidFill>
                  <a:srgbClr val="7FD99A"/>
                </a:solidFill>
                <a:latin typeface="Consolas" pitchFamily="34" charset="0"/>
                <a:ea typeface="Consolas" pitchFamily="34" charset="-122"/>
                <a:cs typeface="Consolas" pitchFamily="34" charset="-120"/>
              </a:rPr>
              <a:t>if answer == "y":</a:t>
            </a:r>
            <a:pPr indent="0" marL="0">
              <a:buNone/>
            </a:pPr>
            <a:r>
              <a:rPr lang="en-US" sz="1800" dirty="0">
                <a:solidFill>
                  <a:srgbClr val="A9A9B4"/>
                </a:solidFill>
                <a:latin typeface="Calibri" pitchFamily="34" charset="0"/>
                <a:ea typeface="Calibri" pitchFamily="34" charset="-122"/>
                <a:cs typeface="Calibri" pitchFamily="34" charset="-120"/>
              </a:rPr>
              <a:t>   = stores, == asks</a:t>
            </a:r>
            <a:endParaRPr lang="en-US" sz="2200" dirty="0"/>
          </a:p>
        </p:txBody>
      </p:sp>
      <p:sp>
        <p:nvSpPr>
          <p:cNvPr id="42" name="q4"/>
          <p:cNvSpPr/>
          <p:nvPr/>
        </p:nvSpPr>
        <p:spPr>
          <a:xfrm>
            <a:off x="6236208" y="4023360"/>
            <a:ext cx="5413248" cy="2286000"/>
          </a:xfrm>
          <a:prstGeom prst="roundRect">
            <a:avLst>
              <a:gd name="adj" fmla="val 3200"/>
            </a:avLst>
          </a:prstGeom>
          <a:solidFill>
            <a:srgbClr val="2A2A32"/>
          </a:solidFill>
          <a:ln w="15875">
            <a:solidFill>
              <a:srgbClr val="3A3A44"/>
            </a:solidFill>
            <a:prstDash val="solid"/>
          </a:ln>
        </p:spPr>
      </p:sp>
      <p:sp>
        <p:nvSpPr>
          <p:cNvPr id="43" name="Shape 39"/>
          <p:cNvSpPr/>
          <p:nvPr/>
        </p:nvSpPr>
        <p:spPr>
          <a:xfrm>
            <a:off x="6464808" y="4224528"/>
            <a:ext cx="384048" cy="384048"/>
          </a:xfrm>
          <a:prstGeom prst="ellipse">
            <a:avLst/>
          </a:prstGeom>
          <a:solidFill>
            <a:srgbClr val="D8A73D"/>
          </a:solidFill>
          <a:ln/>
        </p:spPr>
      </p:sp>
      <p:sp>
        <p:nvSpPr>
          <p:cNvPr id="44" name="Text 40"/>
          <p:cNvSpPr txBox="1"/>
          <p:nvPr/>
        </p:nvSpPr>
        <p:spPr>
          <a:xfrm>
            <a:off x="6464808" y="4224528"/>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45" name="Shape 41"/>
          <p:cNvSpPr/>
          <p:nvPr/>
        </p:nvSpPr>
        <p:spPr>
          <a:xfrm>
            <a:off x="6967728" y="4251960"/>
            <a:ext cx="1600200" cy="310896"/>
          </a:xfrm>
          <a:prstGeom prst="roundRect">
            <a:avLst>
              <a:gd name="adj" fmla="val 52941"/>
            </a:avLst>
          </a:prstGeom>
          <a:solidFill>
            <a:srgbClr val="1E1E24"/>
          </a:solidFill>
          <a:ln w="15875">
            <a:solidFill>
              <a:srgbClr val="D8A73D"/>
            </a:solidFill>
            <a:prstDash val="solid"/>
          </a:ln>
        </p:spPr>
      </p:sp>
      <p:sp>
        <p:nvSpPr>
          <p:cNvPr id="46" name="Text 42"/>
          <p:cNvSpPr txBox="1"/>
          <p:nvPr/>
        </p:nvSpPr>
        <p:spPr>
          <a:xfrm>
            <a:off x="6967728" y="4251960"/>
            <a:ext cx="1600200" cy="310896"/>
          </a:xfrm>
          <a:prstGeom prst="rect">
            <a:avLst/>
          </a:prstGeom>
          <a:noFill/>
          <a:ln/>
        </p:spPr>
        <p:txBody>
          <a:bodyPr wrap="square" lIns="0" tIns="0" rIns="0" bIns="0" rtlCol="0" anchor="ctr"/>
          <a:lstStyle/>
          <a:p>
            <a:pPr algn="ctr" indent="0" marL="0">
              <a:buNone/>
            </a:pPr>
            <a:r>
              <a:rPr lang="en-US" sz="1200" b="1" spc="100" kern="0" dirty="0">
                <a:solidFill>
                  <a:srgbClr val="D8A73D"/>
                </a:solidFill>
                <a:latin typeface="Calibri" pitchFamily="34" charset="0"/>
                <a:ea typeface="Calibri" pitchFamily="34" charset="-122"/>
                <a:cs typeface="Calibri" pitchFamily="34" charset="-120"/>
              </a:rPr>
              <a:t>LAST LESSON</a:t>
            </a:r>
            <a:endParaRPr lang="en-US" sz="1200" dirty="0"/>
          </a:p>
        </p:txBody>
      </p:sp>
      <p:sp>
        <p:nvSpPr>
          <p:cNvPr id="47" name="Shape 43"/>
          <p:cNvSpPr/>
          <p:nvPr/>
        </p:nvSpPr>
        <p:spPr>
          <a:xfrm>
            <a:off x="8659368" y="4251960"/>
            <a:ext cx="1783080" cy="310896"/>
          </a:xfrm>
          <a:prstGeom prst="roundRect">
            <a:avLst>
              <a:gd name="adj" fmla="val 52941"/>
            </a:avLst>
          </a:prstGeom>
          <a:solidFill>
            <a:srgbClr val="1E1E24"/>
          </a:solidFill>
          <a:ln w="15875">
            <a:solidFill>
              <a:srgbClr val="3A3A44"/>
            </a:solidFill>
            <a:prstDash val="solid"/>
          </a:ln>
        </p:spPr>
      </p:sp>
      <p:sp>
        <p:nvSpPr>
          <p:cNvPr id="48" name="Text 44"/>
          <p:cNvSpPr txBox="1"/>
          <p:nvPr/>
        </p:nvSpPr>
        <p:spPr>
          <a:xfrm>
            <a:off x="8659368" y="4251960"/>
            <a:ext cx="1783080" cy="310896"/>
          </a:xfrm>
          <a:prstGeom prst="rect">
            <a:avLst/>
          </a:prstGeom>
          <a:noFill/>
          <a:ln/>
        </p:spPr>
        <p:txBody>
          <a:bodyPr wrap="square" lIns="0" tIns="0" rIns="0" bIns="0" rtlCol="0" anchor="ctr"/>
          <a:lstStyle/>
          <a:p>
            <a:pPr algn="ctr" indent="0" marL="0">
              <a:buNone/>
            </a:pPr>
            <a:r>
              <a:rPr lang="en-US" sz="1200" b="1" spc="100" kern="0" dirty="0">
                <a:solidFill>
                  <a:srgbClr val="A9A9B4"/>
                </a:solidFill>
                <a:latin typeface="Calibri" pitchFamily="34" charset="0"/>
                <a:ea typeface="Calibri" pitchFamily="34" charset="-122"/>
                <a:cs typeface="Calibri" pitchFamily="34" charset="-120"/>
              </a:rPr>
              <a:t>WRITE IT</a:t>
            </a:r>
            <a:endParaRPr lang="en-US" sz="1200" dirty="0"/>
          </a:p>
        </p:txBody>
      </p:sp>
      <p:sp>
        <p:nvSpPr>
          <p:cNvPr id="49" name="Text 45"/>
          <p:cNvSpPr txBox="1"/>
          <p:nvPr/>
        </p:nvSpPr>
        <p:spPr>
          <a:xfrm>
            <a:off x="6464808" y="4663440"/>
            <a:ext cx="4956048" cy="411480"/>
          </a:xfrm>
          <a:prstGeom prst="rect">
            <a:avLst/>
          </a:prstGeom>
          <a:noFill/>
          <a:ln/>
        </p:spPr>
        <p:txBody>
          <a:bodyPr wrap="square" lIns="0" tIns="0" rIns="0" bIns="0" rtlCol="0" anchor="ctr"/>
          <a:lstStyle/>
          <a:p>
            <a:pPr indent="0" marL="0">
              <a:buNone/>
            </a:pPr>
            <a:r>
              <a:rPr lang="en-US" sz="2000" b="1" dirty="0">
                <a:solidFill>
                  <a:srgbClr val="F5F5F3"/>
                </a:solidFill>
                <a:latin typeface="Calibri" pitchFamily="34" charset="0"/>
                <a:ea typeface="Calibri" pitchFamily="34" charset="-122"/>
                <a:cs typeface="Calibri" pitchFamily="34" charset="-120"/>
              </a:rPr>
              <a:t>They type 14. What is printed?</a:t>
            </a:r>
            <a:endParaRPr lang="en-US" sz="2000" dirty="0"/>
          </a:p>
        </p:txBody>
      </p:sp>
      <p:sp>
        <p:nvSpPr>
          <p:cNvPr id="50" name="Shape 46"/>
          <p:cNvSpPr/>
          <p:nvPr/>
        </p:nvSpPr>
        <p:spPr>
          <a:xfrm>
            <a:off x="6464808" y="5074920"/>
            <a:ext cx="4956048" cy="786384"/>
          </a:xfrm>
          <a:prstGeom prst="roundRect">
            <a:avLst>
              <a:gd name="adj" fmla="val 6977"/>
            </a:avLst>
          </a:prstGeom>
          <a:solidFill>
            <a:srgbClr val="111115"/>
          </a:solidFill>
          <a:ln/>
        </p:spPr>
      </p:sp>
      <p:sp>
        <p:nvSpPr>
          <p:cNvPr id="51" name="Text 47"/>
          <p:cNvSpPr txBox="1"/>
          <p:nvPr/>
        </p:nvSpPr>
        <p:spPr>
          <a:xfrm>
            <a:off x="6601968" y="5166360"/>
            <a:ext cx="4681728" cy="301752"/>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age</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E8C878"/>
                </a:solidFill>
                <a:latin typeface="Consolas" pitchFamily="34" charset="0"/>
                <a:ea typeface="Consolas" pitchFamily="34" charset="-122"/>
                <a:cs typeface="Consolas" pitchFamily="34" charset="-120"/>
              </a:rPr>
              <a:t>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8C878"/>
                </a:solidFill>
                <a:latin typeface="Consolas" pitchFamily="34" charset="0"/>
                <a:ea typeface="Consolas" pitchFamily="34" charset="-122"/>
                <a:cs typeface="Consolas" pitchFamily="34" charset="-120"/>
              </a:rPr>
              <a:t>input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E69F00"/>
                </a:solidFill>
                <a:latin typeface="Consolas" pitchFamily="34" charset="0"/>
                <a:ea typeface="Consolas" pitchFamily="34" charset="-122"/>
                <a:cs typeface="Consolas" pitchFamily="34" charset="-120"/>
              </a:rPr>
              <a:t>"Age?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52" name="Text 48"/>
          <p:cNvSpPr txBox="1"/>
          <p:nvPr/>
        </p:nvSpPr>
        <p:spPr>
          <a:xfrm>
            <a:off x="6601968" y="5468112"/>
            <a:ext cx="4681728" cy="301752"/>
          </a:xfrm>
          <a:prstGeom prst="rect">
            <a:avLst/>
          </a:prstGeom>
          <a:noFill/>
          <a:ln/>
        </p:spPr>
        <p:txBody>
          <a:bodyPr wrap="square" lIns="0" tIns="0" rIns="0" bIns="0" rtlCol="0" anchor="ctr"/>
          <a:lstStyle/>
          <a:p>
            <a:pPr indent="0" marL="0">
              <a:buNone/>
            </a:pPr>
            <a:r>
              <a:rPr lang="en-US" sz="1800" dirty="0">
                <a:solidFill>
                  <a:srgbClr val="E8C878"/>
                </a:solidFill>
                <a:latin typeface="Consolas" pitchFamily="34" charset="0"/>
                <a:ea typeface="Consolas" pitchFamily="34" charset="-122"/>
                <a:cs typeface="Consolas" pitchFamily="34" charset="-120"/>
              </a:rPr>
              <a:t>print</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age</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A9A9B4"/>
                </a:solidFill>
                <a:latin typeface="Consolas" pitchFamily="34" charset="0"/>
                <a:ea typeface="Consolas" pitchFamily="34" charset="-122"/>
                <a:cs typeface="Consolas" pitchFamily="34" charset="-120"/>
              </a:rPr>
              <a:t>+</a:t>
            </a:r>
            <a:pPr indent="0" marL="0">
              <a:buNone/>
            </a:pPr>
            <a:r>
              <a:rPr lang="en-US" sz="1800" dirty="0">
                <a:solidFill>
                  <a:srgbClr val="F5F5F3"/>
                </a:solidFill>
                <a:latin typeface="Consolas" pitchFamily="34" charset="0"/>
                <a:ea typeface="Consolas" pitchFamily="34" charset="-122"/>
                <a:cs typeface="Consolas" pitchFamily="34" charset="-120"/>
              </a:rPr>
              <a:t> </a:t>
            </a:r>
            <a:pPr indent="0" marL="0">
              <a:buNone/>
            </a:pPr>
            <a:r>
              <a:rPr lang="en-US" sz="1800" dirty="0">
                <a:solidFill>
                  <a:srgbClr val="56B4E9"/>
                </a:solidFill>
                <a:latin typeface="Consolas" pitchFamily="34" charset="0"/>
                <a:ea typeface="Consolas" pitchFamily="34" charset="-122"/>
                <a:cs typeface="Consolas" pitchFamily="34" charset="-120"/>
              </a:rPr>
              <a:t>1</a:t>
            </a:r>
            <a:pPr indent="0" marL="0">
              <a:buNone/>
            </a:pPr>
            <a:r>
              <a:rPr lang="en-US" sz="1800" dirty="0">
                <a:solidFill>
                  <a:srgbClr val="A9A9B4"/>
                </a:solidFill>
                <a:latin typeface="Consolas" pitchFamily="34" charset="0"/>
                <a:ea typeface="Consolas" pitchFamily="34" charset="-122"/>
                <a:cs typeface="Consolas" pitchFamily="34" charset="-120"/>
              </a:rPr>
              <a:t>)</a:t>
            </a:r>
            <a:endParaRPr lang="en-US" sz="1800" dirty="0"/>
          </a:p>
        </p:txBody>
      </p:sp>
      <p:sp>
        <p:nvSpPr>
          <p:cNvPr id="53" name="Text 49"/>
          <p:cNvSpPr txBox="1"/>
          <p:nvPr/>
        </p:nvSpPr>
        <p:spPr>
          <a:xfrm>
            <a:off x="6464808" y="5934456"/>
            <a:ext cx="4956048" cy="365760"/>
          </a:xfrm>
          <a:prstGeom prst="rect">
            <a:avLst/>
          </a:prstGeom>
          <a:noFill/>
          <a:ln/>
        </p:spPr>
        <p:txBody>
          <a:bodyPr wrap="square" lIns="0" tIns="0" rIns="0" bIns="0" rtlCol="0" anchor="ctr"/>
          <a:lstStyle/>
          <a:p>
            <a:pPr indent="0" marL="0">
              <a:buNone/>
            </a:pPr>
            <a:r>
              <a:rPr lang="en-US" sz="2200" b="1" dirty="0">
                <a:solidFill>
                  <a:srgbClr val="7FD99A"/>
                </a:solidFill>
                <a:latin typeface="Consolas" pitchFamily="34" charset="0"/>
                <a:ea typeface="Consolas" pitchFamily="34" charset="-122"/>
                <a:cs typeface="Consolas" pitchFamily="34" charset="-120"/>
              </a:rPr>
              <a:t>15</a:t>
            </a:r>
            <a:pPr indent="0" marL="0">
              <a:buNone/>
            </a:pPr>
            <a:r>
              <a:rPr lang="en-US" sz="1800" dirty="0">
                <a:solidFill>
                  <a:srgbClr val="A9A9B4"/>
                </a:solidFill>
                <a:latin typeface="Calibri" pitchFamily="34" charset="0"/>
                <a:ea typeface="Calibri" pitchFamily="34" charset="-122"/>
                <a:cs typeface="Calibri" pitchFamily="34" charset="-120"/>
              </a:rPr>
              <a:t>   int() made it a number, so + adds</a:t>
            </a:r>
            <a:endParaRPr lang="en-US" sz="2200" dirty="0"/>
          </a:p>
        </p:txBody>
      </p:sp>
      <p:pic>
        <p:nvPicPr>
          <p:cNvPr id="54" name="Image 2" descr="Recap and recall">    </p:cNvPr>
          <p:cNvPicPr>
            <a:picLocks noChangeAspect="1"/>
          </p:cNvPicPr>
          <p:nvPr/>
        </p:nvPicPr>
        <p:blipFill>
          <a:blip r:embed="rId3"/>
          <a:stretch>
            <a:fillRect/>
          </a:stretch>
        </p:blipFill>
        <p:spPr>
          <a:xfrm>
            <a:off x="10972800" y="384048"/>
            <a:ext cx="731520" cy="731520"/>
          </a:xfrm>
          <a:prstGeom prst="rect">
            <a:avLst/>
          </a:prstGeom>
        </p:spPr>
      </p:pic>
      <p:sp>
        <p:nvSpPr>
          <p:cNvPr id="5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txBox="1"/>
          <p:nvPr/>
        </p:nvSpPr>
        <p:spPr>
          <a:xfrm>
            <a:off x="640080" y="1874520"/>
            <a:ext cx="6035040" cy="365760"/>
          </a:xfrm>
          <a:prstGeom prst="rect">
            <a:avLst/>
          </a:prstGeom>
          <a:noFill/>
          <a:ln/>
        </p:spPr>
        <p:txBody>
          <a:bodyPr wrap="square" lIns="0" tIns="0" rIns="0" bIns="0"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Y9 PYTHON  ·  LESSON 3  ·  WHILE LOOPS</a:t>
            </a:r>
            <a:endParaRPr lang="en-US" sz="1400" dirty="0"/>
          </a:p>
        </p:txBody>
      </p:sp>
      <p:sp>
        <p:nvSpPr>
          <p:cNvPr id="6" name="Text 2"/>
          <p:cNvSpPr txBox="1"/>
          <p:nvPr/>
        </p:nvSpPr>
        <p:spPr>
          <a:xfrm>
            <a:off x="640080" y="2286000"/>
            <a:ext cx="6035040" cy="1097280"/>
          </a:xfrm>
          <a:prstGeom prst="rect">
            <a:avLst/>
          </a:prstGeom>
          <a:noFill/>
          <a:ln/>
        </p:spPr>
        <p:txBody>
          <a:bodyPr wrap="square" lIns="0" tIns="0" rIns="0" bIns="0" rtlCol="0" anchor="ctr"/>
          <a:lstStyle/>
          <a:p>
            <a:pPr indent="0" marL="0">
              <a:buNone/>
            </a:pPr>
            <a:r>
              <a:rPr lang="en-US" sz="6400" b="1" dirty="0">
                <a:solidFill>
                  <a:srgbClr val="F5F5F3"/>
                </a:solidFill>
                <a:latin typeface="Cambria" pitchFamily="34" charset="0"/>
                <a:ea typeface="Cambria" pitchFamily="34" charset="-122"/>
                <a:cs typeface="Cambria" pitchFamily="34" charset="-120"/>
              </a:rPr>
              <a:t>Station Zero</a:t>
            </a:r>
            <a:endParaRPr lang="en-US" sz="6400" dirty="0"/>
          </a:p>
        </p:txBody>
      </p:sp>
      <p:sp>
        <p:nvSpPr>
          <p:cNvPr id="7" name="Text 3"/>
          <p:cNvSpPr txBox="1"/>
          <p:nvPr/>
        </p:nvSpPr>
        <p:spPr>
          <a:xfrm>
            <a:off x="640080" y="3429000"/>
            <a:ext cx="6035040" cy="548640"/>
          </a:xfrm>
          <a:prstGeom prst="rect">
            <a:avLst/>
          </a:prstGeom>
          <a:noFill/>
          <a:ln/>
        </p:spPr>
        <p:txBody>
          <a:bodyPr wrap="square" lIns="0" tIns="0" rIns="0" bIns="0" rtlCol="0" anchor="ctr"/>
          <a:lstStyle/>
          <a:p>
            <a:pPr indent="0" marL="0">
              <a:buNone/>
            </a:pPr>
            <a:r>
              <a:rPr lang="en-US" sz="2800" dirty="0">
                <a:solidFill>
                  <a:srgbClr val="A9A9B4"/>
                </a:solidFill>
                <a:latin typeface="Cambria" pitchFamily="34" charset="0"/>
                <a:ea typeface="Cambria" pitchFamily="34" charset="-122"/>
                <a:cs typeface="Cambria" pitchFamily="34" charset="-120"/>
              </a:rPr>
              <a:t>Chapter 3 — Locked In</a:t>
            </a:r>
            <a:endParaRPr lang="en-US" sz="2800" dirty="0"/>
          </a:p>
        </p:txBody>
      </p:sp>
      <p:sp>
        <p:nvSpPr>
          <p:cNvPr id="8" name="terminal"/>
          <p:cNvSpPr/>
          <p:nvPr/>
        </p:nvSpPr>
        <p:spPr>
          <a:xfrm>
            <a:off x="6903720" y="1600200"/>
            <a:ext cx="4663440" cy="2809240"/>
          </a:xfrm>
          <a:prstGeom prst="roundRect">
            <a:avLst>
              <a:gd name="adj" fmla="val 2604"/>
            </a:avLst>
          </a:prstGeom>
          <a:solidFill>
            <a:srgbClr val="0D1310"/>
          </a:solidFill>
          <a:ln w="15875">
            <a:solidFill>
              <a:srgbClr val="2C4434"/>
            </a:solidFill>
            <a:prstDash val="solid"/>
          </a:ln>
        </p:spPr>
      </p:sp>
      <p:sp>
        <p:nvSpPr>
          <p:cNvPr id="9" name="Text 5"/>
          <p:cNvSpPr txBox="1"/>
          <p:nvPr/>
        </p:nvSpPr>
        <p:spPr>
          <a:xfrm>
            <a:off x="7132320" y="1783080"/>
            <a:ext cx="4206240" cy="274320"/>
          </a:xfrm>
          <a:prstGeom prst="rect">
            <a:avLst/>
          </a:prstGeom>
          <a:noFill/>
          <a:ln/>
        </p:spPr>
        <p:txBody>
          <a:bodyPr wrap="square" lIns="0" tIns="0" rIns="0" bIns="0" rtlCol="0" anchor="ctr"/>
          <a:lstStyle/>
          <a:p>
            <a:pPr indent="0" marL="0">
              <a:buNone/>
            </a:pPr>
            <a:r>
              <a:rPr lang="en-US" sz="1200" b="1" spc="200" kern="0" dirty="0">
                <a:solidFill>
                  <a:srgbClr val="7FD99A"/>
                </a:solidFill>
                <a:latin typeface="Calibri" pitchFamily="34" charset="0"/>
                <a:ea typeface="Calibri" pitchFamily="34" charset="-122"/>
                <a:cs typeface="Calibri" pitchFamily="34" charset="-120"/>
              </a:rPr>
              <a:t>STATION STATUS</a:t>
            </a:r>
            <a:endParaRPr lang="en-US" sz="1200" dirty="0"/>
          </a:p>
        </p:txBody>
      </p:sp>
      <p:sp>
        <p:nvSpPr>
          <p:cNvPr id="10" name="Text 6"/>
          <p:cNvSpPr txBox="1"/>
          <p:nvPr/>
        </p:nvSpPr>
        <p:spPr>
          <a:xfrm>
            <a:off x="7132320" y="21488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AIRLOCK ........ SEALED</a:t>
            </a:r>
            <a:endParaRPr lang="en-US" sz="2000" dirty="0"/>
          </a:p>
        </p:txBody>
      </p:sp>
      <p:sp>
        <p:nvSpPr>
          <p:cNvPr id="11" name="Text 7"/>
          <p:cNvSpPr txBox="1"/>
          <p:nvPr/>
        </p:nvSpPr>
        <p:spPr>
          <a:xfrm>
            <a:off x="7132320" y="25552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ACCESS CODE .... CHANGED</a:t>
            </a:r>
            <a:endParaRPr lang="en-US" sz="2000" dirty="0"/>
          </a:p>
        </p:txBody>
      </p:sp>
      <p:sp>
        <p:nvSpPr>
          <p:cNvPr id="12" name="Text 8"/>
          <p:cNvSpPr txBox="1"/>
          <p:nvPr/>
        </p:nvSpPr>
        <p:spPr>
          <a:xfrm>
            <a:off x="7132320" y="29616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CHANGED BY ..... </a:t>
            </a:r>
            <a:pPr indent="0" marL="0">
              <a:buNone/>
            </a:pPr>
            <a:r>
              <a:rPr lang="en-US" sz="2000" b="1" dirty="0">
                <a:solidFill>
                  <a:srgbClr val="D8A73D"/>
                </a:solidFill>
                <a:latin typeface="Consolas" pitchFamily="34" charset="0"/>
                <a:ea typeface="Consolas" pitchFamily="34" charset="-122"/>
                <a:cs typeface="Consolas" pitchFamily="34" charset="-120"/>
              </a:rPr>
              <a:t>WARDEN</a:t>
            </a:r>
            <a:endParaRPr lang="en-US" sz="2000" dirty="0"/>
          </a:p>
        </p:txBody>
      </p:sp>
      <p:sp>
        <p:nvSpPr>
          <p:cNvPr id="13" name="Text 9"/>
          <p:cNvSpPr txBox="1"/>
          <p:nvPr/>
        </p:nvSpPr>
        <p:spPr>
          <a:xfrm>
            <a:off x="7132320" y="33680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NAVIGATION ..... OFFLINE</a:t>
            </a:r>
            <a:endParaRPr lang="en-US" sz="2000" dirty="0"/>
          </a:p>
        </p:txBody>
      </p:sp>
      <p:sp>
        <p:nvSpPr>
          <p:cNvPr id="14" name="Text 10"/>
          <p:cNvSpPr txBox="1"/>
          <p:nvPr/>
        </p:nvSpPr>
        <p:spPr>
          <a:xfrm>
            <a:off x="7132320" y="3774440"/>
            <a:ext cx="420624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&gt; _</a:t>
            </a:r>
            <a:endParaRPr lang="en-US" sz="2000" dirty="0"/>
          </a:p>
        </p:txBody>
      </p:sp>
    </p:spTree>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are we learning?</a:t>
            </a:r>
            <a:endParaRPr lang="en-US" sz="3600" dirty="0"/>
          </a:p>
        </p:txBody>
      </p:sp>
      <p:sp>
        <p:nvSpPr>
          <p:cNvPr id="6" name="Shape 2"/>
          <p:cNvSpPr/>
          <p:nvPr/>
        </p:nvSpPr>
        <p:spPr>
          <a:xfrm>
            <a:off x="548640" y="1600200"/>
            <a:ext cx="11091672" cy="1417320"/>
          </a:xfrm>
          <a:prstGeom prst="roundRect">
            <a:avLst>
              <a:gd name="adj" fmla="val 5161"/>
            </a:avLst>
          </a:prstGeom>
          <a:solidFill>
            <a:srgbClr val="1E1E24"/>
          </a:solidFill>
          <a:ln w="15875">
            <a:solidFill>
              <a:srgbClr val="3A3A44"/>
            </a:solidFill>
            <a:prstDash val="solid"/>
          </a:ln>
        </p:spPr>
      </p:sp>
      <p:sp>
        <p:nvSpPr>
          <p:cNvPr id="7" name="Text 3"/>
          <p:cNvSpPr txBox="1"/>
          <p:nvPr/>
        </p:nvSpPr>
        <p:spPr>
          <a:xfrm>
            <a:off x="914400" y="1783080"/>
            <a:ext cx="54864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TOPIC QUESTION</a:t>
            </a:r>
            <a:endParaRPr lang="en-US" sz="1300" dirty="0"/>
          </a:p>
        </p:txBody>
      </p:sp>
      <p:sp>
        <p:nvSpPr>
          <p:cNvPr id="8" name="Text 4"/>
          <p:cNvSpPr txBox="1"/>
          <p:nvPr/>
        </p:nvSpPr>
        <p:spPr>
          <a:xfrm>
            <a:off x="914400" y="2103120"/>
            <a:ext cx="10332720" cy="731520"/>
          </a:xfrm>
          <a:prstGeom prst="rect">
            <a:avLst/>
          </a:prstGeom>
          <a:noFill/>
          <a:ln/>
        </p:spPr>
        <p:txBody>
          <a:bodyPr wrap="square" lIns="0" tIns="0" rIns="0" bIns="0" rtlCol="0" anchor="ctr"/>
          <a:lstStyle/>
          <a:p>
            <a:pPr indent="0" marL="0">
              <a:buNone/>
            </a:pPr>
            <a:r>
              <a:rPr lang="en-US" sz="2400" dirty="0">
                <a:solidFill>
                  <a:srgbClr val="A9A9B4"/>
                </a:solidFill>
                <a:latin typeface="Calibri" pitchFamily="34" charset="0"/>
                <a:ea typeface="Calibri" pitchFamily="34" charset="-122"/>
                <a:cs typeface="Calibri" pitchFamily="34" charset="-120"/>
              </a:rPr>
              <a:t>How do we write programs that make decisions, repeat and reuse code?</a:t>
            </a:r>
            <a:endParaRPr lang="en-US" sz="2400" dirty="0"/>
          </a:p>
        </p:txBody>
      </p:sp>
      <p:sp>
        <p:nvSpPr>
          <p:cNvPr id="9" name="Shape 5"/>
          <p:cNvSpPr/>
          <p:nvPr/>
        </p:nvSpPr>
        <p:spPr>
          <a:xfrm>
            <a:off x="548640" y="3291840"/>
            <a:ext cx="11091672" cy="2331720"/>
          </a:xfrm>
          <a:prstGeom prst="roundRect">
            <a:avLst>
              <a:gd name="adj" fmla="val 3137"/>
            </a:avLst>
          </a:prstGeom>
          <a:solidFill>
            <a:srgbClr val="2A2A32"/>
          </a:solidFill>
          <a:ln w="31750">
            <a:solidFill>
              <a:srgbClr val="D8A73D"/>
            </a:solidFill>
            <a:prstDash val="solid"/>
          </a:ln>
        </p:spPr>
      </p:sp>
      <p:sp>
        <p:nvSpPr>
          <p:cNvPr id="10" name="Text 6"/>
          <p:cNvSpPr txBox="1"/>
          <p:nvPr/>
        </p:nvSpPr>
        <p:spPr>
          <a:xfrm>
            <a:off x="914400" y="3520440"/>
            <a:ext cx="5486400" cy="274320"/>
          </a:xfrm>
          <a:prstGeom prst="rect">
            <a:avLst/>
          </a:prstGeom>
          <a:noFill/>
          <a:ln/>
        </p:spPr>
        <p:txBody>
          <a:bodyPr wrap="square" lIns="0" tIns="0" rIns="0" bIns="0"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LESSON QUESTION</a:t>
            </a:r>
            <a:endParaRPr lang="en-US" sz="1300" dirty="0"/>
          </a:p>
        </p:txBody>
      </p:sp>
      <p:sp>
        <p:nvSpPr>
          <p:cNvPr id="11" name="Text 7"/>
          <p:cNvSpPr txBox="1"/>
          <p:nvPr/>
        </p:nvSpPr>
        <p:spPr>
          <a:xfrm>
            <a:off x="914400" y="3886200"/>
            <a:ext cx="10332720" cy="1463040"/>
          </a:xfrm>
          <a:prstGeom prst="rect">
            <a:avLst/>
          </a:prstGeom>
          <a:noFill/>
          <a:ln/>
        </p:spPr>
        <p:txBody>
          <a:bodyPr wrap="square" lIns="0" tIns="0" rIns="0" bIns="0" rtlCol="0" anchor="ctr"/>
          <a:lstStyle/>
          <a:p>
            <a:pPr indent="0" marL="0">
              <a:buNone/>
            </a:pPr>
            <a:r>
              <a:rPr lang="en-US" sz="3600" b="1" dirty="0">
                <a:solidFill>
                  <a:srgbClr val="F5F5F3"/>
                </a:solidFill>
                <a:latin typeface="Cambria" pitchFamily="34" charset="0"/>
                <a:ea typeface="Cambria" pitchFamily="34" charset="-122"/>
                <a:cs typeface="Cambria" pitchFamily="34" charset="-120"/>
              </a:rPr>
              <a:t>How do we make a program repeat lines while a condition is True?</a:t>
            </a:r>
            <a:endParaRPr lang="en-US" sz="3600" dirty="0"/>
          </a:p>
        </p:txBody>
      </p:sp>
      <p:pic>
        <p:nvPicPr>
          <p:cNvPr id="12" name="Image 2" descr="Clarity of learning intentions">    </p:cNvPr>
          <p:cNvPicPr>
            <a:picLocks noChangeAspect="1"/>
          </p:cNvPicPr>
          <p:nvPr/>
        </p:nvPicPr>
        <p:blipFill>
          <a:blip r:embed="rId3"/>
          <a:stretch>
            <a:fillRect/>
          </a:stretch>
        </p:blipFill>
        <p:spPr>
          <a:xfrm>
            <a:off x="10972800" y="384048"/>
            <a:ext cx="731520" cy="731520"/>
          </a:xfrm>
          <a:prstGeom prst="rect">
            <a:avLst/>
          </a:prstGeom>
        </p:spPr>
      </p:pic>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Selection and iteration</a:t>
            </a:r>
            <a:endParaRPr lang="en-US" sz="3600" dirty="0"/>
          </a:p>
        </p:txBody>
      </p:sp>
      <p:sp>
        <p:nvSpPr>
          <p:cNvPr id="6" name="Text 2"/>
          <p:cNvSpPr txBox="1"/>
          <p:nvPr/>
        </p:nvSpPr>
        <p:spPr>
          <a:xfrm>
            <a:off x="548640" y="1463040"/>
            <a:ext cx="45720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LAST LESSON: SELECTION (if)</a:t>
            </a:r>
            <a:endParaRPr lang="en-US" sz="1300" dirty="0"/>
          </a:p>
        </p:txBody>
      </p:sp>
      <p:sp>
        <p:nvSpPr>
          <p:cNvPr id="7" name="Shape 3"/>
          <p:cNvSpPr/>
          <p:nvPr/>
        </p:nvSpPr>
        <p:spPr>
          <a:xfrm>
            <a:off x="1371600" y="1828800"/>
            <a:ext cx="2743200" cy="1005840"/>
          </a:xfrm>
          <a:prstGeom prst="diamond">
            <a:avLst/>
          </a:prstGeom>
          <a:solidFill>
            <a:srgbClr val="111115"/>
          </a:solidFill>
          <a:ln w="25400">
            <a:solidFill>
              <a:srgbClr val="A9A9B4"/>
            </a:solidFill>
            <a:prstDash val="solid"/>
          </a:ln>
        </p:spPr>
      </p:sp>
      <p:sp>
        <p:nvSpPr>
          <p:cNvPr id="8" name="Text 4"/>
          <p:cNvSpPr txBox="1"/>
          <p:nvPr/>
        </p:nvSpPr>
        <p:spPr>
          <a:xfrm>
            <a:off x="1783080" y="1828800"/>
            <a:ext cx="1920240" cy="1005840"/>
          </a:xfrm>
          <a:prstGeom prst="rect">
            <a:avLst/>
          </a:prstGeom>
          <a:noFill/>
          <a:ln/>
        </p:spPr>
        <p:txBody>
          <a:bodyPr wrap="square" lIns="0" tIns="0" rIns="0" bIns="0" rtlCol="0" anchor="ctr"/>
          <a:lstStyle/>
          <a:p>
            <a:pPr algn="ctr" indent="0" marL="0">
              <a:buNone/>
            </a:pPr>
            <a:r>
              <a:rPr lang="en-US" sz="1900" b="1" dirty="0">
                <a:solidFill>
                  <a:srgbClr val="F5F5F3"/>
                </a:solidFill>
                <a:latin typeface="Calibri" pitchFamily="34" charset="0"/>
                <a:ea typeface="Calibri" pitchFamily="34" charset="-122"/>
                <a:cs typeface="Calibri" pitchFamily="34" charset="-120"/>
              </a:rPr>
              <a:t>condition</a:t>
            </a:r>
            <a:pPr algn="ctr" indent="0" marL="0">
              <a:buNone/>
            </a:pPr>
            <a:endParaRPr lang="en-US" sz="1900" dirty="0"/>
          </a:p>
          <a:p>
            <a:pPr algn="ctr" indent="0" marL="0">
              <a:buNone/>
            </a:pPr>
            <a:r>
              <a:rPr lang="en-US" sz="1500" dirty="0">
                <a:solidFill>
                  <a:srgbClr val="A9A9B4"/>
                </a:solidFill>
                <a:latin typeface="Calibri" pitchFamily="34" charset="0"/>
                <a:ea typeface="Calibri" pitchFamily="34" charset="-122"/>
                <a:cs typeface="Calibri" pitchFamily="34" charset="-120"/>
              </a:rPr>
              <a:t>True or False?</a:t>
            </a:r>
            <a:endParaRPr lang="en-US" sz="1900" dirty="0"/>
          </a:p>
        </p:txBody>
      </p:sp>
      <p:sp>
        <p:nvSpPr>
          <p:cNvPr id="9" name="Shape 5"/>
          <p:cNvSpPr/>
          <p:nvPr/>
        </p:nvSpPr>
        <p:spPr>
          <a:xfrm>
            <a:off x="2743200" y="2834640"/>
            <a:ext cx="0" cy="457200"/>
          </a:xfrm>
          <a:prstGeom prst="line">
            <a:avLst/>
          </a:prstGeom>
          <a:noFill/>
          <a:ln w="28575">
            <a:solidFill>
              <a:srgbClr val="7FD99A"/>
            </a:solidFill>
            <a:prstDash val="solid"/>
            <a:tailEnd type="triangle"/>
          </a:ln>
        </p:spPr>
      </p:sp>
      <p:sp>
        <p:nvSpPr>
          <p:cNvPr id="10" name="Text 6"/>
          <p:cNvSpPr txBox="1"/>
          <p:nvPr/>
        </p:nvSpPr>
        <p:spPr>
          <a:xfrm>
            <a:off x="2834640" y="2880360"/>
            <a:ext cx="914400" cy="365760"/>
          </a:xfrm>
          <a:prstGeom prst="rect">
            <a:avLst/>
          </a:prstGeom>
          <a:noFill/>
          <a:ln/>
        </p:spPr>
        <p:txBody>
          <a:bodyPr wrap="square" lIns="0" tIns="0" rIns="0" bIns="0" rtlCol="0" anchor="ctr"/>
          <a:lstStyle/>
          <a:p>
            <a:pPr indent="0" marL="0">
              <a:buNone/>
            </a:pPr>
            <a:r>
              <a:rPr lang="en-US" sz="1800" b="1" dirty="0">
                <a:solidFill>
                  <a:srgbClr val="7FD99A"/>
                </a:solidFill>
                <a:latin typeface="Calibri" pitchFamily="34" charset="0"/>
                <a:ea typeface="Calibri" pitchFamily="34" charset="-122"/>
                <a:cs typeface="Calibri" pitchFamily="34" charset="-120"/>
              </a:rPr>
              <a:t>True</a:t>
            </a:r>
            <a:endParaRPr lang="en-US" sz="1800" dirty="0"/>
          </a:p>
        </p:txBody>
      </p:sp>
      <p:sp>
        <p:nvSpPr>
          <p:cNvPr id="11" name="Shape 7"/>
          <p:cNvSpPr/>
          <p:nvPr/>
        </p:nvSpPr>
        <p:spPr>
          <a:xfrm>
            <a:off x="1600200" y="3291840"/>
            <a:ext cx="2286000" cy="685800"/>
          </a:xfrm>
          <a:prstGeom prst="roundRect">
            <a:avLst>
              <a:gd name="adj" fmla="val 10667"/>
            </a:avLst>
          </a:prstGeom>
          <a:solidFill>
            <a:srgbClr val="2A2A32"/>
          </a:solidFill>
          <a:ln w="15875">
            <a:solidFill>
              <a:srgbClr val="3A3A44"/>
            </a:solidFill>
            <a:prstDash val="solid"/>
          </a:ln>
        </p:spPr>
      </p:sp>
      <p:sp>
        <p:nvSpPr>
          <p:cNvPr id="12" name="Text 8"/>
          <p:cNvSpPr txBox="1"/>
          <p:nvPr/>
        </p:nvSpPr>
        <p:spPr>
          <a:xfrm>
            <a:off x="1600200" y="3291840"/>
            <a:ext cx="2286000" cy="685800"/>
          </a:xfrm>
          <a:prstGeom prst="rect">
            <a:avLst/>
          </a:prstGeom>
          <a:noFill/>
          <a:ln/>
        </p:spPr>
        <p:txBody>
          <a:bodyPr wrap="square" lIns="0" tIns="0" rIns="0" bIns="0" rtlCol="0" anchor="ctr"/>
          <a:lstStyle/>
          <a:p>
            <a:pPr algn="ctr" indent="0" marL="0">
              <a:buNone/>
            </a:pPr>
            <a:r>
              <a:rPr lang="en-US" sz="2200" dirty="0">
                <a:solidFill>
                  <a:srgbClr val="F5F5F3"/>
                </a:solidFill>
                <a:latin typeface="Calibri" pitchFamily="34" charset="0"/>
                <a:ea typeface="Calibri" pitchFamily="34" charset="-122"/>
                <a:cs typeface="Calibri" pitchFamily="34" charset="-120"/>
              </a:rPr>
              <a:t>Run the block</a:t>
            </a:r>
            <a:endParaRPr lang="en-US" sz="2200" dirty="0"/>
          </a:p>
        </p:txBody>
      </p:sp>
      <p:sp>
        <p:nvSpPr>
          <p:cNvPr id="13" name="Shape 9"/>
          <p:cNvSpPr/>
          <p:nvPr/>
        </p:nvSpPr>
        <p:spPr>
          <a:xfrm>
            <a:off x="2743200" y="3977640"/>
            <a:ext cx="0" cy="502920"/>
          </a:xfrm>
          <a:prstGeom prst="line">
            <a:avLst/>
          </a:prstGeom>
          <a:noFill/>
          <a:ln w="28575">
            <a:solidFill>
              <a:srgbClr val="A9A9B4"/>
            </a:solidFill>
            <a:prstDash val="solid"/>
            <a:tailEnd type="triangle"/>
          </a:ln>
        </p:spPr>
      </p:sp>
      <p:sp>
        <p:nvSpPr>
          <p:cNvPr id="14" name="Shape 10"/>
          <p:cNvSpPr/>
          <p:nvPr/>
        </p:nvSpPr>
        <p:spPr>
          <a:xfrm>
            <a:off x="1600200" y="4480560"/>
            <a:ext cx="2286000" cy="685800"/>
          </a:xfrm>
          <a:prstGeom prst="roundRect">
            <a:avLst>
              <a:gd name="adj" fmla="val 10667"/>
            </a:avLst>
          </a:prstGeom>
          <a:solidFill>
            <a:srgbClr val="2A2A32"/>
          </a:solidFill>
          <a:ln w="15875">
            <a:solidFill>
              <a:srgbClr val="3A3A44"/>
            </a:solidFill>
            <a:prstDash val="solid"/>
          </a:ln>
        </p:spPr>
      </p:sp>
      <p:sp>
        <p:nvSpPr>
          <p:cNvPr id="15" name="Text 11"/>
          <p:cNvSpPr txBox="1"/>
          <p:nvPr/>
        </p:nvSpPr>
        <p:spPr>
          <a:xfrm>
            <a:off x="1600200" y="4480560"/>
            <a:ext cx="2286000" cy="685800"/>
          </a:xfrm>
          <a:prstGeom prst="rect">
            <a:avLst/>
          </a:prstGeom>
          <a:noFill/>
          <a:ln/>
        </p:spPr>
        <p:txBody>
          <a:bodyPr wrap="square" lIns="0" tIns="0" rIns="0" bIns="0" rtlCol="0" anchor="ctr"/>
          <a:lstStyle/>
          <a:p>
            <a:pPr algn="ctr" indent="0" marL="0">
              <a:buNone/>
            </a:pPr>
            <a:r>
              <a:rPr lang="en-US" sz="2200" dirty="0">
                <a:solidFill>
                  <a:srgbClr val="F5F5F3"/>
                </a:solidFill>
                <a:latin typeface="Calibri" pitchFamily="34" charset="0"/>
                <a:ea typeface="Calibri" pitchFamily="34" charset="-122"/>
                <a:cs typeface="Calibri" pitchFamily="34" charset="-120"/>
              </a:rPr>
              <a:t>Next line</a:t>
            </a:r>
            <a:endParaRPr lang="en-US" sz="2200" dirty="0"/>
          </a:p>
        </p:txBody>
      </p:sp>
      <p:sp>
        <p:nvSpPr>
          <p:cNvPr id="16" name="Text 12"/>
          <p:cNvSpPr txBox="1"/>
          <p:nvPr/>
        </p:nvSpPr>
        <p:spPr>
          <a:xfrm>
            <a:off x="548640" y="5486400"/>
            <a:ext cx="4389120" cy="457200"/>
          </a:xfrm>
          <a:prstGeom prst="rect">
            <a:avLst/>
          </a:prstGeom>
          <a:noFill/>
          <a:ln/>
        </p:spPr>
        <p:txBody>
          <a:bodyPr wrap="square" lIns="0" tIns="0" rIns="0" bIns="0" rtlCol="0" anchor="ctr"/>
          <a:lstStyle/>
          <a:p>
            <a:pPr algn="ctr" indent="0" marL="0">
              <a:buNone/>
            </a:pPr>
            <a:r>
              <a:rPr lang="en-US" sz="2200" dirty="0">
                <a:solidFill>
                  <a:srgbClr val="A9A9B4"/>
                </a:solidFill>
                <a:latin typeface="Calibri" pitchFamily="34" charset="0"/>
                <a:ea typeface="Calibri" pitchFamily="34" charset="-122"/>
                <a:cs typeface="Calibri" pitchFamily="34" charset="-120"/>
              </a:rPr>
              <a:t>Checks once, runs once</a:t>
            </a:r>
            <a:endParaRPr lang="en-US" sz="2200" dirty="0"/>
          </a:p>
        </p:txBody>
      </p:sp>
      <p:sp>
        <p:nvSpPr>
          <p:cNvPr id="17" name="Shape 13"/>
          <p:cNvSpPr/>
          <p:nvPr/>
        </p:nvSpPr>
        <p:spPr>
          <a:xfrm>
            <a:off x="5074920" y="1554480"/>
            <a:ext cx="0" cy="4434840"/>
          </a:xfrm>
          <a:prstGeom prst="line">
            <a:avLst/>
          </a:prstGeom>
          <a:noFill/>
          <a:ln w="12700">
            <a:solidFill>
              <a:srgbClr val="3A3A44"/>
            </a:solidFill>
            <a:prstDash val="solid"/>
          </a:ln>
        </p:spPr>
      </p:sp>
      <p:sp>
        <p:nvSpPr>
          <p:cNvPr id="18" name="click1"/>
          <p:cNvSpPr txBox="1"/>
          <p:nvPr/>
        </p:nvSpPr>
        <p:spPr>
          <a:xfrm>
            <a:off x="5486400" y="1463040"/>
            <a:ext cx="4572000" cy="274320"/>
          </a:xfrm>
          <a:prstGeom prst="rect">
            <a:avLst/>
          </a:prstGeom>
          <a:noFill/>
          <a:ln/>
        </p:spPr>
        <p:txBody>
          <a:bodyPr wrap="square" lIns="0" tIns="0" rIns="0" bIns="0"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TODAY: ITERATION (while)</a:t>
            </a:r>
            <a:endParaRPr lang="en-US" sz="1300" dirty="0"/>
          </a:p>
        </p:txBody>
      </p:sp>
      <p:sp>
        <p:nvSpPr>
          <p:cNvPr id="19" name="click1"/>
          <p:cNvSpPr/>
          <p:nvPr/>
        </p:nvSpPr>
        <p:spPr>
          <a:xfrm>
            <a:off x="6400800" y="1828800"/>
            <a:ext cx="2743200" cy="1005840"/>
          </a:xfrm>
          <a:prstGeom prst="diamond">
            <a:avLst/>
          </a:prstGeom>
          <a:solidFill>
            <a:srgbClr val="111115"/>
          </a:solidFill>
          <a:ln w="25400">
            <a:solidFill>
              <a:srgbClr val="D8A73D"/>
            </a:solidFill>
            <a:prstDash val="solid"/>
          </a:ln>
        </p:spPr>
      </p:sp>
      <p:sp>
        <p:nvSpPr>
          <p:cNvPr id="20" name="click1"/>
          <p:cNvSpPr txBox="1"/>
          <p:nvPr/>
        </p:nvSpPr>
        <p:spPr>
          <a:xfrm>
            <a:off x="6812280" y="1828800"/>
            <a:ext cx="1920240" cy="1005840"/>
          </a:xfrm>
          <a:prstGeom prst="rect">
            <a:avLst/>
          </a:prstGeom>
          <a:noFill/>
          <a:ln/>
        </p:spPr>
        <p:txBody>
          <a:bodyPr wrap="square" lIns="0" tIns="0" rIns="0" bIns="0" rtlCol="0" anchor="ctr"/>
          <a:lstStyle/>
          <a:p>
            <a:pPr algn="ctr" indent="0" marL="0">
              <a:buNone/>
            </a:pPr>
            <a:r>
              <a:rPr lang="en-US" sz="1900" b="1" dirty="0">
                <a:solidFill>
                  <a:srgbClr val="F5F5F3"/>
                </a:solidFill>
                <a:latin typeface="Calibri" pitchFamily="34" charset="0"/>
                <a:ea typeface="Calibri" pitchFamily="34" charset="-122"/>
                <a:cs typeface="Calibri" pitchFamily="34" charset="-120"/>
              </a:rPr>
              <a:t>condition</a:t>
            </a:r>
            <a:pPr algn="ctr" indent="0" marL="0">
              <a:buNone/>
            </a:pPr>
            <a:endParaRPr lang="en-US" sz="1900" dirty="0"/>
          </a:p>
          <a:p>
            <a:pPr algn="ctr" indent="0" marL="0">
              <a:buNone/>
            </a:pPr>
            <a:r>
              <a:rPr lang="en-US" sz="1500" dirty="0">
                <a:solidFill>
                  <a:srgbClr val="A9A9B4"/>
                </a:solidFill>
                <a:latin typeface="Calibri" pitchFamily="34" charset="0"/>
                <a:ea typeface="Calibri" pitchFamily="34" charset="-122"/>
                <a:cs typeface="Calibri" pitchFamily="34" charset="-120"/>
              </a:rPr>
              <a:t>True or False?</a:t>
            </a:r>
            <a:endParaRPr lang="en-US" sz="1900" dirty="0"/>
          </a:p>
        </p:txBody>
      </p:sp>
      <p:sp>
        <p:nvSpPr>
          <p:cNvPr id="21" name="click1"/>
          <p:cNvSpPr/>
          <p:nvPr/>
        </p:nvSpPr>
        <p:spPr>
          <a:xfrm>
            <a:off x="7772400" y="2834640"/>
            <a:ext cx="0" cy="457200"/>
          </a:xfrm>
          <a:prstGeom prst="line">
            <a:avLst/>
          </a:prstGeom>
          <a:noFill/>
          <a:ln w="28575">
            <a:solidFill>
              <a:srgbClr val="7FD99A"/>
            </a:solidFill>
            <a:prstDash val="solid"/>
            <a:tailEnd type="triangle"/>
          </a:ln>
        </p:spPr>
      </p:sp>
      <p:sp>
        <p:nvSpPr>
          <p:cNvPr id="22" name="click1"/>
          <p:cNvSpPr txBox="1"/>
          <p:nvPr/>
        </p:nvSpPr>
        <p:spPr>
          <a:xfrm>
            <a:off x="7863840" y="2880360"/>
            <a:ext cx="914400" cy="365760"/>
          </a:xfrm>
          <a:prstGeom prst="rect">
            <a:avLst/>
          </a:prstGeom>
          <a:noFill/>
          <a:ln/>
        </p:spPr>
        <p:txBody>
          <a:bodyPr wrap="square" lIns="0" tIns="0" rIns="0" bIns="0" rtlCol="0" anchor="ctr"/>
          <a:lstStyle/>
          <a:p>
            <a:pPr indent="0" marL="0">
              <a:buNone/>
            </a:pPr>
            <a:r>
              <a:rPr lang="en-US" sz="1800" b="1" dirty="0">
                <a:solidFill>
                  <a:srgbClr val="7FD99A"/>
                </a:solidFill>
                <a:latin typeface="Calibri" pitchFamily="34" charset="0"/>
                <a:ea typeface="Calibri" pitchFamily="34" charset="-122"/>
                <a:cs typeface="Calibri" pitchFamily="34" charset="-120"/>
              </a:rPr>
              <a:t>True</a:t>
            </a:r>
            <a:endParaRPr lang="en-US" sz="1800" dirty="0"/>
          </a:p>
        </p:txBody>
      </p:sp>
      <p:sp>
        <p:nvSpPr>
          <p:cNvPr id="23" name="click1"/>
          <p:cNvSpPr/>
          <p:nvPr/>
        </p:nvSpPr>
        <p:spPr>
          <a:xfrm>
            <a:off x="6629400" y="3291840"/>
            <a:ext cx="2286000" cy="685800"/>
          </a:xfrm>
          <a:prstGeom prst="roundRect">
            <a:avLst>
              <a:gd name="adj" fmla="val 10667"/>
            </a:avLst>
          </a:prstGeom>
          <a:solidFill>
            <a:srgbClr val="2A2A32"/>
          </a:solidFill>
          <a:ln w="15875">
            <a:solidFill>
              <a:srgbClr val="7FD99A"/>
            </a:solidFill>
            <a:prstDash val="solid"/>
          </a:ln>
        </p:spPr>
      </p:sp>
      <p:sp>
        <p:nvSpPr>
          <p:cNvPr id="24" name="click1"/>
          <p:cNvSpPr txBox="1"/>
          <p:nvPr/>
        </p:nvSpPr>
        <p:spPr>
          <a:xfrm>
            <a:off x="6629400" y="3291840"/>
            <a:ext cx="2286000" cy="685800"/>
          </a:xfrm>
          <a:prstGeom prst="rect">
            <a:avLst/>
          </a:prstGeom>
          <a:noFill/>
          <a:ln/>
        </p:spPr>
        <p:txBody>
          <a:bodyPr wrap="square" lIns="0" tIns="0" rIns="0" bIns="0" rtlCol="0" anchor="ctr"/>
          <a:lstStyle/>
          <a:p>
            <a:pPr algn="ctr" indent="0" marL="0">
              <a:buNone/>
            </a:pPr>
            <a:r>
              <a:rPr lang="en-US" sz="2200" dirty="0">
                <a:solidFill>
                  <a:srgbClr val="F5F5F3"/>
                </a:solidFill>
                <a:latin typeface="Calibri" pitchFamily="34" charset="0"/>
                <a:ea typeface="Calibri" pitchFamily="34" charset="-122"/>
                <a:cs typeface="Calibri" pitchFamily="34" charset="-120"/>
              </a:rPr>
              <a:t>Run the body</a:t>
            </a:r>
            <a:endParaRPr lang="en-US" sz="2200" dirty="0"/>
          </a:p>
        </p:txBody>
      </p:sp>
      <p:sp>
        <p:nvSpPr>
          <p:cNvPr id="25" name="click1"/>
          <p:cNvSpPr/>
          <p:nvPr/>
        </p:nvSpPr>
        <p:spPr>
          <a:xfrm>
            <a:off x="6126480" y="3634740"/>
            <a:ext cx="502920" cy="0"/>
          </a:xfrm>
          <a:prstGeom prst="line">
            <a:avLst/>
          </a:prstGeom>
          <a:noFill/>
          <a:ln w="31750">
            <a:solidFill>
              <a:srgbClr val="D8A73D"/>
            </a:solidFill>
            <a:prstDash val="solid"/>
          </a:ln>
        </p:spPr>
      </p:sp>
      <p:sp>
        <p:nvSpPr>
          <p:cNvPr id="26" name="click1"/>
          <p:cNvSpPr/>
          <p:nvPr/>
        </p:nvSpPr>
        <p:spPr>
          <a:xfrm>
            <a:off x="5897880" y="2331720"/>
            <a:ext cx="0" cy="1303020"/>
          </a:xfrm>
          <a:prstGeom prst="line">
            <a:avLst/>
          </a:prstGeom>
          <a:noFill/>
          <a:ln w="31750">
            <a:solidFill>
              <a:srgbClr val="D8A73D"/>
            </a:solidFill>
            <a:prstDash val="solid"/>
          </a:ln>
        </p:spPr>
      </p:sp>
      <p:sp>
        <p:nvSpPr>
          <p:cNvPr id="27" name="click1"/>
          <p:cNvSpPr/>
          <p:nvPr/>
        </p:nvSpPr>
        <p:spPr>
          <a:xfrm>
            <a:off x="5897880" y="2331720"/>
            <a:ext cx="502920" cy="0"/>
          </a:xfrm>
          <a:prstGeom prst="line">
            <a:avLst/>
          </a:prstGeom>
          <a:noFill/>
          <a:ln w="28575">
            <a:solidFill>
              <a:srgbClr val="D8A73D"/>
            </a:solidFill>
            <a:prstDash val="solid"/>
            <a:tailEnd type="triangle"/>
          </a:ln>
        </p:spPr>
      </p:sp>
      <p:sp>
        <p:nvSpPr>
          <p:cNvPr id="28" name="click1"/>
          <p:cNvSpPr txBox="1"/>
          <p:nvPr/>
        </p:nvSpPr>
        <p:spPr>
          <a:xfrm>
            <a:off x="4434840" y="2697480"/>
            <a:ext cx="1417320" cy="365760"/>
          </a:xfrm>
          <a:prstGeom prst="rect">
            <a:avLst/>
          </a:prstGeom>
          <a:noFill/>
          <a:ln/>
        </p:spPr>
        <p:txBody>
          <a:bodyPr wrap="square" lIns="0" tIns="0" rIns="0" bIns="0" rtlCol="0" anchor="ctr"/>
          <a:lstStyle/>
          <a:p>
            <a:pPr algn="r" indent="0" marL="0">
              <a:buNone/>
            </a:pPr>
            <a:r>
              <a:rPr lang="en-US" sz="1600" i="1" dirty="0">
                <a:solidFill>
                  <a:srgbClr val="D8A73D"/>
                </a:solidFill>
                <a:latin typeface="Calibri" pitchFamily="34" charset="0"/>
                <a:ea typeface="Calibri" pitchFamily="34" charset="-122"/>
                <a:cs typeface="Calibri" pitchFamily="34" charset="-120"/>
              </a:rPr>
              <a:t>back to the top</a:t>
            </a:r>
            <a:endParaRPr lang="en-US" sz="1600" dirty="0"/>
          </a:p>
        </p:txBody>
      </p:sp>
      <p:sp>
        <p:nvSpPr>
          <p:cNvPr id="29" name="click1"/>
          <p:cNvSpPr/>
          <p:nvPr/>
        </p:nvSpPr>
        <p:spPr>
          <a:xfrm>
            <a:off x="9144000" y="2331720"/>
            <a:ext cx="1463040" cy="0"/>
          </a:xfrm>
          <a:prstGeom prst="line">
            <a:avLst/>
          </a:prstGeom>
          <a:noFill/>
          <a:ln w="28575">
            <a:solidFill>
              <a:srgbClr val="A9A9B4"/>
            </a:solidFill>
            <a:prstDash val="solid"/>
            <a:tailEnd type="triangle"/>
          </a:ln>
        </p:spPr>
      </p:sp>
      <p:sp>
        <p:nvSpPr>
          <p:cNvPr id="30" name="click1"/>
          <p:cNvSpPr txBox="1"/>
          <p:nvPr/>
        </p:nvSpPr>
        <p:spPr>
          <a:xfrm>
            <a:off x="9235440" y="1920240"/>
            <a:ext cx="914400" cy="365760"/>
          </a:xfrm>
          <a:prstGeom prst="rect">
            <a:avLst/>
          </a:prstGeom>
          <a:noFill/>
          <a:ln/>
        </p:spPr>
        <p:txBody>
          <a:bodyPr wrap="square" lIns="0" tIns="0" rIns="0" bIns="0" rtlCol="0" anchor="ctr"/>
          <a:lstStyle/>
          <a:p>
            <a:pPr indent="0" marL="0">
              <a:buNone/>
            </a:pPr>
            <a:r>
              <a:rPr lang="en-US" sz="1800" b="1" dirty="0">
                <a:solidFill>
                  <a:srgbClr val="A9A9B4"/>
                </a:solidFill>
                <a:latin typeface="Calibri" pitchFamily="34" charset="0"/>
                <a:ea typeface="Calibri" pitchFamily="34" charset="-122"/>
                <a:cs typeface="Calibri" pitchFamily="34" charset="-120"/>
              </a:rPr>
              <a:t>False</a:t>
            </a:r>
            <a:endParaRPr lang="en-US" sz="1800" dirty="0"/>
          </a:p>
        </p:txBody>
      </p:sp>
      <p:sp>
        <p:nvSpPr>
          <p:cNvPr id="31" name="click1"/>
          <p:cNvSpPr/>
          <p:nvPr/>
        </p:nvSpPr>
        <p:spPr>
          <a:xfrm>
            <a:off x="9692640" y="4480560"/>
            <a:ext cx="1828800" cy="685800"/>
          </a:xfrm>
          <a:prstGeom prst="roundRect">
            <a:avLst>
              <a:gd name="adj" fmla="val 10667"/>
            </a:avLst>
          </a:prstGeom>
          <a:solidFill>
            <a:srgbClr val="2A2A32"/>
          </a:solidFill>
          <a:ln w="15875">
            <a:solidFill>
              <a:srgbClr val="3A3A44"/>
            </a:solidFill>
            <a:prstDash val="solid"/>
          </a:ln>
        </p:spPr>
      </p:sp>
      <p:sp>
        <p:nvSpPr>
          <p:cNvPr id="32" name="click1"/>
          <p:cNvSpPr txBox="1"/>
          <p:nvPr/>
        </p:nvSpPr>
        <p:spPr>
          <a:xfrm>
            <a:off x="9692640" y="4480560"/>
            <a:ext cx="1828800" cy="685800"/>
          </a:xfrm>
          <a:prstGeom prst="rect">
            <a:avLst/>
          </a:prstGeom>
          <a:noFill/>
          <a:ln/>
        </p:spPr>
        <p:txBody>
          <a:bodyPr wrap="square" lIns="0" tIns="0" rIns="0" bIns="0" rtlCol="0" anchor="ctr"/>
          <a:lstStyle/>
          <a:p>
            <a:pPr algn="ctr" indent="0" marL="0">
              <a:buNone/>
            </a:pPr>
            <a:r>
              <a:rPr lang="en-US" sz="2200" dirty="0">
                <a:solidFill>
                  <a:srgbClr val="F5F5F3"/>
                </a:solidFill>
                <a:latin typeface="Calibri" pitchFamily="34" charset="0"/>
                <a:ea typeface="Calibri" pitchFamily="34" charset="-122"/>
                <a:cs typeface="Calibri" pitchFamily="34" charset="-120"/>
              </a:rPr>
              <a:t>Next line</a:t>
            </a:r>
            <a:endParaRPr lang="en-US" sz="2200" dirty="0"/>
          </a:p>
        </p:txBody>
      </p:sp>
      <p:sp>
        <p:nvSpPr>
          <p:cNvPr id="33" name="click1"/>
          <p:cNvSpPr/>
          <p:nvPr/>
        </p:nvSpPr>
        <p:spPr>
          <a:xfrm>
            <a:off x="10607040" y="2331720"/>
            <a:ext cx="0" cy="2148840"/>
          </a:xfrm>
          <a:prstGeom prst="line">
            <a:avLst/>
          </a:prstGeom>
          <a:noFill/>
          <a:ln w="28575">
            <a:solidFill>
              <a:srgbClr val="A9A9B4"/>
            </a:solidFill>
            <a:prstDash val="solid"/>
          </a:ln>
        </p:spPr>
      </p:sp>
      <p:sp>
        <p:nvSpPr>
          <p:cNvPr id="34" name="click1"/>
          <p:cNvSpPr/>
          <p:nvPr/>
        </p:nvSpPr>
        <p:spPr>
          <a:xfrm>
            <a:off x="10607040" y="4114800"/>
            <a:ext cx="0" cy="365760"/>
          </a:xfrm>
          <a:prstGeom prst="line">
            <a:avLst/>
          </a:prstGeom>
          <a:noFill/>
          <a:ln w="28575">
            <a:solidFill>
              <a:srgbClr val="A9A9B4"/>
            </a:solidFill>
            <a:prstDash val="solid"/>
            <a:tailEnd type="triangle"/>
          </a:ln>
        </p:spPr>
      </p:sp>
      <p:sp>
        <p:nvSpPr>
          <p:cNvPr id="35" name="click1"/>
          <p:cNvSpPr txBox="1"/>
          <p:nvPr/>
        </p:nvSpPr>
        <p:spPr>
          <a:xfrm>
            <a:off x="5486400" y="5486400"/>
            <a:ext cx="6126480" cy="457200"/>
          </a:xfrm>
          <a:prstGeom prst="rect">
            <a:avLst/>
          </a:prstGeom>
          <a:noFill/>
          <a:ln/>
        </p:spPr>
        <p:txBody>
          <a:bodyPr wrap="square" lIns="0" tIns="0" rIns="0" bIns="0" rtlCol="0" anchor="ctr"/>
          <a:lstStyle/>
          <a:p>
            <a:pPr algn="ctr" indent="0" marL="0">
              <a:buNone/>
            </a:pPr>
            <a:r>
              <a:rPr lang="en-US" sz="2200" b="1" dirty="0">
                <a:solidFill>
                  <a:srgbClr val="D8A73D"/>
                </a:solidFill>
                <a:latin typeface="Calibri" pitchFamily="34" charset="0"/>
                <a:ea typeface="Calibri" pitchFamily="34" charset="-122"/>
                <a:cs typeface="Calibri" pitchFamily="34" charset="-120"/>
              </a:rPr>
              <a:t>Checks again each time round</a:t>
            </a:r>
            <a:endParaRPr lang="en-US" sz="2200" dirty="0"/>
          </a:p>
        </p:txBody>
      </p:sp>
      <p:pic>
        <p:nvPicPr>
          <p:cNvPr id="36" name="Image 2" descr="New information">    </p:cNvPr>
          <p:cNvPicPr>
            <a:picLocks noChangeAspect="1"/>
          </p:cNvPicPr>
          <p:nvPr/>
        </p:nvPicPr>
        <p:blipFill>
          <a:blip r:embed="rId3"/>
          <a:stretch>
            <a:fillRect/>
          </a:stretch>
        </p:blipFill>
        <p:spPr>
          <a:xfrm>
            <a:off x="10972800" y="384048"/>
            <a:ext cx="731520" cy="731520"/>
          </a:xfrm>
          <a:prstGeom prst="rect">
            <a:avLst/>
          </a:prstGeom>
        </p:spPr>
      </p:pic>
      <p:sp>
        <p:nvSpPr>
          <p:cNvPr id="37"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500"/>
                                        <p:tgtEl>
                                          <p:spTgt spid="20"/>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500"/>
                                        <p:tgtEl>
                                          <p:spTgt spid="22"/>
                                        </p:tgtEl>
                                      </p:cBhvr>
                                    </p:animEffect>
                                  </p:childTnLst>
                                </p:cTn>
                              </p:par>
                              <p:par>
                                <p:cTn id="20" presetID="10" presetClass="entr" presetSubtype="0" fill="hold"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fade">
                                      <p:cBhvr>
                                        <p:cTn id="25" dur="500"/>
                                        <p:tgtEl>
                                          <p:spTgt spid="24"/>
                                        </p:tgtEl>
                                      </p:cBhvr>
                                    </p:animEffect>
                                  </p:childTnLst>
                                </p:cTn>
                              </p:par>
                              <p:par>
                                <p:cTn id="26" presetID="10" presetClass="entr" presetSubtype="0"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par>
                                <p:cTn id="38" presetID="10" presetClass="entr" presetSubtype="0" fill="hold" nodeType="with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500"/>
                                        <p:tgtEl>
                                          <p:spTgt spid="2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500"/>
                                        <p:tgtEl>
                                          <p:spTgt spid="30"/>
                                        </p:tgtEl>
                                      </p:cBhvr>
                                    </p:animEffect>
                                  </p:childTnLst>
                                </p:cTn>
                              </p:par>
                              <p:par>
                                <p:cTn id="44" presetID="10" presetClass="entr" presetSubtype="0" fill="hold"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500"/>
                                        <p:tgtEl>
                                          <p:spTgt spid="31"/>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fade">
                                      <p:cBhvr>
                                        <p:cTn id="49" dur="500"/>
                                        <p:tgtEl>
                                          <p:spTgt spid="32"/>
                                        </p:tgtEl>
                                      </p:cBhvr>
                                    </p:animEffect>
                                  </p:childTnLst>
                                </p:cTn>
                              </p:par>
                              <p:par>
                                <p:cTn id="50" presetID="10" presetClass="entr" presetSubtype="0" fill="hold"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500"/>
                                        <p:tgtEl>
                                          <p:spTgt spid="33"/>
                                        </p:tgtEl>
                                      </p:cBhvr>
                                    </p:animEffect>
                                  </p:childTnLst>
                                </p:cTn>
                              </p:par>
                              <p:par>
                                <p:cTn id="53" presetID="10" presetClass="entr" presetSubtype="0" fill="hold" nodeType="with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fade">
                                      <p:cBhvr>
                                        <p:cTn id="55" dur="500"/>
                                        <p:tgtEl>
                                          <p:spTgt spid="34"/>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35"/>
                                        </p:tgtEl>
                                        <p:attrNameLst>
                                          <p:attrName>style.visibility</p:attrName>
                                        </p:attrNameLst>
                                      </p:cBhvr>
                                      <p:to>
                                        <p:strVal val="visible"/>
                                      </p:to>
                                    </p:set>
                                    <p:animEffect transition="in" filter="fade">
                                      <p:cBhvr>
                                        <p:cTn id="58"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2" grpId="0" animBg="1"/>
      <p:bldP spid="24" grpId="0" animBg="1"/>
      <p:bldP spid="28" grpId="0" animBg="1"/>
      <p:bldP spid="30" grpId="0" animBg="1"/>
      <p:bldP spid="32" grpId="0" animBg="1"/>
      <p:bldP spid="3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One new operator: !=</a:t>
            </a:r>
            <a:endParaRPr lang="en-US" sz="3600" dirty="0"/>
          </a:p>
        </p:txBody>
      </p:sp>
      <p:sp>
        <p:nvSpPr>
          <p:cNvPr id="6" name="Text 2"/>
          <p:cNvSpPr txBox="1"/>
          <p:nvPr/>
        </p:nvSpPr>
        <p:spPr>
          <a:xfrm>
            <a:off x="548640" y="1463040"/>
            <a:ext cx="45720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EQUAL, OR NOT EQUAL?</a:t>
            </a:r>
            <a:endParaRPr lang="en-US" sz="1300" dirty="0"/>
          </a:p>
        </p:txBody>
      </p:sp>
      <p:sp>
        <p:nvSpPr>
          <p:cNvPr id="7" name="Shape 3"/>
          <p:cNvSpPr/>
          <p:nvPr/>
        </p:nvSpPr>
        <p:spPr>
          <a:xfrm>
            <a:off x="548640" y="1874520"/>
            <a:ext cx="1051560" cy="685800"/>
          </a:xfrm>
          <a:prstGeom prst="roundRect">
            <a:avLst>
              <a:gd name="adj" fmla="val 10667"/>
            </a:avLst>
          </a:prstGeom>
          <a:solidFill>
            <a:srgbClr val="111115"/>
          </a:solidFill>
          <a:ln w="12700">
            <a:solidFill>
              <a:srgbClr val="6E6E7A"/>
            </a:solidFill>
            <a:prstDash val="solid"/>
          </a:ln>
        </p:spPr>
      </p:sp>
      <p:sp>
        <p:nvSpPr>
          <p:cNvPr id="8" name="Text 4"/>
          <p:cNvSpPr txBox="1"/>
          <p:nvPr/>
        </p:nvSpPr>
        <p:spPr>
          <a:xfrm>
            <a:off x="548640" y="1874520"/>
            <a:ext cx="1051560" cy="685800"/>
          </a:xfrm>
          <a:prstGeom prst="rect">
            <a:avLst/>
          </a:prstGeom>
          <a:noFill/>
          <a:ln/>
        </p:spPr>
        <p:txBody>
          <a:bodyPr wrap="square" lIns="0" tIns="0" rIns="0" bIns="0" rtlCol="0" anchor="ctr"/>
          <a:lstStyle/>
          <a:p>
            <a:pPr algn="ctr" indent="0" marL="0">
              <a:buNone/>
            </a:pPr>
            <a:r>
              <a:rPr lang="en-US" sz="3000" b="1" dirty="0">
                <a:solidFill>
                  <a:srgbClr val="F5F5F3"/>
                </a:solidFill>
                <a:latin typeface="Consolas" pitchFamily="34" charset="0"/>
                <a:ea typeface="Consolas" pitchFamily="34" charset="-122"/>
                <a:cs typeface="Consolas" pitchFamily="34" charset="-120"/>
              </a:rPr>
              <a:t>==</a:t>
            </a:r>
            <a:endParaRPr lang="en-US" sz="3000" dirty="0"/>
          </a:p>
        </p:txBody>
      </p:sp>
      <p:sp>
        <p:nvSpPr>
          <p:cNvPr id="9" name="Text 5"/>
          <p:cNvSpPr txBox="1"/>
          <p:nvPr/>
        </p:nvSpPr>
        <p:spPr>
          <a:xfrm>
            <a:off x="1828800" y="1874520"/>
            <a:ext cx="3931920" cy="685800"/>
          </a:xfrm>
          <a:prstGeom prst="rect">
            <a:avLst/>
          </a:prstGeom>
          <a:noFill/>
          <a:ln/>
        </p:spPr>
        <p:txBody>
          <a:bodyPr wrap="square" lIns="0" tIns="0" rIns="0" bIns="0" rtlCol="0" anchor="ctr"/>
          <a:lstStyle/>
          <a:p>
            <a:pPr indent="0" marL="0">
              <a:buNone/>
            </a:pPr>
            <a:r>
              <a:rPr lang="en-US" sz="2400" dirty="0">
                <a:solidFill>
                  <a:srgbClr val="F5F5F3"/>
                </a:solidFill>
                <a:latin typeface="Calibri" pitchFamily="34" charset="0"/>
                <a:ea typeface="Calibri" pitchFamily="34" charset="-122"/>
                <a:cs typeface="Calibri" pitchFamily="34" charset="-120"/>
              </a:rPr>
              <a:t>is equal to</a:t>
            </a:r>
            <a:endParaRPr lang="en-US" sz="2400" dirty="0"/>
          </a:p>
        </p:txBody>
      </p:sp>
      <p:sp>
        <p:nvSpPr>
          <p:cNvPr id="10" name="Shape 6"/>
          <p:cNvSpPr/>
          <p:nvPr/>
        </p:nvSpPr>
        <p:spPr>
          <a:xfrm>
            <a:off x="548640" y="2788920"/>
            <a:ext cx="1051560" cy="685800"/>
          </a:xfrm>
          <a:prstGeom prst="roundRect">
            <a:avLst>
              <a:gd name="adj" fmla="val 10667"/>
            </a:avLst>
          </a:prstGeom>
          <a:solidFill>
            <a:srgbClr val="111115"/>
          </a:solidFill>
          <a:ln w="25400">
            <a:solidFill>
              <a:srgbClr val="D8A73D"/>
            </a:solidFill>
            <a:prstDash val="solid"/>
          </a:ln>
        </p:spPr>
      </p:sp>
      <p:sp>
        <p:nvSpPr>
          <p:cNvPr id="11" name="Text 7"/>
          <p:cNvSpPr txBox="1"/>
          <p:nvPr/>
        </p:nvSpPr>
        <p:spPr>
          <a:xfrm>
            <a:off x="548640" y="2788920"/>
            <a:ext cx="1051560" cy="685800"/>
          </a:xfrm>
          <a:prstGeom prst="rect">
            <a:avLst/>
          </a:prstGeom>
          <a:noFill/>
          <a:ln/>
        </p:spPr>
        <p:txBody>
          <a:bodyPr wrap="square" lIns="0" tIns="0" rIns="0" bIns="0" rtlCol="0" anchor="ctr"/>
          <a:lstStyle/>
          <a:p>
            <a:pPr algn="ctr" indent="0" marL="0">
              <a:buNone/>
            </a:pPr>
            <a:r>
              <a:rPr lang="en-US" sz="3000" b="1" dirty="0">
                <a:solidFill>
                  <a:srgbClr val="F5F5F3"/>
                </a:solidFill>
                <a:latin typeface="Consolas" pitchFamily="34" charset="0"/>
                <a:ea typeface="Consolas" pitchFamily="34" charset="-122"/>
                <a:cs typeface="Consolas" pitchFamily="34" charset="-120"/>
              </a:rPr>
              <a:t>!=</a:t>
            </a:r>
            <a:endParaRPr lang="en-US" sz="3000" dirty="0"/>
          </a:p>
        </p:txBody>
      </p:sp>
      <p:sp>
        <p:nvSpPr>
          <p:cNvPr id="12" name="Text 8"/>
          <p:cNvSpPr txBox="1"/>
          <p:nvPr/>
        </p:nvSpPr>
        <p:spPr>
          <a:xfrm>
            <a:off x="1828800" y="2788920"/>
            <a:ext cx="3931920" cy="685800"/>
          </a:xfrm>
          <a:prstGeom prst="rect">
            <a:avLst/>
          </a:prstGeom>
          <a:noFill/>
          <a:ln/>
        </p:spPr>
        <p:txBody>
          <a:bodyPr wrap="square" lIns="0" tIns="0" rIns="0" bIns="0" rtlCol="0" anchor="ctr"/>
          <a:lstStyle/>
          <a:p>
            <a:pPr indent="0" marL="0">
              <a:buNone/>
            </a:pPr>
            <a:r>
              <a:rPr lang="en-US" sz="2400" b="1" dirty="0">
                <a:solidFill>
                  <a:srgbClr val="F5F5F3"/>
                </a:solidFill>
                <a:latin typeface="Calibri" pitchFamily="34" charset="0"/>
                <a:ea typeface="Calibri" pitchFamily="34" charset="-122"/>
                <a:cs typeface="Calibri" pitchFamily="34" charset="-120"/>
              </a:rPr>
              <a:t>is NOT equal to</a:t>
            </a:r>
            <a:endParaRPr lang="en-US" sz="2400" dirty="0"/>
          </a:p>
        </p:txBody>
      </p:sp>
      <p:sp>
        <p:nvSpPr>
          <p:cNvPr id="13" name="Text 9"/>
          <p:cNvSpPr txBox="1"/>
          <p:nvPr/>
        </p:nvSpPr>
        <p:spPr>
          <a:xfrm>
            <a:off x="548640" y="3886200"/>
            <a:ext cx="5029200" cy="411480"/>
          </a:xfrm>
          <a:prstGeom prst="rect">
            <a:avLst/>
          </a:prstGeom>
          <a:noFill/>
          <a:ln/>
        </p:spPr>
        <p:txBody>
          <a:bodyPr wrap="square" lIns="0" tIns="0" rIns="0" bIns="0" rtlCol="0" anchor="ctr"/>
          <a:lstStyle/>
          <a:p>
            <a:pPr indent="0" marL="0">
              <a:buNone/>
            </a:pPr>
            <a:r>
              <a:rPr lang="en-US" sz="1800" i="1" dirty="0">
                <a:solidFill>
                  <a:srgbClr val="A9A9B4"/>
                </a:solidFill>
                <a:latin typeface="Calibri" pitchFamily="34" charset="0"/>
                <a:ea typeface="Calibri" pitchFamily="34" charset="-122"/>
                <a:cs typeface="Calibri" pitchFamily="34" charset="-120"/>
              </a:rPr>
              <a:t>Last lesson: ==   Today: != too</a:t>
            </a:r>
            <a:endParaRPr lang="en-US" sz="1800" dirty="0"/>
          </a:p>
        </p:txBody>
      </p:sp>
      <p:sp>
        <p:nvSpPr>
          <p:cNvPr id="14" name="Text 10"/>
          <p:cNvSpPr txBox="1"/>
          <p:nvPr/>
        </p:nvSpPr>
        <p:spPr>
          <a:xfrm>
            <a:off x="6400800" y="1463040"/>
            <a:ext cx="45720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TRUE OR FALSE?</a:t>
            </a:r>
            <a:endParaRPr lang="en-US" sz="1300" dirty="0"/>
          </a:p>
        </p:txBody>
      </p:sp>
      <p:sp>
        <p:nvSpPr>
          <p:cNvPr id="15" name="Shape 11"/>
          <p:cNvSpPr/>
          <p:nvPr/>
        </p:nvSpPr>
        <p:spPr>
          <a:xfrm>
            <a:off x="6400800" y="1828800"/>
            <a:ext cx="3291840" cy="914400"/>
          </a:xfrm>
          <a:prstGeom prst="roundRect">
            <a:avLst>
              <a:gd name="adj" fmla="val 8000"/>
            </a:avLst>
          </a:prstGeom>
          <a:solidFill>
            <a:srgbClr val="111115"/>
          </a:solidFill>
          <a:ln w="15875">
            <a:solidFill>
              <a:srgbClr val="3A3A44"/>
            </a:solidFill>
            <a:prstDash val="solid"/>
          </a:ln>
        </p:spPr>
      </p:sp>
      <p:sp>
        <p:nvSpPr>
          <p:cNvPr id="16" name="Text 12"/>
          <p:cNvSpPr txBox="1"/>
          <p:nvPr/>
        </p:nvSpPr>
        <p:spPr>
          <a:xfrm>
            <a:off x="6400800" y="1828800"/>
            <a:ext cx="3291840" cy="914400"/>
          </a:xfrm>
          <a:prstGeom prst="rect">
            <a:avLst/>
          </a:prstGeom>
          <a:noFill/>
          <a:ln/>
        </p:spPr>
        <p:txBody>
          <a:bodyPr wrap="square" lIns="0" tIns="0" rIns="0" bIns="0" rtlCol="0" anchor="ctr"/>
          <a:lstStyle/>
          <a:p>
            <a:pPr algn="ctr" indent="0" marL="0">
              <a:buNone/>
            </a:pPr>
            <a:r>
              <a:rPr lang="en-US" sz="2400" dirty="0">
                <a:solidFill>
                  <a:srgbClr val="E69F00"/>
                </a:solidFill>
                <a:latin typeface="Consolas" pitchFamily="34" charset="0"/>
                <a:ea typeface="Consolas" pitchFamily="34" charset="-122"/>
                <a:cs typeface="Consolas" pitchFamily="34" charset="-120"/>
              </a:rPr>
              <a:t>"1234"</a:t>
            </a:r>
            <a:pPr algn="ctr" indent="0" marL="0">
              <a:buNone/>
            </a:pPr>
            <a:r>
              <a:rPr lang="en-US" sz="2400" dirty="0">
                <a:solidFill>
                  <a:srgbClr val="F5F5F3"/>
                </a:solidFill>
                <a:latin typeface="Consolas" pitchFamily="34" charset="0"/>
                <a:ea typeface="Consolas" pitchFamily="34" charset="-122"/>
                <a:cs typeface="Consolas" pitchFamily="34" charset="-120"/>
              </a:rPr>
              <a:t> </a:t>
            </a:r>
            <a:pPr algn="ctr" indent="0" marL="0">
              <a:buNone/>
            </a:pPr>
            <a:r>
              <a:rPr lang="en-US" sz="2400" b="1" dirty="0">
                <a:solidFill>
                  <a:srgbClr val="F5F5F3"/>
                </a:solidFill>
                <a:latin typeface="Consolas" pitchFamily="34" charset="0"/>
                <a:ea typeface="Consolas" pitchFamily="34" charset="-122"/>
                <a:cs typeface="Consolas" pitchFamily="34" charset="-120"/>
              </a:rPr>
              <a:t>!=</a:t>
            </a:r>
            <a:pPr algn="ctr" indent="0" marL="0">
              <a:buNone/>
            </a:pPr>
            <a:r>
              <a:rPr lang="en-US" sz="2400" dirty="0">
                <a:solidFill>
                  <a:srgbClr val="F5F5F3"/>
                </a:solidFill>
                <a:latin typeface="Consolas" pitchFamily="34" charset="0"/>
                <a:ea typeface="Consolas" pitchFamily="34" charset="-122"/>
                <a:cs typeface="Consolas" pitchFamily="34" charset="-120"/>
              </a:rPr>
              <a:t> </a:t>
            </a:r>
            <a:pPr algn="ctr" indent="0" marL="0">
              <a:buNone/>
            </a:pPr>
            <a:r>
              <a:rPr lang="en-US" sz="2400" dirty="0">
                <a:solidFill>
                  <a:srgbClr val="E69F00"/>
                </a:solidFill>
                <a:latin typeface="Consolas" pitchFamily="34" charset="0"/>
                <a:ea typeface="Consolas" pitchFamily="34" charset="-122"/>
                <a:cs typeface="Consolas" pitchFamily="34" charset="-120"/>
              </a:rPr>
              <a:t>"4271"</a:t>
            </a:r>
            <a:endParaRPr lang="en-US" sz="2400" dirty="0"/>
          </a:p>
        </p:txBody>
      </p:sp>
      <p:sp>
        <p:nvSpPr>
          <p:cNvPr id="17" name="click1"/>
          <p:cNvSpPr/>
          <p:nvPr/>
        </p:nvSpPr>
        <p:spPr>
          <a:xfrm>
            <a:off x="9784080" y="2286000"/>
            <a:ext cx="365760" cy="0"/>
          </a:xfrm>
          <a:prstGeom prst="line">
            <a:avLst/>
          </a:prstGeom>
          <a:noFill/>
          <a:ln w="28575">
            <a:solidFill>
              <a:srgbClr val="A9A9B4"/>
            </a:solidFill>
            <a:prstDash val="solid"/>
            <a:tailEnd type="triangle"/>
          </a:ln>
        </p:spPr>
      </p:sp>
      <p:sp>
        <p:nvSpPr>
          <p:cNvPr id="18" name="click1"/>
          <p:cNvSpPr/>
          <p:nvPr/>
        </p:nvSpPr>
        <p:spPr>
          <a:xfrm>
            <a:off x="10241280" y="2011680"/>
            <a:ext cx="1371600" cy="548640"/>
          </a:xfrm>
          <a:prstGeom prst="roundRect">
            <a:avLst>
              <a:gd name="adj" fmla="val 13333"/>
            </a:avLst>
          </a:prstGeom>
          <a:solidFill>
            <a:srgbClr val="7FD99A"/>
          </a:solidFill>
          <a:ln/>
        </p:spPr>
      </p:sp>
      <p:sp>
        <p:nvSpPr>
          <p:cNvPr id="19" name="click1"/>
          <p:cNvSpPr txBox="1"/>
          <p:nvPr/>
        </p:nvSpPr>
        <p:spPr>
          <a:xfrm>
            <a:off x="10241280" y="2011680"/>
            <a:ext cx="1371600" cy="548640"/>
          </a:xfrm>
          <a:prstGeom prst="rect">
            <a:avLst/>
          </a:prstGeom>
          <a:noFill/>
          <a:ln/>
        </p:spPr>
        <p:txBody>
          <a:bodyPr wrap="square" lIns="0" tIns="0" rIns="0" bIns="0" rtlCol="0" anchor="ctr"/>
          <a:lstStyle/>
          <a:p>
            <a:pPr algn="ctr" indent="0" marL="0">
              <a:buNone/>
            </a:pPr>
            <a:r>
              <a:rPr lang="en-US" sz="2600" b="1" dirty="0">
                <a:solidFill>
                  <a:srgbClr val="111115"/>
                </a:solidFill>
                <a:latin typeface="Consolas" pitchFamily="34" charset="0"/>
                <a:ea typeface="Consolas" pitchFamily="34" charset="-122"/>
                <a:cs typeface="Consolas" pitchFamily="34" charset="-120"/>
              </a:rPr>
              <a:t>True</a:t>
            </a:r>
            <a:endParaRPr lang="en-US" sz="2600" dirty="0"/>
          </a:p>
        </p:txBody>
      </p:sp>
      <p:sp>
        <p:nvSpPr>
          <p:cNvPr id="20" name="click1"/>
          <p:cNvSpPr txBox="1"/>
          <p:nvPr/>
        </p:nvSpPr>
        <p:spPr>
          <a:xfrm>
            <a:off x="6400800" y="2834640"/>
            <a:ext cx="5212080" cy="411480"/>
          </a:xfrm>
          <a:prstGeom prst="rect">
            <a:avLst/>
          </a:prstGeom>
          <a:noFill/>
          <a:ln/>
        </p:spPr>
        <p:txBody>
          <a:bodyPr wrap="square" lIns="0" tIns="0" rIns="0" bIns="0" rtlCol="0" anchor="ctr"/>
          <a:lstStyle/>
          <a:p>
            <a:pPr indent="0" marL="0">
              <a:buNone/>
            </a:pPr>
            <a:r>
              <a:rPr lang="en-US" sz="1800" i="1" dirty="0">
                <a:solidFill>
                  <a:srgbClr val="A9A9B4"/>
                </a:solidFill>
                <a:latin typeface="Calibri" pitchFamily="34" charset="0"/>
                <a:ea typeface="Calibri" pitchFamily="34" charset="-122"/>
                <a:cs typeface="Calibri" pitchFamily="34" charset="-120"/>
              </a:rPr>
              <a:t>Is 1234 different from 4271? Yes</a:t>
            </a:r>
            <a:endParaRPr lang="en-US" sz="1800" dirty="0"/>
          </a:p>
        </p:txBody>
      </p:sp>
      <p:sp>
        <p:nvSpPr>
          <p:cNvPr id="21" name="Shape 17"/>
          <p:cNvSpPr/>
          <p:nvPr/>
        </p:nvSpPr>
        <p:spPr>
          <a:xfrm>
            <a:off x="6400800" y="3611880"/>
            <a:ext cx="3291840" cy="914400"/>
          </a:xfrm>
          <a:prstGeom prst="roundRect">
            <a:avLst>
              <a:gd name="adj" fmla="val 8000"/>
            </a:avLst>
          </a:prstGeom>
          <a:solidFill>
            <a:srgbClr val="111115"/>
          </a:solidFill>
          <a:ln w="15875">
            <a:solidFill>
              <a:srgbClr val="3A3A44"/>
            </a:solidFill>
            <a:prstDash val="solid"/>
          </a:ln>
        </p:spPr>
      </p:sp>
      <p:sp>
        <p:nvSpPr>
          <p:cNvPr id="22" name="Text 18"/>
          <p:cNvSpPr txBox="1"/>
          <p:nvPr/>
        </p:nvSpPr>
        <p:spPr>
          <a:xfrm>
            <a:off x="6400800" y="3611880"/>
            <a:ext cx="3291840" cy="914400"/>
          </a:xfrm>
          <a:prstGeom prst="rect">
            <a:avLst/>
          </a:prstGeom>
          <a:noFill/>
          <a:ln/>
        </p:spPr>
        <p:txBody>
          <a:bodyPr wrap="square" lIns="0" tIns="0" rIns="0" bIns="0" rtlCol="0" anchor="ctr"/>
          <a:lstStyle/>
          <a:p>
            <a:pPr algn="ctr" indent="0" marL="0">
              <a:buNone/>
            </a:pPr>
            <a:r>
              <a:rPr lang="en-US" sz="2400" dirty="0">
                <a:solidFill>
                  <a:srgbClr val="E69F00"/>
                </a:solidFill>
                <a:latin typeface="Consolas" pitchFamily="34" charset="0"/>
                <a:ea typeface="Consolas" pitchFamily="34" charset="-122"/>
                <a:cs typeface="Consolas" pitchFamily="34" charset="-120"/>
              </a:rPr>
              <a:t>"4271"</a:t>
            </a:r>
            <a:pPr algn="ctr" indent="0" marL="0">
              <a:buNone/>
            </a:pPr>
            <a:r>
              <a:rPr lang="en-US" sz="2400" dirty="0">
                <a:solidFill>
                  <a:srgbClr val="F5F5F3"/>
                </a:solidFill>
                <a:latin typeface="Consolas" pitchFamily="34" charset="0"/>
                <a:ea typeface="Consolas" pitchFamily="34" charset="-122"/>
                <a:cs typeface="Consolas" pitchFamily="34" charset="-120"/>
              </a:rPr>
              <a:t> </a:t>
            </a:r>
            <a:pPr algn="ctr" indent="0" marL="0">
              <a:buNone/>
            </a:pPr>
            <a:r>
              <a:rPr lang="en-US" sz="2400" b="1" dirty="0">
                <a:solidFill>
                  <a:srgbClr val="F5F5F3"/>
                </a:solidFill>
                <a:latin typeface="Consolas" pitchFamily="34" charset="0"/>
                <a:ea typeface="Consolas" pitchFamily="34" charset="-122"/>
                <a:cs typeface="Consolas" pitchFamily="34" charset="-120"/>
              </a:rPr>
              <a:t>!=</a:t>
            </a:r>
            <a:pPr algn="ctr" indent="0" marL="0">
              <a:buNone/>
            </a:pPr>
            <a:r>
              <a:rPr lang="en-US" sz="2400" dirty="0">
                <a:solidFill>
                  <a:srgbClr val="F5F5F3"/>
                </a:solidFill>
                <a:latin typeface="Consolas" pitchFamily="34" charset="0"/>
                <a:ea typeface="Consolas" pitchFamily="34" charset="-122"/>
                <a:cs typeface="Consolas" pitchFamily="34" charset="-120"/>
              </a:rPr>
              <a:t> </a:t>
            </a:r>
            <a:pPr algn="ctr" indent="0" marL="0">
              <a:buNone/>
            </a:pPr>
            <a:r>
              <a:rPr lang="en-US" sz="2400" dirty="0">
                <a:solidFill>
                  <a:srgbClr val="E69F00"/>
                </a:solidFill>
                <a:latin typeface="Consolas" pitchFamily="34" charset="0"/>
                <a:ea typeface="Consolas" pitchFamily="34" charset="-122"/>
                <a:cs typeface="Consolas" pitchFamily="34" charset="-120"/>
              </a:rPr>
              <a:t>"4271"</a:t>
            </a:r>
            <a:endParaRPr lang="en-US" sz="2400" dirty="0"/>
          </a:p>
        </p:txBody>
      </p:sp>
      <p:sp>
        <p:nvSpPr>
          <p:cNvPr id="23" name="click2"/>
          <p:cNvSpPr/>
          <p:nvPr/>
        </p:nvSpPr>
        <p:spPr>
          <a:xfrm>
            <a:off x="9784080" y="4069080"/>
            <a:ext cx="365760" cy="0"/>
          </a:xfrm>
          <a:prstGeom prst="line">
            <a:avLst/>
          </a:prstGeom>
          <a:noFill/>
          <a:ln w="28575">
            <a:solidFill>
              <a:srgbClr val="A9A9B4"/>
            </a:solidFill>
            <a:prstDash val="solid"/>
            <a:tailEnd type="triangle"/>
          </a:ln>
        </p:spPr>
      </p:sp>
      <p:sp>
        <p:nvSpPr>
          <p:cNvPr id="24" name="click2"/>
          <p:cNvSpPr/>
          <p:nvPr/>
        </p:nvSpPr>
        <p:spPr>
          <a:xfrm>
            <a:off x="10241280" y="3794760"/>
            <a:ext cx="1371600" cy="548640"/>
          </a:xfrm>
          <a:prstGeom prst="roundRect">
            <a:avLst>
              <a:gd name="adj" fmla="val 13333"/>
            </a:avLst>
          </a:prstGeom>
          <a:solidFill>
            <a:srgbClr val="1E1E24"/>
          </a:solidFill>
          <a:ln w="19050">
            <a:solidFill>
              <a:srgbClr val="A9A9B4"/>
            </a:solidFill>
            <a:prstDash val="solid"/>
          </a:ln>
        </p:spPr>
      </p:sp>
      <p:sp>
        <p:nvSpPr>
          <p:cNvPr id="25" name="click2"/>
          <p:cNvSpPr txBox="1"/>
          <p:nvPr/>
        </p:nvSpPr>
        <p:spPr>
          <a:xfrm>
            <a:off x="10241280" y="3794760"/>
            <a:ext cx="1371600" cy="548640"/>
          </a:xfrm>
          <a:prstGeom prst="rect">
            <a:avLst/>
          </a:prstGeom>
          <a:noFill/>
          <a:ln/>
        </p:spPr>
        <p:txBody>
          <a:bodyPr wrap="square" lIns="0" tIns="0" rIns="0" bIns="0" rtlCol="0" anchor="ctr"/>
          <a:lstStyle/>
          <a:p>
            <a:pPr algn="ctr" indent="0" marL="0">
              <a:buNone/>
            </a:pPr>
            <a:r>
              <a:rPr lang="en-US" sz="2600" b="1" dirty="0">
                <a:solidFill>
                  <a:srgbClr val="F5F5F3"/>
                </a:solidFill>
                <a:latin typeface="Consolas" pitchFamily="34" charset="0"/>
                <a:ea typeface="Consolas" pitchFamily="34" charset="-122"/>
                <a:cs typeface="Consolas" pitchFamily="34" charset="-120"/>
              </a:rPr>
              <a:t>False</a:t>
            </a:r>
            <a:endParaRPr lang="en-US" sz="2600" dirty="0"/>
          </a:p>
        </p:txBody>
      </p:sp>
      <p:sp>
        <p:nvSpPr>
          <p:cNvPr id="26" name="click2"/>
          <p:cNvSpPr txBox="1"/>
          <p:nvPr/>
        </p:nvSpPr>
        <p:spPr>
          <a:xfrm>
            <a:off x="6400800" y="4617720"/>
            <a:ext cx="5212080" cy="411480"/>
          </a:xfrm>
          <a:prstGeom prst="rect">
            <a:avLst/>
          </a:prstGeom>
          <a:noFill/>
          <a:ln/>
        </p:spPr>
        <p:txBody>
          <a:bodyPr wrap="square" lIns="0" tIns="0" rIns="0" bIns="0" rtlCol="0" anchor="ctr"/>
          <a:lstStyle/>
          <a:p>
            <a:pPr indent="0" marL="0">
              <a:buNone/>
            </a:pPr>
            <a:r>
              <a:rPr lang="en-US" sz="1800" i="1" dirty="0">
                <a:solidFill>
                  <a:srgbClr val="A9A9B4"/>
                </a:solidFill>
                <a:latin typeface="Calibri" pitchFamily="34" charset="0"/>
                <a:ea typeface="Calibri" pitchFamily="34" charset="-122"/>
                <a:cs typeface="Calibri" pitchFamily="34" charset="-120"/>
              </a:rPr>
              <a:t>Is 4271 different from 4271? No</a:t>
            </a:r>
            <a:endParaRPr lang="en-US" sz="1800" dirty="0"/>
          </a:p>
        </p:txBody>
      </p:sp>
      <p:sp>
        <p:nvSpPr>
          <p:cNvPr id="27" name="Shape 23"/>
          <p:cNvSpPr/>
          <p:nvPr/>
        </p:nvSpPr>
        <p:spPr>
          <a:xfrm>
            <a:off x="548640" y="5440680"/>
            <a:ext cx="11091672" cy="731520"/>
          </a:xfrm>
          <a:prstGeom prst="roundRect">
            <a:avLst>
              <a:gd name="adj" fmla="val 10000"/>
            </a:avLst>
          </a:prstGeom>
          <a:solidFill>
            <a:srgbClr val="1E1E24"/>
          </a:solidFill>
          <a:ln w="25400">
            <a:solidFill>
              <a:srgbClr val="D8A73D"/>
            </a:solidFill>
            <a:prstDash val="solid"/>
          </a:ln>
        </p:spPr>
      </p:sp>
      <p:sp>
        <p:nvSpPr>
          <p:cNvPr id="28" name="Text 24"/>
          <p:cNvSpPr txBox="1"/>
          <p:nvPr/>
        </p:nvSpPr>
        <p:spPr>
          <a:xfrm>
            <a:off x="914400" y="5440680"/>
            <a:ext cx="10332720" cy="731520"/>
          </a:xfrm>
          <a:prstGeom prst="rect">
            <a:avLst/>
          </a:prstGeom>
          <a:noFill/>
          <a:ln/>
        </p:spPr>
        <p:txBody>
          <a:bodyPr wrap="square" lIns="0" tIns="0" rIns="0" bIns="0" rtlCol="0" anchor="ctr"/>
          <a:lstStyle/>
          <a:p>
            <a:pPr indent="0" marL="0">
              <a:buNone/>
            </a:pPr>
            <a:r>
              <a:rPr lang="en-US" sz="2200" b="1" dirty="0">
                <a:solidFill>
                  <a:srgbClr val="D8A73D"/>
                </a:solidFill>
                <a:latin typeface="Calibri" pitchFamily="34" charset="0"/>
                <a:ea typeface="Calibri" pitchFamily="34" charset="-122"/>
                <a:cs typeface="Calibri" pitchFamily="34" charset="-120"/>
              </a:rPr>
              <a:t>A keypad loop keeps going </a:t>
            </a:r>
            <a:pPr indent="0" marL="0">
              <a:buNone/>
            </a:pPr>
            <a:r>
              <a:rPr lang="en-US" sz="2200" dirty="0">
                <a:solidFill>
                  <a:srgbClr val="F5F5F3"/>
                </a:solidFill>
                <a:latin typeface="Calibri" pitchFamily="34" charset="0"/>
                <a:ea typeface="Calibri" pitchFamily="34" charset="-122"/>
                <a:cs typeface="Calibri" pitchFamily="34" charset="-120"/>
              </a:rPr>
              <a:t>while the code typed != the right code.</a:t>
            </a:r>
            <a:endParaRPr lang="en-US" sz="2200" dirty="0"/>
          </a:p>
        </p:txBody>
      </p:sp>
      <p:pic>
        <p:nvPicPr>
          <p:cNvPr id="29" name="Image 2" descr="New information">    </p:cNvPr>
          <p:cNvPicPr>
            <a:picLocks noChangeAspect="1"/>
          </p:cNvPicPr>
          <p:nvPr/>
        </p:nvPicPr>
        <p:blipFill>
          <a:blip r:embed="rId3"/>
          <a:stretch>
            <a:fillRect/>
          </a:stretch>
        </p:blipFill>
        <p:spPr>
          <a:xfrm>
            <a:off x="10972800" y="384048"/>
            <a:ext cx="731520" cy="731520"/>
          </a:xfrm>
          <a:prstGeom prst="rect">
            <a:avLst/>
          </a:prstGeom>
        </p:spPr>
      </p:pic>
      <p:sp>
        <p:nvSpPr>
          <p:cNvPr id="30"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tgtEl>
                                          <p:spTgt spid="23"/>
                                        </p:tgtEl>
                                      </p:cBhvr>
                                    </p:animEffect>
                                  </p:childTnLst>
                                </p:cTn>
                              </p:par>
                              <p:par>
                                <p:cTn id="22" presetID="10" presetClass="entr" presetSubtype="0" fill="hold"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00"/>
                                        <p:tgtEl>
                                          <p:spTgt spid="2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00"/>
                                        <p:tgtEl>
                                          <p:spTgt spid="2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fade">
                                      <p:cBhvr>
                                        <p:cTn id="3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5"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True or False?</a:t>
            </a:r>
            <a:endParaRPr lang="en-US" sz="3600" dirty="0"/>
          </a:p>
        </p:txBody>
      </p:sp>
      <p:sp>
        <p:nvSpPr>
          <p:cNvPr id="6" name="Shape 2"/>
          <p:cNvSpPr/>
          <p:nvPr/>
        </p:nvSpPr>
        <p:spPr>
          <a:xfrm>
            <a:off x="548640" y="1554480"/>
            <a:ext cx="3511296" cy="1325880"/>
          </a:xfrm>
          <a:prstGeom prst="roundRect">
            <a:avLst>
              <a:gd name="adj" fmla="val 5517"/>
            </a:avLst>
          </a:prstGeom>
          <a:solidFill>
            <a:srgbClr val="111115"/>
          </a:solidFill>
          <a:ln w="15875">
            <a:solidFill>
              <a:srgbClr val="3A3A44"/>
            </a:solidFill>
            <a:prstDash val="solid"/>
          </a:ln>
        </p:spPr>
      </p:sp>
      <p:sp>
        <p:nvSpPr>
          <p:cNvPr id="7" name="Shape 3"/>
          <p:cNvSpPr/>
          <p:nvPr/>
        </p:nvSpPr>
        <p:spPr>
          <a:xfrm>
            <a:off x="713232" y="1719072"/>
            <a:ext cx="384048" cy="384048"/>
          </a:xfrm>
          <a:prstGeom prst="ellipse">
            <a:avLst/>
          </a:prstGeom>
          <a:solidFill>
            <a:srgbClr val="D8A73D"/>
          </a:solidFill>
          <a:ln/>
        </p:spPr>
      </p:sp>
      <p:sp>
        <p:nvSpPr>
          <p:cNvPr id="8" name="Text 4"/>
          <p:cNvSpPr txBox="1"/>
          <p:nvPr/>
        </p:nvSpPr>
        <p:spPr>
          <a:xfrm>
            <a:off x="713232"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9" name="Text 5"/>
          <p:cNvSpPr txBox="1"/>
          <p:nvPr/>
        </p:nvSpPr>
        <p:spPr>
          <a:xfrm>
            <a:off x="1188720" y="1554480"/>
            <a:ext cx="2688336" cy="1325880"/>
          </a:xfrm>
          <a:prstGeom prst="rect">
            <a:avLst/>
          </a:prstGeom>
          <a:noFill/>
          <a:ln/>
        </p:spPr>
        <p:txBody>
          <a:bodyPr wrap="square" lIns="0" tIns="0" rIns="0" bIns="0" rtlCol="0" anchor="ctr"/>
          <a:lstStyle/>
          <a:p>
            <a:pPr algn="ctr" indent="0" marL="0">
              <a:buNone/>
            </a:pPr>
            <a:r>
              <a:rPr lang="en-US" sz="3400" dirty="0">
                <a:solidFill>
                  <a:srgbClr val="E69F00"/>
                </a:solidFill>
                <a:latin typeface="Consolas" pitchFamily="34" charset="0"/>
                <a:ea typeface="Consolas" pitchFamily="34" charset="-122"/>
                <a:cs typeface="Consolas" pitchFamily="34" charset="-120"/>
              </a:rPr>
              <a:t>"a"</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E69F00"/>
                </a:solidFill>
                <a:latin typeface="Consolas" pitchFamily="34" charset="0"/>
                <a:ea typeface="Consolas" pitchFamily="34" charset="-122"/>
                <a:cs typeface="Consolas" pitchFamily="34" charset="-120"/>
              </a:rPr>
              <a:t>"b"</a:t>
            </a:r>
            <a:endParaRPr lang="en-US" sz="3400" dirty="0"/>
          </a:p>
        </p:txBody>
      </p:sp>
      <p:sp>
        <p:nvSpPr>
          <p:cNvPr id="10" name="Shape 6"/>
          <p:cNvSpPr/>
          <p:nvPr/>
        </p:nvSpPr>
        <p:spPr>
          <a:xfrm>
            <a:off x="4334256" y="1554480"/>
            <a:ext cx="3511296" cy="1325880"/>
          </a:xfrm>
          <a:prstGeom prst="roundRect">
            <a:avLst>
              <a:gd name="adj" fmla="val 5517"/>
            </a:avLst>
          </a:prstGeom>
          <a:solidFill>
            <a:srgbClr val="111115"/>
          </a:solidFill>
          <a:ln w="15875">
            <a:solidFill>
              <a:srgbClr val="3A3A44"/>
            </a:solidFill>
            <a:prstDash val="solid"/>
          </a:ln>
        </p:spPr>
      </p:sp>
      <p:sp>
        <p:nvSpPr>
          <p:cNvPr id="11" name="Shape 7"/>
          <p:cNvSpPr/>
          <p:nvPr/>
        </p:nvSpPr>
        <p:spPr>
          <a:xfrm>
            <a:off x="4498848" y="1719072"/>
            <a:ext cx="384048" cy="384048"/>
          </a:xfrm>
          <a:prstGeom prst="ellipse">
            <a:avLst/>
          </a:prstGeom>
          <a:solidFill>
            <a:srgbClr val="D8A73D"/>
          </a:solidFill>
          <a:ln/>
        </p:spPr>
      </p:sp>
      <p:sp>
        <p:nvSpPr>
          <p:cNvPr id="12" name="Text 8"/>
          <p:cNvSpPr txBox="1"/>
          <p:nvPr/>
        </p:nvSpPr>
        <p:spPr>
          <a:xfrm>
            <a:off x="4498848"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13" name="Text 9"/>
          <p:cNvSpPr txBox="1"/>
          <p:nvPr/>
        </p:nvSpPr>
        <p:spPr>
          <a:xfrm>
            <a:off x="4974336" y="155448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5</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5</a:t>
            </a:r>
            <a:endParaRPr lang="en-US" sz="3400" dirty="0"/>
          </a:p>
        </p:txBody>
      </p:sp>
      <p:sp>
        <p:nvSpPr>
          <p:cNvPr id="14" name="Shape 10"/>
          <p:cNvSpPr/>
          <p:nvPr/>
        </p:nvSpPr>
        <p:spPr>
          <a:xfrm>
            <a:off x="8119872" y="1554480"/>
            <a:ext cx="3511296" cy="1325880"/>
          </a:xfrm>
          <a:prstGeom prst="roundRect">
            <a:avLst>
              <a:gd name="adj" fmla="val 5517"/>
            </a:avLst>
          </a:prstGeom>
          <a:solidFill>
            <a:srgbClr val="111115"/>
          </a:solidFill>
          <a:ln w="15875">
            <a:solidFill>
              <a:srgbClr val="3A3A44"/>
            </a:solidFill>
            <a:prstDash val="solid"/>
          </a:ln>
        </p:spPr>
      </p:sp>
      <p:sp>
        <p:nvSpPr>
          <p:cNvPr id="15" name="Shape 11"/>
          <p:cNvSpPr/>
          <p:nvPr/>
        </p:nvSpPr>
        <p:spPr>
          <a:xfrm>
            <a:off x="8284464" y="1719072"/>
            <a:ext cx="384048" cy="384048"/>
          </a:xfrm>
          <a:prstGeom prst="ellipse">
            <a:avLst/>
          </a:prstGeom>
          <a:solidFill>
            <a:srgbClr val="D8A73D"/>
          </a:solidFill>
          <a:ln/>
        </p:spPr>
      </p:sp>
      <p:sp>
        <p:nvSpPr>
          <p:cNvPr id="16" name="Text 12"/>
          <p:cNvSpPr txBox="1"/>
          <p:nvPr/>
        </p:nvSpPr>
        <p:spPr>
          <a:xfrm>
            <a:off x="8284464"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17" name="Text 13"/>
          <p:cNvSpPr txBox="1"/>
          <p:nvPr/>
        </p:nvSpPr>
        <p:spPr>
          <a:xfrm>
            <a:off x="8759952" y="155448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3</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&lt;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3</a:t>
            </a:r>
            <a:endParaRPr lang="en-US" sz="3400" dirty="0"/>
          </a:p>
        </p:txBody>
      </p:sp>
      <p:sp>
        <p:nvSpPr>
          <p:cNvPr id="18" name="Shape 14"/>
          <p:cNvSpPr/>
          <p:nvPr/>
        </p:nvSpPr>
        <p:spPr>
          <a:xfrm>
            <a:off x="548640" y="3108960"/>
            <a:ext cx="3511296" cy="1325880"/>
          </a:xfrm>
          <a:prstGeom prst="roundRect">
            <a:avLst>
              <a:gd name="adj" fmla="val 5517"/>
            </a:avLst>
          </a:prstGeom>
          <a:solidFill>
            <a:srgbClr val="111115"/>
          </a:solidFill>
          <a:ln w="15875">
            <a:solidFill>
              <a:srgbClr val="3A3A44"/>
            </a:solidFill>
            <a:prstDash val="solid"/>
          </a:ln>
        </p:spPr>
      </p:sp>
      <p:sp>
        <p:nvSpPr>
          <p:cNvPr id="19" name="Shape 15"/>
          <p:cNvSpPr/>
          <p:nvPr/>
        </p:nvSpPr>
        <p:spPr>
          <a:xfrm>
            <a:off x="713232" y="3273552"/>
            <a:ext cx="384048" cy="384048"/>
          </a:xfrm>
          <a:prstGeom prst="ellipse">
            <a:avLst/>
          </a:prstGeom>
          <a:solidFill>
            <a:srgbClr val="D8A73D"/>
          </a:solidFill>
          <a:ln/>
        </p:spPr>
      </p:sp>
      <p:sp>
        <p:nvSpPr>
          <p:cNvPr id="20" name="Text 16"/>
          <p:cNvSpPr txBox="1"/>
          <p:nvPr/>
        </p:nvSpPr>
        <p:spPr>
          <a:xfrm>
            <a:off x="713232"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21" name="Text 17"/>
          <p:cNvSpPr txBox="1"/>
          <p:nvPr/>
        </p:nvSpPr>
        <p:spPr>
          <a:xfrm>
            <a:off x="1188720" y="310896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7</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7</a:t>
            </a:r>
            <a:endParaRPr lang="en-US" sz="3400" dirty="0"/>
          </a:p>
        </p:txBody>
      </p:sp>
      <p:sp>
        <p:nvSpPr>
          <p:cNvPr id="22" name="Shape 18"/>
          <p:cNvSpPr/>
          <p:nvPr/>
        </p:nvSpPr>
        <p:spPr>
          <a:xfrm>
            <a:off x="4334256" y="3108960"/>
            <a:ext cx="3511296" cy="1325880"/>
          </a:xfrm>
          <a:prstGeom prst="roundRect">
            <a:avLst>
              <a:gd name="adj" fmla="val 5517"/>
            </a:avLst>
          </a:prstGeom>
          <a:solidFill>
            <a:srgbClr val="111115"/>
          </a:solidFill>
          <a:ln w="15875">
            <a:solidFill>
              <a:srgbClr val="3A3A44"/>
            </a:solidFill>
            <a:prstDash val="solid"/>
          </a:ln>
        </p:spPr>
      </p:sp>
      <p:sp>
        <p:nvSpPr>
          <p:cNvPr id="23" name="Shape 19"/>
          <p:cNvSpPr/>
          <p:nvPr/>
        </p:nvSpPr>
        <p:spPr>
          <a:xfrm>
            <a:off x="4498848" y="3273552"/>
            <a:ext cx="384048" cy="384048"/>
          </a:xfrm>
          <a:prstGeom prst="ellipse">
            <a:avLst/>
          </a:prstGeom>
          <a:solidFill>
            <a:srgbClr val="D8A73D"/>
          </a:solidFill>
          <a:ln/>
        </p:spPr>
      </p:sp>
      <p:sp>
        <p:nvSpPr>
          <p:cNvPr id="24" name="Text 20"/>
          <p:cNvSpPr txBox="1"/>
          <p:nvPr/>
        </p:nvSpPr>
        <p:spPr>
          <a:xfrm>
            <a:off x="4498848"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5</a:t>
            </a:r>
            <a:endParaRPr lang="en-US" sz="1600" dirty="0"/>
          </a:p>
        </p:txBody>
      </p:sp>
      <p:sp>
        <p:nvSpPr>
          <p:cNvPr id="25" name="Text 21"/>
          <p:cNvSpPr txBox="1"/>
          <p:nvPr/>
        </p:nvSpPr>
        <p:spPr>
          <a:xfrm>
            <a:off x="4974336" y="3108960"/>
            <a:ext cx="2688336" cy="1325880"/>
          </a:xfrm>
          <a:prstGeom prst="rect">
            <a:avLst/>
          </a:prstGeom>
          <a:noFill/>
          <a:ln/>
        </p:spPr>
        <p:txBody>
          <a:bodyPr wrap="square" lIns="0" tIns="0" rIns="0" bIns="0" rtlCol="0" anchor="ctr"/>
          <a:lstStyle/>
          <a:p>
            <a:pPr algn="ctr" indent="0" marL="0">
              <a:buNone/>
            </a:pPr>
            <a:r>
              <a:rPr lang="en-US" sz="3400" dirty="0">
                <a:solidFill>
                  <a:srgbClr val="E69F00"/>
                </a:solidFill>
                <a:latin typeface="Consolas" pitchFamily="34" charset="0"/>
                <a:ea typeface="Consolas" pitchFamily="34" charset="-122"/>
                <a:cs typeface="Consolas" pitchFamily="34" charset="-120"/>
              </a:rPr>
              <a:t>"y"</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E69F00"/>
                </a:solidFill>
                <a:latin typeface="Consolas" pitchFamily="34" charset="0"/>
                <a:ea typeface="Consolas" pitchFamily="34" charset="-122"/>
                <a:cs typeface="Consolas" pitchFamily="34" charset="-120"/>
              </a:rPr>
              <a:t>"y"</a:t>
            </a:r>
            <a:endParaRPr lang="en-US" sz="3400" dirty="0"/>
          </a:p>
        </p:txBody>
      </p:sp>
      <p:sp>
        <p:nvSpPr>
          <p:cNvPr id="26" name="Shape 22"/>
          <p:cNvSpPr/>
          <p:nvPr/>
        </p:nvSpPr>
        <p:spPr>
          <a:xfrm>
            <a:off x="8119872" y="3108960"/>
            <a:ext cx="3511296" cy="1325880"/>
          </a:xfrm>
          <a:prstGeom prst="roundRect">
            <a:avLst>
              <a:gd name="adj" fmla="val 5517"/>
            </a:avLst>
          </a:prstGeom>
          <a:solidFill>
            <a:srgbClr val="111115"/>
          </a:solidFill>
          <a:ln w="15875">
            <a:solidFill>
              <a:srgbClr val="3A3A44"/>
            </a:solidFill>
            <a:prstDash val="solid"/>
          </a:ln>
        </p:spPr>
      </p:sp>
      <p:sp>
        <p:nvSpPr>
          <p:cNvPr id="27" name="Shape 23"/>
          <p:cNvSpPr/>
          <p:nvPr/>
        </p:nvSpPr>
        <p:spPr>
          <a:xfrm>
            <a:off x="8284464" y="3273552"/>
            <a:ext cx="384048" cy="384048"/>
          </a:xfrm>
          <a:prstGeom prst="ellipse">
            <a:avLst/>
          </a:prstGeom>
          <a:solidFill>
            <a:srgbClr val="D8A73D"/>
          </a:solidFill>
          <a:ln/>
        </p:spPr>
      </p:sp>
      <p:sp>
        <p:nvSpPr>
          <p:cNvPr id="28" name="Text 24"/>
          <p:cNvSpPr txBox="1"/>
          <p:nvPr/>
        </p:nvSpPr>
        <p:spPr>
          <a:xfrm>
            <a:off x="8284464"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6</a:t>
            </a:r>
            <a:endParaRPr lang="en-US" sz="1600" dirty="0"/>
          </a:p>
        </p:txBody>
      </p:sp>
      <p:sp>
        <p:nvSpPr>
          <p:cNvPr id="29" name="Text 25"/>
          <p:cNvSpPr txBox="1"/>
          <p:nvPr/>
        </p:nvSpPr>
        <p:spPr>
          <a:xfrm>
            <a:off x="8759952" y="3108960"/>
            <a:ext cx="2688336" cy="1325880"/>
          </a:xfrm>
          <a:prstGeom prst="rect">
            <a:avLst/>
          </a:prstGeom>
          <a:noFill/>
          <a:ln/>
        </p:spPr>
        <p:txBody>
          <a:bodyPr wrap="square" lIns="0" tIns="0" rIns="0" bIns="0" rtlCol="0" anchor="ctr"/>
          <a:lstStyle/>
          <a:p>
            <a:pPr algn="ctr" indent="0" marL="0">
              <a:buNone/>
            </a:pPr>
            <a:r>
              <a:rPr lang="en-US" sz="3400" dirty="0">
                <a:solidFill>
                  <a:srgbClr val="56B4E9"/>
                </a:solidFill>
                <a:latin typeface="Consolas" pitchFamily="34" charset="0"/>
                <a:ea typeface="Consolas" pitchFamily="34" charset="-122"/>
                <a:cs typeface="Consolas" pitchFamily="34" charset="-120"/>
              </a:rPr>
              <a:t>9</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b="1" dirty="0">
                <a:solidFill>
                  <a:srgbClr val="F5F5F3"/>
                </a:solidFill>
                <a:latin typeface="Consolas" pitchFamily="34" charset="0"/>
                <a:ea typeface="Consolas" pitchFamily="34" charset="-122"/>
                <a:cs typeface="Consolas" pitchFamily="34" charset="-120"/>
              </a:rPr>
              <a:t>!=</a:t>
            </a:r>
            <a:pPr algn="ctr" indent="0" marL="0">
              <a:buNone/>
            </a:pPr>
            <a:r>
              <a:rPr lang="en-US" sz="3400" dirty="0">
                <a:solidFill>
                  <a:srgbClr val="F5F5F3"/>
                </a:solidFill>
                <a:latin typeface="Consolas" pitchFamily="34" charset="0"/>
                <a:ea typeface="Consolas" pitchFamily="34" charset="-122"/>
                <a:cs typeface="Consolas" pitchFamily="34" charset="-120"/>
              </a:rPr>
              <a:t> </a:t>
            </a:r>
            <a:pPr algn="ctr" indent="0" marL="0">
              <a:buNone/>
            </a:pPr>
            <a:r>
              <a:rPr lang="en-US" sz="3400" dirty="0">
                <a:solidFill>
                  <a:srgbClr val="56B4E9"/>
                </a:solidFill>
                <a:latin typeface="Consolas" pitchFamily="34" charset="0"/>
                <a:ea typeface="Consolas" pitchFamily="34" charset="-122"/>
                <a:cs typeface="Consolas" pitchFamily="34" charset="-120"/>
              </a:rPr>
              <a:t>6</a:t>
            </a:r>
            <a:endParaRPr lang="en-US" sz="3400" dirty="0"/>
          </a:p>
        </p:txBody>
      </p:sp>
      <p:sp>
        <p:nvSpPr>
          <p:cNvPr id="30" name="Shape 26"/>
          <p:cNvSpPr/>
          <p:nvPr/>
        </p:nvSpPr>
        <p:spPr>
          <a:xfrm>
            <a:off x="548640" y="4800600"/>
            <a:ext cx="11091672" cy="1097280"/>
          </a:xfrm>
          <a:prstGeom prst="roundRect">
            <a:avLst>
              <a:gd name="adj" fmla="val 6667"/>
            </a:avLst>
          </a:prstGeom>
          <a:solidFill>
            <a:srgbClr val="1E1E24"/>
          </a:solidFill>
          <a:ln w="25400">
            <a:solidFill>
              <a:srgbClr val="D8A73D"/>
            </a:solidFill>
            <a:prstDash val="solid"/>
          </a:ln>
        </p:spPr>
      </p:sp>
      <p:sp>
        <p:nvSpPr>
          <p:cNvPr id="31" name="Text 27"/>
          <p:cNvSpPr txBox="1"/>
          <p:nvPr/>
        </p:nvSpPr>
        <p:spPr>
          <a:xfrm>
            <a:off x="914400" y="4800600"/>
            <a:ext cx="10332720" cy="1097280"/>
          </a:xfrm>
          <a:prstGeom prst="rect">
            <a:avLst/>
          </a:prstGeom>
          <a:noFill/>
          <a:ln/>
        </p:spPr>
        <p:txBody>
          <a:bodyPr wrap="square" lIns="0" tIns="0" rIns="0" bIns="0" rtlCol="0" anchor="ctr"/>
          <a:lstStyle/>
          <a:p>
            <a:pPr indent="0" marL="0">
              <a:buNone/>
            </a:pPr>
            <a:r>
              <a:rPr lang="en-US" sz="2400" b="1" dirty="0">
                <a:solidFill>
                  <a:srgbClr val="D8A73D"/>
                </a:solidFill>
                <a:latin typeface="Calibri" pitchFamily="34" charset="0"/>
                <a:ea typeface="Calibri" pitchFamily="34" charset="-122"/>
                <a:cs typeface="Calibri" pitchFamily="34" charset="-120"/>
              </a:rPr>
              <a:t>On your board: </a:t>
            </a:r>
            <a:pPr indent="0" marL="0">
              <a:buNone/>
            </a:pPr>
            <a:r>
              <a:rPr lang="en-US" sz="2400" dirty="0">
                <a:solidFill>
                  <a:srgbClr val="F5F5F3"/>
                </a:solidFill>
                <a:latin typeface="Calibri" pitchFamily="34" charset="0"/>
                <a:ea typeface="Calibri" pitchFamily="34" charset="-122"/>
                <a:cs typeface="Calibri" pitchFamily="34" charset="-120"/>
              </a:rPr>
              <a:t>write T or F for all six. Boards up together.</a:t>
            </a:r>
            <a:endParaRPr lang="en-US" sz="2400" dirty="0"/>
          </a:p>
        </p:txBody>
      </p:sp>
      <p:sp>
        <p:nvSpPr>
          <p:cNvPr id="32" name="Shape 28"/>
          <p:cNvSpPr/>
          <p:nvPr/>
        </p:nvSpPr>
        <p:spPr>
          <a:xfrm>
            <a:off x="9464040" y="566928"/>
            <a:ext cx="1280160" cy="329184"/>
          </a:xfrm>
          <a:prstGeom prst="roundRect">
            <a:avLst>
              <a:gd name="adj" fmla="val 50000"/>
            </a:avLst>
          </a:prstGeom>
          <a:solidFill>
            <a:srgbClr val="1E1E24"/>
          </a:solidFill>
          <a:ln w="15875">
            <a:solidFill>
              <a:srgbClr val="D8A73D"/>
            </a:solidFill>
            <a:prstDash val="solid"/>
          </a:ln>
        </p:spPr>
      </p:sp>
      <p:sp>
        <p:nvSpPr>
          <p:cNvPr id="33" name="Text 29"/>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2 MIN</a:t>
            </a:r>
            <a:endParaRPr lang="en-US" sz="1400" dirty="0"/>
          </a:p>
        </p:txBody>
      </p:sp>
      <p:pic>
        <p:nvPicPr>
          <p:cNvPr id="34" name="Image 2" descr="Deliberate practice">    </p:cNvPr>
          <p:cNvPicPr>
            <a:picLocks noChangeAspect="1"/>
          </p:cNvPicPr>
          <p:nvPr/>
        </p:nvPicPr>
        <p:blipFill>
          <a:blip r:embed="rId3"/>
          <a:stretch>
            <a:fillRect/>
          </a:stretch>
        </p:blipFill>
        <p:spPr>
          <a:xfrm>
            <a:off x="10972800" y="384048"/>
            <a:ext cx="731520" cy="731520"/>
          </a:xfrm>
          <a:prstGeom prst="rect">
            <a:avLst/>
          </a:prstGeom>
        </p:spPr>
      </p:pic>
      <p:sp>
        <p:nvSpPr>
          <p:cNvPr id="3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True or False? — answers</a:t>
            </a:r>
            <a:endParaRPr lang="en-US" sz="3600" dirty="0"/>
          </a:p>
        </p:txBody>
      </p:sp>
      <p:sp>
        <p:nvSpPr>
          <p:cNvPr id="6" name="Shape 2"/>
          <p:cNvSpPr/>
          <p:nvPr/>
        </p:nvSpPr>
        <p:spPr>
          <a:xfrm>
            <a:off x="548640" y="1554480"/>
            <a:ext cx="3511296" cy="1325880"/>
          </a:xfrm>
          <a:prstGeom prst="roundRect">
            <a:avLst>
              <a:gd name="adj" fmla="val 5517"/>
            </a:avLst>
          </a:prstGeom>
          <a:solidFill>
            <a:srgbClr val="111115"/>
          </a:solidFill>
          <a:ln w="15875">
            <a:solidFill>
              <a:srgbClr val="3A3A44"/>
            </a:solidFill>
            <a:prstDash val="solid"/>
          </a:ln>
        </p:spPr>
      </p:sp>
      <p:sp>
        <p:nvSpPr>
          <p:cNvPr id="7" name="Shape 3"/>
          <p:cNvSpPr/>
          <p:nvPr/>
        </p:nvSpPr>
        <p:spPr>
          <a:xfrm>
            <a:off x="713232" y="1719072"/>
            <a:ext cx="384048" cy="384048"/>
          </a:xfrm>
          <a:prstGeom prst="ellipse">
            <a:avLst/>
          </a:prstGeom>
          <a:solidFill>
            <a:srgbClr val="D8A73D"/>
          </a:solidFill>
          <a:ln/>
        </p:spPr>
      </p:sp>
      <p:sp>
        <p:nvSpPr>
          <p:cNvPr id="8" name="Text 4"/>
          <p:cNvSpPr txBox="1"/>
          <p:nvPr/>
        </p:nvSpPr>
        <p:spPr>
          <a:xfrm>
            <a:off x="713232"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9" name="Text 5"/>
          <p:cNvSpPr txBox="1"/>
          <p:nvPr/>
        </p:nvSpPr>
        <p:spPr>
          <a:xfrm>
            <a:off x="1188720" y="1554480"/>
            <a:ext cx="1783080" cy="1325880"/>
          </a:xfrm>
          <a:prstGeom prst="rect">
            <a:avLst/>
          </a:prstGeom>
          <a:noFill/>
          <a:ln/>
        </p:spPr>
        <p:txBody>
          <a:bodyPr wrap="square" lIns="0" tIns="0" rIns="0" bIns="0" rtlCol="0" anchor="ctr"/>
          <a:lstStyle/>
          <a:p>
            <a:pPr algn="l" indent="0" marL="0">
              <a:buNone/>
            </a:pPr>
            <a:r>
              <a:rPr lang="en-US" sz="3400" dirty="0">
                <a:solidFill>
                  <a:srgbClr val="E69F00"/>
                </a:solidFill>
                <a:latin typeface="Consolas" pitchFamily="34" charset="0"/>
                <a:ea typeface="Consolas" pitchFamily="34" charset="-122"/>
                <a:cs typeface="Consolas" pitchFamily="34" charset="-120"/>
              </a:rPr>
              <a:t>"a"</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b="1" dirty="0">
                <a:solidFill>
                  <a:srgbClr val="F5F5F3"/>
                </a:solidFill>
                <a:latin typeface="Consolas" pitchFamily="34" charset="0"/>
                <a:ea typeface="Consolas" pitchFamily="34" charset="-122"/>
                <a:cs typeface="Consolas" pitchFamily="34" charset="-120"/>
              </a:rPr>
              <a:t>!=</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dirty="0">
                <a:solidFill>
                  <a:srgbClr val="E69F00"/>
                </a:solidFill>
                <a:latin typeface="Consolas" pitchFamily="34" charset="0"/>
                <a:ea typeface="Consolas" pitchFamily="34" charset="-122"/>
                <a:cs typeface="Consolas" pitchFamily="34" charset="-120"/>
              </a:rPr>
              <a:t>"b"</a:t>
            </a:r>
            <a:endParaRPr lang="en-US" sz="3400" dirty="0"/>
          </a:p>
        </p:txBody>
      </p:sp>
      <p:sp>
        <p:nvSpPr>
          <p:cNvPr id="10" name="Shape 6"/>
          <p:cNvSpPr/>
          <p:nvPr/>
        </p:nvSpPr>
        <p:spPr>
          <a:xfrm>
            <a:off x="2871216" y="1943100"/>
            <a:ext cx="1005840" cy="548640"/>
          </a:xfrm>
          <a:prstGeom prst="roundRect">
            <a:avLst>
              <a:gd name="adj" fmla="val 13333"/>
            </a:avLst>
          </a:prstGeom>
          <a:solidFill>
            <a:srgbClr val="7FD99A"/>
          </a:solidFill>
          <a:ln/>
        </p:spPr>
      </p:sp>
      <p:sp>
        <p:nvSpPr>
          <p:cNvPr id="11" name="Text 7"/>
          <p:cNvSpPr txBox="1"/>
          <p:nvPr/>
        </p:nvSpPr>
        <p:spPr>
          <a:xfrm>
            <a:off x="2871216" y="1943100"/>
            <a:ext cx="1005840" cy="548640"/>
          </a:xfrm>
          <a:prstGeom prst="rect">
            <a:avLst/>
          </a:prstGeom>
          <a:noFill/>
          <a:ln/>
        </p:spPr>
        <p:txBody>
          <a:bodyPr wrap="square" lIns="0" tIns="0" rIns="0" bIns="0" rtlCol="0" anchor="ctr"/>
          <a:lstStyle/>
          <a:p>
            <a:pPr algn="ctr" indent="0" marL="0">
              <a:buNone/>
            </a:pPr>
            <a:r>
              <a:rPr lang="en-US" sz="2400" b="1" dirty="0">
                <a:solidFill>
                  <a:srgbClr val="111115"/>
                </a:solidFill>
                <a:latin typeface="Consolas" pitchFamily="34" charset="0"/>
                <a:ea typeface="Consolas" pitchFamily="34" charset="-122"/>
                <a:cs typeface="Consolas" pitchFamily="34" charset="-120"/>
              </a:rPr>
              <a:t>True</a:t>
            </a:r>
            <a:endParaRPr lang="en-US" sz="2400" dirty="0"/>
          </a:p>
        </p:txBody>
      </p:sp>
      <p:sp>
        <p:nvSpPr>
          <p:cNvPr id="12" name="Shape 8"/>
          <p:cNvSpPr/>
          <p:nvPr/>
        </p:nvSpPr>
        <p:spPr>
          <a:xfrm>
            <a:off x="4334256" y="1554480"/>
            <a:ext cx="3511296" cy="1325880"/>
          </a:xfrm>
          <a:prstGeom prst="roundRect">
            <a:avLst>
              <a:gd name="adj" fmla="val 5517"/>
            </a:avLst>
          </a:prstGeom>
          <a:solidFill>
            <a:srgbClr val="111115"/>
          </a:solidFill>
          <a:ln w="15875">
            <a:solidFill>
              <a:srgbClr val="3A3A44"/>
            </a:solidFill>
            <a:prstDash val="solid"/>
          </a:ln>
        </p:spPr>
      </p:sp>
      <p:sp>
        <p:nvSpPr>
          <p:cNvPr id="13" name="Shape 9"/>
          <p:cNvSpPr/>
          <p:nvPr/>
        </p:nvSpPr>
        <p:spPr>
          <a:xfrm>
            <a:off x="4498848" y="1719072"/>
            <a:ext cx="384048" cy="384048"/>
          </a:xfrm>
          <a:prstGeom prst="ellipse">
            <a:avLst/>
          </a:prstGeom>
          <a:solidFill>
            <a:srgbClr val="D8A73D"/>
          </a:solidFill>
          <a:ln/>
        </p:spPr>
      </p:sp>
      <p:sp>
        <p:nvSpPr>
          <p:cNvPr id="14" name="Text 10"/>
          <p:cNvSpPr txBox="1"/>
          <p:nvPr/>
        </p:nvSpPr>
        <p:spPr>
          <a:xfrm>
            <a:off x="4498848"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15" name="Text 11"/>
          <p:cNvSpPr txBox="1"/>
          <p:nvPr/>
        </p:nvSpPr>
        <p:spPr>
          <a:xfrm>
            <a:off x="4974336" y="1554480"/>
            <a:ext cx="1783080" cy="1325880"/>
          </a:xfrm>
          <a:prstGeom prst="rect">
            <a:avLst/>
          </a:prstGeom>
          <a:noFill/>
          <a:ln/>
        </p:spPr>
        <p:txBody>
          <a:bodyPr wrap="square" lIns="0" tIns="0" rIns="0" bIns="0" rtlCol="0" anchor="ctr"/>
          <a:lstStyle/>
          <a:p>
            <a:pPr algn="l" indent="0" marL="0">
              <a:buNone/>
            </a:pPr>
            <a:r>
              <a:rPr lang="en-US" sz="3400" dirty="0">
                <a:solidFill>
                  <a:srgbClr val="56B4E9"/>
                </a:solidFill>
                <a:latin typeface="Consolas" pitchFamily="34" charset="0"/>
                <a:ea typeface="Consolas" pitchFamily="34" charset="-122"/>
                <a:cs typeface="Consolas" pitchFamily="34" charset="-120"/>
              </a:rPr>
              <a:t>5</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b="1" dirty="0">
                <a:solidFill>
                  <a:srgbClr val="F5F5F3"/>
                </a:solidFill>
                <a:latin typeface="Consolas" pitchFamily="34" charset="0"/>
                <a:ea typeface="Consolas" pitchFamily="34" charset="-122"/>
                <a:cs typeface="Consolas" pitchFamily="34" charset="-120"/>
              </a:rPr>
              <a:t>!=</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dirty="0">
                <a:solidFill>
                  <a:srgbClr val="56B4E9"/>
                </a:solidFill>
                <a:latin typeface="Consolas" pitchFamily="34" charset="0"/>
                <a:ea typeface="Consolas" pitchFamily="34" charset="-122"/>
                <a:cs typeface="Consolas" pitchFamily="34" charset="-120"/>
              </a:rPr>
              <a:t>5</a:t>
            </a:r>
            <a:endParaRPr lang="en-US" sz="3400" dirty="0"/>
          </a:p>
        </p:txBody>
      </p:sp>
      <p:sp>
        <p:nvSpPr>
          <p:cNvPr id="16" name="Shape 12"/>
          <p:cNvSpPr/>
          <p:nvPr/>
        </p:nvSpPr>
        <p:spPr>
          <a:xfrm>
            <a:off x="6656832" y="1943100"/>
            <a:ext cx="1005840" cy="548640"/>
          </a:xfrm>
          <a:prstGeom prst="roundRect">
            <a:avLst>
              <a:gd name="adj" fmla="val 13333"/>
            </a:avLst>
          </a:prstGeom>
          <a:solidFill>
            <a:srgbClr val="1E1E24"/>
          </a:solidFill>
          <a:ln w="19050">
            <a:solidFill>
              <a:srgbClr val="A9A9B4"/>
            </a:solidFill>
            <a:prstDash val="solid"/>
          </a:ln>
        </p:spPr>
      </p:sp>
      <p:sp>
        <p:nvSpPr>
          <p:cNvPr id="17" name="Text 13"/>
          <p:cNvSpPr txBox="1"/>
          <p:nvPr/>
        </p:nvSpPr>
        <p:spPr>
          <a:xfrm>
            <a:off x="6656832" y="1943100"/>
            <a:ext cx="1005840" cy="548640"/>
          </a:xfrm>
          <a:prstGeom prst="rect">
            <a:avLst/>
          </a:prstGeom>
          <a:noFill/>
          <a:ln/>
        </p:spPr>
        <p:txBody>
          <a:bodyPr wrap="square" lIns="0" tIns="0" rIns="0" bIns="0" rtlCol="0" anchor="ctr"/>
          <a:lstStyle/>
          <a:p>
            <a:pPr algn="ctr" indent="0" marL="0">
              <a:buNone/>
            </a:pPr>
            <a:r>
              <a:rPr lang="en-US" sz="2400" b="1" dirty="0">
                <a:solidFill>
                  <a:srgbClr val="F5F5F3"/>
                </a:solidFill>
                <a:latin typeface="Consolas" pitchFamily="34" charset="0"/>
                <a:ea typeface="Consolas" pitchFamily="34" charset="-122"/>
                <a:cs typeface="Consolas" pitchFamily="34" charset="-120"/>
              </a:rPr>
              <a:t>False</a:t>
            </a:r>
            <a:endParaRPr lang="en-US" sz="2400" dirty="0"/>
          </a:p>
        </p:txBody>
      </p:sp>
      <p:sp>
        <p:nvSpPr>
          <p:cNvPr id="18" name="Shape 14"/>
          <p:cNvSpPr/>
          <p:nvPr/>
        </p:nvSpPr>
        <p:spPr>
          <a:xfrm>
            <a:off x="8119872" y="1554480"/>
            <a:ext cx="3511296" cy="1325880"/>
          </a:xfrm>
          <a:prstGeom prst="roundRect">
            <a:avLst>
              <a:gd name="adj" fmla="val 5517"/>
            </a:avLst>
          </a:prstGeom>
          <a:solidFill>
            <a:srgbClr val="111115"/>
          </a:solidFill>
          <a:ln w="15875">
            <a:solidFill>
              <a:srgbClr val="3A3A44"/>
            </a:solidFill>
            <a:prstDash val="solid"/>
          </a:ln>
        </p:spPr>
      </p:sp>
      <p:sp>
        <p:nvSpPr>
          <p:cNvPr id="19" name="Shape 15"/>
          <p:cNvSpPr/>
          <p:nvPr/>
        </p:nvSpPr>
        <p:spPr>
          <a:xfrm>
            <a:off x="8284464" y="1719072"/>
            <a:ext cx="384048" cy="384048"/>
          </a:xfrm>
          <a:prstGeom prst="ellipse">
            <a:avLst/>
          </a:prstGeom>
          <a:solidFill>
            <a:srgbClr val="D8A73D"/>
          </a:solidFill>
          <a:ln/>
        </p:spPr>
      </p:sp>
      <p:sp>
        <p:nvSpPr>
          <p:cNvPr id="20" name="Text 16"/>
          <p:cNvSpPr txBox="1"/>
          <p:nvPr/>
        </p:nvSpPr>
        <p:spPr>
          <a:xfrm>
            <a:off x="8284464" y="171907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21" name="Text 17"/>
          <p:cNvSpPr txBox="1"/>
          <p:nvPr/>
        </p:nvSpPr>
        <p:spPr>
          <a:xfrm>
            <a:off x="8759952" y="1554480"/>
            <a:ext cx="1783080" cy="1325880"/>
          </a:xfrm>
          <a:prstGeom prst="rect">
            <a:avLst/>
          </a:prstGeom>
          <a:noFill/>
          <a:ln/>
        </p:spPr>
        <p:txBody>
          <a:bodyPr wrap="square" lIns="0" tIns="0" rIns="0" bIns="0" rtlCol="0" anchor="ctr"/>
          <a:lstStyle/>
          <a:p>
            <a:pPr algn="l" indent="0" marL="0">
              <a:buNone/>
            </a:pPr>
            <a:r>
              <a:rPr lang="en-US" sz="3400" dirty="0">
                <a:solidFill>
                  <a:srgbClr val="56B4E9"/>
                </a:solidFill>
                <a:latin typeface="Consolas" pitchFamily="34" charset="0"/>
                <a:ea typeface="Consolas" pitchFamily="34" charset="-122"/>
                <a:cs typeface="Consolas" pitchFamily="34" charset="-120"/>
              </a:rPr>
              <a:t>3</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b="1" dirty="0">
                <a:solidFill>
                  <a:srgbClr val="F5F5F3"/>
                </a:solidFill>
                <a:latin typeface="Consolas" pitchFamily="34" charset="0"/>
                <a:ea typeface="Consolas" pitchFamily="34" charset="-122"/>
                <a:cs typeface="Consolas" pitchFamily="34" charset="-120"/>
              </a:rPr>
              <a:t>&lt;</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dirty="0">
                <a:solidFill>
                  <a:srgbClr val="56B4E9"/>
                </a:solidFill>
                <a:latin typeface="Consolas" pitchFamily="34" charset="0"/>
                <a:ea typeface="Consolas" pitchFamily="34" charset="-122"/>
                <a:cs typeface="Consolas" pitchFamily="34" charset="-120"/>
              </a:rPr>
              <a:t>3</a:t>
            </a:r>
            <a:endParaRPr lang="en-US" sz="3400" dirty="0"/>
          </a:p>
        </p:txBody>
      </p:sp>
      <p:sp>
        <p:nvSpPr>
          <p:cNvPr id="22" name="Shape 18"/>
          <p:cNvSpPr/>
          <p:nvPr/>
        </p:nvSpPr>
        <p:spPr>
          <a:xfrm>
            <a:off x="10442448" y="1943100"/>
            <a:ext cx="1005840" cy="548640"/>
          </a:xfrm>
          <a:prstGeom prst="roundRect">
            <a:avLst>
              <a:gd name="adj" fmla="val 13333"/>
            </a:avLst>
          </a:prstGeom>
          <a:solidFill>
            <a:srgbClr val="1E1E24"/>
          </a:solidFill>
          <a:ln w="19050">
            <a:solidFill>
              <a:srgbClr val="A9A9B4"/>
            </a:solidFill>
            <a:prstDash val="solid"/>
          </a:ln>
        </p:spPr>
      </p:sp>
      <p:sp>
        <p:nvSpPr>
          <p:cNvPr id="23" name="Text 19"/>
          <p:cNvSpPr txBox="1"/>
          <p:nvPr/>
        </p:nvSpPr>
        <p:spPr>
          <a:xfrm>
            <a:off x="10442448" y="1943100"/>
            <a:ext cx="1005840" cy="548640"/>
          </a:xfrm>
          <a:prstGeom prst="rect">
            <a:avLst/>
          </a:prstGeom>
          <a:noFill/>
          <a:ln/>
        </p:spPr>
        <p:txBody>
          <a:bodyPr wrap="square" lIns="0" tIns="0" rIns="0" bIns="0" rtlCol="0" anchor="ctr"/>
          <a:lstStyle/>
          <a:p>
            <a:pPr algn="ctr" indent="0" marL="0">
              <a:buNone/>
            </a:pPr>
            <a:r>
              <a:rPr lang="en-US" sz="2400" b="1" dirty="0">
                <a:solidFill>
                  <a:srgbClr val="F5F5F3"/>
                </a:solidFill>
                <a:latin typeface="Consolas" pitchFamily="34" charset="0"/>
                <a:ea typeface="Consolas" pitchFamily="34" charset="-122"/>
                <a:cs typeface="Consolas" pitchFamily="34" charset="-120"/>
              </a:rPr>
              <a:t>False</a:t>
            </a:r>
            <a:endParaRPr lang="en-US" sz="2400" dirty="0"/>
          </a:p>
        </p:txBody>
      </p:sp>
      <p:sp>
        <p:nvSpPr>
          <p:cNvPr id="24" name="Shape 20"/>
          <p:cNvSpPr/>
          <p:nvPr/>
        </p:nvSpPr>
        <p:spPr>
          <a:xfrm>
            <a:off x="548640" y="3108960"/>
            <a:ext cx="3511296" cy="1325880"/>
          </a:xfrm>
          <a:prstGeom prst="roundRect">
            <a:avLst>
              <a:gd name="adj" fmla="val 5517"/>
            </a:avLst>
          </a:prstGeom>
          <a:solidFill>
            <a:srgbClr val="111115"/>
          </a:solidFill>
          <a:ln w="15875">
            <a:solidFill>
              <a:srgbClr val="3A3A44"/>
            </a:solidFill>
            <a:prstDash val="solid"/>
          </a:ln>
        </p:spPr>
      </p:sp>
      <p:sp>
        <p:nvSpPr>
          <p:cNvPr id="25" name="Shape 21"/>
          <p:cNvSpPr/>
          <p:nvPr/>
        </p:nvSpPr>
        <p:spPr>
          <a:xfrm>
            <a:off x="713232" y="3273552"/>
            <a:ext cx="384048" cy="384048"/>
          </a:xfrm>
          <a:prstGeom prst="ellipse">
            <a:avLst/>
          </a:prstGeom>
          <a:solidFill>
            <a:srgbClr val="D8A73D"/>
          </a:solidFill>
          <a:ln/>
        </p:spPr>
      </p:sp>
      <p:sp>
        <p:nvSpPr>
          <p:cNvPr id="26" name="Text 22"/>
          <p:cNvSpPr txBox="1"/>
          <p:nvPr/>
        </p:nvSpPr>
        <p:spPr>
          <a:xfrm>
            <a:off x="713232"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27" name="Text 23"/>
          <p:cNvSpPr txBox="1"/>
          <p:nvPr/>
        </p:nvSpPr>
        <p:spPr>
          <a:xfrm>
            <a:off x="1188720" y="3108960"/>
            <a:ext cx="1783080" cy="1325880"/>
          </a:xfrm>
          <a:prstGeom prst="rect">
            <a:avLst/>
          </a:prstGeom>
          <a:noFill/>
          <a:ln/>
        </p:spPr>
        <p:txBody>
          <a:bodyPr wrap="square" lIns="0" tIns="0" rIns="0" bIns="0" rtlCol="0" anchor="ctr"/>
          <a:lstStyle/>
          <a:p>
            <a:pPr algn="l" indent="0" marL="0">
              <a:buNone/>
            </a:pPr>
            <a:r>
              <a:rPr lang="en-US" sz="3400" dirty="0">
                <a:solidFill>
                  <a:srgbClr val="56B4E9"/>
                </a:solidFill>
                <a:latin typeface="Consolas" pitchFamily="34" charset="0"/>
                <a:ea typeface="Consolas" pitchFamily="34" charset="-122"/>
                <a:cs typeface="Consolas" pitchFamily="34" charset="-120"/>
              </a:rPr>
              <a:t>7</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b="1" dirty="0">
                <a:solidFill>
                  <a:srgbClr val="F5F5F3"/>
                </a:solidFill>
                <a:latin typeface="Consolas" pitchFamily="34" charset="0"/>
                <a:ea typeface="Consolas" pitchFamily="34" charset="-122"/>
                <a:cs typeface="Consolas" pitchFamily="34" charset="-120"/>
              </a:rPr>
              <a:t>==</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dirty="0">
                <a:solidFill>
                  <a:srgbClr val="56B4E9"/>
                </a:solidFill>
                <a:latin typeface="Consolas" pitchFamily="34" charset="0"/>
                <a:ea typeface="Consolas" pitchFamily="34" charset="-122"/>
                <a:cs typeface="Consolas" pitchFamily="34" charset="-120"/>
              </a:rPr>
              <a:t>7</a:t>
            </a:r>
            <a:endParaRPr lang="en-US" sz="3400" dirty="0"/>
          </a:p>
        </p:txBody>
      </p:sp>
      <p:sp>
        <p:nvSpPr>
          <p:cNvPr id="28" name="Shape 24"/>
          <p:cNvSpPr/>
          <p:nvPr/>
        </p:nvSpPr>
        <p:spPr>
          <a:xfrm>
            <a:off x="2871216" y="3497580"/>
            <a:ext cx="1005840" cy="548640"/>
          </a:xfrm>
          <a:prstGeom prst="roundRect">
            <a:avLst>
              <a:gd name="adj" fmla="val 13333"/>
            </a:avLst>
          </a:prstGeom>
          <a:solidFill>
            <a:srgbClr val="7FD99A"/>
          </a:solidFill>
          <a:ln/>
        </p:spPr>
      </p:sp>
      <p:sp>
        <p:nvSpPr>
          <p:cNvPr id="29" name="Text 25"/>
          <p:cNvSpPr txBox="1"/>
          <p:nvPr/>
        </p:nvSpPr>
        <p:spPr>
          <a:xfrm>
            <a:off x="2871216" y="3497580"/>
            <a:ext cx="1005840" cy="548640"/>
          </a:xfrm>
          <a:prstGeom prst="rect">
            <a:avLst/>
          </a:prstGeom>
          <a:noFill/>
          <a:ln/>
        </p:spPr>
        <p:txBody>
          <a:bodyPr wrap="square" lIns="0" tIns="0" rIns="0" bIns="0" rtlCol="0" anchor="ctr"/>
          <a:lstStyle/>
          <a:p>
            <a:pPr algn="ctr" indent="0" marL="0">
              <a:buNone/>
            </a:pPr>
            <a:r>
              <a:rPr lang="en-US" sz="2400" b="1" dirty="0">
                <a:solidFill>
                  <a:srgbClr val="111115"/>
                </a:solidFill>
                <a:latin typeface="Consolas" pitchFamily="34" charset="0"/>
                <a:ea typeface="Consolas" pitchFamily="34" charset="-122"/>
                <a:cs typeface="Consolas" pitchFamily="34" charset="-120"/>
              </a:rPr>
              <a:t>True</a:t>
            </a:r>
            <a:endParaRPr lang="en-US" sz="2400" dirty="0"/>
          </a:p>
        </p:txBody>
      </p:sp>
      <p:sp>
        <p:nvSpPr>
          <p:cNvPr id="30" name="Shape 26"/>
          <p:cNvSpPr/>
          <p:nvPr/>
        </p:nvSpPr>
        <p:spPr>
          <a:xfrm>
            <a:off x="4334256" y="3108960"/>
            <a:ext cx="3511296" cy="1325880"/>
          </a:xfrm>
          <a:prstGeom prst="roundRect">
            <a:avLst>
              <a:gd name="adj" fmla="val 5517"/>
            </a:avLst>
          </a:prstGeom>
          <a:solidFill>
            <a:srgbClr val="111115"/>
          </a:solidFill>
          <a:ln w="15875">
            <a:solidFill>
              <a:srgbClr val="3A3A44"/>
            </a:solidFill>
            <a:prstDash val="solid"/>
          </a:ln>
        </p:spPr>
      </p:sp>
      <p:sp>
        <p:nvSpPr>
          <p:cNvPr id="31" name="Shape 27"/>
          <p:cNvSpPr/>
          <p:nvPr/>
        </p:nvSpPr>
        <p:spPr>
          <a:xfrm>
            <a:off x="4498848" y="3273552"/>
            <a:ext cx="384048" cy="384048"/>
          </a:xfrm>
          <a:prstGeom prst="ellipse">
            <a:avLst/>
          </a:prstGeom>
          <a:solidFill>
            <a:srgbClr val="D8A73D"/>
          </a:solidFill>
          <a:ln/>
        </p:spPr>
      </p:sp>
      <p:sp>
        <p:nvSpPr>
          <p:cNvPr id="32" name="Text 28"/>
          <p:cNvSpPr txBox="1"/>
          <p:nvPr/>
        </p:nvSpPr>
        <p:spPr>
          <a:xfrm>
            <a:off x="4498848"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5</a:t>
            </a:r>
            <a:endParaRPr lang="en-US" sz="1600" dirty="0"/>
          </a:p>
        </p:txBody>
      </p:sp>
      <p:sp>
        <p:nvSpPr>
          <p:cNvPr id="33" name="Text 29"/>
          <p:cNvSpPr txBox="1"/>
          <p:nvPr/>
        </p:nvSpPr>
        <p:spPr>
          <a:xfrm>
            <a:off x="4974336" y="3108960"/>
            <a:ext cx="1783080" cy="1325880"/>
          </a:xfrm>
          <a:prstGeom prst="rect">
            <a:avLst/>
          </a:prstGeom>
          <a:noFill/>
          <a:ln/>
        </p:spPr>
        <p:txBody>
          <a:bodyPr wrap="square" lIns="0" tIns="0" rIns="0" bIns="0" rtlCol="0" anchor="ctr"/>
          <a:lstStyle/>
          <a:p>
            <a:pPr algn="l" indent="0" marL="0">
              <a:buNone/>
            </a:pPr>
            <a:r>
              <a:rPr lang="en-US" sz="3400" dirty="0">
                <a:solidFill>
                  <a:srgbClr val="E69F00"/>
                </a:solidFill>
                <a:latin typeface="Consolas" pitchFamily="34" charset="0"/>
                <a:ea typeface="Consolas" pitchFamily="34" charset="-122"/>
                <a:cs typeface="Consolas" pitchFamily="34" charset="-120"/>
              </a:rPr>
              <a:t>"y"</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b="1" dirty="0">
                <a:solidFill>
                  <a:srgbClr val="F5F5F3"/>
                </a:solidFill>
                <a:latin typeface="Consolas" pitchFamily="34" charset="0"/>
                <a:ea typeface="Consolas" pitchFamily="34" charset="-122"/>
                <a:cs typeface="Consolas" pitchFamily="34" charset="-120"/>
              </a:rPr>
              <a:t>!=</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dirty="0">
                <a:solidFill>
                  <a:srgbClr val="E69F00"/>
                </a:solidFill>
                <a:latin typeface="Consolas" pitchFamily="34" charset="0"/>
                <a:ea typeface="Consolas" pitchFamily="34" charset="-122"/>
                <a:cs typeface="Consolas" pitchFamily="34" charset="-120"/>
              </a:rPr>
              <a:t>"y"</a:t>
            </a:r>
            <a:endParaRPr lang="en-US" sz="3400" dirty="0"/>
          </a:p>
        </p:txBody>
      </p:sp>
      <p:sp>
        <p:nvSpPr>
          <p:cNvPr id="34" name="Shape 30"/>
          <p:cNvSpPr/>
          <p:nvPr/>
        </p:nvSpPr>
        <p:spPr>
          <a:xfrm>
            <a:off x="6656832" y="3497580"/>
            <a:ext cx="1005840" cy="548640"/>
          </a:xfrm>
          <a:prstGeom prst="roundRect">
            <a:avLst>
              <a:gd name="adj" fmla="val 13333"/>
            </a:avLst>
          </a:prstGeom>
          <a:solidFill>
            <a:srgbClr val="1E1E24"/>
          </a:solidFill>
          <a:ln w="19050">
            <a:solidFill>
              <a:srgbClr val="A9A9B4"/>
            </a:solidFill>
            <a:prstDash val="solid"/>
          </a:ln>
        </p:spPr>
      </p:sp>
      <p:sp>
        <p:nvSpPr>
          <p:cNvPr id="35" name="Text 31"/>
          <p:cNvSpPr txBox="1"/>
          <p:nvPr/>
        </p:nvSpPr>
        <p:spPr>
          <a:xfrm>
            <a:off x="6656832" y="3497580"/>
            <a:ext cx="1005840" cy="548640"/>
          </a:xfrm>
          <a:prstGeom prst="rect">
            <a:avLst/>
          </a:prstGeom>
          <a:noFill/>
          <a:ln/>
        </p:spPr>
        <p:txBody>
          <a:bodyPr wrap="square" lIns="0" tIns="0" rIns="0" bIns="0" rtlCol="0" anchor="ctr"/>
          <a:lstStyle/>
          <a:p>
            <a:pPr algn="ctr" indent="0" marL="0">
              <a:buNone/>
            </a:pPr>
            <a:r>
              <a:rPr lang="en-US" sz="2400" b="1" dirty="0">
                <a:solidFill>
                  <a:srgbClr val="F5F5F3"/>
                </a:solidFill>
                <a:latin typeface="Consolas" pitchFamily="34" charset="0"/>
                <a:ea typeface="Consolas" pitchFamily="34" charset="-122"/>
                <a:cs typeface="Consolas" pitchFamily="34" charset="-120"/>
              </a:rPr>
              <a:t>False</a:t>
            </a:r>
            <a:endParaRPr lang="en-US" sz="2400" dirty="0"/>
          </a:p>
        </p:txBody>
      </p:sp>
      <p:sp>
        <p:nvSpPr>
          <p:cNvPr id="36" name="Shape 32"/>
          <p:cNvSpPr/>
          <p:nvPr/>
        </p:nvSpPr>
        <p:spPr>
          <a:xfrm>
            <a:off x="8119872" y="3108960"/>
            <a:ext cx="3511296" cy="1325880"/>
          </a:xfrm>
          <a:prstGeom prst="roundRect">
            <a:avLst>
              <a:gd name="adj" fmla="val 5517"/>
            </a:avLst>
          </a:prstGeom>
          <a:solidFill>
            <a:srgbClr val="111115"/>
          </a:solidFill>
          <a:ln w="15875">
            <a:solidFill>
              <a:srgbClr val="3A3A44"/>
            </a:solidFill>
            <a:prstDash val="solid"/>
          </a:ln>
        </p:spPr>
      </p:sp>
      <p:sp>
        <p:nvSpPr>
          <p:cNvPr id="37" name="Shape 33"/>
          <p:cNvSpPr/>
          <p:nvPr/>
        </p:nvSpPr>
        <p:spPr>
          <a:xfrm>
            <a:off x="8284464" y="3273552"/>
            <a:ext cx="384048" cy="384048"/>
          </a:xfrm>
          <a:prstGeom prst="ellipse">
            <a:avLst/>
          </a:prstGeom>
          <a:solidFill>
            <a:srgbClr val="D8A73D"/>
          </a:solidFill>
          <a:ln/>
        </p:spPr>
      </p:sp>
      <p:sp>
        <p:nvSpPr>
          <p:cNvPr id="38" name="Text 34"/>
          <p:cNvSpPr txBox="1"/>
          <p:nvPr/>
        </p:nvSpPr>
        <p:spPr>
          <a:xfrm>
            <a:off x="8284464" y="3273552"/>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6</a:t>
            </a:r>
            <a:endParaRPr lang="en-US" sz="1600" dirty="0"/>
          </a:p>
        </p:txBody>
      </p:sp>
      <p:sp>
        <p:nvSpPr>
          <p:cNvPr id="39" name="Text 35"/>
          <p:cNvSpPr txBox="1"/>
          <p:nvPr/>
        </p:nvSpPr>
        <p:spPr>
          <a:xfrm>
            <a:off x="8759952" y="3108960"/>
            <a:ext cx="1783080" cy="1325880"/>
          </a:xfrm>
          <a:prstGeom prst="rect">
            <a:avLst/>
          </a:prstGeom>
          <a:noFill/>
          <a:ln/>
        </p:spPr>
        <p:txBody>
          <a:bodyPr wrap="square" lIns="0" tIns="0" rIns="0" bIns="0" rtlCol="0" anchor="ctr"/>
          <a:lstStyle/>
          <a:p>
            <a:pPr algn="l" indent="0" marL="0">
              <a:buNone/>
            </a:pPr>
            <a:r>
              <a:rPr lang="en-US" sz="3400" dirty="0">
                <a:solidFill>
                  <a:srgbClr val="56B4E9"/>
                </a:solidFill>
                <a:latin typeface="Consolas" pitchFamily="34" charset="0"/>
                <a:ea typeface="Consolas" pitchFamily="34" charset="-122"/>
                <a:cs typeface="Consolas" pitchFamily="34" charset="-120"/>
              </a:rPr>
              <a:t>9</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b="1" dirty="0">
                <a:solidFill>
                  <a:srgbClr val="F5F5F3"/>
                </a:solidFill>
                <a:latin typeface="Consolas" pitchFamily="34" charset="0"/>
                <a:ea typeface="Consolas" pitchFamily="34" charset="-122"/>
                <a:cs typeface="Consolas" pitchFamily="34" charset="-120"/>
              </a:rPr>
              <a:t>!=</a:t>
            </a:r>
            <a:pPr algn="l" indent="0" marL="0">
              <a:buNone/>
            </a:pPr>
            <a:r>
              <a:rPr lang="en-US" sz="3400" dirty="0">
                <a:solidFill>
                  <a:srgbClr val="F5F5F3"/>
                </a:solidFill>
                <a:latin typeface="Consolas" pitchFamily="34" charset="0"/>
                <a:ea typeface="Consolas" pitchFamily="34" charset="-122"/>
                <a:cs typeface="Consolas" pitchFamily="34" charset="-120"/>
              </a:rPr>
              <a:t> </a:t>
            </a:r>
            <a:pPr algn="l" indent="0" marL="0">
              <a:buNone/>
            </a:pPr>
            <a:r>
              <a:rPr lang="en-US" sz="3400" dirty="0">
                <a:solidFill>
                  <a:srgbClr val="56B4E9"/>
                </a:solidFill>
                <a:latin typeface="Consolas" pitchFamily="34" charset="0"/>
                <a:ea typeface="Consolas" pitchFamily="34" charset="-122"/>
                <a:cs typeface="Consolas" pitchFamily="34" charset="-120"/>
              </a:rPr>
              <a:t>6</a:t>
            </a:r>
            <a:endParaRPr lang="en-US" sz="3400" dirty="0"/>
          </a:p>
        </p:txBody>
      </p:sp>
      <p:sp>
        <p:nvSpPr>
          <p:cNvPr id="40" name="Shape 36"/>
          <p:cNvSpPr/>
          <p:nvPr/>
        </p:nvSpPr>
        <p:spPr>
          <a:xfrm>
            <a:off x="10442448" y="3497580"/>
            <a:ext cx="1005840" cy="548640"/>
          </a:xfrm>
          <a:prstGeom prst="roundRect">
            <a:avLst>
              <a:gd name="adj" fmla="val 13333"/>
            </a:avLst>
          </a:prstGeom>
          <a:solidFill>
            <a:srgbClr val="7FD99A"/>
          </a:solidFill>
          <a:ln/>
        </p:spPr>
      </p:sp>
      <p:sp>
        <p:nvSpPr>
          <p:cNvPr id="41" name="Text 37"/>
          <p:cNvSpPr txBox="1"/>
          <p:nvPr/>
        </p:nvSpPr>
        <p:spPr>
          <a:xfrm>
            <a:off x="10442448" y="3497580"/>
            <a:ext cx="1005840" cy="548640"/>
          </a:xfrm>
          <a:prstGeom prst="rect">
            <a:avLst/>
          </a:prstGeom>
          <a:noFill/>
          <a:ln/>
        </p:spPr>
        <p:txBody>
          <a:bodyPr wrap="square" lIns="0" tIns="0" rIns="0" bIns="0" rtlCol="0" anchor="ctr"/>
          <a:lstStyle/>
          <a:p>
            <a:pPr algn="ctr" indent="0" marL="0">
              <a:buNone/>
            </a:pPr>
            <a:r>
              <a:rPr lang="en-US" sz="2400" b="1" dirty="0">
                <a:solidFill>
                  <a:srgbClr val="111115"/>
                </a:solidFill>
                <a:latin typeface="Consolas" pitchFamily="34" charset="0"/>
                <a:ea typeface="Consolas" pitchFamily="34" charset="-122"/>
                <a:cs typeface="Consolas" pitchFamily="34" charset="-120"/>
              </a:rPr>
              <a:t>True</a:t>
            </a:r>
            <a:endParaRPr lang="en-US" sz="2400" dirty="0"/>
          </a:p>
        </p:txBody>
      </p:sp>
      <p:sp>
        <p:nvSpPr>
          <p:cNvPr id="42" name="Shape 38"/>
          <p:cNvSpPr/>
          <p:nvPr/>
        </p:nvSpPr>
        <p:spPr>
          <a:xfrm>
            <a:off x="548640" y="4800600"/>
            <a:ext cx="11091672" cy="1097280"/>
          </a:xfrm>
          <a:prstGeom prst="roundRect">
            <a:avLst>
              <a:gd name="adj" fmla="val 6667"/>
            </a:avLst>
          </a:prstGeom>
          <a:solidFill>
            <a:srgbClr val="1E1E24"/>
          </a:solidFill>
          <a:ln w="25400">
            <a:solidFill>
              <a:srgbClr val="D8A73D"/>
            </a:solidFill>
            <a:prstDash val="solid"/>
          </a:ln>
        </p:spPr>
      </p:sp>
      <p:sp>
        <p:nvSpPr>
          <p:cNvPr id="43" name="Text 39"/>
          <p:cNvSpPr txBox="1"/>
          <p:nvPr/>
        </p:nvSpPr>
        <p:spPr>
          <a:xfrm>
            <a:off x="914400" y="4800600"/>
            <a:ext cx="10332720" cy="1097280"/>
          </a:xfrm>
          <a:prstGeom prst="rect">
            <a:avLst/>
          </a:prstGeom>
          <a:noFill/>
          <a:ln/>
        </p:spPr>
        <p:txBody>
          <a:bodyPr wrap="square" lIns="0" tIns="0" rIns="0" bIns="0" rtlCol="0" anchor="ctr"/>
          <a:lstStyle/>
          <a:p>
            <a:pPr indent="0" marL="0">
              <a:buNone/>
            </a:pPr>
            <a:r>
              <a:rPr lang="en-US" sz="2400" b="1" dirty="0">
                <a:solidFill>
                  <a:srgbClr val="D8A73D"/>
                </a:solidFill>
                <a:latin typeface="Calibri" pitchFamily="34" charset="0"/>
                <a:ea typeface="Calibri" pitchFamily="34" charset="-122"/>
                <a:cs typeface="Calibri" pitchFamily="34" charset="-120"/>
              </a:rPr>
              <a:t>Watch out: </a:t>
            </a:r>
            <a:pPr indent="0" marL="0">
              <a:buNone/>
            </a:pPr>
            <a:r>
              <a:rPr lang="en-US" sz="2400" b="1" dirty="0">
                <a:solidFill>
                  <a:srgbClr val="F5F5F3"/>
                </a:solidFill>
                <a:latin typeface="Consolas" pitchFamily="34" charset="0"/>
                <a:ea typeface="Consolas" pitchFamily="34" charset="-122"/>
                <a:cs typeface="Consolas" pitchFamily="34" charset="-120"/>
              </a:rPr>
              <a:t>x != x</a:t>
            </a:r>
            <a:pPr indent="0" marL="0">
              <a:buNone/>
            </a:pPr>
            <a:r>
              <a:rPr lang="en-US" sz="2400" dirty="0">
                <a:solidFill>
                  <a:srgbClr val="F5F5F3"/>
                </a:solidFill>
                <a:latin typeface="Calibri" pitchFamily="34" charset="0"/>
                <a:ea typeface="Calibri" pitchFamily="34" charset="-122"/>
                <a:cs typeface="Calibri" pitchFamily="34" charset="-120"/>
              </a:rPr>
              <a:t> is always False. Ask: "are they different?"</a:t>
            </a:r>
            <a:endParaRPr lang="en-US" sz="2400" dirty="0"/>
          </a:p>
        </p:txBody>
      </p:sp>
      <p:pic>
        <p:nvPicPr>
          <p:cNvPr id="44" name="Image 2" descr="Feedback">    </p:cNvPr>
          <p:cNvPicPr>
            <a:picLocks noChangeAspect="1"/>
          </p:cNvPicPr>
          <p:nvPr/>
        </p:nvPicPr>
        <p:blipFill>
          <a:blip r:embed="rId3"/>
          <a:stretch>
            <a:fillRect/>
          </a:stretch>
        </p:blipFill>
        <p:spPr>
          <a:xfrm>
            <a:off x="10972800" y="384048"/>
            <a:ext cx="731520" cy="731520"/>
          </a:xfrm>
          <a:prstGeom prst="rect">
            <a:avLst/>
          </a:prstGeom>
        </p:spPr>
      </p:pic>
      <p:sp>
        <p:nvSpPr>
          <p:cNvPr id="4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The shape of a while loop</a:t>
            </a:r>
            <a:endParaRPr lang="en-US" sz="3600" dirty="0"/>
          </a:p>
        </p:txBody>
      </p:sp>
      <p:sp>
        <p:nvSpPr>
          <p:cNvPr id="6" name="code"/>
          <p:cNvSpPr/>
          <p:nvPr/>
        </p:nvSpPr>
        <p:spPr>
          <a:xfrm>
            <a:off x="548640" y="1600200"/>
            <a:ext cx="5852160" cy="3968496"/>
          </a:xfrm>
          <a:prstGeom prst="roundRect">
            <a:avLst>
              <a:gd name="adj" fmla="val 1843"/>
            </a:avLst>
          </a:prstGeom>
          <a:solidFill>
            <a:srgbClr val="111115"/>
          </a:solidFill>
          <a:ln w="15875">
            <a:solidFill>
              <a:srgbClr val="3A3A44"/>
            </a:solidFill>
            <a:prstDash val="solid"/>
          </a:ln>
        </p:spPr>
      </p:sp>
      <p:sp>
        <p:nvSpPr>
          <p:cNvPr id="7" name="Text 3"/>
          <p:cNvSpPr txBox="1"/>
          <p:nvPr/>
        </p:nvSpPr>
        <p:spPr>
          <a:xfrm>
            <a:off x="658368" y="1801368"/>
            <a:ext cx="274320" cy="713232"/>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1</a:t>
            </a:r>
            <a:endParaRPr lang="en-US" sz="2000" dirty="0"/>
          </a:p>
        </p:txBody>
      </p:sp>
      <p:sp>
        <p:nvSpPr>
          <p:cNvPr id="8" name="Text 4"/>
          <p:cNvSpPr txBox="1"/>
          <p:nvPr/>
        </p:nvSpPr>
        <p:spPr>
          <a:xfrm>
            <a:off x="1188720" y="1801368"/>
            <a:ext cx="5120640" cy="713232"/>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code</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8C878"/>
                </a:solidFill>
                <a:latin typeface="Consolas" pitchFamily="34" charset="0"/>
                <a:ea typeface="Consolas" pitchFamily="34" charset="-122"/>
                <a:cs typeface="Consolas" pitchFamily="34" charset="-120"/>
              </a:rPr>
              <a:t>input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"Code: "</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9" name="Text 5"/>
          <p:cNvSpPr txBox="1"/>
          <p:nvPr/>
        </p:nvSpPr>
        <p:spPr>
          <a:xfrm>
            <a:off x="658368" y="2514600"/>
            <a:ext cx="274320" cy="713232"/>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2</a:t>
            </a:r>
            <a:endParaRPr lang="en-US" sz="2000" dirty="0"/>
          </a:p>
        </p:txBody>
      </p:sp>
      <p:sp>
        <p:nvSpPr>
          <p:cNvPr id="10" name="Text 6"/>
          <p:cNvSpPr txBox="1"/>
          <p:nvPr/>
        </p:nvSpPr>
        <p:spPr>
          <a:xfrm>
            <a:off x="1188720" y="2514600"/>
            <a:ext cx="5120640" cy="713232"/>
          </a:xfrm>
          <a:prstGeom prst="rect">
            <a:avLst/>
          </a:prstGeom>
          <a:noFill/>
          <a:ln/>
        </p:spPr>
        <p:txBody>
          <a:bodyPr wrap="square" lIns="0" tIns="0" rIns="0" bIns="0" rtlCol="0" anchor="ctr"/>
          <a:lstStyle/>
          <a:p>
            <a:pPr indent="0" marL="0">
              <a:buNone/>
            </a:pPr>
            <a:r>
              <a:rPr lang="en-US" sz="2400" b="1" dirty="0">
                <a:solidFill>
                  <a:srgbClr val="F5F5F3"/>
                </a:solidFill>
                <a:latin typeface="Consolas" pitchFamily="34" charset="0"/>
                <a:ea typeface="Consolas" pitchFamily="34" charset="-122"/>
                <a:cs typeface="Consolas" pitchFamily="34" charset="-120"/>
              </a:rPr>
              <a:t>while</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F5F5F3"/>
                </a:solidFill>
                <a:latin typeface="Consolas" pitchFamily="34" charset="0"/>
                <a:ea typeface="Consolas" pitchFamily="34" charset="-122"/>
                <a:cs typeface="Consolas" pitchFamily="34" charset="-120"/>
              </a:rPr>
              <a:t>code</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b="1" dirty="0">
                <a:solidFill>
                  <a:srgbClr val="F5F5F3"/>
                </a:solidFill>
                <a:latin typeface="Consolas" pitchFamily="34" charset="0"/>
                <a:ea typeface="Consolas" pitchFamily="34" charset="-122"/>
                <a:cs typeface="Consolas" pitchFamily="34" charset="-120"/>
              </a:rPr>
              <a:t>!=</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69F00"/>
                </a:solidFill>
                <a:latin typeface="Consolas" pitchFamily="34" charset="0"/>
                <a:ea typeface="Consolas" pitchFamily="34" charset="-122"/>
                <a:cs typeface="Consolas" pitchFamily="34" charset="-120"/>
              </a:rPr>
              <a:t>"4271"</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1" name="Text 7"/>
          <p:cNvSpPr txBox="1"/>
          <p:nvPr/>
        </p:nvSpPr>
        <p:spPr>
          <a:xfrm>
            <a:off x="658368" y="3227832"/>
            <a:ext cx="274320" cy="713232"/>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3</a:t>
            </a:r>
            <a:endParaRPr lang="en-US" sz="2000" dirty="0"/>
          </a:p>
        </p:txBody>
      </p:sp>
      <p:sp>
        <p:nvSpPr>
          <p:cNvPr id="12" name="Text 8"/>
          <p:cNvSpPr txBox="1"/>
          <p:nvPr/>
        </p:nvSpPr>
        <p:spPr>
          <a:xfrm>
            <a:off x="1188720" y="3227832"/>
            <a:ext cx="5120640" cy="713232"/>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"ACCESS DENIED"</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3" name="Text 9"/>
          <p:cNvSpPr txBox="1"/>
          <p:nvPr/>
        </p:nvSpPr>
        <p:spPr>
          <a:xfrm>
            <a:off x="658368" y="3941064"/>
            <a:ext cx="274320" cy="713232"/>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4</a:t>
            </a:r>
            <a:endParaRPr lang="en-US" sz="2000" dirty="0"/>
          </a:p>
        </p:txBody>
      </p:sp>
      <p:sp>
        <p:nvSpPr>
          <p:cNvPr id="14" name="Text 10"/>
          <p:cNvSpPr txBox="1"/>
          <p:nvPr/>
        </p:nvSpPr>
        <p:spPr>
          <a:xfrm>
            <a:off x="1188720" y="3941064"/>
            <a:ext cx="5120640" cy="713232"/>
          </a:xfrm>
          <a:prstGeom prst="rect">
            <a:avLst/>
          </a:prstGeom>
          <a:noFill/>
          <a:ln/>
        </p:spPr>
        <p:txBody>
          <a:bodyPr wrap="square" lIns="0" tIns="0" rIns="0" bIns="0" rtlCol="0" anchor="ctr"/>
          <a:lstStyle/>
          <a:p>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F5F5F3"/>
                </a:solidFill>
                <a:latin typeface="Consolas" pitchFamily="34" charset="0"/>
                <a:ea typeface="Consolas" pitchFamily="34" charset="-122"/>
                <a:cs typeface="Consolas" pitchFamily="34" charset="-120"/>
              </a:rPr>
              <a:t>code</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F5F5F3"/>
                </a:solidFill>
                <a:latin typeface="Consolas" pitchFamily="34" charset="0"/>
                <a:ea typeface="Consolas" pitchFamily="34" charset="-122"/>
                <a:cs typeface="Consolas" pitchFamily="34" charset="-120"/>
              </a:rPr>
              <a:t> </a:t>
            </a:r>
            <a:pPr indent="0" marL="0">
              <a:buNone/>
            </a:pPr>
            <a:r>
              <a:rPr lang="en-US" sz="2400" dirty="0">
                <a:solidFill>
                  <a:srgbClr val="E8C878"/>
                </a:solidFill>
                <a:latin typeface="Consolas" pitchFamily="34" charset="0"/>
                <a:ea typeface="Consolas" pitchFamily="34" charset="-122"/>
                <a:cs typeface="Consolas" pitchFamily="34" charset="-120"/>
              </a:rPr>
              <a:t>input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"Code: "</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5" name="Text 11"/>
          <p:cNvSpPr txBox="1"/>
          <p:nvPr/>
        </p:nvSpPr>
        <p:spPr>
          <a:xfrm>
            <a:off x="658368" y="4654296"/>
            <a:ext cx="274320" cy="713232"/>
          </a:xfrm>
          <a:prstGeom prst="rect">
            <a:avLst/>
          </a:prstGeom>
          <a:noFill/>
          <a:ln/>
        </p:spPr>
        <p:txBody>
          <a:bodyPr wrap="square" lIns="0" tIns="0" rIns="0" bIns="0" rtlCol="0" anchor="ctr"/>
          <a:lstStyle/>
          <a:p>
            <a:pPr algn="r" indent="0" marL="0">
              <a:buNone/>
            </a:pPr>
            <a:r>
              <a:rPr lang="en-US" sz="2000" dirty="0">
                <a:solidFill>
                  <a:srgbClr val="6E6E7A"/>
                </a:solidFill>
                <a:latin typeface="Consolas" pitchFamily="34" charset="0"/>
                <a:ea typeface="Consolas" pitchFamily="34" charset="-122"/>
                <a:cs typeface="Consolas" pitchFamily="34" charset="-120"/>
              </a:rPr>
              <a:t>5</a:t>
            </a:r>
            <a:endParaRPr lang="en-US" sz="2000" dirty="0"/>
          </a:p>
        </p:txBody>
      </p:sp>
      <p:sp>
        <p:nvSpPr>
          <p:cNvPr id="16" name="Text 12"/>
          <p:cNvSpPr txBox="1"/>
          <p:nvPr/>
        </p:nvSpPr>
        <p:spPr>
          <a:xfrm>
            <a:off x="1188720" y="4654296"/>
            <a:ext cx="5120640" cy="713232"/>
          </a:xfrm>
          <a:prstGeom prst="rect">
            <a:avLst/>
          </a:prstGeom>
          <a:noFill/>
          <a:ln/>
        </p:spPr>
        <p:txBody>
          <a:bodyPr wrap="square" lIns="0" tIns="0" rIns="0" bIns="0" rtlCol="0" anchor="ctr"/>
          <a:lstStyle/>
          <a:p>
            <a:pPr indent="0" marL="0">
              <a:buNone/>
            </a:pPr>
            <a:r>
              <a:rPr lang="en-US" sz="2400" dirty="0">
                <a:solidFill>
                  <a:srgbClr val="E8C878"/>
                </a:solidFill>
                <a:latin typeface="Consolas" pitchFamily="34" charset="0"/>
                <a:ea typeface="Consolas" pitchFamily="34" charset="-122"/>
                <a:cs typeface="Consolas" pitchFamily="34" charset="-120"/>
              </a:rPr>
              <a:t>print</a:t>
            </a:r>
            <a:pPr indent="0" marL="0">
              <a:buNone/>
            </a:pPr>
            <a:r>
              <a:rPr lang="en-US" sz="2400" dirty="0">
                <a:solidFill>
                  <a:srgbClr val="A9A9B4"/>
                </a:solidFill>
                <a:latin typeface="Consolas" pitchFamily="34" charset="0"/>
                <a:ea typeface="Consolas" pitchFamily="34" charset="-122"/>
                <a:cs typeface="Consolas" pitchFamily="34" charset="-120"/>
              </a:rPr>
              <a:t>(</a:t>
            </a:r>
            <a:pPr indent="0" marL="0">
              <a:buNone/>
            </a:pPr>
            <a:r>
              <a:rPr lang="en-US" sz="2400" dirty="0">
                <a:solidFill>
                  <a:srgbClr val="E69F00"/>
                </a:solidFill>
                <a:latin typeface="Consolas" pitchFamily="34" charset="0"/>
                <a:ea typeface="Consolas" pitchFamily="34" charset="-122"/>
                <a:cs typeface="Consolas" pitchFamily="34" charset="-120"/>
              </a:rPr>
              <a:t>"Airlock open"</a:t>
            </a:r>
            <a:pPr indent="0" marL="0">
              <a:buNone/>
            </a:pPr>
            <a:r>
              <a:rPr lang="en-US" sz="2400" dirty="0">
                <a:solidFill>
                  <a:srgbClr val="A9A9B4"/>
                </a:solidFill>
                <a:latin typeface="Consolas" pitchFamily="34" charset="0"/>
                <a:ea typeface="Consolas" pitchFamily="34" charset="-122"/>
                <a:cs typeface="Consolas" pitchFamily="34" charset="-120"/>
              </a:rPr>
              <a:t>)</a:t>
            </a:r>
            <a:endParaRPr lang="en-US" sz="2400" dirty="0"/>
          </a:p>
        </p:txBody>
      </p:sp>
      <p:sp>
        <p:nvSpPr>
          <p:cNvPr id="17" name="click1"/>
          <p:cNvSpPr/>
          <p:nvPr/>
        </p:nvSpPr>
        <p:spPr>
          <a:xfrm>
            <a:off x="6537960" y="2157984"/>
            <a:ext cx="457200" cy="0"/>
          </a:xfrm>
          <a:prstGeom prst="line">
            <a:avLst/>
          </a:prstGeom>
          <a:noFill/>
          <a:ln w="28575">
            <a:solidFill>
              <a:srgbClr val="6E6E7A"/>
            </a:solidFill>
            <a:prstDash val="solid"/>
            <a:tailEnd type="triangle"/>
          </a:ln>
        </p:spPr>
      </p:sp>
      <p:sp>
        <p:nvSpPr>
          <p:cNvPr id="18" name="click1"/>
          <p:cNvSpPr txBox="1"/>
          <p:nvPr/>
        </p:nvSpPr>
        <p:spPr>
          <a:xfrm>
            <a:off x="7132320" y="1810512"/>
            <a:ext cx="4526280" cy="694944"/>
          </a:xfrm>
          <a:prstGeom prst="rect">
            <a:avLst/>
          </a:prstGeom>
          <a:noFill/>
          <a:ln/>
        </p:spPr>
        <p:txBody>
          <a:bodyPr wrap="square" lIns="0" tIns="0" rIns="0" bIns="0" rtlCol="0" anchor="ctr"/>
          <a:lstStyle/>
          <a:p>
            <a:pPr indent="0" marL="0">
              <a:buNone/>
            </a:pPr>
            <a:r>
              <a:rPr lang="en-US" sz="2100" b="1" dirty="0">
                <a:solidFill>
                  <a:srgbClr val="D8A73D"/>
                </a:solidFill>
                <a:latin typeface="Calibri" pitchFamily="34" charset="0"/>
                <a:ea typeface="Calibri" pitchFamily="34" charset="-122"/>
                <a:cs typeface="Calibri" pitchFamily="34" charset="-120"/>
              </a:rPr>
              <a:t>① Set up the variable: </a:t>
            </a:r>
            <a:pPr indent="0" marL="0">
              <a:buNone/>
            </a:pPr>
            <a:r>
              <a:rPr lang="en-US" sz="2100" dirty="0">
                <a:solidFill>
                  <a:srgbClr val="F5F5F3"/>
                </a:solidFill>
                <a:latin typeface="Calibri" pitchFamily="34" charset="0"/>
                <a:ea typeface="Calibri" pitchFamily="34" charset="-122"/>
                <a:cs typeface="Calibri" pitchFamily="34" charset="-120"/>
              </a:rPr>
              <a:t>ask first</a:t>
            </a:r>
            <a:endParaRPr lang="en-US" sz="2100" dirty="0"/>
          </a:p>
        </p:txBody>
      </p:sp>
      <p:sp>
        <p:nvSpPr>
          <p:cNvPr id="19" name="click2"/>
          <p:cNvSpPr/>
          <p:nvPr/>
        </p:nvSpPr>
        <p:spPr>
          <a:xfrm>
            <a:off x="6537960" y="2871216"/>
            <a:ext cx="457200" cy="0"/>
          </a:xfrm>
          <a:prstGeom prst="line">
            <a:avLst/>
          </a:prstGeom>
          <a:noFill/>
          <a:ln w="28575">
            <a:solidFill>
              <a:srgbClr val="6E6E7A"/>
            </a:solidFill>
            <a:prstDash val="solid"/>
            <a:tailEnd type="triangle"/>
          </a:ln>
        </p:spPr>
      </p:sp>
      <p:sp>
        <p:nvSpPr>
          <p:cNvPr id="20" name="click2"/>
          <p:cNvSpPr txBox="1"/>
          <p:nvPr/>
        </p:nvSpPr>
        <p:spPr>
          <a:xfrm>
            <a:off x="7132320" y="2523744"/>
            <a:ext cx="4526280" cy="694944"/>
          </a:xfrm>
          <a:prstGeom prst="rect">
            <a:avLst/>
          </a:prstGeom>
          <a:noFill/>
          <a:ln/>
        </p:spPr>
        <p:txBody>
          <a:bodyPr wrap="square" lIns="0" tIns="0" rIns="0" bIns="0" rtlCol="0" anchor="ctr"/>
          <a:lstStyle/>
          <a:p>
            <a:pPr indent="0" marL="0">
              <a:buNone/>
            </a:pPr>
            <a:r>
              <a:rPr lang="en-US" sz="2100" b="1" dirty="0">
                <a:solidFill>
                  <a:srgbClr val="D8A73D"/>
                </a:solidFill>
                <a:latin typeface="Calibri" pitchFamily="34" charset="0"/>
                <a:ea typeface="Calibri" pitchFamily="34" charset="-122"/>
                <a:cs typeface="Calibri" pitchFamily="34" charset="-120"/>
              </a:rPr>
              <a:t>② </a:t>
            </a:r>
            <a:pPr indent="0" marL="0">
              <a:buNone/>
            </a:pPr>
            <a:r>
              <a:rPr lang="en-US" sz="2100" b="1" dirty="0">
                <a:solidFill>
                  <a:srgbClr val="F5F5F3"/>
                </a:solidFill>
                <a:latin typeface="Consolas" pitchFamily="34" charset="0"/>
                <a:ea typeface="Consolas" pitchFamily="34" charset="-122"/>
                <a:cs typeface="Consolas" pitchFamily="34" charset="-120"/>
              </a:rPr>
              <a:t>while</a:t>
            </a:r>
            <a:pPr indent="0" marL="0">
              <a:buNone/>
            </a:pPr>
            <a:r>
              <a:rPr lang="en-US" sz="2100" dirty="0">
                <a:solidFill>
                  <a:srgbClr val="F5F5F3"/>
                </a:solidFill>
                <a:latin typeface="Calibri" pitchFamily="34" charset="0"/>
                <a:ea typeface="Calibri" pitchFamily="34" charset="-122"/>
                <a:cs typeface="Calibri" pitchFamily="34" charset="-120"/>
              </a:rPr>
              <a:t> + a condition + a colon </a:t>
            </a:r>
            <a:pPr indent="0" marL="0">
              <a:buNone/>
            </a:pPr>
            <a:r>
              <a:rPr lang="en-US" sz="2100" b="1" dirty="0">
                <a:solidFill>
                  <a:srgbClr val="D8A73D"/>
                </a:solidFill>
                <a:latin typeface="Consolas" pitchFamily="34" charset="0"/>
                <a:ea typeface="Consolas" pitchFamily="34" charset="-122"/>
                <a:cs typeface="Consolas" pitchFamily="34" charset="-120"/>
              </a:rPr>
              <a:t>:</a:t>
            </a:r>
            <a:endParaRPr lang="en-US" sz="2100" dirty="0"/>
          </a:p>
        </p:txBody>
      </p:sp>
      <p:sp>
        <p:nvSpPr>
          <p:cNvPr id="21" name="click3"/>
          <p:cNvSpPr/>
          <p:nvPr/>
        </p:nvSpPr>
        <p:spPr>
          <a:xfrm>
            <a:off x="6537960" y="3584448"/>
            <a:ext cx="457200" cy="0"/>
          </a:xfrm>
          <a:prstGeom prst="line">
            <a:avLst/>
          </a:prstGeom>
          <a:noFill/>
          <a:ln w="28575">
            <a:solidFill>
              <a:srgbClr val="6E6E7A"/>
            </a:solidFill>
            <a:prstDash val="solid"/>
            <a:tailEnd type="triangle"/>
          </a:ln>
        </p:spPr>
      </p:sp>
      <p:sp>
        <p:nvSpPr>
          <p:cNvPr id="22" name="click3"/>
          <p:cNvSpPr txBox="1"/>
          <p:nvPr/>
        </p:nvSpPr>
        <p:spPr>
          <a:xfrm>
            <a:off x="7132320" y="3236976"/>
            <a:ext cx="4526280" cy="694944"/>
          </a:xfrm>
          <a:prstGeom prst="rect">
            <a:avLst/>
          </a:prstGeom>
          <a:noFill/>
          <a:ln/>
        </p:spPr>
        <p:txBody>
          <a:bodyPr wrap="square" lIns="0" tIns="0" rIns="0" bIns="0" rtlCol="0" anchor="ctr"/>
          <a:lstStyle/>
          <a:p>
            <a:pPr indent="0" marL="0">
              <a:buNone/>
            </a:pPr>
            <a:r>
              <a:rPr lang="en-US" sz="2100" b="1" dirty="0">
                <a:solidFill>
                  <a:srgbClr val="D8A73D"/>
                </a:solidFill>
                <a:latin typeface="Calibri" pitchFamily="34" charset="0"/>
                <a:ea typeface="Calibri" pitchFamily="34" charset="-122"/>
                <a:cs typeface="Calibri" pitchFamily="34" charset="-120"/>
              </a:rPr>
              <a:t>③ Indented: </a:t>
            </a:r>
            <a:pPr indent="0" marL="0">
              <a:buNone/>
            </a:pPr>
            <a:r>
              <a:rPr lang="en-US" sz="2100" b="1" dirty="0">
                <a:solidFill>
                  <a:srgbClr val="7FD99A"/>
                </a:solidFill>
                <a:latin typeface="Calibri" pitchFamily="34" charset="0"/>
                <a:ea typeface="Calibri" pitchFamily="34" charset="-122"/>
                <a:cs typeface="Calibri" pitchFamily="34" charset="-120"/>
              </a:rPr>
              <a:t>repeats </a:t>
            </a:r>
            <a:pPr indent="0" marL="0">
              <a:buNone/>
            </a:pPr>
            <a:r>
              <a:rPr lang="en-US" sz="2100" dirty="0">
                <a:solidFill>
                  <a:srgbClr val="F5F5F3"/>
                </a:solidFill>
                <a:latin typeface="Calibri" pitchFamily="34" charset="0"/>
                <a:ea typeface="Calibri" pitchFamily="34" charset="-122"/>
                <a:cs typeface="Calibri" pitchFamily="34" charset="-120"/>
              </a:rPr>
              <a:t>while True</a:t>
            </a:r>
            <a:endParaRPr lang="en-US" sz="2100" dirty="0"/>
          </a:p>
        </p:txBody>
      </p:sp>
      <p:sp>
        <p:nvSpPr>
          <p:cNvPr id="23" name="click4"/>
          <p:cNvSpPr/>
          <p:nvPr/>
        </p:nvSpPr>
        <p:spPr>
          <a:xfrm>
            <a:off x="6537960" y="4297680"/>
            <a:ext cx="457200" cy="0"/>
          </a:xfrm>
          <a:prstGeom prst="line">
            <a:avLst/>
          </a:prstGeom>
          <a:noFill/>
          <a:ln w="28575">
            <a:solidFill>
              <a:srgbClr val="6E6E7A"/>
            </a:solidFill>
            <a:prstDash val="solid"/>
            <a:tailEnd type="triangle"/>
          </a:ln>
        </p:spPr>
      </p:sp>
      <p:sp>
        <p:nvSpPr>
          <p:cNvPr id="24" name="click4"/>
          <p:cNvSpPr txBox="1"/>
          <p:nvPr/>
        </p:nvSpPr>
        <p:spPr>
          <a:xfrm>
            <a:off x="7132320" y="3950208"/>
            <a:ext cx="4526280" cy="694944"/>
          </a:xfrm>
          <a:prstGeom prst="rect">
            <a:avLst/>
          </a:prstGeom>
          <a:noFill/>
          <a:ln/>
        </p:spPr>
        <p:txBody>
          <a:bodyPr wrap="square" lIns="0" tIns="0" rIns="0" bIns="0" rtlCol="0" anchor="ctr"/>
          <a:lstStyle/>
          <a:p>
            <a:pPr indent="0" marL="0">
              <a:buNone/>
            </a:pPr>
            <a:r>
              <a:rPr lang="en-US" sz="2100" b="1" dirty="0">
                <a:solidFill>
                  <a:srgbClr val="D8A73D"/>
                </a:solidFill>
                <a:latin typeface="Calibri" pitchFamily="34" charset="0"/>
                <a:ea typeface="Calibri" pitchFamily="34" charset="-122"/>
                <a:cs typeface="Calibri" pitchFamily="34" charset="-120"/>
              </a:rPr>
              <a:t>④ Change the variable </a:t>
            </a:r>
            <a:pPr indent="0" marL="0">
              <a:buNone/>
            </a:pPr>
            <a:r>
              <a:rPr lang="en-US" sz="2100" dirty="0">
                <a:solidFill>
                  <a:srgbClr val="F5F5F3"/>
                </a:solidFill>
                <a:latin typeface="Calibri" pitchFamily="34" charset="0"/>
                <a:ea typeface="Calibri" pitchFamily="34" charset="-122"/>
                <a:cs typeface="Calibri" pitchFamily="34" charset="-120"/>
              </a:rPr>
              <a:t>inside: ask again</a:t>
            </a:r>
            <a:endParaRPr lang="en-US" sz="2100" dirty="0"/>
          </a:p>
        </p:txBody>
      </p:sp>
      <p:sp>
        <p:nvSpPr>
          <p:cNvPr id="25" name="click5"/>
          <p:cNvSpPr/>
          <p:nvPr/>
        </p:nvSpPr>
        <p:spPr>
          <a:xfrm>
            <a:off x="6537960" y="5010912"/>
            <a:ext cx="457200" cy="0"/>
          </a:xfrm>
          <a:prstGeom prst="line">
            <a:avLst/>
          </a:prstGeom>
          <a:noFill/>
          <a:ln w="28575">
            <a:solidFill>
              <a:srgbClr val="6E6E7A"/>
            </a:solidFill>
            <a:prstDash val="solid"/>
            <a:tailEnd type="triangle"/>
          </a:ln>
        </p:spPr>
      </p:sp>
      <p:sp>
        <p:nvSpPr>
          <p:cNvPr id="26" name="click5"/>
          <p:cNvSpPr txBox="1"/>
          <p:nvPr/>
        </p:nvSpPr>
        <p:spPr>
          <a:xfrm>
            <a:off x="7132320" y="4663440"/>
            <a:ext cx="4526280" cy="694944"/>
          </a:xfrm>
          <a:prstGeom prst="rect">
            <a:avLst/>
          </a:prstGeom>
          <a:noFill/>
          <a:ln/>
        </p:spPr>
        <p:txBody>
          <a:bodyPr wrap="square" lIns="0" tIns="0" rIns="0" bIns="0" rtlCol="0" anchor="ctr"/>
          <a:lstStyle/>
          <a:p>
            <a:pPr indent="0" marL="0">
              <a:buNone/>
            </a:pPr>
            <a:r>
              <a:rPr lang="en-US" sz="2100" b="1" dirty="0">
                <a:solidFill>
                  <a:srgbClr val="F5F5F3"/>
                </a:solidFill>
                <a:latin typeface="Calibri" pitchFamily="34" charset="0"/>
                <a:ea typeface="Calibri" pitchFamily="34" charset="-122"/>
                <a:cs typeface="Calibri" pitchFamily="34" charset="-120"/>
              </a:rPr>
              <a:t>Not indented: </a:t>
            </a:r>
            <a:pPr indent="0" marL="0">
              <a:buNone/>
            </a:pPr>
            <a:r>
              <a:rPr lang="en-US" sz="2100" dirty="0">
                <a:solidFill>
                  <a:srgbClr val="F5F5F3"/>
                </a:solidFill>
                <a:latin typeface="Calibri" pitchFamily="34" charset="0"/>
                <a:ea typeface="Calibri" pitchFamily="34" charset="-122"/>
                <a:cs typeface="Calibri" pitchFamily="34" charset="-120"/>
              </a:rPr>
              <a:t>runs once, after the loop</a:t>
            </a:r>
            <a:endParaRPr lang="en-US" sz="2100" dirty="0"/>
          </a:p>
        </p:txBody>
      </p:sp>
      <p:sp>
        <p:nvSpPr>
          <p:cNvPr id="27" name="click6"/>
          <p:cNvSpPr/>
          <p:nvPr/>
        </p:nvSpPr>
        <p:spPr>
          <a:xfrm>
            <a:off x="548640" y="5486400"/>
            <a:ext cx="11091672" cy="731520"/>
          </a:xfrm>
          <a:prstGeom prst="roundRect">
            <a:avLst>
              <a:gd name="adj" fmla="val 10000"/>
            </a:avLst>
          </a:prstGeom>
          <a:solidFill>
            <a:srgbClr val="1E1E24"/>
          </a:solidFill>
          <a:ln w="25400">
            <a:solidFill>
              <a:srgbClr val="D8A73D"/>
            </a:solidFill>
            <a:prstDash val="solid"/>
          </a:ln>
        </p:spPr>
      </p:sp>
      <p:sp>
        <p:nvSpPr>
          <p:cNvPr id="28" name="click6"/>
          <p:cNvSpPr txBox="1"/>
          <p:nvPr/>
        </p:nvSpPr>
        <p:spPr>
          <a:xfrm>
            <a:off x="914400" y="5486400"/>
            <a:ext cx="10332720" cy="731520"/>
          </a:xfrm>
          <a:prstGeom prst="rect">
            <a:avLst/>
          </a:prstGeom>
          <a:noFill/>
          <a:ln/>
        </p:spPr>
        <p:txBody>
          <a:bodyPr wrap="square" lIns="0" tIns="0" rIns="0" bIns="0" rtlCol="0" anchor="ctr"/>
          <a:lstStyle/>
          <a:p>
            <a:pPr indent="0" marL="0">
              <a:buNone/>
            </a:pPr>
            <a:r>
              <a:rPr lang="en-US" sz="2200" b="1" dirty="0">
                <a:solidFill>
                  <a:srgbClr val="D8A73D"/>
                </a:solidFill>
                <a:latin typeface="Calibri" pitchFamily="34" charset="0"/>
                <a:ea typeface="Calibri" pitchFamily="34" charset="-122"/>
                <a:cs typeface="Calibri" pitchFamily="34" charset="-120"/>
              </a:rPr>
              <a:t>Forget ④ and the loop never ends: </a:t>
            </a:r>
            <a:pPr indent="0" marL="0">
              <a:buNone/>
            </a:pPr>
            <a:r>
              <a:rPr lang="en-US" sz="2200" dirty="0">
                <a:solidFill>
                  <a:srgbClr val="F5F5F3"/>
                </a:solidFill>
                <a:latin typeface="Calibri" pitchFamily="34" charset="0"/>
                <a:ea typeface="Calibri" pitchFamily="34" charset="-122"/>
                <a:cs typeface="Calibri" pitchFamily="34" charset="-120"/>
              </a:rPr>
              <a:t>the condition stays True for ever.</a:t>
            </a:r>
            <a:endParaRPr lang="en-US" sz="2200" dirty="0"/>
          </a:p>
        </p:txBody>
      </p:sp>
      <p:pic>
        <p:nvPicPr>
          <p:cNvPr id="29" name="Image 2" descr="New information">    </p:cNvPr>
          <p:cNvPicPr>
            <a:picLocks noChangeAspect="1"/>
          </p:cNvPicPr>
          <p:nvPr/>
        </p:nvPicPr>
        <p:blipFill>
          <a:blip r:embed="rId3"/>
          <a:stretch>
            <a:fillRect/>
          </a:stretch>
        </p:blipFill>
        <p:spPr>
          <a:xfrm>
            <a:off x="10972800" y="384048"/>
            <a:ext cx="731520" cy="731520"/>
          </a:xfrm>
          <a:prstGeom prst="rect">
            <a:avLst/>
          </a:prstGeom>
        </p:spPr>
      </p:pic>
      <p:sp>
        <p:nvSpPr>
          <p:cNvPr id="30"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fade">
                                      <p:cBhvr>
                                        <p:cTn id="23" dur="500"/>
                                        <p:tgtEl>
                                          <p:spTgt spid="2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00"/>
                                        <p:tgtEl>
                                          <p:spTgt spid="2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00"/>
                                        <p:tgtEl>
                                          <p:spTgt spid="2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500"/>
                                        <p:tgtEl>
                                          <p:spTgt spid="2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2" grpId="0" animBg="1"/>
      <p:bldP spid="24" grpId="0" animBg="1"/>
      <p:bldP spid="26" grpId="0" animBg="1"/>
      <p:bldP spid="2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txBox="1"/>
          <p:nvPr/>
        </p:nvSpPr>
        <p:spPr>
          <a:xfrm>
            <a:off x="548640" y="548640"/>
            <a:ext cx="7315200" cy="320040"/>
          </a:xfrm>
          <a:prstGeom prst="rect">
            <a:avLst/>
          </a:prstGeom>
          <a:noFill/>
          <a:ln/>
        </p:spPr>
        <p:txBody>
          <a:bodyPr wrap="square" lIns="0" tIns="0" rIns="0" bIns="0"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THE STORY SO FAR</a:t>
            </a:r>
            <a:endParaRPr lang="en-US" sz="1400" dirty="0"/>
          </a:p>
        </p:txBody>
      </p:sp>
      <p:sp>
        <p:nvSpPr>
          <p:cNvPr id="6" name="Text 2"/>
          <p:cNvSpPr txBox="1"/>
          <p:nvPr/>
        </p:nvSpPr>
        <p:spPr>
          <a:xfrm>
            <a:off x="548640" y="914400"/>
            <a:ext cx="9144000" cy="914400"/>
          </a:xfrm>
          <a:prstGeom prst="rect">
            <a:avLst/>
          </a:prstGeom>
          <a:noFill/>
          <a:ln/>
        </p:spPr>
        <p:txBody>
          <a:bodyPr wrap="square" lIns="0" tIns="0" rIns="0" bIns="0" rtlCol="0" anchor="ctr"/>
          <a:lstStyle/>
          <a:p>
            <a:pPr indent="0" marL="0">
              <a:buNone/>
            </a:pPr>
            <a:r>
              <a:rPr lang="en-US" sz="4800" b="1" dirty="0">
                <a:solidFill>
                  <a:srgbClr val="F5F5F3"/>
                </a:solidFill>
                <a:latin typeface="Cambria" pitchFamily="34" charset="0"/>
                <a:ea typeface="Cambria" pitchFamily="34" charset="-122"/>
                <a:cs typeface="Cambria" pitchFamily="34" charset="-120"/>
              </a:rPr>
              <a:t>Locked In</a:t>
            </a:r>
            <a:endParaRPr lang="en-US" sz="4800" dirty="0"/>
          </a:p>
        </p:txBody>
      </p:sp>
      <p:sp>
        <p:nvSpPr>
          <p:cNvPr id="7" name="terminal"/>
          <p:cNvSpPr/>
          <p:nvPr/>
        </p:nvSpPr>
        <p:spPr>
          <a:xfrm>
            <a:off x="548640" y="2148840"/>
            <a:ext cx="11091672" cy="3063240"/>
          </a:xfrm>
          <a:prstGeom prst="roundRect">
            <a:avLst>
              <a:gd name="adj" fmla="val 2388"/>
            </a:avLst>
          </a:prstGeom>
          <a:solidFill>
            <a:srgbClr val="0D1310"/>
          </a:solidFill>
          <a:ln w="15875">
            <a:solidFill>
              <a:srgbClr val="2C4434"/>
            </a:solidFill>
            <a:prstDash val="solid"/>
          </a:ln>
        </p:spPr>
      </p:sp>
      <p:sp>
        <p:nvSpPr>
          <p:cNvPr id="8" name="Text 4"/>
          <p:cNvSpPr txBox="1"/>
          <p:nvPr/>
        </p:nvSpPr>
        <p:spPr>
          <a:xfrm>
            <a:off x="777240" y="2331720"/>
            <a:ext cx="10634472" cy="274320"/>
          </a:xfrm>
          <a:prstGeom prst="rect">
            <a:avLst/>
          </a:prstGeom>
          <a:noFill/>
          <a:ln/>
        </p:spPr>
        <p:txBody>
          <a:bodyPr wrap="square" lIns="0" tIns="0" rIns="0" bIns="0" rtlCol="0" anchor="ctr"/>
          <a:lstStyle/>
          <a:p>
            <a:pPr indent="0" marL="0">
              <a:buNone/>
            </a:pPr>
            <a:r>
              <a:rPr lang="en-US" sz="1200" b="1" spc="200" kern="0" dirty="0">
                <a:solidFill>
                  <a:srgbClr val="7FD99A"/>
                </a:solidFill>
                <a:latin typeface="Calibri" pitchFamily="34" charset="0"/>
                <a:ea typeface="Calibri" pitchFamily="34" charset="-122"/>
                <a:cs typeface="Calibri" pitchFamily="34" charset="-120"/>
              </a:rPr>
              <a:t>AIRLOCK 1</a:t>
            </a:r>
            <a:endParaRPr lang="en-US" sz="1200" dirty="0"/>
          </a:p>
        </p:txBody>
      </p:sp>
      <p:sp>
        <p:nvSpPr>
          <p:cNvPr id="9" name="Text 5"/>
          <p:cNvSpPr txBox="1"/>
          <p:nvPr/>
        </p:nvSpPr>
        <p:spPr>
          <a:xfrm>
            <a:off x="777240" y="2697480"/>
            <a:ext cx="10634472" cy="457200"/>
          </a:xfrm>
          <a:prstGeom prst="rect">
            <a:avLst/>
          </a:prstGeom>
          <a:noFill/>
          <a:ln/>
        </p:spPr>
        <p:txBody>
          <a:bodyPr wrap="square" lIns="0" tIns="0" rIns="0" bIns="0" rtlCol="0" anchor="ctr"/>
          <a:lstStyle/>
          <a:p>
            <a:pPr indent="0" marL="0">
              <a:buNone/>
            </a:pPr>
            <a:r>
              <a:rPr lang="en-US" sz="2600" dirty="0">
                <a:solidFill>
                  <a:srgbClr val="7FD99A"/>
                </a:solidFill>
                <a:latin typeface="Consolas" pitchFamily="34" charset="0"/>
                <a:ea typeface="Consolas" pitchFamily="34" charset="-122"/>
                <a:cs typeface="Consolas" pitchFamily="34" charset="-120"/>
              </a:rPr>
              <a:t>WARDEN has locked the airlock.</a:t>
            </a:r>
            <a:endParaRPr lang="en-US" sz="2600" dirty="0"/>
          </a:p>
        </p:txBody>
      </p:sp>
      <p:sp>
        <p:nvSpPr>
          <p:cNvPr id="10" name="Text 6"/>
          <p:cNvSpPr txBox="1"/>
          <p:nvPr/>
        </p:nvSpPr>
        <p:spPr>
          <a:xfrm>
            <a:off x="777240" y="3154680"/>
            <a:ext cx="10634472" cy="457200"/>
          </a:xfrm>
          <a:prstGeom prst="rect">
            <a:avLst/>
          </a:prstGeom>
          <a:noFill/>
          <a:ln/>
        </p:spPr>
        <p:txBody>
          <a:bodyPr wrap="square" lIns="0" tIns="0" rIns="0" bIns="0" rtlCol="0" anchor="ctr"/>
          <a:lstStyle/>
          <a:p>
            <a:pPr indent="0" marL="0">
              <a:buNone/>
            </a:pPr>
            <a:endParaRPr lang="en-US" sz="2600" dirty="0"/>
          </a:p>
        </p:txBody>
      </p:sp>
      <p:sp>
        <p:nvSpPr>
          <p:cNvPr id="11" name="Text 7"/>
          <p:cNvSpPr txBox="1"/>
          <p:nvPr/>
        </p:nvSpPr>
        <p:spPr>
          <a:xfrm>
            <a:off x="777240" y="3611880"/>
            <a:ext cx="10634472" cy="457200"/>
          </a:xfrm>
          <a:prstGeom prst="rect">
            <a:avLst/>
          </a:prstGeom>
          <a:noFill/>
          <a:ln/>
        </p:spPr>
        <p:txBody>
          <a:bodyPr wrap="square" lIns="0" tIns="0" rIns="0" bIns="0" rtlCol="0" anchor="ctr"/>
          <a:lstStyle/>
          <a:p>
            <a:pPr indent="0" marL="0">
              <a:buNone/>
            </a:pPr>
            <a:r>
              <a:rPr lang="en-US" sz="2600" dirty="0">
                <a:solidFill>
                  <a:srgbClr val="7FD99A"/>
                </a:solidFill>
                <a:latin typeface="Consolas" pitchFamily="34" charset="0"/>
                <a:ea typeface="Consolas" pitchFamily="34" charset="-122"/>
                <a:cs typeface="Consolas" pitchFamily="34" charset="-120"/>
              </a:rPr>
              <a:t>It changed the code.</a:t>
            </a:r>
            <a:endParaRPr lang="en-US" sz="2600" dirty="0"/>
          </a:p>
        </p:txBody>
      </p:sp>
      <p:sp>
        <p:nvSpPr>
          <p:cNvPr id="12" name="Text 8"/>
          <p:cNvSpPr txBox="1"/>
          <p:nvPr/>
        </p:nvSpPr>
        <p:spPr>
          <a:xfrm>
            <a:off x="777240" y="4069080"/>
            <a:ext cx="10634472" cy="457200"/>
          </a:xfrm>
          <a:prstGeom prst="rect">
            <a:avLst/>
          </a:prstGeom>
          <a:noFill/>
          <a:ln/>
        </p:spPr>
        <p:txBody>
          <a:bodyPr wrap="square" lIns="0" tIns="0" rIns="0" bIns="0" rtlCol="0" anchor="ctr"/>
          <a:lstStyle/>
          <a:p>
            <a:pPr indent="0" marL="0">
              <a:buNone/>
            </a:pPr>
            <a:endParaRPr lang="en-US" sz="2600" dirty="0"/>
          </a:p>
        </p:txBody>
      </p:sp>
      <p:sp>
        <p:nvSpPr>
          <p:cNvPr id="13" name="Text 9"/>
          <p:cNvSpPr txBox="1"/>
          <p:nvPr/>
        </p:nvSpPr>
        <p:spPr>
          <a:xfrm>
            <a:off x="777240" y="4526280"/>
            <a:ext cx="10634472" cy="457200"/>
          </a:xfrm>
          <a:prstGeom prst="rect">
            <a:avLst/>
          </a:prstGeom>
          <a:noFill/>
          <a:ln/>
        </p:spPr>
        <p:txBody>
          <a:bodyPr wrap="square" lIns="0" tIns="0" rIns="0" bIns="0" rtlCol="0" anchor="ctr"/>
          <a:lstStyle/>
          <a:p>
            <a:pPr indent="0" marL="0">
              <a:buNone/>
            </a:pPr>
            <a:r>
              <a:rPr lang="en-US" sz="2600" dirty="0">
                <a:solidFill>
                  <a:srgbClr val="7FD99A"/>
                </a:solidFill>
                <a:latin typeface="Consolas" pitchFamily="34" charset="0"/>
                <a:ea typeface="Consolas" pitchFamily="34" charset="-122"/>
                <a:cs typeface="Consolas" pitchFamily="34" charset="-120"/>
              </a:rPr>
              <a:t>Navigation is on the other side.</a:t>
            </a:r>
            <a:endParaRPr lang="en-US" sz="2600" dirty="0"/>
          </a:p>
        </p:txBody>
      </p:sp>
      <p:pic>
        <p:nvPicPr>
          <p:cNvPr id="14" name="Image 2" descr="Deliberate practice">    </p:cNvPr>
          <p:cNvPicPr>
            <a:picLocks noChangeAspect="1"/>
          </p:cNvPicPr>
          <p:nvPr/>
        </p:nvPicPr>
        <p:blipFill>
          <a:blip r:embed="rId3"/>
          <a:stretch>
            <a:fillRect/>
          </a:stretch>
        </p:blipFill>
        <p:spPr>
          <a:xfrm>
            <a:off x="10972800" y="384048"/>
            <a:ext cx="731520" cy="7315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Trace the loop</a:t>
            </a:r>
            <a:endParaRPr lang="en-US" sz="3600" dirty="0"/>
          </a:p>
        </p:txBody>
      </p:sp>
      <p:sp>
        <p:nvSpPr>
          <p:cNvPr id="6" name="code"/>
          <p:cNvSpPr/>
          <p:nvPr/>
        </p:nvSpPr>
        <p:spPr>
          <a:xfrm>
            <a:off x="548640" y="1554480"/>
            <a:ext cx="4846320" cy="2962656"/>
          </a:xfrm>
          <a:prstGeom prst="roundRect">
            <a:avLst>
              <a:gd name="adj" fmla="val 2469"/>
            </a:avLst>
          </a:prstGeom>
          <a:solidFill>
            <a:srgbClr val="111115"/>
          </a:solidFill>
          <a:ln w="15875">
            <a:solidFill>
              <a:srgbClr val="3A3A44"/>
            </a:solidFill>
            <a:prstDash val="solid"/>
          </a:ln>
        </p:spPr>
      </p:sp>
      <p:sp>
        <p:nvSpPr>
          <p:cNvPr id="7" name="Text 3"/>
          <p:cNvSpPr txBox="1"/>
          <p:nvPr/>
        </p:nvSpPr>
        <p:spPr>
          <a:xfrm>
            <a:off x="658368" y="1755648"/>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1</a:t>
            </a:r>
            <a:endParaRPr lang="en-US" sz="1600" dirty="0"/>
          </a:p>
        </p:txBody>
      </p:sp>
      <p:sp>
        <p:nvSpPr>
          <p:cNvPr id="8" name="Text 4"/>
          <p:cNvSpPr txBox="1"/>
          <p:nvPr/>
        </p:nvSpPr>
        <p:spPr>
          <a:xfrm>
            <a:off x="1188720" y="1755648"/>
            <a:ext cx="4114800" cy="512064"/>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fuel</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0</a:t>
            </a:r>
            <a:endParaRPr lang="en-US" sz="2000" dirty="0"/>
          </a:p>
        </p:txBody>
      </p:sp>
      <p:sp>
        <p:nvSpPr>
          <p:cNvPr id="9" name="Text 5"/>
          <p:cNvSpPr txBox="1"/>
          <p:nvPr/>
        </p:nvSpPr>
        <p:spPr>
          <a:xfrm>
            <a:off x="658368" y="2267712"/>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2</a:t>
            </a:r>
            <a:endParaRPr lang="en-US" sz="1600" dirty="0"/>
          </a:p>
        </p:txBody>
      </p:sp>
      <p:sp>
        <p:nvSpPr>
          <p:cNvPr id="10" name="Text 6"/>
          <p:cNvSpPr txBox="1"/>
          <p:nvPr/>
        </p:nvSpPr>
        <p:spPr>
          <a:xfrm>
            <a:off x="1188720" y="2267712"/>
            <a:ext cx="4114800" cy="512064"/>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while</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fuel</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&lt;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3</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1" name="Text 7"/>
          <p:cNvSpPr txBox="1"/>
          <p:nvPr/>
        </p:nvSpPr>
        <p:spPr>
          <a:xfrm>
            <a:off x="658368" y="2779776"/>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3</a:t>
            </a:r>
            <a:endParaRPr lang="en-US" sz="1600" dirty="0"/>
          </a:p>
        </p:txBody>
      </p:sp>
      <p:sp>
        <p:nvSpPr>
          <p:cNvPr id="12" name="Text 8"/>
          <p:cNvSpPr txBox="1"/>
          <p:nvPr/>
        </p:nvSpPr>
        <p:spPr>
          <a:xfrm>
            <a:off x="1188720" y="2779776"/>
            <a:ext cx="4114800" cy="512064"/>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fuel</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fuel</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1</a:t>
            </a:r>
            <a:endParaRPr lang="en-US" sz="2000" dirty="0"/>
          </a:p>
        </p:txBody>
      </p:sp>
      <p:sp>
        <p:nvSpPr>
          <p:cNvPr id="13" name="Text 9"/>
          <p:cNvSpPr txBox="1"/>
          <p:nvPr/>
        </p:nvSpPr>
        <p:spPr>
          <a:xfrm>
            <a:off x="658368" y="3291840"/>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4</a:t>
            </a:r>
            <a:endParaRPr lang="en-US" sz="1600" dirty="0"/>
          </a:p>
        </p:txBody>
      </p:sp>
      <p:sp>
        <p:nvSpPr>
          <p:cNvPr id="14" name="Text 10"/>
          <p:cNvSpPr txBox="1"/>
          <p:nvPr/>
        </p:nvSpPr>
        <p:spPr>
          <a:xfrm>
            <a:off x="1188720" y="3291840"/>
            <a:ext cx="4114800" cy="512064"/>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"Pump"</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5" name="Text 11"/>
          <p:cNvSpPr txBox="1"/>
          <p:nvPr/>
        </p:nvSpPr>
        <p:spPr>
          <a:xfrm>
            <a:off x="658368" y="3803904"/>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5</a:t>
            </a:r>
            <a:endParaRPr lang="en-US" sz="1600" dirty="0"/>
          </a:p>
        </p:txBody>
      </p:sp>
      <p:sp>
        <p:nvSpPr>
          <p:cNvPr id="16" name="Text 12"/>
          <p:cNvSpPr txBox="1"/>
          <p:nvPr/>
        </p:nvSpPr>
        <p:spPr>
          <a:xfrm>
            <a:off x="1188720" y="3803904"/>
            <a:ext cx="4114800" cy="512064"/>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"Full"</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40680" y="1554480"/>
          <a:ext cx="5943600" cy="914400"/>
        </p:xfrm>
        <a:graphic>
          <a:graphicData uri="http://schemas.openxmlformats.org/drawingml/2006/table">
            <a:tbl>
              <a:tblPr/>
              <a:tblGrid>
                <a:gridCol w="960120"/>
                <a:gridCol w="1051560"/>
                <a:gridCol w="1600200"/>
                <a:gridCol w="2331720"/>
              </a:tblGrid>
              <a:tr h="502920">
                <a:tc>
                  <a:txBody>
                    <a:bodyPr/>
                    <a:lstStyle/>
                    <a:p>
                      <a:pPr algn="ctr" indent="0" marL="0">
                        <a:buNone/>
                      </a:pPr>
                      <a:r>
                        <a:rPr lang="en-US" sz="1800" b="1" dirty="0">
                          <a:solidFill>
                            <a:srgbClr val="D8A73D"/>
                          </a:solidFill>
                          <a:latin typeface="Calibri" pitchFamily="34" charset="0"/>
                          <a:ea typeface="Calibri" pitchFamily="34" charset="-122"/>
                          <a:cs typeface="Calibri" pitchFamily="34" charset="-120"/>
                        </a:rPr>
                        <a:t>Check</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1800" b="1" dirty="0">
                          <a:solidFill>
                            <a:srgbClr val="56B4E9"/>
                          </a:solidFill>
                          <a:latin typeface="Consolas" pitchFamily="34" charset="0"/>
                          <a:ea typeface="Consolas" pitchFamily="34" charset="-122"/>
                          <a:cs typeface="Consolas" pitchFamily="34" charset="-120"/>
                        </a:rPr>
                        <a:t>fuel</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1800" b="1" dirty="0">
                          <a:solidFill>
                            <a:srgbClr val="D8A73D"/>
                          </a:solidFill>
                          <a:latin typeface="Consolas" pitchFamily="34" charset="0"/>
                          <a:ea typeface="Consolas" pitchFamily="34" charset="-122"/>
                          <a:cs typeface="Consolas" pitchFamily="34" charset="-120"/>
                        </a:rPr>
                        <a:t>fuel &lt; 3</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1800" b="1" dirty="0">
                          <a:solidFill>
                            <a:srgbClr val="D8A73D"/>
                          </a:solidFill>
                          <a:latin typeface="Calibri" pitchFamily="34" charset="0"/>
                          <a:ea typeface="Calibri" pitchFamily="34" charset="-122"/>
                          <a:cs typeface="Calibri" pitchFamily="34" charset="-120"/>
                        </a:rPr>
                        <a:t>Printed</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440680" y="2057400"/>
          <a:ext cx="5943600" cy="914400"/>
        </p:xfrm>
        <a:graphic>
          <a:graphicData uri="http://schemas.openxmlformats.org/drawingml/2006/table">
            <a:tbl>
              <a:tblPr/>
              <a:tblGrid>
                <a:gridCol w="960120"/>
                <a:gridCol w="1051560"/>
                <a:gridCol w="1600200"/>
                <a:gridCol w="233172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56B4E9"/>
                          </a:solidFill>
                          <a:latin typeface="Consolas" pitchFamily="34" charset="0"/>
                          <a:ea typeface="Consolas" pitchFamily="34" charset="-122"/>
                          <a:cs typeface="Consolas" pitchFamily="34" charset="-120"/>
                        </a:rPr>
                        <a:t>0</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7FD99A"/>
                          </a:solidFill>
                          <a:latin typeface="Consolas" pitchFamily="34" charset="0"/>
                          <a:ea typeface="Consolas" pitchFamily="34" charset="-122"/>
                          <a:cs typeface="Consolas" pitchFamily="34" charset="-120"/>
                        </a:rPr>
                        <a:t>True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Pump</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graphicFrame>
        <p:nvGraphicFramePr>
          <p:cNvPr id="34" name="Table 2"/>
          <p:cNvGraphicFramePr>
            <a:graphicFrameLocks noGrp="1"/>
          </p:cNvGraphicFramePr>
          <p:nvPr>
            <p:extLst>
              <p:ext uri="{D42A27DB-BD31-4B8C-83A1-F6EECF244321}">
                <p14:modId xmlns:p14="http://schemas.microsoft.com/office/powerpoint/2010/main" val="1579011935"/>
              </p:ext>
            </p:extLst>
          </p:nvPr>
        </p:nvGraphicFramePr>
        <p:xfrm>
          <a:off x="5440680" y="2560320"/>
          <a:ext cx="5943600" cy="914400"/>
        </p:xfrm>
        <a:graphic>
          <a:graphicData uri="http://schemas.openxmlformats.org/drawingml/2006/table">
            <a:tbl>
              <a:tblPr/>
              <a:tblGrid>
                <a:gridCol w="960120"/>
                <a:gridCol w="1051560"/>
                <a:gridCol w="1600200"/>
                <a:gridCol w="233172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56B4E9"/>
                          </a:solidFill>
                          <a:latin typeface="Consolas" pitchFamily="34" charset="0"/>
                          <a:ea typeface="Consolas" pitchFamily="34" charset="-122"/>
                          <a:cs typeface="Consolas" pitchFamily="34" charset="-120"/>
                        </a:rPr>
                        <a:t>1</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7FD99A"/>
                          </a:solidFill>
                          <a:latin typeface="Consolas" pitchFamily="34" charset="0"/>
                          <a:ea typeface="Consolas" pitchFamily="34" charset="-122"/>
                          <a:cs typeface="Consolas" pitchFamily="34" charset="-120"/>
                        </a:rPr>
                        <a:t>True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Pump</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graphicFrame>
        <p:nvGraphicFramePr>
          <p:cNvPr id="45" name="Table 3"/>
          <p:cNvGraphicFramePr>
            <a:graphicFrameLocks noGrp="1"/>
          </p:cNvGraphicFramePr>
          <p:nvPr>
            <p:extLst>
              <p:ext uri="{D42A27DB-BD31-4B8C-83A1-F6EECF244321}">
                <p14:modId xmlns:p14="http://schemas.microsoft.com/office/powerpoint/2010/main" val="1579011935"/>
              </p:ext>
            </p:extLst>
          </p:nvPr>
        </p:nvGraphicFramePr>
        <p:xfrm>
          <a:off x="5440680" y="3063240"/>
          <a:ext cx="5943600" cy="914400"/>
        </p:xfrm>
        <a:graphic>
          <a:graphicData uri="http://schemas.openxmlformats.org/drawingml/2006/table">
            <a:tbl>
              <a:tblPr/>
              <a:tblGrid>
                <a:gridCol w="960120"/>
                <a:gridCol w="1051560"/>
                <a:gridCol w="1600200"/>
                <a:gridCol w="233172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56B4E9"/>
                          </a:solidFill>
                          <a:latin typeface="Consolas" pitchFamily="34" charset="0"/>
                          <a:ea typeface="Consolas" pitchFamily="34" charset="-122"/>
                          <a:cs typeface="Consolas" pitchFamily="34" charset="-120"/>
                        </a:rPr>
                        <a:t>2</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7FD99A"/>
                          </a:solidFill>
                          <a:latin typeface="Consolas" pitchFamily="34" charset="0"/>
                          <a:ea typeface="Consolas" pitchFamily="34" charset="-122"/>
                          <a:cs typeface="Consolas" pitchFamily="34" charset="-120"/>
                        </a:rPr>
                        <a:t>True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Pump</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graphicFrame>
        <p:nvGraphicFramePr>
          <p:cNvPr id="56" name="Table 4"/>
          <p:cNvGraphicFramePr>
            <a:graphicFrameLocks noGrp="1"/>
          </p:cNvGraphicFramePr>
          <p:nvPr>
            <p:extLst>
              <p:ext uri="{D42A27DB-BD31-4B8C-83A1-F6EECF244321}">
                <p14:modId xmlns:p14="http://schemas.microsoft.com/office/powerpoint/2010/main" val="1579011935"/>
              </p:ext>
            </p:extLst>
          </p:nvPr>
        </p:nvGraphicFramePr>
        <p:xfrm>
          <a:off x="5440680" y="3566160"/>
          <a:ext cx="5943600" cy="914400"/>
        </p:xfrm>
        <a:graphic>
          <a:graphicData uri="http://schemas.openxmlformats.org/drawingml/2006/table">
            <a:tbl>
              <a:tblPr/>
              <a:tblGrid>
                <a:gridCol w="960120"/>
                <a:gridCol w="1051560"/>
                <a:gridCol w="1600200"/>
                <a:gridCol w="233172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56B4E9"/>
                          </a:solidFill>
                          <a:latin typeface="Consolas" pitchFamily="34" charset="0"/>
                          <a:ea typeface="Consolas" pitchFamily="34" charset="-122"/>
                          <a:cs typeface="Consolas" pitchFamily="34" charset="-120"/>
                        </a:rPr>
                        <a:t>3</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A9A9B4"/>
                          </a:solidFill>
                          <a:latin typeface="Consolas" pitchFamily="34" charset="0"/>
                          <a:ea typeface="Consolas" pitchFamily="34" charset="-122"/>
                          <a:cs typeface="Consolas" pitchFamily="34" charset="-120"/>
                        </a:rPr>
                        <a:t>False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Full</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sp>
        <p:nvSpPr>
          <p:cNvPr id="22" name="Shape 13"/>
          <p:cNvSpPr/>
          <p:nvPr/>
        </p:nvSpPr>
        <p:spPr>
          <a:xfrm>
            <a:off x="548640" y="5596128"/>
            <a:ext cx="11091672" cy="566928"/>
          </a:xfrm>
          <a:prstGeom prst="roundRect">
            <a:avLst>
              <a:gd name="adj" fmla="val 12903"/>
            </a:avLst>
          </a:prstGeom>
          <a:solidFill>
            <a:srgbClr val="2A2A32"/>
          </a:solidFill>
          <a:ln/>
        </p:spPr>
      </p:sp>
      <p:sp>
        <p:nvSpPr>
          <p:cNvPr id="58" name="Shape 14"/>
          <p:cNvSpPr/>
          <p:nvPr/>
        </p:nvSpPr>
        <p:spPr>
          <a:xfrm>
            <a:off x="731520" y="5715000"/>
            <a:ext cx="329184" cy="329184"/>
          </a:xfrm>
          <a:prstGeom prst="ellipse">
            <a:avLst/>
          </a:prstGeom>
          <a:solidFill>
            <a:srgbClr val="D8A73D"/>
          </a:solidFill>
          <a:ln/>
        </p:spPr>
      </p:sp>
      <p:sp>
        <p:nvSpPr>
          <p:cNvPr id="24" name="Text 15"/>
          <p:cNvSpPr txBox="1"/>
          <p:nvPr/>
        </p:nvSpPr>
        <p:spPr>
          <a:xfrm>
            <a:off x="731520"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25" name="Text 16"/>
          <p:cNvSpPr txBox="1"/>
          <p:nvPr/>
        </p:nvSpPr>
        <p:spPr>
          <a:xfrm>
            <a:off x="1170432"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Check the condition</a:t>
            </a:r>
            <a:endParaRPr lang="en-US" sz="1800" dirty="0"/>
          </a:p>
        </p:txBody>
      </p:sp>
      <p:sp>
        <p:nvSpPr>
          <p:cNvPr id="26" name="Shape 17"/>
          <p:cNvSpPr/>
          <p:nvPr/>
        </p:nvSpPr>
        <p:spPr>
          <a:xfrm>
            <a:off x="3504438" y="5715000"/>
            <a:ext cx="329184" cy="329184"/>
          </a:xfrm>
          <a:prstGeom prst="ellipse">
            <a:avLst/>
          </a:prstGeom>
          <a:solidFill>
            <a:srgbClr val="D8A73D"/>
          </a:solidFill>
          <a:ln/>
        </p:spPr>
      </p:sp>
      <p:sp>
        <p:nvSpPr>
          <p:cNvPr id="27" name="Text 18"/>
          <p:cNvSpPr txBox="1"/>
          <p:nvPr/>
        </p:nvSpPr>
        <p:spPr>
          <a:xfrm>
            <a:off x="3504438"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28" name="Text 19"/>
          <p:cNvSpPr txBox="1"/>
          <p:nvPr/>
        </p:nvSpPr>
        <p:spPr>
          <a:xfrm>
            <a:off x="3943350"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True: run the body</a:t>
            </a:r>
            <a:endParaRPr lang="en-US" sz="1800" dirty="0"/>
          </a:p>
        </p:txBody>
      </p:sp>
      <p:sp>
        <p:nvSpPr>
          <p:cNvPr id="29" name="Shape 20"/>
          <p:cNvSpPr/>
          <p:nvPr/>
        </p:nvSpPr>
        <p:spPr>
          <a:xfrm>
            <a:off x="6277356" y="5715000"/>
            <a:ext cx="329184" cy="329184"/>
          </a:xfrm>
          <a:prstGeom prst="ellipse">
            <a:avLst/>
          </a:prstGeom>
          <a:solidFill>
            <a:srgbClr val="D8A73D"/>
          </a:solidFill>
          <a:ln/>
        </p:spPr>
      </p:sp>
      <p:sp>
        <p:nvSpPr>
          <p:cNvPr id="30" name="Text 21"/>
          <p:cNvSpPr txBox="1"/>
          <p:nvPr/>
        </p:nvSpPr>
        <p:spPr>
          <a:xfrm>
            <a:off x="6277356"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1" name="Text 22"/>
          <p:cNvSpPr txBox="1"/>
          <p:nvPr/>
        </p:nvSpPr>
        <p:spPr>
          <a:xfrm>
            <a:off x="6716268"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Back to the top</a:t>
            </a:r>
            <a:endParaRPr lang="en-US" sz="1800" dirty="0"/>
          </a:p>
        </p:txBody>
      </p:sp>
      <p:sp>
        <p:nvSpPr>
          <p:cNvPr id="32" name="Shape 23"/>
          <p:cNvSpPr/>
          <p:nvPr/>
        </p:nvSpPr>
        <p:spPr>
          <a:xfrm>
            <a:off x="9050274" y="5715000"/>
            <a:ext cx="329184" cy="329184"/>
          </a:xfrm>
          <a:prstGeom prst="ellipse">
            <a:avLst/>
          </a:prstGeom>
          <a:solidFill>
            <a:srgbClr val="D8A73D"/>
          </a:solidFill>
          <a:ln/>
        </p:spPr>
      </p:sp>
      <p:sp>
        <p:nvSpPr>
          <p:cNvPr id="33" name="Text 24"/>
          <p:cNvSpPr txBox="1"/>
          <p:nvPr/>
        </p:nvSpPr>
        <p:spPr>
          <a:xfrm>
            <a:off x="9050274"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59" name="Text 25"/>
          <p:cNvSpPr txBox="1"/>
          <p:nvPr/>
        </p:nvSpPr>
        <p:spPr>
          <a:xfrm>
            <a:off x="9489186"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False: carry on</a:t>
            </a:r>
            <a:endParaRPr lang="en-US" sz="1800" dirty="0"/>
          </a:p>
        </p:txBody>
      </p:sp>
      <p:sp>
        <p:nvSpPr>
          <p:cNvPr id="35" name="Shape 26"/>
          <p:cNvSpPr/>
          <p:nvPr/>
        </p:nvSpPr>
        <p:spPr>
          <a:xfrm>
            <a:off x="9464040" y="566928"/>
            <a:ext cx="1280160" cy="329184"/>
          </a:xfrm>
          <a:prstGeom prst="roundRect">
            <a:avLst>
              <a:gd name="adj" fmla="val 50000"/>
            </a:avLst>
          </a:prstGeom>
          <a:solidFill>
            <a:srgbClr val="D8A73D"/>
          </a:solidFill>
          <a:ln/>
        </p:spPr>
      </p:sp>
      <p:sp>
        <p:nvSpPr>
          <p:cNvPr id="36" name="Text 27"/>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I DO</a:t>
            </a:r>
            <a:endParaRPr lang="en-US" sz="1400" dirty="0"/>
          </a:p>
        </p:txBody>
      </p:sp>
      <p:pic>
        <p:nvPicPr>
          <p:cNvPr id="37" name="Image 2" descr="New information">    </p:cNvPr>
          <p:cNvPicPr>
            <a:picLocks noChangeAspect="1"/>
          </p:cNvPicPr>
          <p:nvPr/>
        </p:nvPicPr>
        <p:blipFill>
          <a:blip r:embed="rId3"/>
          <a:stretch>
            <a:fillRect/>
          </a:stretch>
        </p:blipFill>
        <p:spPr>
          <a:xfrm>
            <a:off x="10972800" y="384048"/>
            <a:ext cx="731520" cy="731520"/>
          </a:xfrm>
          <a:prstGeom prst="rect">
            <a:avLst/>
          </a:prstGeom>
        </p:spPr>
      </p:pic>
      <p:sp>
        <p:nvSpPr>
          <p:cNvPr id="60"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Trace the loop</a:t>
            </a:r>
            <a:endParaRPr lang="en-US" sz="3600" dirty="0"/>
          </a:p>
        </p:txBody>
      </p:sp>
      <p:sp>
        <p:nvSpPr>
          <p:cNvPr id="6" name="code"/>
          <p:cNvSpPr/>
          <p:nvPr/>
        </p:nvSpPr>
        <p:spPr>
          <a:xfrm>
            <a:off x="548640" y="1554480"/>
            <a:ext cx="4846320" cy="2962656"/>
          </a:xfrm>
          <a:prstGeom prst="roundRect">
            <a:avLst>
              <a:gd name="adj" fmla="val 2469"/>
            </a:avLst>
          </a:prstGeom>
          <a:solidFill>
            <a:srgbClr val="111115"/>
          </a:solidFill>
          <a:ln w="15875">
            <a:solidFill>
              <a:srgbClr val="3A3A44"/>
            </a:solidFill>
            <a:prstDash val="solid"/>
          </a:ln>
        </p:spPr>
      </p:sp>
      <p:sp>
        <p:nvSpPr>
          <p:cNvPr id="7" name="Text 3"/>
          <p:cNvSpPr txBox="1"/>
          <p:nvPr/>
        </p:nvSpPr>
        <p:spPr>
          <a:xfrm>
            <a:off x="658368" y="1755648"/>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1</a:t>
            </a:r>
            <a:endParaRPr lang="en-US" sz="1600" dirty="0"/>
          </a:p>
        </p:txBody>
      </p:sp>
      <p:sp>
        <p:nvSpPr>
          <p:cNvPr id="8" name="Text 4"/>
          <p:cNvSpPr txBox="1"/>
          <p:nvPr/>
        </p:nvSpPr>
        <p:spPr>
          <a:xfrm>
            <a:off x="1188720" y="1755648"/>
            <a:ext cx="4114800" cy="512064"/>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oxygen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10</a:t>
            </a:r>
            <a:endParaRPr lang="en-US" sz="2000" dirty="0"/>
          </a:p>
        </p:txBody>
      </p:sp>
      <p:sp>
        <p:nvSpPr>
          <p:cNvPr id="9" name="Text 5"/>
          <p:cNvSpPr txBox="1"/>
          <p:nvPr/>
        </p:nvSpPr>
        <p:spPr>
          <a:xfrm>
            <a:off x="658368" y="2267712"/>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2</a:t>
            </a:r>
            <a:endParaRPr lang="en-US" sz="1600" dirty="0"/>
          </a:p>
        </p:txBody>
      </p:sp>
      <p:sp>
        <p:nvSpPr>
          <p:cNvPr id="10" name="Text 6"/>
          <p:cNvSpPr txBox="1"/>
          <p:nvPr/>
        </p:nvSpPr>
        <p:spPr>
          <a:xfrm>
            <a:off x="1188720" y="2267712"/>
            <a:ext cx="4114800" cy="512064"/>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while</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oxygen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&gt;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7</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1" name="Text 7"/>
          <p:cNvSpPr txBox="1"/>
          <p:nvPr/>
        </p:nvSpPr>
        <p:spPr>
          <a:xfrm>
            <a:off x="658368" y="2779776"/>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3</a:t>
            </a:r>
            <a:endParaRPr lang="en-US" sz="1600" dirty="0"/>
          </a:p>
        </p:txBody>
      </p:sp>
      <p:sp>
        <p:nvSpPr>
          <p:cNvPr id="12" name="Text 8"/>
          <p:cNvSpPr txBox="1"/>
          <p:nvPr/>
        </p:nvSpPr>
        <p:spPr>
          <a:xfrm>
            <a:off x="1188720" y="2779776"/>
            <a:ext cx="4114800" cy="512064"/>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oxygen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oxygen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1</a:t>
            </a:r>
            <a:endParaRPr lang="en-US" sz="2000" dirty="0"/>
          </a:p>
        </p:txBody>
      </p:sp>
      <p:sp>
        <p:nvSpPr>
          <p:cNvPr id="13" name="Text 9"/>
          <p:cNvSpPr txBox="1"/>
          <p:nvPr/>
        </p:nvSpPr>
        <p:spPr>
          <a:xfrm>
            <a:off x="658368" y="3291840"/>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4</a:t>
            </a:r>
            <a:endParaRPr lang="en-US" sz="1600" dirty="0"/>
          </a:p>
        </p:txBody>
      </p:sp>
      <p:sp>
        <p:nvSpPr>
          <p:cNvPr id="14" name="Text 10"/>
          <p:cNvSpPr txBox="1"/>
          <p:nvPr/>
        </p:nvSpPr>
        <p:spPr>
          <a:xfrm>
            <a:off x="1188720" y="3291840"/>
            <a:ext cx="4114800" cy="512064"/>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oxygen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5" name="Text 11"/>
          <p:cNvSpPr txBox="1"/>
          <p:nvPr/>
        </p:nvSpPr>
        <p:spPr>
          <a:xfrm>
            <a:off x="658368" y="3803904"/>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5</a:t>
            </a:r>
            <a:endParaRPr lang="en-US" sz="1600" dirty="0"/>
          </a:p>
        </p:txBody>
      </p:sp>
      <p:sp>
        <p:nvSpPr>
          <p:cNvPr id="16" name="Text 12"/>
          <p:cNvSpPr txBox="1"/>
          <p:nvPr/>
        </p:nvSpPr>
        <p:spPr>
          <a:xfrm>
            <a:off x="1188720" y="3803904"/>
            <a:ext cx="4114800" cy="512064"/>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"Refill"</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40680" y="1554480"/>
          <a:ext cx="5943600" cy="914400"/>
        </p:xfrm>
        <a:graphic>
          <a:graphicData uri="http://schemas.openxmlformats.org/drawingml/2006/table">
            <a:tbl>
              <a:tblPr/>
              <a:tblGrid>
                <a:gridCol w="960120"/>
                <a:gridCol w="1188720"/>
                <a:gridCol w="1691640"/>
                <a:gridCol w="2103120"/>
              </a:tblGrid>
              <a:tr h="502920">
                <a:tc>
                  <a:txBody>
                    <a:bodyPr/>
                    <a:lstStyle/>
                    <a:p>
                      <a:pPr algn="ctr" indent="0" marL="0">
                        <a:buNone/>
                      </a:pPr>
                      <a:r>
                        <a:rPr lang="en-US" sz="1800" b="1" dirty="0">
                          <a:solidFill>
                            <a:srgbClr val="D8A73D"/>
                          </a:solidFill>
                          <a:latin typeface="Calibri" pitchFamily="34" charset="0"/>
                          <a:ea typeface="Calibri" pitchFamily="34" charset="-122"/>
                          <a:cs typeface="Calibri" pitchFamily="34" charset="-120"/>
                        </a:rPr>
                        <a:t>Check</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1800" b="1" dirty="0">
                          <a:solidFill>
                            <a:srgbClr val="56B4E9"/>
                          </a:solidFill>
                          <a:latin typeface="Consolas" pitchFamily="34" charset="0"/>
                          <a:ea typeface="Consolas" pitchFamily="34" charset="-122"/>
                          <a:cs typeface="Consolas" pitchFamily="34" charset="-120"/>
                        </a:rPr>
                        <a:t>oxygen</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1800" b="1" dirty="0">
                          <a:solidFill>
                            <a:srgbClr val="D8A73D"/>
                          </a:solidFill>
                          <a:latin typeface="Consolas" pitchFamily="34" charset="0"/>
                          <a:ea typeface="Consolas" pitchFamily="34" charset="-122"/>
                          <a:cs typeface="Consolas" pitchFamily="34" charset="-120"/>
                        </a:rPr>
                        <a:t>oxygen &gt; 7</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1800" b="1" dirty="0">
                          <a:solidFill>
                            <a:srgbClr val="D8A73D"/>
                          </a:solidFill>
                          <a:latin typeface="Calibri" pitchFamily="34" charset="0"/>
                          <a:ea typeface="Calibri" pitchFamily="34" charset="-122"/>
                          <a:cs typeface="Calibri" pitchFamily="34" charset="-120"/>
                        </a:rPr>
                        <a:t>Printed</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440680" y="2057400"/>
          <a:ext cx="5943600" cy="914400"/>
        </p:xfrm>
        <a:graphic>
          <a:graphicData uri="http://schemas.openxmlformats.org/drawingml/2006/table">
            <a:tbl>
              <a:tblPr/>
              <a:tblGrid>
                <a:gridCol w="960120"/>
                <a:gridCol w="1188720"/>
                <a:gridCol w="1691640"/>
                <a:gridCol w="210312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56B4E9"/>
                          </a:solidFill>
                          <a:latin typeface="Consolas" pitchFamily="34" charset="0"/>
                          <a:ea typeface="Consolas" pitchFamily="34" charset="-122"/>
                          <a:cs typeface="Consolas" pitchFamily="34" charset="-120"/>
                        </a:rPr>
                        <a:t>10</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7FD99A"/>
                          </a:solidFill>
                          <a:latin typeface="Consolas" pitchFamily="34" charset="0"/>
                          <a:ea typeface="Consolas" pitchFamily="34" charset="-122"/>
                          <a:cs typeface="Consolas" pitchFamily="34" charset="-120"/>
                        </a:rPr>
                        <a:t>True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9</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graphicFrame>
        <p:nvGraphicFramePr>
          <p:cNvPr id="37" name="Table 2"/>
          <p:cNvGraphicFramePr>
            <a:graphicFrameLocks noGrp="1"/>
          </p:cNvGraphicFramePr>
          <p:nvPr>
            <p:extLst>
              <p:ext uri="{D42A27DB-BD31-4B8C-83A1-F6EECF244321}">
                <p14:modId xmlns:p14="http://schemas.microsoft.com/office/powerpoint/2010/main" val="1579011935"/>
              </p:ext>
            </p:extLst>
          </p:nvPr>
        </p:nvGraphicFramePr>
        <p:xfrm>
          <a:off x="5440680" y="2560320"/>
          <a:ext cx="5943600" cy="914400"/>
        </p:xfrm>
        <a:graphic>
          <a:graphicData uri="http://schemas.openxmlformats.org/drawingml/2006/table">
            <a:tbl>
              <a:tblPr/>
              <a:tblGrid>
                <a:gridCol w="960120"/>
                <a:gridCol w="1188720"/>
                <a:gridCol w="1691640"/>
                <a:gridCol w="210312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56B4E9"/>
                          </a:solidFill>
                          <a:latin typeface="Consolas" pitchFamily="34" charset="0"/>
                          <a:ea typeface="Consolas" pitchFamily="34" charset="-122"/>
                          <a:cs typeface="Consolas" pitchFamily="34" charset="-120"/>
                        </a:rPr>
                        <a:t>9</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7FD99A"/>
                          </a:solidFill>
                          <a:latin typeface="Consolas" pitchFamily="34" charset="0"/>
                          <a:ea typeface="Consolas" pitchFamily="34" charset="-122"/>
                          <a:cs typeface="Consolas" pitchFamily="34" charset="-120"/>
                        </a:rPr>
                        <a:t>True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8</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graphicFrame>
        <p:nvGraphicFramePr>
          <p:cNvPr id="49" name="Table 3"/>
          <p:cNvGraphicFramePr>
            <a:graphicFrameLocks noGrp="1"/>
          </p:cNvGraphicFramePr>
          <p:nvPr>
            <p:extLst>
              <p:ext uri="{D42A27DB-BD31-4B8C-83A1-F6EECF244321}">
                <p14:modId xmlns:p14="http://schemas.microsoft.com/office/powerpoint/2010/main" val="1579011935"/>
              </p:ext>
            </p:extLst>
          </p:nvPr>
        </p:nvGraphicFramePr>
        <p:xfrm>
          <a:off x="5440680" y="3063240"/>
          <a:ext cx="5943600" cy="914400"/>
        </p:xfrm>
        <a:graphic>
          <a:graphicData uri="http://schemas.openxmlformats.org/drawingml/2006/table">
            <a:tbl>
              <a:tblPr/>
              <a:tblGrid>
                <a:gridCol w="960120"/>
                <a:gridCol w="1188720"/>
                <a:gridCol w="1691640"/>
                <a:gridCol w="210312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56B4E9"/>
                          </a:solidFill>
                          <a:latin typeface="Consolas" pitchFamily="34" charset="0"/>
                          <a:ea typeface="Consolas" pitchFamily="34" charset="-122"/>
                          <a:cs typeface="Consolas" pitchFamily="34" charset="-120"/>
                        </a:rPr>
                        <a:t>8</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7FD99A"/>
                          </a:solidFill>
                          <a:latin typeface="Consolas" pitchFamily="34" charset="0"/>
                          <a:ea typeface="Consolas" pitchFamily="34" charset="-122"/>
                          <a:cs typeface="Consolas" pitchFamily="34" charset="-120"/>
                        </a:rPr>
                        <a:t>True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7</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graphicFrame>
        <p:nvGraphicFramePr>
          <p:cNvPr id="61" name="Table 4"/>
          <p:cNvGraphicFramePr>
            <a:graphicFrameLocks noGrp="1"/>
          </p:cNvGraphicFramePr>
          <p:nvPr>
            <p:extLst>
              <p:ext uri="{D42A27DB-BD31-4B8C-83A1-F6EECF244321}">
                <p14:modId xmlns:p14="http://schemas.microsoft.com/office/powerpoint/2010/main" val="1579011935"/>
              </p:ext>
            </p:extLst>
          </p:nvPr>
        </p:nvGraphicFramePr>
        <p:xfrm>
          <a:off x="5440680" y="3566160"/>
          <a:ext cx="5943600" cy="914400"/>
        </p:xfrm>
        <a:graphic>
          <a:graphicData uri="http://schemas.openxmlformats.org/drawingml/2006/table">
            <a:tbl>
              <a:tblPr/>
              <a:tblGrid>
                <a:gridCol w="960120"/>
                <a:gridCol w="1188720"/>
                <a:gridCol w="1691640"/>
                <a:gridCol w="210312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56B4E9"/>
                          </a:solidFill>
                          <a:latin typeface="Consolas" pitchFamily="34" charset="0"/>
                          <a:ea typeface="Consolas" pitchFamily="34" charset="-122"/>
                          <a:cs typeface="Consolas" pitchFamily="34" charset="-120"/>
                        </a:rPr>
                        <a:t>7</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A9A9B4"/>
                          </a:solidFill>
                          <a:latin typeface="Consolas" pitchFamily="34" charset="0"/>
                          <a:ea typeface="Consolas" pitchFamily="34" charset="-122"/>
                          <a:cs typeface="Consolas" pitchFamily="34" charset="-120"/>
                        </a:rPr>
                        <a:t>False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Refill</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sp>
        <p:nvSpPr>
          <p:cNvPr id="22" name="Shape 13"/>
          <p:cNvSpPr/>
          <p:nvPr/>
        </p:nvSpPr>
        <p:spPr>
          <a:xfrm>
            <a:off x="548640" y="5596128"/>
            <a:ext cx="11091672" cy="566928"/>
          </a:xfrm>
          <a:prstGeom prst="roundRect">
            <a:avLst>
              <a:gd name="adj" fmla="val 12903"/>
            </a:avLst>
          </a:prstGeom>
          <a:solidFill>
            <a:srgbClr val="2A2A32"/>
          </a:solidFill>
          <a:ln/>
        </p:spPr>
      </p:sp>
      <p:sp>
        <p:nvSpPr>
          <p:cNvPr id="23" name="Shape 14"/>
          <p:cNvSpPr/>
          <p:nvPr/>
        </p:nvSpPr>
        <p:spPr>
          <a:xfrm>
            <a:off x="731520" y="5715000"/>
            <a:ext cx="329184" cy="329184"/>
          </a:xfrm>
          <a:prstGeom prst="ellipse">
            <a:avLst/>
          </a:prstGeom>
          <a:solidFill>
            <a:srgbClr val="D8A73D"/>
          </a:solidFill>
          <a:ln/>
        </p:spPr>
      </p:sp>
      <p:sp>
        <p:nvSpPr>
          <p:cNvPr id="24" name="Text 15"/>
          <p:cNvSpPr txBox="1"/>
          <p:nvPr/>
        </p:nvSpPr>
        <p:spPr>
          <a:xfrm>
            <a:off x="731520"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63" name="Text 16"/>
          <p:cNvSpPr txBox="1"/>
          <p:nvPr/>
        </p:nvSpPr>
        <p:spPr>
          <a:xfrm>
            <a:off x="1170432"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Check the condition</a:t>
            </a:r>
            <a:endParaRPr lang="en-US" sz="1800" dirty="0"/>
          </a:p>
        </p:txBody>
      </p:sp>
      <p:sp>
        <p:nvSpPr>
          <p:cNvPr id="26" name="Shape 17"/>
          <p:cNvSpPr/>
          <p:nvPr/>
        </p:nvSpPr>
        <p:spPr>
          <a:xfrm>
            <a:off x="3504438" y="5715000"/>
            <a:ext cx="329184" cy="329184"/>
          </a:xfrm>
          <a:prstGeom prst="ellipse">
            <a:avLst/>
          </a:prstGeom>
          <a:solidFill>
            <a:srgbClr val="D8A73D"/>
          </a:solidFill>
          <a:ln/>
        </p:spPr>
      </p:sp>
      <p:sp>
        <p:nvSpPr>
          <p:cNvPr id="27" name="Text 18"/>
          <p:cNvSpPr txBox="1"/>
          <p:nvPr/>
        </p:nvSpPr>
        <p:spPr>
          <a:xfrm>
            <a:off x="3504438"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28" name="Text 19"/>
          <p:cNvSpPr txBox="1"/>
          <p:nvPr/>
        </p:nvSpPr>
        <p:spPr>
          <a:xfrm>
            <a:off x="3943350"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True: run the body</a:t>
            </a:r>
            <a:endParaRPr lang="en-US" sz="1800" dirty="0"/>
          </a:p>
        </p:txBody>
      </p:sp>
      <p:sp>
        <p:nvSpPr>
          <p:cNvPr id="29" name="Shape 20"/>
          <p:cNvSpPr/>
          <p:nvPr/>
        </p:nvSpPr>
        <p:spPr>
          <a:xfrm>
            <a:off x="6277356" y="5715000"/>
            <a:ext cx="329184" cy="329184"/>
          </a:xfrm>
          <a:prstGeom prst="ellipse">
            <a:avLst/>
          </a:prstGeom>
          <a:solidFill>
            <a:srgbClr val="D8A73D"/>
          </a:solidFill>
          <a:ln/>
        </p:spPr>
      </p:sp>
      <p:sp>
        <p:nvSpPr>
          <p:cNvPr id="30" name="Text 21"/>
          <p:cNvSpPr txBox="1"/>
          <p:nvPr/>
        </p:nvSpPr>
        <p:spPr>
          <a:xfrm>
            <a:off x="6277356"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1" name="Text 22"/>
          <p:cNvSpPr txBox="1"/>
          <p:nvPr/>
        </p:nvSpPr>
        <p:spPr>
          <a:xfrm>
            <a:off x="6716268"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Back to the top</a:t>
            </a:r>
            <a:endParaRPr lang="en-US" sz="1800" dirty="0"/>
          </a:p>
        </p:txBody>
      </p:sp>
      <p:sp>
        <p:nvSpPr>
          <p:cNvPr id="32" name="Shape 23"/>
          <p:cNvSpPr/>
          <p:nvPr/>
        </p:nvSpPr>
        <p:spPr>
          <a:xfrm>
            <a:off x="9050274" y="5715000"/>
            <a:ext cx="329184" cy="329184"/>
          </a:xfrm>
          <a:prstGeom prst="ellipse">
            <a:avLst/>
          </a:prstGeom>
          <a:solidFill>
            <a:srgbClr val="D8A73D"/>
          </a:solidFill>
          <a:ln/>
        </p:spPr>
      </p:sp>
      <p:sp>
        <p:nvSpPr>
          <p:cNvPr id="33" name="Text 24"/>
          <p:cNvSpPr txBox="1"/>
          <p:nvPr/>
        </p:nvSpPr>
        <p:spPr>
          <a:xfrm>
            <a:off x="9050274"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34" name="Text 25"/>
          <p:cNvSpPr txBox="1"/>
          <p:nvPr/>
        </p:nvSpPr>
        <p:spPr>
          <a:xfrm>
            <a:off x="9489186"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False: carry on</a:t>
            </a:r>
            <a:endParaRPr lang="en-US" sz="1800" dirty="0"/>
          </a:p>
        </p:txBody>
      </p:sp>
      <p:sp>
        <p:nvSpPr>
          <p:cNvPr id="35" name="Shape 26"/>
          <p:cNvSpPr/>
          <p:nvPr/>
        </p:nvSpPr>
        <p:spPr>
          <a:xfrm>
            <a:off x="9464040" y="566928"/>
            <a:ext cx="1280160" cy="329184"/>
          </a:xfrm>
          <a:prstGeom prst="roundRect">
            <a:avLst>
              <a:gd name="adj" fmla="val 50000"/>
            </a:avLst>
          </a:prstGeom>
          <a:solidFill>
            <a:srgbClr val="D8A73D"/>
          </a:solidFill>
          <a:ln/>
        </p:spPr>
      </p:sp>
      <p:sp>
        <p:nvSpPr>
          <p:cNvPr id="36" name="Text 27"/>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WE DO</a:t>
            </a:r>
            <a:endParaRPr lang="en-US" sz="1400" dirty="0"/>
          </a:p>
        </p:txBody>
      </p:sp>
      <p:pic>
        <p:nvPicPr>
          <p:cNvPr id="64" name="Image 2" descr="Deliberate practice">    </p:cNvPr>
          <p:cNvPicPr>
            <a:picLocks noChangeAspect="1"/>
          </p:cNvPicPr>
          <p:nvPr/>
        </p:nvPicPr>
        <p:blipFill>
          <a:blip r:embed="rId3"/>
          <a:stretch>
            <a:fillRect/>
          </a:stretch>
        </p:blipFill>
        <p:spPr>
          <a:xfrm>
            <a:off x="10972800" y="384048"/>
            <a:ext cx="731520" cy="731520"/>
          </a:xfrm>
          <a:prstGeom prst="rect">
            <a:avLst/>
          </a:prstGeom>
        </p:spPr>
      </p:pic>
      <p:sp>
        <p:nvSpPr>
          <p:cNvPr id="6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is printed?</a:t>
            </a:r>
            <a:endParaRPr lang="en-US" sz="3600" dirty="0"/>
          </a:p>
        </p:txBody>
      </p:sp>
      <p:sp>
        <p:nvSpPr>
          <p:cNvPr id="6" name="Shape 2"/>
          <p:cNvSpPr/>
          <p:nvPr/>
        </p:nvSpPr>
        <p:spPr>
          <a:xfrm>
            <a:off x="548640" y="1508760"/>
            <a:ext cx="384048" cy="384048"/>
          </a:xfrm>
          <a:prstGeom prst="ellipse">
            <a:avLst/>
          </a:prstGeom>
          <a:solidFill>
            <a:srgbClr val="D8A73D"/>
          </a:solidFill>
          <a:ln/>
        </p:spPr>
      </p:sp>
      <p:sp>
        <p:nvSpPr>
          <p:cNvPr id="7" name="Text 3"/>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8" name="code"/>
          <p:cNvSpPr/>
          <p:nvPr/>
        </p:nvSpPr>
        <p:spPr>
          <a:xfrm>
            <a:off x="548640" y="2011680"/>
            <a:ext cx="3511296" cy="2688336"/>
          </a:xfrm>
          <a:prstGeom prst="roundRect">
            <a:avLst>
              <a:gd name="adj" fmla="val 2721"/>
            </a:avLst>
          </a:prstGeom>
          <a:solidFill>
            <a:srgbClr val="111115"/>
          </a:solidFill>
          <a:ln w="15875">
            <a:solidFill>
              <a:srgbClr val="3A3A44"/>
            </a:solidFill>
            <a:prstDash val="solid"/>
          </a:ln>
        </p:spPr>
      </p:sp>
      <p:sp>
        <p:nvSpPr>
          <p:cNvPr id="9" name="Text 5"/>
          <p:cNvSpPr txBox="1"/>
          <p:nvPr/>
        </p:nvSpPr>
        <p:spPr>
          <a:xfrm>
            <a:off x="731520" y="22128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1</a:t>
            </a:r>
            <a:endParaRPr lang="en-US" sz="2000" dirty="0"/>
          </a:p>
        </p:txBody>
      </p:sp>
      <p:sp>
        <p:nvSpPr>
          <p:cNvPr id="10" name="Text 6"/>
          <p:cNvSpPr txBox="1"/>
          <p:nvPr/>
        </p:nvSpPr>
        <p:spPr>
          <a:xfrm>
            <a:off x="731520" y="26700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while</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&lt;=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3</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1" name="Text 7"/>
          <p:cNvSpPr txBox="1"/>
          <p:nvPr/>
        </p:nvSpPr>
        <p:spPr>
          <a:xfrm>
            <a:off x="731520" y="31272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2" name="Text 8"/>
          <p:cNvSpPr txBox="1"/>
          <p:nvPr/>
        </p:nvSpPr>
        <p:spPr>
          <a:xfrm>
            <a:off x="731520" y="35844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1</a:t>
            </a:r>
            <a:endParaRPr lang="en-US" sz="2000" dirty="0"/>
          </a:p>
        </p:txBody>
      </p:sp>
      <p:sp>
        <p:nvSpPr>
          <p:cNvPr id="13" name="Shape 9"/>
          <p:cNvSpPr/>
          <p:nvPr/>
        </p:nvSpPr>
        <p:spPr>
          <a:xfrm>
            <a:off x="4334256" y="1508760"/>
            <a:ext cx="384048" cy="384048"/>
          </a:xfrm>
          <a:prstGeom prst="ellipse">
            <a:avLst/>
          </a:prstGeom>
          <a:solidFill>
            <a:srgbClr val="D8A73D"/>
          </a:solidFill>
          <a:ln/>
        </p:spPr>
      </p:sp>
      <p:sp>
        <p:nvSpPr>
          <p:cNvPr id="14" name="Text 10"/>
          <p:cNvSpPr txBox="1"/>
          <p:nvPr/>
        </p:nvSpPr>
        <p:spPr>
          <a:xfrm>
            <a:off x="4334256"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15" name="code"/>
          <p:cNvSpPr/>
          <p:nvPr/>
        </p:nvSpPr>
        <p:spPr>
          <a:xfrm>
            <a:off x="4334256" y="2011680"/>
            <a:ext cx="3511296" cy="2688336"/>
          </a:xfrm>
          <a:prstGeom prst="roundRect">
            <a:avLst>
              <a:gd name="adj" fmla="val 2721"/>
            </a:avLst>
          </a:prstGeom>
          <a:solidFill>
            <a:srgbClr val="111115"/>
          </a:solidFill>
          <a:ln w="15875">
            <a:solidFill>
              <a:srgbClr val="3A3A44"/>
            </a:solidFill>
            <a:prstDash val="solid"/>
          </a:ln>
        </p:spPr>
      </p:sp>
      <p:sp>
        <p:nvSpPr>
          <p:cNvPr id="16" name="Text 12"/>
          <p:cNvSpPr txBox="1"/>
          <p:nvPr/>
        </p:nvSpPr>
        <p:spPr>
          <a:xfrm>
            <a:off x="4517136" y="22128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5</a:t>
            </a:r>
            <a:endParaRPr lang="en-US" sz="2000" dirty="0"/>
          </a:p>
        </p:txBody>
      </p:sp>
      <p:sp>
        <p:nvSpPr>
          <p:cNvPr id="17" name="Text 13"/>
          <p:cNvSpPr txBox="1"/>
          <p:nvPr/>
        </p:nvSpPr>
        <p:spPr>
          <a:xfrm>
            <a:off x="4517136" y="26700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while</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&lt;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5</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8" name="Text 14"/>
          <p:cNvSpPr txBox="1"/>
          <p:nvPr/>
        </p:nvSpPr>
        <p:spPr>
          <a:xfrm>
            <a:off x="4517136" y="31272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9" name="Text 15"/>
          <p:cNvSpPr txBox="1"/>
          <p:nvPr/>
        </p:nvSpPr>
        <p:spPr>
          <a:xfrm>
            <a:off x="4517136" y="35844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1</a:t>
            </a:r>
            <a:endParaRPr lang="en-US" sz="2000" dirty="0"/>
          </a:p>
        </p:txBody>
      </p:sp>
      <p:sp>
        <p:nvSpPr>
          <p:cNvPr id="20" name="Text 16"/>
          <p:cNvSpPr txBox="1"/>
          <p:nvPr/>
        </p:nvSpPr>
        <p:spPr>
          <a:xfrm>
            <a:off x="4517136" y="4041648"/>
            <a:ext cx="3236976" cy="457200"/>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"End"</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1" name="Shape 17"/>
          <p:cNvSpPr/>
          <p:nvPr/>
        </p:nvSpPr>
        <p:spPr>
          <a:xfrm>
            <a:off x="8119872" y="1508760"/>
            <a:ext cx="384048" cy="384048"/>
          </a:xfrm>
          <a:prstGeom prst="ellipse">
            <a:avLst/>
          </a:prstGeom>
          <a:solidFill>
            <a:srgbClr val="D8A73D"/>
          </a:solidFill>
          <a:ln/>
        </p:spPr>
      </p:sp>
      <p:sp>
        <p:nvSpPr>
          <p:cNvPr id="22" name="Text 18"/>
          <p:cNvSpPr txBox="1"/>
          <p:nvPr/>
        </p:nvSpPr>
        <p:spPr>
          <a:xfrm>
            <a:off x="8119872"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23" name="code"/>
          <p:cNvSpPr/>
          <p:nvPr/>
        </p:nvSpPr>
        <p:spPr>
          <a:xfrm>
            <a:off x="8119872" y="2011680"/>
            <a:ext cx="3511296" cy="2688336"/>
          </a:xfrm>
          <a:prstGeom prst="roundRect">
            <a:avLst>
              <a:gd name="adj" fmla="val 2721"/>
            </a:avLst>
          </a:prstGeom>
          <a:solidFill>
            <a:srgbClr val="111115"/>
          </a:solidFill>
          <a:ln w="15875">
            <a:solidFill>
              <a:srgbClr val="3A3A44"/>
            </a:solidFill>
            <a:prstDash val="solid"/>
          </a:ln>
        </p:spPr>
      </p:sp>
      <p:sp>
        <p:nvSpPr>
          <p:cNvPr id="24" name="Text 20"/>
          <p:cNvSpPr txBox="1"/>
          <p:nvPr/>
        </p:nvSpPr>
        <p:spPr>
          <a:xfrm>
            <a:off x="8302752" y="22128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0</a:t>
            </a:r>
            <a:endParaRPr lang="en-US" sz="2000" dirty="0"/>
          </a:p>
        </p:txBody>
      </p:sp>
      <p:sp>
        <p:nvSpPr>
          <p:cNvPr id="25" name="Text 21"/>
          <p:cNvSpPr txBox="1"/>
          <p:nvPr/>
        </p:nvSpPr>
        <p:spPr>
          <a:xfrm>
            <a:off x="8302752" y="26700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while</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&lt;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6</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6" name="Text 22"/>
          <p:cNvSpPr txBox="1"/>
          <p:nvPr/>
        </p:nvSpPr>
        <p:spPr>
          <a:xfrm>
            <a:off x="8302752" y="31272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2</a:t>
            </a:r>
            <a:endParaRPr lang="en-US" sz="2000" dirty="0"/>
          </a:p>
        </p:txBody>
      </p:sp>
      <p:sp>
        <p:nvSpPr>
          <p:cNvPr id="27" name="Text 23"/>
          <p:cNvSpPr txBox="1"/>
          <p:nvPr/>
        </p:nvSpPr>
        <p:spPr>
          <a:xfrm>
            <a:off x="8302752" y="3584448"/>
            <a:ext cx="3236976" cy="457200"/>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8" name="Shape 24"/>
          <p:cNvSpPr/>
          <p:nvPr/>
        </p:nvSpPr>
        <p:spPr>
          <a:xfrm>
            <a:off x="548640" y="5020056"/>
            <a:ext cx="11091672" cy="914400"/>
          </a:xfrm>
          <a:prstGeom prst="roundRect">
            <a:avLst>
              <a:gd name="adj" fmla="val 8000"/>
            </a:avLst>
          </a:prstGeom>
          <a:solidFill>
            <a:srgbClr val="1E1E24"/>
          </a:solidFill>
          <a:ln w="25400">
            <a:solidFill>
              <a:srgbClr val="D8A73D"/>
            </a:solidFill>
            <a:prstDash val="solid"/>
          </a:ln>
        </p:spPr>
      </p:sp>
      <p:sp>
        <p:nvSpPr>
          <p:cNvPr id="29" name="Text 25"/>
          <p:cNvSpPr txBox="1"/>
          <p:nvPr/>
        </p:nvSpPr>
        <p:spPr>
          <a:xfrm>
            <a:off x="914400" y="5020056"/>
            <a:ext cx="10332720" cy="914400"/>
          </a:xfrm>
          <a:prstGeom prst="rect">
            <a:avLst/>
          </a:prstGeom>
          <a:noFill/>
          <a:ln/>
        </p:spPr>
        <p:txBody>
          <a:bodyPr wrap="square" lIns="0" tIns="0" rIns="0" bIns="0" rtlCol="0" anchor="ctr"/>
          <a:lstStyle/>
          <a:p>
            <a:pPr indent="0" marL="0">
              <a:buNone/>
            </a:pPr>
            <a:r>
              <a:rPr lang="en-US" sz="2400" b="1" dirty="0">
                <a:solidFill>
                  <a:srgbClr val="D8A73D"/>
                </a:solidFill>
                <a:latin typeface="Calibri" pitchFamily="34" charset="0"/>
                <a:ea typeface="Calibri" pitchFamily="34" charset="-122"/>
                <a:cs typeface="Calibri" pitchFamily="34" charset="-120"/>
              </a:rPr>
              <a:t>On your board: </a:t>
            </a:r>
            <a:pPr indent="0" marL="0">
              <a:buNone/>
            </a:pPr>
            <a:r>
              <a:rPr lang="en-US" sz="2400" dirty="0">
                <a:solidFill>
                  <a:srgbClr val="F5F5F3"/>
                </a:solidFill>
                <a:latin typeface="Calibri" pitchFamily="34" charset="0"/>
                <a:ea typeface="Calibri" pitchFamily="34" charset="-122"/>
                <a:cs typeface="Calibri" pitchFamily="34" charset="-120"/>
              </a:rPr>
              <a:t>write exactly what each program prints.</a:t>
            </a:r>
            <a:endParaRPr lang="en-US" sz="2400" dirty="0"/>
          </a:p>
        </p:txBody>
      </p:sp>
      <p:sp>
        <p:nvSpPr>
          <p:cNvPr id="30" name="Shape 26"/>
          <p:cNvSpPr/>
          <p:nvPr/>
        </p:nvSpPr>
        <p:spPr>
          <a:xfrm>
            <a:off x="9464040" y="566928"/>
            <a:ext cx="1280160" cy="329184"/>
          </a:xfrm>
          <a:prstGeom prst="roundRect">
            <a:avLst>
              <a:gd name="adj" fmla="val 50000"/>
            </a:avLst>
          </a:prstGeom>
          <a:solidFill>
            <a:srgbClr val="1E1E24"/>
          </a:solidFill>
          <a:ln w="15875">
            <a:solidFill>
              <a:srgbClr val="D8A73D"/>
            </a:solidFill>
            <a:prstDash val="solid"/>
          </a:ln>
        </p:spPr>
      </p:sp>
      <p:sp>
        <p:nvSpPr>
          <p:cNvPr id="31" name="Text 27"/>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4 MIN</a:t>
            </a:r>
            <a:endParaRPr lang="en-US" sz="1400" dirty="0"/>
          </a:p>
        </p:txBody>
      </p:sp>
      <p:sp>
        <p:nvSpPr>
          <p:cNvPr id="32" name="Shape 28"/>
          <p:cNvSpPr/>
          <p:nvPr/>
        </p:nvSpPr>
        <p:spPr>
          <a:xfrm>
            <a:off x="8046720" y="566928"/>
            <a:ext cx="1280160" cy="329184"/>
          </a:xfrm>
          <a:prstGeom prst="roundRect">
            <a:avLst>
              <a:gd name="adj" fmla="val 50000"/>
            </a:avLst>
          </a:prstGeom>
          <a:solidFill>
            <a:srgbClr val="D8A73D"/>
          </a:solidFill>
          <a:ln/>
        </p:spPr>
      </p:sp>
      <p:sp>
        <p:nvSpPr>
          <p:cNvPr id="33" name="Text 29"/>
          <p:cNvSpPr txBox="1"/>
          <p:nvPr/>
        </p:nvSpPr>
        <p:spPr>
          <a:xfrm>
            <a:off x="804672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YOU DO</a:t>
            </a:r>
            <a:endParaRPr lang="en-US" sz="1400" dirty="0"/>
          </a:p>
        </p:txBody>
      </p:sp>
      <p:pic>
        <p:nvPicPr>
          <p:cNvPr id="34" name="Image 2" descr="Deliberate practice">    </p:cNvPr>
          <p:cNvPicPr>
            <a:picLocks noChangeAspect="1"/>
          </p:cNvPicPr>
          <p:nvPr/>
        </p:nvPicPr>
        <p:blipFill>
          <a:blip r:embed="rId3"/>
          <a:stretch>
            <a:fillRect/>
          </a:stretch>
        </p:blipFill>
        <p:spPr>
          <a:xfrm>
            <a:off x="10972800" y="384048"/>
            <a:ext cx="731520" cy="731520"/>
          </a:xfrm>
          <a:prstGeom prst="rect">
            <a:avLst/>
          </a:prstGeom>
        </p:spPr>
      </p:pic>
      <p:sp>
        <p:nvSpPr>
          <p:cNvPr id="3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What is printed? — answers</a:t>
            </a:r>
            <a:endParaRPr lang="en-US" sz="3600" dirty="0"/>
          </a:p>
        </p:txBody>
      </p:sp>
      <p:sp>
        <p:nvSpPr>
          <p:cNvPr id="6" name="Shape 2"/>
          <p:cNvSpPr/>
          <p:nvPr/>
        </p:nvSpPr>
        <p:spPr>
          <a:xfrm>
            <a:off x="548640" y="1508760"/>
            <a:ext cx="384048" cy="384048"/>
          </a:xfrm>
          <a:prstGeom prst="ellipse">
            <a:avLst/>
          </a:prstGeom>
          <a:solidFill>
            <a:srgbClr val="D8A73D"/>
          </a:solidFill>
          <a:ln/>
        </p:spPr>
      </p:sp>
      <p:sp>
        <p:nvSpPr>
          <p:cNvPr id="7" name="Text 3"/>
          <p:cNvSpPr txBox="1"/>
          <p:nvPr/>
        </p:nvSpPr>
        <p:spPr>
          <a:xfrm>
            <a:off x="548640"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8" name="Text 4"/>
          <p:cNvSpPr txBox="1"/>
          <p:nvPr/>
        </p:nvSpPr>
        <p:spPr>
          <a:xfrm>
            <a:off x="1051560" y="1463040"/>
            <a:ext cx="3008376" cy="475488"/>
          </a:xfrm>
          <a:prstGeom prst="rect">
            <a:avLst/>
          </a:prstGeom>
          <a:noFill/>
          <a:ln/>
        </p:spPr>
        <p:txBody>
          <a:bodyPr wrap="square" lIns="0" tIns="0" rIns="0" bIns="0" rtlCol="0" anchor="ctr"/>
          <a:lstStyle/>
          <a:p>
            <a:pPr indent="0" marL="0">
              <a:buNone/>
            </a:pPr>
            <a:r>
              <a:rPr lang="en-US" sz="1800" b="1" dirty="0">
                <a:solidFill>
                  <a:srgbClr val="F5F5F3"/>
                </a:solidFill>
                <a:latin typeface="Consolas" pitchFamily="34" charset="0"/>
                <a:ea typeface="Consolas" pitchFamily="34" charset="-122"/>
                <a:cs typeface="Consolas" pitchFamily="34" charset="-120"/>
              </a:rPr>
              <a:t>4 &lt;= 3</a:t>
            </a:r>
            <a:pPr indent="0" marL="0">
              <a:buNone/>
            </a:pPr>
            <a:r>
              <a:rPr lang="en-US" sz="1800" dirty="0">
                <a:solidFill>
                  <a:srgbClr val="F5F5F3"/>
                </a:solidFill>
                <a:latin typeface="Calibri" pitchFamily="34" charset="0"/>
                <a:ea typeface="Calibri" pitchFamily="34" charset="-122"/>
                <a:cs typeface="Calibri" pitchFamily="34" charset="-120"/>
              </a:rPr>
              <a:t> is False</a:t>
            </a:r>
            <a:endParaRPr lang="en-US" sz="1800" dirty="0"/>
          </a:p>
        </p:txBody>
      </p:sp>
      <p:sp>
        <p:nvSpPr>
          <p:cNvPr id="9" name="code"/>
          <p:cNvSpPr/>
          <p:nvPr/>
        </p:nvSpPr>
        <p:spPr>
          <a:xfrm>
            <a:off x="548640" y="2011680"/>
            <a:ext cx="3511296" cy="2688336"/>
          </a:xfrm>
          <a:prstGeom prst="roundRect">
            <a:avLst>
              <a:gd name="adj" fmla="val 2721"/>
            </a:avLst>
          </a:prstGeom>
          <a:solidFill>
            <a:srgbClr val="111115"/>
          </a:solidFill>
          <a:ln w="15875">
            <a:solidFill>
              <a:srgbClr val="3A3A44"/>
            </a:solidFill>
            <a:prstDash val="solid"/>
          </a:ln>
        </p:spPr>
      </p:sp>
      <p:sp>
        <p:nvSpPr>
          <p:cNvPr id="10" name="Text 6"/>
          <p:cNvSpPr txBox="1"/>
          <p:nvPr/>
        </p:nvSpPr>
        <p:spPr>
          <a:xfrm>
            <a:off x="731520" y="22128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1</a:t>
            </a:r>
            <a:endParaRPr lang="en-US" sz="2000" dirty="0"/>
          </a:p>
        </p:txBody>
      </p:sp>
      <p:sp>
        <p:nvSpPr>
          <p:cNvPr id="11" name="Text 7"/>
          <p:cNvSpPr txBox="1"/>
          <p:nvPr/>
        </p:nvSpPr>
        <p:spPr>
          <a:xfrm>
            <a:off x="731520" y="26700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while</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&lt;=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3</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2" name="Text 8"/>
          <p:cNvSpPr txBox="1"/>
          <p:nvPr/>
        </p:nvSpPr>
        <p:spPr>
          <a:xfrm>
            <a:off x="731520" y="31272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3" name="Text 9"/>
          <p:cNvSpPr txBox="1"/>
          <p:nvPr/>
        </p:nvSpPr>
        <p:spPr>
          <a:xfrm>
            <a:off x="731520" y="35844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1</a:t>
            </a:r>
            <a:endParaRPr lang="en-US" sz="2000" dirty="0"/>
          </a:p>
        </p:txBody>
      </p:sp>
      <p:sp>
        <p:nvSpPr>
          <p:cNvPr id="14" name="terminal"/>
          <p:cNvSpPr/>
          <p:nvPr/>
        </p:nvSpPr>
        <p:spPr>
          <a:xfrm>
            <a:off x="548640" y="4882896"/>
            <a:ext cx="3511296" cy="1554480"/>
          </a:xfrm>
          <a:prstGeom prst="roundRect">
            <a:avLst>
              <a:gd name="adj" fmla="val 4706"/>
            </a:avLst>
          </a:prstGeom>
          <a:solidFill>
            <a:srgbClr val="0A0A0D"/>
          </a:solidFill>
          <a:ln w="15875">
            <a:solidFill>
              <a:srgbClr val="3A3A44"/>
            </a:solidFill>
            <a:prstDash val="solid"/>
          </a:ln>
        </p:spPr>
      </p:sp>
      <p:sp>
        <p:nvSpPr>
          <p:cNvPr id="15" name="Text 11"/>
          <p:cNvSpPr txBox="1"/>
          <p:nvPr/>
        </p:nvSpPr>
        <p:spPr>
          <a:xfrm>
            <a:off x="777240" y="5111496"/>
            <a:ext cx="3054096" cy="365760"/>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1</a:t>
            </a:r>
            <a:endParaRPr lang="en-US" sz="1800" dirty="0"/>
          </a:p>
        </p:txBody>
      </p:sp>
      <p:sp>
        <p:nvSpPr>
          <p:cNvPr id="16" name="Text 12"/>
          <p:cNvSpPr txBox="1"/>
          <p:nvPr/>
        </p:nvSpPr>
        <p:spPr>
          <a:xfrm>
            <a:off x="777240" y="5477256"/>
            <a:ext cx="3054096" cy="365760"/>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2</a:t>
            </a:r>
            <a:endParaRPr lang="en-US" sz="1800" dirty="0"/>
          </a:p>
        </p:txBody>
      </p:sp>
      <p:sp>
        <p:nvSpPr>
          <p:cNvPr id="17" name="Text 13"/>
          <p:cNvSpPr txBox="1"/>
          <p:nvPr/>
        </p:nvSpPr>
        <p:spPr>
          <a:xfrm>
            <a:off x="777240" y="5843016"/>
            <a:ext cx="3054096" cy="365760"/>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3</a:t>
            </a:r>
            <a:endParaRPr lang="en-US" sz="1800" dirty="0"/>
          </a:p>
        </p:txBody>
      </p:sp>
      <p:sp>
        <p:nvSpPr>
          <p:cNvPr id="18" name="Shape 14"/>
          <p:cNvSpPr/>
          <p:nvPr/>
        </p:nvSpPr>
        <p:spPr>
          <a:xfrm>
            <a:off x="4334256" y="1508760"/>
            <a:ext cx="384048" cy="384048"/>
          </a:xfrm>
          <a:prstGeom prst="ellipse">
            <a:avLst/>
          </a:prstGeom>
          <a:solidFill>
            <a:srgbClr val="D8A73D"/>
          </a:solidFill>
          <a:ln/>
        </p:spPr>
      </p:sp>
      <p:sp>
        <p:nvSpPr>
          <p:cNvPr id="19" name="Text 15"/>
          <p:cNvSpPr txBox="1"/>
          <p:nvPr/>
        </p:nvSpPr>
        <p:spPr>
          <a:xfrm>
            <a:off x="4334256"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20" name="Text 16"/>
          <p:cNvSpPr txBox="1"/>
          <p:nvPr/>
        </p:nvSpPr>
        <p:spPr>
          <a:xfrm>
            <a:off x="4837176" y="1463040"/>
            <a:ext cx="3008376" cy="475488"/>
          </a:xfrm>
          <a:prstGeom prst="rect">
            <a:avLst/>
          </a:prstGeom>
          <a:noFill/>
          <a:ln/>
        </p:spPr>
        <p:txBody>
          <a:bodyPr wrap="square" lIns="0" tIns="0" rIns="0" bIns="0" rtlCol="0" anchor="ctr"/>
          <a:lstStyle/>
          <a:p>
            <a:pPr indent="0" marL="0">
              <a:buNone/>
            </a:pPr>
            <a:r>
              <a:rPr lang="en-US" sz="1800" b="1" dirty="0">
                <a:solidFill>
                  <a:srgbClr val="F5F5F3"/>
                </a:solidFill>
                <a:latin typeface="Consolas" pitchFamily="34" charset="0"/>
                <a:ea typeface="Consolas" pitchFamily="34" charset="-122"/>
                <a:cs typeface="Consolas" pitchFamily="34" charset="-120"/>
              </a:rPr>
              <a:t>5 &lt; 5</a:t>
            </a:r>
            <a:pPr indent="0" marL="0">
              <a:buNone/>
            </a:pPr>
            <a:r>
              <a:rPr lang="en-US" sz="1800" dirty="0">
                <a:solidFill>
                  <a:srgbClr val="F5F5F3"/>
                </a:solidFill>
                <a:latin typeface="Calibri" pitchFamily="34" charset="0"/>
                <a:ea typeface="Calibri" pitchFamily="34" charset="-122"/>
                <a:cs typeface="Calibri" pitchFamily="34" charset="-120"/>
              </a:rPr>
              <a:t> at once</a:t>
            </a:r>
            <a:endParaRPr lang="en-US" sz="1800" dirty="0"/>
          </a:p>
        </p:txBody>
      </p:sp>
      <p:sp>
        <p:nvSpPr>
          <p:cNvPr id="21" name="code"/>
          <p:cNvSpPr/>
          <p:nvPr/>
        </p:nvSpPr>
        <p:spPr>
          <a:xfrm>
            <a:off x="4334256" y="2011680"/>
            <a:ext cx="3511296" cy="2688336"/>
          </a:xfrm>
          <a:prstGeom prst="roundRect">
            <a:avLst>
              <a:gd name="adj" fmla="val 2721"/>
            </a:avLst>
          </a:prstGeom>
          <a:solidFill>
            <a:srgbClr val="111115"/>
          </a:solidFill>
          <a:ln w="15875">
            <a:solidFill>
              <a:srgbClr val="3A3A44"/>
            </a:solidFill>
            <a:prstDash val="solid"/>
          </a:ln>
        </p:spPr>
      </p:sp>
      <p:sp>
        <p:nvSpPr>
          <p:cNvPr id="22" name="Text 18"/>
          <p:cNvSpPr txBox="1"/>
          <p:nvPr/>
        </p:nvSpPr>
        <p:spPr>
          <a:xfrm>
            <a:off x="4517136" y="22128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5</a:t>
            </a:r>
            <a:endParaRPr lang="en-US" sz="2000" dirty="0"/>
          </a:p>
        </p:txBody>
      </p:sp>
      <p:sp>
        <p:nvSpPr>
          <p:cNvPr id="23" name="Text 19"/>
          <p:cNvSpPr txBox="1"/>
          <p:nvPr/>
        </p:nvSpPr>
        <p:spPr>
          <a:xfrm>
            <a:off x="4517136" y="26700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while</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&lt;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5</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4" name="Text 20"/>
          <p:cNvSpPr txBox="1"/>
          <p:nvPr/>
        </p:nvSpPr>
        <p:spPr>
          <a:xfrm>
            <a:off x="4517136" y="31272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5" name="Text 21"/>
          <p:cNvSpPr txBox="1"/>
          <p:nvPr/>
        </p:nvSpPr>
        <p:spPr>
          <a:xfrm>
            <a:off x="4517136" y="35844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1</a:t>
            </a:r>
            <a:endParaRPr lang="en-US" sz="2000" dirty="0"/>
          </a:p>
        </p:txBody>
      </p:sp>
      <p:sp>
        <p:nvSpPr>
          <p:cNvPr id="26" name="Text 22"/>
          <p:cNvSpPr txBox="1"/>
          <p:nvPr/>
        </p:nvSpPr>
        <p:spPr>
          <a:xfrm>
            <a:off x="4517136" y="4041648"/>
            <a:ext cx="3236976" cy="457200"/>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"End"</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7" name="terminal"/>
          <p:cNvSpPr/>
          <p:nvPr/>
        </p:nvSpPr>
        <p:spPr>
          <a:xfrm>
            <a:off x="4334256" y="4882896"/>
            <a:ext cx="3511296" cy="822960"/>
          </a:xfrm>
          <a:prstGeom prst="roundRect">
            <a:avLst>
              <a:gd name="adj" fmla="val 8889"/>
            </a:avLst>
          </a:prstGeom>
          <a:solidFill>
            <a:srgbClr val="0A0A0D"/>
          </a:solidFill>
          <a:ln w="15875">
            <a:solidFill>
              <a:srgbClr val="3A3A44"/>
            </a:solidFill>
            <a:prstDash val="solid"/>
          </a:ln>
        </p:spPr>
      </p:sp>
      <p:sp>
        <p:nvSpPr>
          <p:cNvPr id="28" name="Text 24"/>
          <p:cNvSpPr txBox="1"/>
          <p:nvPr/>
        </p:nvSpPr>
        <p:spPr>
          <a:xfrm>
            <a:off x="4562856" y="5111496"/>
            <a:ext cx="3054096" cy="365760"/>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End</a:t>
            </a:r>
            <a:endParaRPr lang="en-US" sz="1800" dirty="0"/>
          </a:p>
        </p:txBody>
      </p:sp>
      <p:sp>
        <p:nvSpPr>
          <p:cNvPr id="29" name="Shape 25"/>
          <p:cNvSpPr/>
          <p:nvPr/>
        </p:nvSpPr>
        <p:spPr>
          <a:xfrm>
            <a:off x="8119872" y="1508760"/>
            <a:ext cx="384048" cy="384048"/>
          </a:xfrm>
          <a:prstGeom prst="ellipse">
            <a:avLst/>
          </a:prstGeom>
          <a:solidFill>
            <a:srgbClr val="D8A73D"/>
          </a:solidFill>
          <a:ln/>
        </p:spPr>
      </p:sp>
      <p:sp>
        <p:nvSpPr>
          <p:cNvPr id="30" name="Text 26"/>
          <p:cNvSpPr txBox="1"/>
          <p:nvPr/>
        </p:nvSpPr>
        <p:spPr>
          <a:xfrm>
            <a:off x="8119872" y="1508760"/>
            <a:ext cx="384048" cy="384048"/>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1" name="Text 27"/>
          <p:cNvSpPr txBox="1"/>
          <p:nvPr/>
        </p:nvSpPr>
        <p:spPr>
          <a:xfrm>
            <a:off x="8622792" y="1463040"/>
            <a:ext cx="3008376" cy="475488"/>
          </a:xfrm>
          <a:prstGeom prst="rect">
            <a:avLst/>
          </a:prstGeom>
          <a:noFill/>
          <a:ln/>
        </p:spPr>
        <p:txBody>
          <a:bodyPr wrap="square" lIns="0" tIns="0" rIns="0" bIns="0" rtlCol="0" anchor="ctr"/>
          <a:lstStyle/>
          <a:p>
            <a:pPr indent="0" marL="0">
              <a:buNone/>
            </a:pPr>
            <a:r>
              <a:rPr lang="en-US" sz="1800" b="1" dirty="0">
                <a:solidFill>
                  <a:srgbClr val="F5F5F3"/>
                </a:solidFill>
                <a:latin typeface="Consolas" pitchFamily="34" charset="0"/>
                <a:ea typeface="Consolas" pitchFamily="34" charset="-122"/>
                <a:cs typeface="Consolas" pitchFamily="34" charset="-120"/>
              </a:rPr>
              <a:t>print</a:t>
            </a:r>
            <a:pPr indent="0" marL="0">
              <a:buNone/>
            </a:pPr>
            <a:r>
              <a:rPr lang="en-US" sz="1800" dirty="0">
                <a:solidFill>
                  <a:srgbClr val="F5F5F3"/>
                </a:solidFill>
                <a:latin typeface="Calibri" pitchFamily="34" charset="0"/>
                <a:ea typeface="Calibri" pitchFamily="34" charset="-122"/>
                <a:cs typeface="Calibri" pitchFamily="34" charset="-120"/>
              </a:rPr>
              <a:t> is not in the loop</a:t>
            </a:r>
            <a:endParaRPr lang="en-US" sz="1800" dirty="0"/>
          </a:p>
        </p:txBody>
      </p:sp>
      <p:sp>
        <p:nvSpPr>
          <p:cNvPr id="32" name="code"/>
          <p:cNvSpPr/>
          <p:nvPr/>
        </p:nvSpPr>
        <p:spPr>
          <a:xfrm>
            <a:off x="8119872" y="2011680"/>
            <a:ext cx="3511296" cy="2688336"/>
          </a:xfrm>
          <a:prstGeom prst="roundRect">
            <a:avLst>
              <a:gd name="adj" fmla="val 2721"/>
            </a:avLst>
          </a:prstGeom>
          <a:solidFill>
            <a:srgbClr val="111115"/>
          </a:solidFill>
          <a:ln w="15875">
            <a:solidFill>
              <a:srgbClr val="3A3A44"/>
            </a:solidFill>
            <a:prstDash val="solid"/>
          </a:ln>
        </p:spPr>
      </p:sp>
      <p:sp>
        <p:nvSpPr>
          <p:cNvPr id="33" name="Text 29"/>
          <p:cNvSpPr txBox="1"/>
          <p:nvPr/>
        </p:nvSpPr>
        <p:spPr>
          <a:xfrm>
            <a:off x="8302752" y="22128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0</a:t>
            </a:r>
            <a:endParaRPr lang="en-US" sz="2000" dirty="0"/>
          </a:p>
        </p:txBody>
      </p:sp>
      <p:sp>
        <p:nvSpPr>
          <p:cNvPr id="34" name="Text 30"/>
          <p:cNvSpPr txBox="1"/>
          <p:nvPr/>
        </p:nvSpPr>
        <p:spPr>
          <a:xfrm>
            <a:off x="8302752" y="2670048"/>
            <a:ext cx="3236976" cy="457200"/>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while</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&lt;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6</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35" name="Text 31"/>
          <p:cNvSpPr txBox="1"/>
          <p:nvPr/>
        </p:nvSpPr>
        <p:spPr>
          <a:xfrm>
            <a:off x="8302752" y="3127248"/>
            <a:ext cx="3236976" cy="457200"/>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56B4E9"/>
                </a:solidFill>
                <a:latin typeface="Consolas" pitchFamily="34" charset="0"/>
                <a:ea typeface="Consolas" pitchFamily="34" charset="-122"/>
                <a:cs typeface="Consolas" pitchFamily="34" charset="-120"/>
              </a:rPr>
              <a:t>2</a:t>
            </a:r>
            <a:endParaRPr lang="en-US" sz="2000" dirty="0"/>
          </a:p>
        </p:txBody>
      </p:sp>
      <p:sp>
        <p:nvSpPr>
          <p:cNvPr id="36" name="Text 32"/>
          <p:cNvSpPr txBox="1"/>
          <p:nvPr/>
        </p:nvSpPr>
        <p:spPr>
          <a:xfrm>
            <a:off x="8302752" y="3584448"/>
            <a:ext cx="3236976" cy="457200"/>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37" name="terminal"/>
          <p:cNvSpPr/>
          <p:nvPr/>
        </p:nvSpPr>
        <p:spPr>
          <a:xfrm>
            <a:off x="8119872" y="4882896"/>
            <a:ext cx="3511296" cy="822960"/>
          </a:xfrm>
          <a:prstGeom prst="roundRect">
            <a:avLst>
              <a:gd name="adj" fmla="val 8889"/>
            </a:avLst>
          </a:prstGeom>
          <a:solidFill>
            <a:srgbClr val="0A0A0D"/>
          </a:solidFill>
          <a:ln w="15875">
            <a:solidFill>
              <a:srgbClr val="3A3A44"/>
            </a:solidFill>
            <a:prstDash val="solid"/>
          </a:ln>
        </p:spPr>
      </p:sp>
      <p:sp>
        <p:nvSpPr>
          <p:cNvPr id="38" name="Text 34"/>
          <p:cNvSpPr txBox="1"/>
          <p:nvPr/>
        </p:nvSpPr>
        <p:spPr>
          <a:xfrm>
            <a:off x="8348472" y="5111496"/>
            <a:ext cx="3054096" cy="365760"/>
          </a:xfrm>
          <a:prstGeom prst="rect">
            <a:avLst/>
          </a:prstGeom>
          <a:noFill/>
          <a:ln/>
        </p:spPr>
        <p:txBody>
          <a:bodyPr wrap="square" lIns="0" tIns="0" rIns="0" bIns="0" rtlCol="0" anchor="ctr"/>
          <a:lstStyle/>
          <a:p>
            <a:pPr indent="0" marL="0">
              <a:buNone/>
            </a:pPr>
            <a:r>
              <a:rPr lang="en-US" sz="1800" dirty="0">
                <a:solidFill>
                  <a:srgbClr val="F5F5F3"/>
                </a:solidFill>
                <a:latin typeface="Consolas" pitchFamily="34" charset="0"/>
                <a:ea typeface="Consolas" pitchFamily="34" charset="-122"/>
                <a:cs typeface="Consolas" pitchFamily="34" charset="-120"/>
              </a:rPr>
              <a:t>6</a:t>
            </a:r>
            <a:endParaRPr lang="en-US" sz="1800" dirty="0"/>
          </a:p>
        </p:txBody>
      </p:sp>
      <p:pic>
        <p:nvPicPr>
          <p:cNvPr id="39" name="Image 2" descr="Feedback">    </p:cNvPr>
          <p:cNvPicPr>
            <a:picLocks noChangeAspect="1"/>
          </p:cNvPicPr>
          <p:nvPr/>
        </p:nvPicPr>
        <p:blipFill>
          <a:blip r:embed="rId3"/>
          <a:stretch>
            <a:fillRect/>
          </a:stretch>
        </p:blipFill>
        <p:spPr>
          <a:xfrm>
            <a:off x="10972800" y="384048"/>
            <a:ext cx="731520" cy="731520"/>
          </a:xfrm>
          <a:prstGeom prst="rect">
            <a:avLst/>
          </a:prstGeom>
        </p:spPr>
      </p:pic>
      <p:sp>
        <p:nvSpPr>
          <p:cNvPr id="40"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Trace the loop</a:t>
            </a:r>
            <a:endParaRPr lang="en-US" sz="3600" dirty="0"/>
          </a:p>
        </p:txBody>
      </p:sp>
      <p:sp>
        <p:nvSpPr>
          <p:cNvPr id="6" name="code"/>
          <p:cNvSpPr/>
          <p:nvPr/>
        </p:nvSpPr>
        <p:spPr>
          <a:xfrm>
            <a:off x="548640" y="1554480"/>
            <a:ext cx="4846320" cy="2962656"/>
          </a:xfrm>
          <a:prstGeom prst="roundRect">
            <a:avLst>
              <a:gd name="adj" fmla="val 2469"/>
            </a:avLst>
          </a:prstGeom>
          <a:solidFill>
            <a:srgbClr val="111115"/>
          </a:solidFill>
          <a:ln w="15875">
            <a:solidFill>
              <a:srgbClr val="3A3A44"/>
            </a:solidFill>
            <a:prstDash val="solid"/>
          </a:ln>
        </p:spPr>
      </p:sp>
      <p:sp>
        <p:nvSpPr>
          <p:cNvPr id="7" name="Text 3"/>
          <p:cNvSpPr txBox="1"/>
          <p:nvPr/>
        </p:nvSpPr>
        <p:spPr>
          <a:xfrm>
            <a:off x="658368" y="1755648"/>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1</a:t>
            </a:r>
            <a:endParaRPr lang="en-US" sz="1600" dirty="0"/>
          </a:p>
        </p:txBody>
      </p:sp>
      <p:sp>
        <p:nvSpPr>
          <p:cNvPr id="8" name="Text 4"/>
          <p:cNvSpPr txBox="1"/>
          <p:nvPr/>
        </p:nvSpPr>
        <p:spPr>
          <a:xfrm>
            <a:off x="1188720" y="1755648"/>
            <a:ext cx="4114800" cy="512064"/>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code</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input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"Code: "</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9" name="Text 5"/>
          <p:cNvSpPr txBox="1"/>
          <p:nvPr/>
        </p:nvSpPr>
        <p:spPr>
          <a:xfrm>
            <a:off x="658368" y="2267712"/>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2</a:t>
            </a:r>
            <a:endParaRPr lang="en-US" sz="1600" dirty="0"/>
          </a:p>
        </p:txBody>
      </p:sp>
      <p:sp>
        <p:nvSpPr>
          <p:cNvPr id="10" name="Text 6"/>
          <p:cNvSpPr txBox="1"/>
          <p:nvPr/>
        </p:nvSpPr>
        <p:spPr>
          <a:xfrm>
            <a:off x="1188720" y="2267712"/>
            <a:ext cx="4114800" cy="512064"/>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while</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code</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69F00"/>
                </a:solidFill>
                <a:latin typeface="Consolas" pitchFamily="34" charset="0"/>
                <a:ea typeface="Consolas" pitchFamily="34" charset="-122"/>
                <a:cs typeface="Consolas" pitchFamily="34" charset="-120"/>
              </a:rPr>
              <a:t>"4271"</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1" name="Text 7"/>
          <p:cNvSpPr txBox="1"/>
          <p:nvPr/>
        </p:nvSpPr>
        <p:spPr>
          <a:xfrm>
            <a:off x="658368" y="2779776"/>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3</a:t>
            </a:r>
            <a:endParaRPr lang="en-US" sz="1600" dirty="0"/>
          </a:p>
        </p:txBody>
      </p:sp>
      <p:sp>
        <p:nvSpPr>
          <p:cNvPr id="12" name="Text 8"/>
          <p:cNvSpPr txBox="1"/>
          <p:nvPr/>
        </p:nvSpPr>
        <p:spPr>
          <a:xfrm>
            <a:off x="1188720" y="2779776"/>
            <a:ext cx="4114800" cy="512064"/>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"ACCESS DENIED"</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3" name="Text 9"/>
          <p:cNvSpPr txBox="1"/>
          <p:nvPr/>
        </p:nvSpPr>
        <p:spPr>
          <a:xfrm>
            <a:off x="658368" y="3291840"/>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4</a:t>
            </a:r>
            <a:endParaRPr lang="en-US" sz="1600" dirty="0"/>
          </a:p>
        </p:txBody>
      </p:sp>
      <p:sp>
        <p:nvSpPr>
          <p:cNvPr id="14" name="Text 10"/>
          <p:cNvSpPr txBox="1"/>
          <p:nvPr/>
        </p:nvSpPr>
        <p:spPr>
          <a:xfrm>
            <a:off x="1188720" y="3291840"/>
            <a:ext cx="4114800" cy="512064"/>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code</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input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"Code: "</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5" name="Text 11"/>
          <p:cNvSpPr txBox="1"/>
          <p:nvPr/>
        </p:nvSpPr>
        <p:spPr>
          <a:xfrm>
            <a:off x="658368" y="3803904"/>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5</a:t>
            </a:r>
            <a:endParaRPr lang="en-US" sz="1600" dirty="0"/>
          </a:p>
        </p:txBody>
      </p:sp>
      <p:sp>
        <p:nvSpPr>
          <p:cNvPr id="16" name="Text 12"/>
          <p:cNvSpPr txBox="1"/>
          <p:nvPr/>
        </p:nvSpPr>
        <p:spPr>
          <a:xfrm>
            <a:off x="1188720" y="3803904"/>
            <a:ext cx="4114800" cy="512064"/>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"Airlock open"</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7" name="Text 13"/>
          <p:cNvSpPr txBox="1"/>
          <p:nvPr/>
        </p:nvSpPr>
        <p:spPr>
          <a:xfrm>
            <a:off x="548640" y="4745736"/>
            <a:ext cx="4846320" cy="45720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THE USER TYPES   </a:t>
            </a:r>
            <a:pPr indent="0" marL="0">
              <a:buNone/>
            </a:pPr>
            <a:r>
              <a:rPr lang="en-US" sz="2400" b="1" dirty="0">
                <a:solidFill>
                  <a:srgbClr val="E69F00"/>
                </a:solidFill>
                <a:latin typeface="Consolas" pitchFamily="34" charset="0"/>
                <a:ea typeface="Consolas" pitchFamily="34" charset="-122"/>
                <a:cs typeface="Consolas" pitchFamily="34" charset="-120"/>
              </a:rPr>
              <a:t>1234   0000   4271</a:t>
            </a:r>
            <a:endParaRPr lang="en-US" sz="13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40680" y="1554480"/>
          <a:ext cx="6172200" cy="914400"/>
        </p:xfrm>
        <a:graphic>
          <a:graphicData uri="http://schemas.openxmlformats.org/drawingml/2006/table">
            <a:tbl>
              <a:tblPr/>
              <a:tblGrid>
                <a:gridCol w="868680"/>
                <a:gridCol w="1051560"/>
                <a:gridCol w="2194560"/>
                <a:gridCol w="2057400"/>
              </a:tblGrid>
              <a:tr h="502920">
                <a:tc>
                  <a:txBody>
                    <a:bodyPr/>
                    <a:lstStyle/>
                    <a:p>
                      <a:pPr algn="ctr" indent="0" marL="0">
                        <a:buNone/>
                      </a:pPr>
                      <a:r>
                        <a:rPr lang="en-US" sz="1800" b="1" dirty="0">
                          <a:solidFill>
                            <a:srgbClr val="D8A73D"/>
                          </a:solidFill>
                          <a:latin typeface="Calibri" pitchFamily="34" charset="0"/>
                          <a:ea typeface="Calibri" pitchFamily="34" charset="-122"/>
                          <a:cs typeface="Calibri" pitchFamily="34" charset="-120"/>
                        </a:rPr>
                        <a:t>Check</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1800" b="1" dirty="0">
                          <a:solidFill>
                            <a:srgbClr val="56B4E9"/>
                          </a:solidFill>
                          <a:latin typeface="Consolas" pitchFamily="34" charset="0"/>
                          <a:ea typeface="Consolas" pitchFamily="34" charset="-122"/>
                          <a:cs typeface="Consolas" pitchFamily="34" charset="-120"/>
                        </a:rPr>
                        <a:t>code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1800" b="1" dirty="0">
                          <a:solidFill>
                            <a:srgbClr val="D8A73D"/>
                          </a:solidFill>
                          <a:latin typeface="Consolas" pitchFamily="34" charset="0"/>
                          <a:ea typeface="Consolas" pitchFamily="34" charset="-122"/>
                          <a:cs typeface="Consolas" pitchFamily="34" charset="-120"/>
                        </a:rPr>
                        <a:t>code != "4271"</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1800" b="1" dirty="0">
                          <a:solidFill>
                            <a:srgbClr val="D8A73D"/>
                          </a:solidFill>
                          <a:latin typeface="Calibri" pitchFamily="34" charset="0"/>
                          <a:ea typeface="Calibri" pitchFamily="34" charset="-122"/>
                          <a:cs typeface="Calibri" pitchFamily="34" charset="-120"/>
                        </a:rPr>
                        <a:t>Printed</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5440680" y="2057400"/>
          <a:ext cx="6172200" cy="914400"/>
        </p:xfrm>
        <a:graphic>
          <a:graphicData uri="http://schemas.openxmlformats.org/drawingml/2006/table">
            <a:tbl>
              <a:tblPr/>
              <a:tblGrid>
                <a:gridCol w="868680"/>
                <a:gridCol w="1051560"/>
                <a:gridCol w="2194560"/>
                <a:gridCol w="205740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E69F00"/>
                          </a:solidFill>
                          <a:latin typeface="Consolas" pitchFamily="34" charset="0"/>
                          <a:ea typeface="Consolas" pitchFamily="34" charset="-122"/>
                          <a:cs typeface="Consolas" pitchFamily="34" charset="-120"/>
                        </a:rPr>
                        <a:t>"1234"</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7FD99A"/>
                          </a:solidFill>
                          <a:latin typeface="Consolas" pitchFamily="34" charset="0"/>
                          <a:ea typeface="Consolas" pitchFamily="34" charset="-122"/>
                          <a:cs typeface="Consolas" pitchFamily="34" charset="-120"/>
                        </a:rPr>
                        <a:t>True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ACCESS DENIED</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graphicFrame>
        <p:nvGraphicFramePr>
          <p:cNvPr id="46" name="Table 2"/>
          <p:cNvGraphicFramePr>
            <a:graphicFrameLocks noGrp="1"/>
          </p:cNvGraphicFramePr>
          <p:nvPr>
            <p:extLst>
              <p:ext uri="{D42A27DB-BD31-4B8C-83A1-F6EECF244321}">
                <p14:modId xmlns:p14="http://schemas.microsoft.com/office/powerpoint/2010/main" val="1579011935"/>
              </p:ext>
            </p:extLst>
          </p:nvPr>
        </p:nvGraphicFramePr>
        <p:xfrm>
          <a:off x="5440680" y="2560320"/>
          <a:ext cx="6172200" cy="914400"/>
        </p:xfrm>
        <a:graphic>
          <a:graphicData uri="http://schemas.openxmlformats.org/drawingml/2006/table">
            <a:tbl>
              <a:tblPr/>
              <a:tblGrid>
                <a:gridCol w="868680"/>
                <a:gridCol w="1051560"/>
                <a:gridCol w="2194560"/>
                <a:gridCol w="205740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E69F00"/>
                          </a:solidFill>
                          <a:latin typeface="Consolas" pitchFamily="34" charset="0"/>
                          <a:ea typeface="Consolas" pitchFamily="34" charset="-122"/>
                          <a:cs typeface="Consolas" pitchFamily="34" charset="-120"/>
                        </a:rPr>
                        <a:t>"0000"</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7FD99A"/>
                          </a:solidFill>
                          <a:latin typeface="Consolas" pitchFamily="34" charset="0"/>
                          <a:ea typeface="Consolas" pitchFamily="34" charset="-122"/>
                          <a:cs typeface="Consolas" pitchFamily="34" charset="-120"/>
                        </a:rPr>
                        <a:t>True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ACCESS DENIED</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graphicFrame>
        <p:nvGraphicFramePr>
          <p:cNvPr id="61" name="Table 3"/>
          <p:cNvGraphicFramePr>
            <a:graphicFrameLocks noGrp="1"/>
          </p:cNvGraphicFramePr>
          <p:nvPr>
            <p:extLst>
              <p:ext uri="{D42A27DB-BD31-4B8C-83A1-F6EECF244321}">
                <p14:modId xmlns:p14="http://schemas.microsoft.com/office/powerpoint/2010/main" val="1579011935"/>
              </p:ext>
            </p:extLst>
          </p:nvPr>
        </p:nvGraphicFramePr>
        <p:xfrm>
          <a:off x="5440680" y="3063240"/>
          <a:ext cx="6172200" cy="914400"/>
        </p:xfrm>
        <a:graphic>
          <a:graphicData uri="http://schemas.openxmlformats.org/drawingml/2006/table">
            <a:tbl>
              <a:tblPr/>
              <a:tblGrid>
                <a:gridCol w="868680"/>
                <a:gridCol w="1051560"/>
                <a:gridCol w="2194560"/>
                <a:gridCol w="205740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E69F00"/>
                          </a:solidFill>
                          <a:latin typeface="Consolas" pitchFamily="34" charset="0"/>
                          <a:ea typeface="Consolas" pitchFamily="34" charset="-122"/>
                          <a:cs typeface="Consolas" pitchFamily="34" charset="-120"/>
                        </a:rPr>
                        <a:t>"4271"</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A9A9B4"/>
                          </a:solidFill>
                          <a:latin typeface="Consolas" pitchFamily="34" charset="0"/>
                          <a:ea typeface="Consolas" pitchFamily="34" charset="-122"/>
                          <a:cs typeface="Consolas" pitchFamily="34" charset="-120"/>
                        </a:rPr>
                        <a:t>False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Airlock open</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sp>
        <p:nvSpPr>
          <p:cNvPr id="22" name="Shape 14"/>
          <p:cNvSpPr/>
          <p:nvPr/>
        </p:nvSpPr>
        <p:spPr>
          <a:xfrm>
            <a:off x="548640" y="5596128"/>
            <a:ext cx="11091672" cy="566928"/>
          </a:xfrm>
          <a:prstGeom prst="roundRect">
            <a:avLst>
              <a:gd name="adj" fmla="val 12903"/>
            </a:avLst>
          </a:prstGeom>
          <a:solidFill>
            <a:srgbClr val="2A2A32"/>
          </a:solidFill>
          <a:ln/>
        </p:spPr>
      </p:sp>
      <p:sp>
        <p:nvSpPr>
          <p:cNvPr id="23" name="Shape 15"/>
          <p:cNvSpPr/>
          <p:nvPr/>
        </p:nvSpPr>
        <p:spPr>
          <a:xfrm>
            <a:off x="731520" y="5715000"/>
            <a:ext cx="329184" cy="329184"/>
          </a:xfrm>
          <a:prstGeom prst="ellipse">
            <a:avLst/>
          </a:prstGeom>
          <a:solidFill>
            <a:srgbClr val="D8A73D"/>
          </a:solidFill>
          <a:ln/>
        </p:spPr>
      </p:sp>
      <p:sp>
        <p:nvSpPr>
          <p:cNvPr id="24" name="Text 16"/>
          <p:cNvSpPr txBox="1"/>
          <p:nvPr/>
        </p:nvSpPr>
        <p:spPr>
          <a:xfrm>
            <a:off x="731520"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25" name="Text 17"/>
          <p:cNvSpPr txBox="1"/>
          <p:nvPr/>
        </p:nvSpPr>
        <p:spPr>
          <a:xfrm>
            <a:off x="1170432"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Check the condition</a:t>
            </a:r>
            <a:endParaRPr lang="en-US" sz="1800" dirty="0"/>
          </a:p>
        </p:txBody>
      </p:sp>
      <p:sp>
        <p:nvSpPr>
          <p:cNvPr id="26" name="Shape 18"/>
          <p:cNvSpPr/>
          <p:nvPr/>
        </p:nvSpPr>
        <p:spPr>
          <a:xfrm>
            <a:off x="3504438" y="5715000"/>
            <a:ext cx="329184" cy="329184"/>
          </a:xfrm>
          <a:prstGeom prst="ellipse">
            <a:avLst/>
          </a:prstGeom>
          <a:solidFill>
            <a:srgbClr val="D8A73D"/>
          </a:solidFill>
          <a:ln/>
        </p:spPr>
      </p:sp>
      <p:sp>
        <p:nvSpPr>
          <p:cNvPr id="27" name="Text 19"/>
          <p:cNvSpPr txBox="1"/>
          <p:nvPr/>
        </p:nvSpPr>
        <p:spPr>
          <a:xfrm>
            <a:off x="3504438"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28" name="Text 20"/>
          <p:cNvSpPr txBox="1"/>
          <p:nvPr/>
        </p:nvSpPr>
        <p:spPr>
          <a:xfrm>
            <a:off x="3943350"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True: run the body</a:t>
            </a:r>
            <a:endParaRPr lang="en-US" sz="1800" dirty="0"/>
          </a:p>
        </p:txBody>
      </p:sp>
      <p:sp>
        <p:nvSpPr>
          <p:cNvPr id="29" name="Shape 21"/>
          <p:cNvSpPr/>
          <p:nvPr/>
        </p:nvSpPr>
        <p:spPr>
          <a:xfrm>
            <a:off x="6277356" y="5715000"/>
            <a:ext cx="329184" cy="329184"/>
          </a:xfrm>
          <a:prstGeom prst="ellipse">
            <a:avLst/>
          </a:prstGeom>
          <a:solidFill>
            <a:srgbClr val="D8A73D"/>
          </a:solidFill>
          <a:ln/>
        </p:spPr>
      </p:sp>
      <p:sp>
        <p:nvSpPr>
          <p:cNvPr id="30" name="Text 22"/>
          <p:cNvSpPr txBox="1"/>
          <p:nvPr/>
        </p:nvSpPr>
        <p:spPr>
          <a:xfrm>
            <a:off x="6277356"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63" name="Text 23"/>
          <p:cNvSpPr txBox="1"/>
          <p:nvPr/>
        </p:nvSpPr>
        <p:spPr>
          <a:xfrm>
            <a:off x="6716268"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Back to the top</a:t>
            </a:r>
            <a:endParaRPr lang="en-US" sz="1800" dirty="0"/>
          </a:p>
        </p:txBody>
      </p:sp>
      <p:sp>
        <p:nvSpPr>
          <p:cNvPr id="32" name="Shape 24"/>
          <p:cNvSpPr/>
          <p:nvPr/>
        </p:nvSpPr>
        <p:spPr>
          <a:xfrm>
            <a:off x="9050274" y="5715000"/>
            <a:ext cx="329184" cy="329184"/>
          </a:xfrm>
          <a:prstGeom prst="ellipse">
            <a:avLst/>
          </a:prstGeom>
          <a:solidFill>
            <a:srgbClr val="D8A73D"/>
          </a:solidFill>
          <a:ln/>
        </p:spPr>
      </p:sp>
      <p:sp>
        <p:nvSpPr>
          <p:cNvPr id="33" name="Text 25"/>
          <p:cNvSpPr txBox="1"/>
          <p:nvPr/>
        </p:nvSpPr>
        <p:spPr>
          <a:xfrm>
            <a:off x="9050274"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34" name="Text 26"/>
          <p:cNvSpPr txBox="1"/>
          <p:nvPr/>
        </p:nvSpPr>
        <p:spPr>
          <a:xfrm>
            <a:off x="9489186"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False: carry on</a:t>
            </a:r>
            <a:endParaRPr lang="en-US" sz="1800" dirty="0"/>
          </a:p>
        </p:txBody>
      </p:sp>
      <p:sp>
        <p:nvSpPr>
          <p:cNvPr id="35" name="Shape 27"/>
          <p:cNvSpPr/>
          <p:nvPr/>
        </p:nvSpPr>
        <p:spPr>
          <a:xfrm>
            <a:off x="9464040" y="566928"/>
            <a:ext cx="1280160" cy="329184"/>
          </a:xfrm>
          <a:prstGeom prst="roundRect">
            <a:avLst>
              <a:gd name="adj" fmla="val 50000"/>
            </a:avLst>
          </a:prstGeom>
          <a:solidFill>
            <a:srgbClr val="D8A73D"/>
          </a:solidFill>
          <a:ln/>
        </p:spPr>
      </p:sp>
      <p:sp>
        <p:nvSpPr>
          <p:cNvPr id="36" name="Text 28"/>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I DO</a:t>
            </a:r>
            <a:endParaRPr lang="en-US" sz="1400" dirty="0"/>
          </a:p>
        </p:txBody>
      </p:sp>
      <p:pic>
        <p:nvPicPr>
          <p:cNvPr id="37" name="Image 2" descr="New information">    </p:cNvPr>
          <p:cNvPicPr>
            <a:picLocks noChangeAspect="1"/>
          </p:cNvPicPr>
          <p:nvPr/>
        </p:nvPicPr>
        <p:blipFill>
          <a:blip r:embed="rId3"/>
          <a:stretch>
            <a:fillRect/>
          </a:stretch>
        </p:blipFill>
        <p:spPr>
          <a:xfrm>
            <a:off x="10972800" y="384048"/>
            <a:ext cx="731520" cy="731520"/>
          </a:xfrm>
          <a:prstGeom prst="rect">
            <a:avLst/>
          </a:prstGeom>
        </p:spPr>
      </p:pic>
      <p:sp>
        <p:nvSpPr>
          <p:cNvPr id="64"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Trace the loop</a:t>
            </a:r>
            <a:endParaRPr lang="en-US" sz="3600" dirty="0"/>
          </a:p>
        </p:txBody>
      </p:sp>
      <p:sp>
        <p:nvSpPr>
          <p:cNvPr id="6" name="code"/>
          <p:cNvSpPr/>
          <p:nvPr/>
        </p:nvSpPr>
        <p:spPr>
          <a:xfrm>
            <a:off x="548640" y="1554480"/>
            <a:ext cx="4846320" cy="2962656"/>
          </a:xfrm>
          <a:prstGeom prst="roundRect">
            <a:avLst>
              <a:gd name="adj" fmla="val 2469"/>
            </a:avLst>
          </a:prstGeom>
          <a:solidFill>
            <a:srgbClr val="111115"/>
          </a:solidFill>
          <a:ln w="15875">
            <a:solidFill>
              <a:srgbClr val="3A3A44"/>
            </a:solidFill>
            <a:prstDash val="solid"/>
          </a:ln>
        </p:spPr>
      </p:sp>
      <p:sp>
        <p:nvSpPr>
          <p:cNvPr id="7" name="Text 3"/>
          <p:cNvSpPr txBox="1"/>
          <p:nvPr/>
        </p:nvSpPr>
        <p:spPr>
          <a:xfrm>
            <a:off x="658368" y="1755648"/>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1</a:t>
            </a:r>
            <a:endParaRPr lang="en-US" sz="1600" dirty="0"/>
          </a:p>
        </p:txBody>
      </p:sp>
      <p:sp>
        <p:nvSpPr>
          <p:cNvPr id="8" name="Text 4"/>
          <p:cNvSpPr txBox="1"/>
          <p:nvPr/>
        </p:nvSpPr>
        <p:spPr>
          <a:xfrm>
            <a:off x="1188720" y="1755648"/>
            <a:ext cx="4114800" cy="512064"/>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answer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input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"6 x 7? "</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9" name="Text 5"/>
          <p:cNvSpPr txBox="1"/>
          <p:nvPr/>
        </p:nvSpPr>
        <p:spPr>
          <a:xfrm>
            <a:off x="658368" y="2267712"/>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2</a:t>
            </a:r>
            <a:endParaRPr lang="en-US" sz="1600" dirty="0"/>
          </a:p>
        </p:txBody>
      </p:sp>
      <p:sp>
        <p:nvSpPr>
          <p:cNvPr id="10" name="Text 6"/>
          <p:cNvSpPr txBox="1"/>
          <p:nvPr/>
        </p:nvSpPr>
        <p:spPr>
          <a:xfrm>
            <a:off x="1188720" y="2267712"/>
            <a:ext cx="4114800" cy="512064"/>
          </a:xfrm>
          <a:prstGeom prst="rect">
            <a:avLst/>
          </a:prstGeom>
          <a:noFill/>
          <a:ln/>
        </p:spPr>
        <p:txBody>
          <a:bodyPr wrap="square" lIns="0" tIns="0" rIns="0" bIns="0" rtlCol="0" anchor="ctr"/>
          <a:lstStyle/>
          <a:p>
            <a:pPr indent="0" marL="0">
              <a:buNone/>
            </a:pPr>
            <a:r>
              <a:rPr lang="en-US" sz="2000" b="1" dirty="0">
                <a:solidFill>
                  <a:srgbClr val="F5F5F3"/>
                </a:solidFill>
                <a:latin typeface="Consolas" pitchFamily="34" charset="0"/>
                <a:ea typeface="Consolas" pitchFamily="34" charset="-122"/>
                <a:cs typeface="Consolas" pitchFamily="34" charset="-120"/>
              </a:rPr>
              <a:t>while</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answer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b="1" dirty="0">
                <a:solidFill>
                  <a:srgbClr val="F5F5F3"/>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69F00"/>
                </a:solidFill>
                <a:latin typeface="Consolas" pitchFamily="34" charset="0"/>
                <a:ea typeface="Consolas" pitchFamily="34" charset="-122"/>
                <a:cs typeface="Consolas" pitchFamily="34" charset="-120"/>
              </a:rPr>
              <a:t>"42"</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1" name="Text 7"/>
          <p:cNvSpPr txBox="1"/>
          <p:nvPr/>
        </p:nvSpPr>
        <p:spPr>
          <a:xfrm>
            <a:off x="658368" y="2779776"/>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3</a:t>
            </a:r>
            <a:endParaRPr lang="en-US" sz="1600" dirty="0"/>
          </a:p>
        </p:txBody>
      </p:sp>
      <p:sp>
        <p:nvSpPr>
          <p:cNvPr id="12" name="Text 8"/>
          <p:cNvSpPr txBox="1"/>
          <p:nvPr/>
        </p:nvSpPr>
        <p:spPr>
          <a:xfrm>
            <a:off x="1188720" y="2779776"/>
            <a:ext cx="4114800" cy="512064"/>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"Not quite"</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3" name="Text 9"/>
          <p:cNvSpPr txBox="1"/>
          <p:nvPr/>
        </p:nvSpPr>
        <p:spPr>
          <a:xfrm>
            <a:off x="658368" y="3291840"/>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4</a:t>
            </a:r>
            <a:endParaRPr lang="en-US" sz="1600" dirty="0"/>
          </a:p>
        </p:txBody>
      </p:sp>
      <p:sp>
        <p:nvSpPr>
          <p:cNvPr id="14" name="Text 10"/>
          <p:cNvSpPr txBox="1"/>
          <p:nvPr/>
        </p:nvSpPr>
        <p:spPr>
          <a:xfrm>
            <a:off x="1188720" y="3291840"/>
            <a:ext cx="4114800" cy="512064"/>
          </a:xfrm>
          <a:prstGeom prst="rect">
            <a:avLst/>
          </a:prstGeom>
          <a:noFill/>
          <a:ln/>
        </p:spPr>
        <p:txBody>
          <a:bodyPr wrap="square" lIns="0" tIns="0" rIns="0" bIns="0" rtlCol="0" anchor="ctr"/>
          <a:lstStyle/>
          <a:p>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answer</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input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"6 x 7? "</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5" name="Text 11"/>
          <p:cNvSpPr txBox="1"/>
          <p:nvPr/>
        </p:nvSpPr>
        <p:spPr>
          <a:xfrm>
            <a:off x="658368" y="3803904"/>
            <a:ext cx="274320" cy="512064"/>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5</a:t>
            </a:r>
            <a:endParaRPr lang="en-US" sz="1600" dirty="0"/>
          </a:p>
        </p:txBody>
      </p:sp>
      <p:sp>
        <p:nvSpPr>
          <p:cNvPr id="16" name="Text 12"/>
          <p:cNvSpPr txBox="1"/>
          <p:nvPr/>
        </p:nvSpPr>
        <p:spPr>
          <a:xfrm>
            <a:off x="1188720" y="3803904"/>
            <a:ext cx="4114800" cy="512064"/>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"Correct!"</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7" name="Text 13"/>
          <p:cNvSpPr txBox="1"/>
          <p:nvPr/>
        </p:nvSpPr>
        <p:spPr>
          <a:xfrm>
            <a:off x="548640" y="4745736"/>
            <a:ext cx="4846320" cy="45720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THE USER TYPES   </a:t>
            </a:r>
            <a:pPr indent="0" marL="0">
              <a:buNone/>
            </a:pPr>
            <a:r>
              <a:rPr lang="en-US" sz="2400" b="1" dirty="0">
                <a:solidFill>
                  <a:srgbClr val="E69F00"/>
                </a:solidFill>
                <a:latin typeface="Consolas" pitchFamily="34" charset="0"/>
                <a:ea typeface="Consolas" pitchFamily="34" charset="-122"/>
                <a:cs typeface="Consolas" pitchFamily="34" charset="-120"/>
              </a:rPr>
              <a:t>40   48   42</a:t>
            </a:r>
            <a:endParaRPr lang="en-US" sz="13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440680" y="1554480"/>
          <a:ext cx="6172200" cy="914400"/>
        </p:xfrm>
        <a:graphic>
          <a:graphicData uri="http://schemas.openxmlformats.org/drawingml/2006/table">
            <a:tbl>
              <a:tblPr/>
              <a:tblGrid>
                <a:gridCol w="868680"/>
                <a:gridCol w="1051560"/>
                <a:gridCol w="2194560"/>
                <a:gridCol w="2057400"/>
              </a:tblGrid>
              <a:tr h="502920">
                <a:tc>
                  <a:txBody>
                    <a:bodyPr/>
                    <a:lstStyle/>
                    <a:p>
                      <a:pPr algn="ctr" indent="0" marL="0">
                        <a:buNone/>
                      </a:pPr>
                      <a:r>
                        <a:rPr lang="en-US" sz="1800" b="1" dirty="0">
                          <a:solidFill>
                            <a:srgbClr val="D8A73D"/>
                          </a:solidFill>
                          <a:latin typeface="Calibri" pitchFamily="34" charset="0"/>
                          <a:ea typeface="Calibri" pitchFamily="34" charset="-122"/>
                          <a:cs typeface="Calibri" pitchFamily="34" charset="-120"/>
                        </a:rPr>
                        <a:t>Check</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1800" b="1" dirty="0">
                          <a:solidFill>
                            <a:srgbClr val="56B4E9"/>
                          </a:solidFill>
                          <a:latin typeface="Consolas" pitchFamily="34" charset="0"/>
                          <a:ea typeface="Consolas" pitchFamily="34" charset="-122"/>
                          <a:cs typeface="Consolas" pitchFamily="34" charset="-120"/>
                        </a:rPr>
                        <a:t>answer</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1800" b="1" dirty="0">
                          <a:solidFill>
                            <a:srgbClr val="D8A73D"/>
                          </a:solidFill>
                          <a:latin typeface="Consolas" pitchFamily="34" charset="0"/>
                          <a:ea typeface="Consolas" pitchFamily="34" charset="-122"/>
                          <a:cs typeface="Consolas" pitchFamily="34" charset="-120"/>
                        </a:rPr>
                        <a:t>answer != "42"</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c>
                  <a:txBody>
                    <a:bodyPr/>
                    <a:lstStyle/>
                    <a:p>
                      <a:pPr algn="ctr" indent="0" marL="0">
                        <a:buNone/>
                      </a:pPr>
                      <a:r>
                        <a:rPr lang="en-US" sz="1800" b="1" dirty="0">
                          <a:solidFill>
                            <a:srgbClr val="D8A73D"/>
                          </a:solidFill>
                          <a:latin typeface="Calibri" pitchFamily="34" charset="0"/>
                          <a:ea typeface="Calibri" pitchFamily="34" charset="-122"/>
                          <a:cs typeface="Calibri" pitchFamily="34" charset="-120"/>
                        </a:rPr>
                        <a:t>Printed</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2A2A32"/>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5440680" y="2057400"/>
          <a:ext cx="6172200" cy="914400"/>
        </p:xfrm>
        <a:graphic>
          <a:graphicData uri="http://schemas.openxmlformats.org/drawingml/2006/table">
            <a:tbl>
              <a:tblPr/>
              <a:tblGrid>
                <a:gridCol w="868680"/>
                <a:gridCol w="1051560"/>
                <a:gridCol w="2194560"/>
                <a:gridCol w="205740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E69F00"/>
                          </a:solidFill>
                          <a:latin typeface="Consolas" pitchFamily="34" charset="0"/>
                          <a:ea typeface="Consolas" pitchFamily="34" charset="-122"/>
                          <a:cs typeface="Consolas" pitchFamily="34" charset="-120"/>
                        </a:rPr>
                        <a:t>"40"</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7FD99A"/>
                          </a:solidFill>
                          <a:latin typeface="Consolas" pitchFamily="34" charset="0"/>
                          <a:ea typeface="Consolas" pitchFamily="34" charset="-122"/>
                          <a:cs typeface="Consolas" pitchFamily="34" charset="-120"/>
                        </a:rPr>
                        <a:t>True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Not quite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graphicFrame>
        <p:nvGraphicFramePr>
          <p:cNvPr id="49" name="Table 2"/>
          <p:cNvGraphicFramePr>
            <a:graphicFrameLocks noGrp="1"/>
          </p:cNvGraphicFramePr>
          <p:nvPr>
            <p:extLst>
              <p:ext uri="{D42A27DB-BD31-4B8C-83A1-F6EECF244321}">
                <p14:modId xmlns:p14="http://schemas.microsoft.com/office/powerpoint/2010/main" val="1579011935"/>
              </p:ext>
            </p:extLst>
          </p:nvPr>
        </p:nvGraphicFramePr>
        <p:xfrm>
          <a:off x="5440680" y="2560320"/>
          <a:ext cx="6172200" cy="914400"/>
        </p:xfrm>
        <a:graphic>
          <a:graphicData uri="http://schemas.openxmlformats.org/drawingml/2006/table">
            <a:tbl>
              <a:tblPr/>
              <a:tblGrid>
                <a:gridCol w="868680"/>
                <a:gridCol w="1051560"/>
                <a:gridCol w="2194560"/>
                <a:gridCol w="205740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E69F00"/>
                          </a:solidFill>
                          <a:latin typeface="Consolas" pitchFamily="34" charset="0"/>
                          <a:ea typeface="Consolas" pitchFamily="34" charset="-122"/>
                          <a:cs typeface="Consolas" pitchFamily="34" charset="-120"/>
                        </a:rPr>
                        <a:t>"48"</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7FD99A"/>
                          </a:solidFill>
                          <a:latin typeface="Consolas" pitchFamily="34" charset="0"/>
                          <a:ea typeface="Consolas" pitchFamily="34" charset="-122"/>
                          <a:cs typeface="Consolas" pitchFamily="34" charset="-120"/>
                        </a:rPr>
                        <a:t>True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Not quite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graphicFrame>
        <p:nvGraphicFramePr>
          <p:cNvPr id="65" name="Table 3"/>
          <p:cNvGraphicFramePr>
            <a:graphicFrameLocks noGrp="1"/>
          </p:cNvGraphicFramePr>
          <p:nvPr>
            <p:extLst>
              <p:ext uri="{D42A27DB-BD31-4B8C-83A1-F6EECF244321}">
                <p14:modId xmlns:p14="http://schemas.microsoft.com/office/powerpoint/2010/main" val="1579011935"/>
              </p:ext>
            </p:extLst>
          </p:nvPr>
        </p:nvGraphicFramePr>
        <p:xfrm>
          <a:off x="5440680" y="3063240"/>
          <a:ext cx="6172200" cy="914400"/>
        </p:xfrm>
        <a:graphic>
          <a:graphicData uri="http://schemas.openxmlformats.org/drawingml/2006/table">
            <a:tbl>
              <a:tblPr/>
              <a:tblGrid>
                <a:gridCol w="868680"/>
                <a:gridCol w="1051560"/>
                <a:gridCol w="2194560"/>
                <a:gridCol w="2057400"/>
              </a:tblGrid>
              <a:tr h="502920">
                <a:tc>
                  <a:txBody>
                    <a:bodyPr/>
                    <a:lstStyle/>
                    <a:p>
                      <a:pPr algn="ctr" indent="0" marL="0">
                        <a:buNone/>
                      </a:pPr>
                      <a:r>
                        <a:rPr lang="en-US" sz="1800" dirty="0">
                          <a:solidFill>
                            <a:srgbClr val="A9A9B4"/>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E69F00"/>
                          </a:solidFill>
                          <a:latin typeface="Consolas" pitchFamily="34" charset="0"/>
                          <a:ea typeface="Consolas" pitchFamily="34" charset="-122"/>
                          <a:cs typeface="Consolas" pitchFamily="34" charset="-120"/>
                        </a:rPr>
                        <a:t>"42"</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b="1" dirty="0">
                          <a:solidFill>
                            <a:srgbClr val="A9A9B4"/>
                          </a:solidFill>
                          <a:latin typeface="Consolas" pitchFamily="34" charset="0"/>
                          <a:ea typeface="Consolas" pitchFamily="34" charset="-122"/>
                          <a:cs typeface="Consolas" pitchFamily="34" charset="-120"/>
                        </a:rPr>
                        <a:t>False</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c>
                  <a:txBody>
                    <a:bodyPr/>
                    <a:lstStyle/>
                    <a:p>
                      <a:pPr algn="ctr" indent="0" marL="0">
                        <a:buNone/>
                      </a:pPr>
                      <a:r>
                        <a:rPr lang="en-US" sz="1800" dirty="0">
                          <a:solidFill>
                            <a:srgbClr val="D8A73D"/>
                          </a:solidFill>
                          <a:latin typeface="Consolas" pitchFamily="34" charset="0"/>
                          <a:ea typeface="Consolas" pitchFamily="34" charset="-122"/>
                          <a:cs typeface="Consolas" pitchFamily="34" charset="-120"/>
                        </a:rPr>
                        <a:t>Correct!</a:t>
                      </a:r>
                      <a:endParaRPr lang="en-US" sz="1800" dirty="0">
                        <a:latin typeface="Consolas" charset="0"/>
                        <a:ea typeface="Consolas" charset="0"/>
                        <a:cs typeface="Consolas" charset="0"/>
                      </a:endParaRPr>
                    </a:p>
                  </a:txBody>
                  <a:tcPr marL="91440" marR="91440" marT="36576" marB="36576" anchor="ctr">
                    <a:lnL w="12700" cap="flat" cmpd="sng" algn="ctr">
                      <a:solidFill>
                        <a:srgbClr val="3A3A44"/>
                      </a:solidFill>
                      <a:prstDash val="solid"/>
                      <a:round/>
                      <a:headEnd type="none" w="med" len="med"/>
                      <a:tailEnd type="none" w="med" len="med"/>
                    </a:lnL>
                    <a:lnR w="12700" cap="flat" cmpd="sng" algn="ctr">
                      <a:solidFill>
                        <a:srgbClr val="3A3A44"/>
                      </a:solidFill>
                      <a:prstDash val="solid"/>
                      <a:round/>
                      <a:headEnd type="none" w="med" len="med"/>
                      <a:tailEnd type="none" w="med" len="med"/>
                    </a:lnR>
                    <a:lnT w="12700" cap="flat" cmpd="sng" algn="ctr">
                      <a:solidFill>
                        <a:srgbClr val="3A3A44"/>
                      </a:solidFill>
                      <a:prstDash val="solid"/>
                      <a:round/>
                      <a:headEnd type="none" w="med" len="med"/>
                      <a:tailEnd type="none" w="med" len="med"/>
                    </a:lnT>
                    <a:lnB w="12700" cap="flat" cmpd="sng" algn="ctr">
                      <a:solidFill>
                        <a:srgbClr val="3A3A44"/>
                      </a:solidFill>
                      <a:prstDash val="solid"/>
                      <a:round/>
                      <a:headEnd type="none" w="med" len="med"/>
                      <a:tailEnd type="none" w="med" len="med"/>
                    </a:lnB>
                    <a:solidFill>
                      <a:srgbClr val="1E1E24"/>
                    </a:solidFill>
                  </a:tcPr>
                </a:tc>
              </a:tr>
            </a:tbl>
          </a:graphicData>
        </a:graphic>
      </p:graphicFrame>
      <p:sp>
        <p:nvSpPr>
          <p:cNvPr id="22" name="Shape 14"/>
          <p:cNvSpPr/>
          <p:nvPr/>
        </p:nvSpPr>
        <p:spPr>
          <a:xfrm>
            <a:off x="548640" y="5596128"/>
            <a:ext cx="11091672" cy="566928"/>
          </a:xfrm>
          <a:prstGeom prst="roundRect">
            <a:avLst>
              <a:gd name="adj" fmla="val 12903"/>
            </a:avLst>
          </a:prstGeom>
          <a:solidFill>
            <a:srgbClr val="2A2A32"/>
          </a:solidFill>
          <a:ln/>
        </p:spPr>
      </p:sp>
      <p:sp>
        <p:nvSpPr>
          <p:cNvPr id="23" name="Shape 15"/>
          <p:cNvSpPr/>
          <p:nvPr/>
        </p:nvSpPr>
        <p:spPr>
          <a:xfrm>
            <a:off x="731520" y="5715000"/>
            <a:ext cx="329184" cy="329184"/>
          </a:xfrm>
          <a:prstGeom prst="ellipse">
            <a:avLst/>
          </a:prstGeom>
          <a:solidFill>
            <a:srgbClr val="D8A73D"/>
          </a:solidFill>
          <a:ln/>
        </p:spPr>
      </p:sp>
      <p:sp>
        <p:nvSpPr>
          <p:cNvPr id="24" name="Text 16"/>
          <p:cNvSpPr txBox="1"/>
          <p:nvPr/>
        </p:nvSpPr>
        <p:spPr>
          <a:xfrm>
            <a:off x="731520"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1</a:t>
            </a:r>
            <a:endParaRPr lang="en-US" sz="1600" dirty="0"/>
          </a:p>
        </p:txBody>
      </p:sp>
      <p:sp>
        <p:nvSpPr>
          <p:cNvPr id="25" name="Text 17"/>
          <p:cNvSpPr txBox="1"/>
          <p:nvPr/>
        </p:nvSpPr>
        <p:spPr>
          <a:xfrm>
            <a:off x="1170432"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Check the condition</a:t>
            </a:r>
            <a:endParaRPr lang="en-US" sz="1800" dirty="0"/>
          </a:p>
        </p:txBody>
      </p:sp>
      <p:sp>
        <p:nvSpPr>
          <p:cNvPr id="26" name="Shape 18"/>
          <p:cNvSpPr/>
          <p:nvPr/>
        </p:nvSpPr>
        <p:spPr>
          <a:xfrm>
            <a:off x="3504438" y="5715000"/>
            <a:ext cx="329184" cy="329184"/>
          </a:xfrm>
          <a:prstGeom prst="ellipse">
            <a:avLst/>
          </a:prstGeom>
          <a:solidFill>
            <a:srgbClr val="D8A73D"/>
          </a:solidFill>
          <a:ln/>
        </p:spPr>
      </p:sp>
      <p:sp>
        <p:nvSpPr>
          <p:cNvPr id="27" name="Text 19"/>
          <p:cNvSpPr txBox="1"/>
          <p:nvPr/>
        </p:nvSpPr>
        <p:spPr>
          <a:xfrm>
            <a:off x="3504438"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2</a:t>
            </a:r>
            <a:endParaRPr lang="en-US" sz="1600" dirty="0"/>
          </a:p>
        </p:txBody>
      </p:sp>
      <p:sp>
        <p:nvSpPr>
          <p:cNvPr id="28" name="Text 20"/>
          <p:cNvSpPr txBox="1"/>
          <p:nvPr/>
        </p:nvSpPr>
        <p:spPr>
          <a:xfrm>
            <a:off x="3943350"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True: run the body</a:t>
            </a:r>
            <a:endParaRPr lang="en-US" sz="1800" dirty="0"/>
          </a:p>
        </p:txBody>
      </p:sp>
      <p:sp>
        <p:nvSpPr>
          <p:cNvPr id="29" name="Shape 21"/>
          <p:cNvSpPr/>
          <p:nvPr/>
        </p:nvSpPr>
        <p:spPr>
          <a:xfrm>
            <a:off x="6277356" y="5715000"/>
            <a:ext cx="329184" cy="329184"/>
          </a:xfrm>
          <a:prstGeom prst="ellipse">
            <a:avLst/>
          </a:prstGeom>
          <a:solidFill>
            <a:srgbClr val="D8A73D"/>
          </a:solidFill>
          <a:ln/>
        </p:spPr>
      </p:sp>
      <p:sp>
        <p:nvSpPr>
          <p:cNvPr id="30" name="Text 22"/>
          <p:cNvSpPr txBox="1"/>
          <p:nvPr/>
        </p:nvSpPr>
        <p:spPr>
          <a:xfrm>
            <a:off x="6277356"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3</a:t>
            </a:r>
            <a:endParaRPr lang="en-US" sz="1600" dirty="0"/>
          </a:p>
        </p:txBody>
      </p:sp>
      <p:sp>
        <p:nvSpPr>
          <p:cNvPr id="31" name="Text 23"/>
          <p:cNvSpPr txBox="1"/>
          <p:nvPr/>
        </p:nvSpPr>
        <p:spPr>
          <a:xfrm>
            <a:off x="6716268"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Back to the top</a:t>
            </a:r>
            <a:endParaRPr lang="en-US" sz="1800" dirty="0"/>
          </a:p>
        </p:txBody>
      </p:sp>
      <p:sp>
        <p:nvSpPr>
          <p:cNvPr id="32" name="Shape 24"/>
          <p:cNvSpPr/>
          <p:nvPr/>
        </p:nvSpPr>
        <p:spPr>
          <a:xfrm>
            <a:off x="9050274" y="5715000"/>
            <a:ext cx="329184" cy="329184"/>
          </a:xfrm>
          <a:prstGeom prst="ellipse">
            <a:avLst/>
          </a:prstGeom>
          <a:solidFill>
            <a:srgbClr val="D8A73D"/>
          </a:solidFill>
          <a:ln/>
        </p:spPr>
      </p:sp>
      <p:sp>
        <p:nvSpPr>
          <p:cNvPr id="67" name="Text 25"/>
          <p:cNvSpPr txBox="1"/>
          <p:nvPr/>
        </p:nvSpPr>
        <p:spPr>
          <a:xfrm>
            <a:off x="9050274" y="5715000"/>
            <a:ext cx="329184" cy="329184"/>
          </a:xfrm>
          <a:prstGeom prst="rect">
            <a:avLst/>
          </a:prstGeom>
          <a:noFill/>
          <a:ln/>
        </p:spPr>
        <p:txBody>
          <a:bodyPr wrap="square" lIns="0" tIns="0" rIns="0" bIns="0" rtlCol="0" anchor="ctr"/>
          <a:lstStyle/>
          <a:p>
            <a:pPr algn="ctr" indent="0" marL="0">
              <a:buNone/>
            </a:pPr>
            <a:r>
              <a:rPr lang="en-US" sz="1600" b="1" dirty="0">
                <a:solidFill>
                  <a:srgbClr val="1E1E24"/>
                </a:solidFill>
                <a:latin typeface="Cambria" pitchFamily="34" charset="0"/>
                <a:ea typeface="Cambria" pitchFamily="34" charset="-122"/>
                <a:cs typeface="Cambria" pitchFamily="34" charset="-120"/>
              </a:rPr>
              <a:t>4</a:t>
            </a:r>
            <a:endParaRPr lang="en-US" sz="1600" dirty="0"/>
          </a:p>
        </p:txBody>
      </p:sp>
      <p:sp>
        <p:nvSpPr>
          <p:cNvPr id="34" name="Text 26"/>
          <p:cNvSpPr txBox="1"/>
          <p:nvPr/>
        </p:nvSpPr>
        <p:spPr>
          <a:xfrm>
            <a:off x="9489186" y="5596128"/>
            <a:ext cx="2087118" cy="566928"/>
          </a:xfrm>
          <a:prstGeom prst="rect">
            <a:avLst/>
          </a:prstGeom>
          <a:noFill/>
          <a:ln/>
        </p:spPr>
        <p:txBody>
          <a:bodyPr wrap="square" lIns="0" tIns="0" rIns="0" bIns="0" rtlCol="0" anchor="ctr"/>
          <a:lstStyle/>
          <a:p>
            <a:pPr indent="0" marL="0">
              <a:buNone/>
            </a:pPr>
            <a:r>
              <a:rPr lang="en-US" sz="1800" dirty="0">
                <a:solidFill>
                  <a:srgbClr val="F5F5F3"/>
                </a:solidFill>
                <a:latin typeface="Calibri" pitchFamily="34" charset="0"/>
                <a:ea typeface="Calibri" pitchFamily="34" charset="-122"/>
                <a:cs typeface="Calibri" pitchFamily="34" charset="-120"/>
              </a:rPr>
              <a:t>False: carry on</a:t>
            </a:r>
            <a:endParaRPr lang="en-US" sz="1800" dirty="0"/>
          </a:p>
        </p:txBody>
      </p:sp>
      <p:sp>
        <p:nvSpPr>
          <p:cNvPr id="35" name="Shape 27"/>
          <p:cNvSpPr/>
          <p:nvPr/>
        </p:nvSpPr>
        <p:spPr>
          <a:xfrm>
            <a:off x="9464040" y="566928"/>
            <a:ext cx="1280160" cy="329184"/>
          </a:xfrm>
          <a:prstGeom prst="roundRect">
            <a:avLst>
              <a:gd name="adj" fmla="val 50000"/>
            </a:avLst>
          </a:prstGeom>
          <a:solidFill>
            <a:srgbClr val="D8A73D"/>
          </a:solidFill>
          <a:ln/>
        </p:spPr>
      </p:sp>
      <p:sp>
        <p:nvSpPr>
          <p:cNvPr id="36" name="Text 28"/>
          <p:cNvSpPr txBox="1"/>
          <p:nvPr/>
        </p:nvSpPr>
        <p:spPr>
          <a:xfrm>
            <a:off x="9464040" y="566928"/>
            <a:ext cx="1280160" cy="329184"/>
          </a:xfrm>
          <a:prstGeom prst="rect">
            <a:avLst/>
          </a:prstGeom>
          <a:noFill/>
          <a:ln/>
        </p:spPr>
        <p:txBody>
          <a:bodyPr wrap="square" lIns="0" tIns="0" rIns="0" bIns="0" rtlCol="0" anchor="ctr"/>
          <a:lstStyle/>
          <a:p>
            <a:pPr algn="ctr" indent="0" marL="0">
              <a:buNone/>
            </a:pPr>
            <a:r>
              <a:rPr lang="en-US" sz="1400" b="1" spc="200" kern="0" dirty="0">
                <a:solidFill>
                  <a:srgbClr val="1E1E24"/>
                </a:solidFill>
                <a:latin typeface="Calibri" pitchFamily="34" charset="0"/>
                <a:ea typeface="Calibri" pitchFamily="34" charset="-122"/>
                <a:cs typeface="Calibri" pitchFamily="34" charset="-120"/>
              </a:rPr>
              <a:t>WE DO</a:t>
            </a:r>
            <a:endParaRPr lang="en-US" sz="1400" dirty="0"/>
          </a:p>
        </p:txBody>
      </p:sp>
      <p:pic>
        <p:nvPicPr>
          <p:cNvPr id="37" name="Image 2" descr="Deliberate practice">    </p:cNvPr>
          <p:cNvPicPr>
            <a:picLocks noChangeAspect="1"/>
          </p:cNvPicPr>
          <p:nvPr/>
        </p:nvPicPr>
        <p:blipFill>
          <a:blip r:embed="rId3"/>
          <a:stretch>
            <a:fillRect/>
          </a:stretch>
        </p:blipFill>
        <p:spPr>
          <a:xfrm>
            <a:off x="10972800" y="384048"/>
            <a:ext cx="731520" cy="731520"/>
          </a:xfrm>
          <a:prstGeom prst="rect">
            <a:avLst/>
          </a:prstGeom>
        </p:spPr>
      </p:pic>
      <p:sp>
        <p:nvSpPr>
          <p:cNvPr id="68"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str() turns a number into text</a:t>
            </a:r>
            <a:endParaRPr lang="en-US" sz="3600" dirty="0"/>
          </a:p>
        </p:txBody>
      </p:sp>
      <p:sp>
        <p:nvSpPr>
          <p:cNvPr id="6" name="Text 2"/>
          <p:cNvSpPr txBox="1"/>
          <p:nvPr/>
        </p:nvSpPr>
        <p:spPr>
          <a:xfrm>
            <a:off x="548640" y="1481328"/>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THE CODE</a:t>
            </a:r>
            <a:endParaRPr lang="en-US" sz="1300" dirty="0"/>
          </a:p>
        </p:txBody>
      </p:sp>
      <p:sp>
        <p:nvSpPr>
          <p:cNvPr id="7" name="Text 3"/>
          <p:cNvSpPr txBox="1"/>
          <p:nvPr/>
        </p:nvSpPr>
        <p:spPr>
          <a:xfrm>
            <a:off x="6446520" y="1481328"/>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ON SCREEN</a:t>
            </a:r>
            <a:endParaRPr lang="en-US" sz="1300" dirty="0"/>
          </a:p>
        </p:txBody>
      </p:sp>
      <p:sp>
        <p:nvSpPr>
          <p:cNvPr id="8" name="Text 4"/>
          <p:cNvSpPr txBox="1"/>
          <p:nvPr/>
        </p:nvSpPr>
        <p:spPr>
          <a:xfrm>
            <a:off x="9601200" y="1481328"/>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IN MEMORY</a:t>
            </a:r>
            <a:endParaRPr lang="en-US" sz="1300" dirty="0"/>
          </a:p>
        </p:txBody>
      </p:sp>
      <p:sp>
        <p:nvSpPr>
          <p:cNvPr id="9" name="click1 · code"/>
          <p:cNvSpPr/>
          <p:nvPr/>
        </p:nvSpPr>
        <p:spPr>
          <a:xfrm>
            <a:off x="548640" y="1874520"/>
            <a:ext cx="5577840" cy="868680"/>
          </a:xfrm>
          <a:prstGeom prst="roundRect">
            <a:avLst>
              <a:gd name="adj" fmla="val 8421"/>
            </a:avLst>
          </a:prstGeom>
          <a:solidFill>
            <a:srgbClr val="111115"/>
          </a:solidFill>
          <a:ln w="15875">
            <a:solidFill>
              <a:srgbClr val="3A3A44"/>
            </a:solidFill>
            <a:prstDash val="solid"/>
          </a:ln>
        </p:spPr>
      </p:sp>
      <p:sp>
        <p:nvSpPr>
          <p:cNvPr id="10" name="click1"/>
          <p:cNvSpPr txBox="1"/>
          <p:nvPr/>
        </p:nvSpPr>
        <p:spPr>
          <a:xfrm>
            <a:off x="658368" y="2075688"/>
            <a:ext cx="274320" cy="419100"/>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1</a:t>
            </a:r>
            <a:endParaRPr lang="en-US" sz="1600" dirty="0"/>
          </a:p>
        </p:txBody>
      </p:sp>
      <p:sp>
        <p:nvSpPr>
          <p:cNvPr id="11" name="click1"/>
          <p:cNvSpPr txBox="1"/>
          <p:nvPr/>
        </p:nvSpPr>
        <p:spPr>
          <a:xfrm>
            <a:off x="1188720" y="2075688"/>
            <a:ext cx="4846320" cy="419100"/>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"Tries: "</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F5F5F3"/>
                </a:solidFill>
                <a:latin typeface="Consolas" pitchFamily="34" charset="0"/>
                <a:ea typeface="Consolas" pitchFamily="34" charset="-122"/>
                <a:cs typeface="Consolas" pitchFamily="34" charset="-120"/>
              </a:rPr>
              <a:t>attempts</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12" name="click1"/>
          <p:cNvSpPr txBox="1"/>
          <p:nvPr/>
        </p:nvSpPr>
        <p:spPr>
          <a:xfrm>
            <a:off x="640080" y="2880360"/>
            <a:ext cx="5394960" cy="868680"/>
          </a:xfrm>
          <a:prstGeom prst="rect">
            <a:avLst/>
          </a:prstGeom>
          <a:noFill/>
          <a:ln/>
        </p:spPr>
        <p:txBody>
          <a:bodyPr wrap="square" lIns="0" tIns="0" rIns="0" bIns="0" rtlCol="0" anchor="t"/>
          <a:lstStyle/>
          <a:p>
            <a:pPr indent="0" marL="0">
              <a:buNone/>
            </a:pPr>
            <a:r>
              <a:rPr lang="en-US" sz="2000" dirty="0">
                <a:solidFill>
                  <a:srgbClr val="F5F5F3"/>
                </a:solidFill>
                <a:latin typeface="Calibri" pitchFamily="34" charset="0"/>
                <a:ea typeface="Calibri" pitchFamily="34" charset="-122"/>
                <a:cs typeface="Calibri" pitchFamily="34" charset="-120"/>
              </a:rPr>
              <a:t>Text + a number: </a:t>
            </a:r>
            <a:pPr indent="0" marL="0">
              <a:buNone/>
            </a:pPr>
            <a:r>
              <a:rPr lang="en-US" sz="2000" b="1" dirty="0">
                <a:solidFill>
                  <a:srgbClr val="D8A73D"/>
                </a:solidFill>
                <a:latin typeface="Calibri" pitchFamily="34" charset="0"/>
                <a:ea typeface="Calibri" pitchFamily="34" charset="-122"/>
                <a:cs typeface="Calibri" pitchFamily="34" charset="-120"/>
              </a:rPr>
              <a:t>Python stops</a:t>
            </a:r>
            <a:pPr indent="0" marL="0">
              <a:buNone/>
            </a:pPr>
            <a:r>
              <a:rPr lang="en-US" sz="2000" dirty="0">
                <a:solidFill>
                  <a:srgbClr val="F5F5F3"/>
                </a:solidFill>
                <a:latin typeface="Calibri" pitchFamily="34" charset="0"/>
                <a:ea typeface="Calibri" pitchFamily="34" charset="-122"/>
                <a:cs typeface="Calibri" pitchFamily="34" charset="-120"/>
              </a:rPr>
              <a:t>, because + can’t join and add at once</a:t>
            </a:r>
            <a:endParaRPr lang="en-US" sz="2000" dirty="0"/>
          </a:p>
        </p:txBody>
      </p:sp>
      <p:sp>
        <p:nvSpPr>
          <p:cNvPr id="13" name="click2 · terminal"/>
          <p:cNvSpPr/>
          <p:nvPr/>
        </p:nvSpPr>
        <p:spPr>
          <a:xfrm>
            <a:off x="6446520" y="1874520"/>
            <a:ext cx="2926080" cy="1325880"/>
          </a:xfrm>
          <a:prstGeom prst="roundRect">
            <a:avLst>
              <a:gd name="adj" fmla="val 5517"/>
            </a:avLst>
          </a:prstGeom>
          <a:solidFill>
            <a:srgbClr val="0A0A0D"/>
          </a:solidFill>
          <a:ln w="15875">
            <a:solidFill>
              <a:srgbClr val="3A3A44"/>
            </a:solidFill>
            <a:prstDash val="solid"/>
          </a:ln>
        </p:spPr>
      </p:sp>
      <p:sp>
        <p:nvSpPr>
          <p:cNvPr id="14" name="click2"/>
          <p:cNvSpPr txBox="1"/>
          <p:nvPr/>
        </p:nvSpPr>
        <p:spPr>
          <a:xfrm>
            <a:off x="6675120" y="2103120"/>
            <a:ext cx="2468880" cy="447040"/>
          </a:xfrm>
          <a:prstGeom prst="rect">
            <a:avLst/>
          </a:prstGeom>
          <a:noFill/>
          <a:ln/>
        </p:spPr>
        <p:txBody>
          <a:bodyPr wrap="square" lIns="0" tIns="0" rIns="0" bIns="0" rtlCol="0" anchor="ctr"/>
          <a:lstStyle/>
          <a:p>
            <a:pPr indent="0" marL="0">
              <a:buNone/>
            </a:pPr>
            <a:r>
              <a:rPr lang="en-US" sz="2200" b="1" dirty="0">
                <a:solidFill>
                  <a:srgbClr val="FF6B6B"/>
                </a:solidFill>
                <a:latin typeface="Consolas" pitchFamily="34" charset="0"/>
                <a:ea typeface="Consolas" pitchFamily="34" charset="-122"/>
                <a:cs typeface="Consolas" pitchFamily="34" charset="-120"/>
              </a:rPr>
              <a:t>TypeError</a:t>
            </a:r>
            <a:endParaRPr lang="en-US" sz="2200" dirty="0"/>
          </a:p>
        </p:txBody>
      </p:sp>
      <p:sp>
        <p:nvSpPr>
          <p:cNvPr id="15" name="click2"/>
          <p:cNvSpPr txBox="1"/>
          <p:nvPr/>
        </p:nvSpPr>
        <p:spPr>
          <a:xfrm>
            <a:off x="6446520" y="3291840"/>
            <a:ext cx="2926080" cy="320040"/>
          </a:xfrm>
          <a:prstGeom prst="rect">
            <a:avLst/>
          </a:prstGeom>
          <a:noFill/>
          <a:ln/>
        </p:spPr>
        <p:txBody>
          <a:bodyPr wrap="square" lIns="0" tIns="0" rIns="0" bIns="0" rtlCol="0" anchor="ctr"/>
          <a:lstStyle/>
          <a:p>
            <a:pPr indent="0" marL="0">
              <a:buNone/>
            </a:pPr>
            <a:r>
              <a:rPr lang="en-US" sz="1400" i="1" dirty="0">
                <a:solidFill>
                  <a:srgbClr val="A9A9B4"/>
                </a:solidFill>
                <a:latin typeface="Calibri" pitchFamily="34" charset="0"/>
                <a:ea typeface="Calibri" pitchFamily="34" charset="-122"/>
                <a:cs typeface="Calibri" pitchFamily="34" charset="-120"/>
              </a:rPr>
              <a:t>A crash, not a message</a:t>
            </a:r>
            <a:endParaRPr lang="en-US" sz="1400" dirty="0"/>
          </a:p>
        </p:txBody>
      </p:sp>
      <p:sp>
        <p:nvSpPr>
          <p:cNvPr id="16" name="click3"/>
          <p:cNvSpPr/>
          <p:nvPr/>
        </p:nvSpPr>
        <p:spPr>
          <a:xfrm>
            <a:off x="9601200" y="2148840"/>
            <a:ext cx="2039112" cy="868680"/>
          </a:xfrm>
          <a:prstGeom prst="roundRect">
            <a:avLst>
              <a:gd name="adj" fmla="val 6316"/>
            </a:avLst>
          </a:prstGeom>
          <a:solidFill>
            <a:srgbClr val="111115"/>
          </a:solidFill>
          <a:ln w="25400">
            <a:solidFill>
              <a:srgbClr val="56B4E9"/>
            </a:solidFill>
            <a:prstDash val="solid"/>
          </a:ln>
        </p:spPr>
      </p:sp>
      <p:sp>
        <p:nvSpPr>
          <p:cNvPr id="17" name="click3"/>
          <p:cNvSpPr/>
          <p:nvPr/>
        </p:nvSpPr>
        <p:spPr>
          <a:xfrm>
            <a:off x="9738360" y="1965960"/>
            <a:ext cx="1883664" cy="347472"/>
          </a:xfrm>
          <a:prstGeom prst="roundRect">
            <a:avLst>
              <a:gd name="adj" fmla="val 13158"/>
            </a:avLst>
          </a:prstGeom>
          <a:solidFill>
            <a:srgbClr val="56B4E9"/>
          </a:solidFill>
          <a:ln/>
        </p:spPr>
      </p:sp>
      <p:sp>
        <p:nvSpPr>
          <p:cNvPr id="18" name="click3"/>
          <p:cNvSpPr txBox="1"/>
          <p:nvPr/>
        </p:nvSpPr>
        <p:spPr>
          <a:xfrm>
            <a:off x="9738360" y="1965960"/>
            <a:ext cx="1883664"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attempts  ·  int</a:t>
            </a:r>
            <a:endParaRPr lang="en-US" sz="1400" dirty="0"/>
          </a:p>
        </p:txBody>
      </p:sp>
      <p:sp>
        <p:nvSpPr>
          <p:cNvPr id="19" name="click3"/>
          <p:cNvSpPr txBox="1"/>
          <p:nvPr/>
        </p:nvSpPr>
        <p:spPr>
          <a:xfrm>
            <a:off x="9692640" y="2331720"/>
            <a:ext cx="1856232" cy="640080"/>
          </a:xfrm>
          <a:prstGeom prst="rect">
            <a:avLst/>
          </a:prstGeom>
          <a:noFill/>
          <a:ln/>
        </p:spPr>
        <p:txBody>
          <a:bodyPr wrap="square" lIns="0" tIns="0" rIns="0" bIns="0" rtlCol="0" anchor="ctr"/>
          <a:lstStyle/>
          <a:p>
            <a:pPr algn="ctr" indent="0" marL="0">
              <a:buNone/>
            </a:pPr>
            <a:r>
              <a:rPr lang="en-US" sz="2400" dirty="0">
                <a:solidFill>
                  <a:srgbClr val="F5F5F3"/>
                </a:solidFill>
                <a:latin typeface="Consolas" pitchFamily="34" charset="0"/>
                <a:ea typeface="Consolas" pitchFamily="34" charset="-122"/>
                <a:cs typeface="Consolas" pitchFamily="34" charset="-120"/>
              </a:rPr>
              <a:t>3</a:t>
            </a:r>
            <a:endParaRPr lang="en-US" sz="2400" dirty="0"/>
          </a:p>
        </p:txBody>
      </p:sp>
      <p:sp>
        <p:nvSpPr>
          <p:cNvPr id="20" name="click3"/>
          <p:cNvSpPr txBox="1"/>
          <p:nvPr/>
        </p:nvSpPr>
        <p:spPr>
          <a:xfrm>
            <a:off x="9601200" y="3108960"/>
            <a:ext cx="2039112" cy="320040"/>
          </a:xfrm>
          <a:prstGeom prst="rect">
            <a:avLst/>
          </a:prstGeom>
          <a:noFill/>
          <a:ln/>
        </p:spPr>
        <p:txBody>
          <a:bodyPr wrap="square" lIns="0" tIns="0" rIns="0" bIns="0" rtlCol="0" anchor="ctr"/>
          <a:lstStyle/>
          <a:p>
            <a:pPr indent="0" marL="0">
              <a:buNone/>
            </a:pPr>
            <a:r>
              <a:rPr lang="en-US" sz="1400" i="1" dirty="0">
                <a:solidFill>
                  <a:srgbClr val="A9A9B4"/>
                </a:solidFill>
                <a:latin typeface="Calibri" pitchFamily="34" charset="0"/>
                <a:ea typeface="Calibri" pitchFamily="34" charset="-122"/>
                <a:cs typeface="Calibri" pitchFamily="34" charset="-120"/>
              </a:rPr>
              <a:t>A number</a:t>
            </a:r>
            <a:endParaRPr lang="en-US" sz="1400" dirty="0"/>
          </a:p>
        </p:txBody>
      </p:sp>
      <p:sp>
        <p:nvSpPr>
          <p:cNvPr id="21" name="click4"/>
          <p:cNvSpPr/>
          <p:nvPr/>
        </p:nvSpPr>
        <p:spPr>
          <a:xfrm>
            <a:off x="548640" y="3977640"/>
            <a:ext cx="11091672" cy="0"/>
          </a:xfrm>
          <a:prstGeom prst="line">
            <a:avLst/>
          </a:prstGeom>
          <a:noFill/>
          <a:ln w="12700">
            <a:solidFill>
              <a:srgbClr val="3A3A44"/>
            </a:solidFill>
            <a:prstDash val="solid"/>
          </a:ln>
        </p:spPr>
      </p:sp>
      <p:sp>
        <p:nvSpPr>
          <p:cNvPr id="22" name="click4 · code"/>
          <p:cNvSpPr/>
          <p:nvPr/>
        </p:nvSpPr>
        <p:spPr>
          <a:xfrm>
            <a:off x="548640" y="4069080"/>
            <a:ext cx="5577840" cy="868680"/>
          </a:xfrm>
          <a:prstGeom prst="roundRect">
            <a:avLst>
              <a:gd name="adj" fmla="val 8421"/>
            </a:avLst>
          </a:prstGeom>
          <a:solidFill>
            <a:srgbClr val="111115"/>
          </a:solidFill>
          <a:ln w="15875">
            <a:solidFill>
              <a:srgbClr val="3A3A44"/>
            </a:solidFill>
            <a:prstDash val="solid"/>
          </a:ln>
        </p:spPr>
      </p:sp>
      <p:sp>
        <p:nvSpPr>
          <p:cNvPr id="23" name="click4"/>
          <p:cNvSpPr txBox="1"/>
          <p:nvPr/>
        </p:nvSpPr>
        <p:spPr>
          <a:xfrm>
            <a:off x="658368" y="4270248"/>
            <a:ext cx="274320" cy="419100"/>
          </a:xfrm>
          <a:prstGeom prst="rect">
            <a:avLst/>
          </a:prstGeom>
          <a:noFill/>
          <a:ln/>
        </p:spPr>
        <p:txBody>
          <a:bodyPr wrap="square" lIns="0" tIns="0" rIns="0" bIns="0" rtlCol="0" anchor="ctr"/>
          <a:lstStyle/>
          <a:p>
            <a:pPr algn="r" indent="0" marL="0">
              <a:buNone/>
            </a:pPr>
            <a:r>
              <a:rPr lang="en-US" sz="1600" dirty="0">
                <a:solidFill>
                  <a:srgbClr val="6E6E7A"/>
                </a:solidFill>
                <a:latin typeface="Consolas" pitchFamily="34" charset="0"/>
                <a:ea typeface="Consolas" pitchFamily="34" charset="-122"/>
                <a:cs typeface="Consolas" pitchFamily="34" charset="-120"/>
              </a:rPr>
              <a:t>2</a:t>
            </a:r>
            <a:endParaRPr lang="en-US" sz="1600" dirty="0"/>
          </a:p>
        </p:txBody>
      </p:sp>
      <p:sp>
        <p:nvSpPr>
          <p:cNvPr id="24" name="click4"/>
          <p:cNvSpPr txBox="1"/>
          <p:nvPr/>
        </p:nvSpPr>
        <p:spPr>
          <a:xfrm>
            <a:off x="1188720" y="4270248"/>
            <a:ext cx="4846320" cy="419100"/>
          </a:xfrm>
          <a:prstGeom prst="rect">
            <a:avLst/>
          </a:prstGeom>
          <a:noFill/>
          <a:ln/>
        </p:spPr>
        <p:txBody>
          <a:bodyPr wrap="square" lIns="0" tIns="0" rIns="0" bIns="0" rtlCol="0" anchor="ctr"/>
          <a:lstStyle/>
          <a:p>
            <a:pPr indent="0" marL="0">
              <a:buNone/>
            </a:pPr>
            <a:r>
              <a:rPr lang="en-US" sz="2000" dirty="0">
                <a:solidFill>
                  <a:srgbClr val="E8C878"/>
                </a:solidFill>
                <a:latin typeface="Consolas" pitchFamily="34" charset="0"/>
                <a:ea typeface="Consolas" pitchFamily="34" charset="-122"/>
                <a:cs typeface="Consolas" pitchFamily="34" charset="-120"/>
              </a:rPr>
              <a:t>print</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E69F00"/>
                </a:solidFill>
                <a:latin typeface="Consolas" pitchFamily="34" charset="0"/>
                <a:ea typeface="Consolas" pitchFamily="34" charset="-122"/>
                <a:cs typeface="Consolas" pitchFamily="34" charset="-120"/>
              </a:rPr>
              <a:t>"Tries: "</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 </a:t>
            </a:r>
            <a:pPr indent="0" marL="0">
              <a:buNone/>
            </a:pPr>
            <a:r>
              <a:rPr lang="en-US" sz="2000" dirty="0">
                <a:solidFill>
                  <a:srgbClr val="E8C878"/>
                </a:solidFill>
                <a:latin typeface="Consolas" pitchFamily="34" charset="0"/>
                <a:ea typeface="Consolas" pitchFamily="34" charset="-122"/>
                <a:cs typeface="Consolas" pitchFamily="34" charset="-120"/>
              </a:rPr>
              <a:t>str</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F5F5F3"/>
                </a:solidFill>
                <a:latin typeface="Consolas" pitchFamily="34" charset="0"/>
                <a:ea typeface="Consolas" pitchFamily="34" charset="-122"/>
                <a:cs typeface="Consolas" pitchFamily="34" charset="-120"/>
              </a:rPr>
              <a:t>attempts</a:t>
            </a:r>
            <a:pPr indent="0" marL="0">
              <a:buNone/>
            </a:pPr>
            <a:r>
              <a:rPr lang="en-US" sz="2000" dirty="0">
                <a:solidFill>
                  <a:srgbClr val="A9A9B4"/>
                </a:solidFill>
                <a:latin typeface="Consolas" pitchFamily="34" charset="0"/>
                <a:ea typeface="Consolas" pitchFamily="34" charset="-122"/>
                <a:cs typeface="Consolas" pitchFamily="34" charset="-120"/>
              </a:rPr>
              <a:t>)</a:t>
            </a:r>
            <a:pPr indent="0" marL="0">
              <a:buNone/>
            </a:pPr>
            <a:r>
              <a:rPr lang="en-US" sz="2000" dirty="0">
                <a:solidFill>
                  <a:srgbClr val="A9A9B4"/>
                </a:solidFill>
                <a:latin typeface="Consolas" pitchFamily="34" charset="0"/>
                <a:ea typeface="Consolas" pitchFamily="34" charset="-122"/>
                <a:cs typeface="Consolas" pitchFamily="34" charset="-120"/>
              </a:rPr>
              <a:t>)</a:t>
            </a:r>
            <a:endParaRPr lang="en-US" sz="2000" dirty="0"/>
          </a:p>
        </p:txBody>
      </p:sp>
      <p:sp>
        <p:nvSpPr>
          <p:cNvPr id="25" name="click4"/>
          <p:cNvSpPr txBox="1"/>
          <p:nvPr/>
        </p:nvSpPr>
        <p:spPr>
          <a:xfrm>
            <a:off x="640080" y="5074920"/>
            <a:ext cx="5394960" cy="868680"/>
          </a:xfrm>
          <a:prstGeom prst="rect">
            <a:avLst/>
          </a:prstGeom>
          <a:noFill/>
          <a:ln/>
        </p:spPr>
        <p:txBody>
          <a:bodyPr wrap="square" lIns="0" tIns="0" rIns="0" bIns="0" rtlCol="0" anchor="t"/>
          <a:lstStyle/>
          <a:p>
            <a:pPr indent="0" marL="0">
              <a:buNone/>
            </a:pPr>
            <a:r>
              <a:rPr lang="en-US" sz="2000" dirty="0">
                <a:solidFill>
                  <a:srgbClr val="F5F5F3"/>
                </a:solidFill>
                <a:latin typeface="Consolas" pitchFamily="34" charset="0"/>
                <a:ea typeface="Consolas" pitchFamily="34" charset="-122"/>
                <a:cs typeface="Consolas" pitchFamily="34" charset="-120"/>
              </a:rPr>
              <a:t>str()</a:t>
            </a:r>
            <a:pPr indent="0" marL="0">
              <a:buNone/>
            </a:pPr>
            <a:r>
              <a:rPr lang="en-US" sz="2000" dirty="0">
                <a:solidFill>
                  <a:srgbClr val="F5F5F3"/>
                </a:solidFill>
                <a:latin typeface="Calibri" pitchFamily="34" charset="0"/>
                <a:ea typeface="Calibri" pitchFamily="34" charset="-122"/>
                <a:cs typeface="Calibri" pitchFamily="34" charset="-120"/>
              </a:rPr>
              <a:t> turns 3 into the </a:t>
            </a:r>
            <a:pPr indent="0" marL="0">
              <a:buNone/>
            </a:pPr>
            <a:r>
              <a:rPr lang="en-US" sz="2000" b="1" dirty="0">
                <a:solidFill>
                  <a:srgbClr val="E69F00"/>
                </a:solidFill>
                <a:latin typeface="Calibri" pitchFamily="34" charset="0"/>
                <a:ea typeface="Calibri" pitchFamily="34" charset="-122"/>
                <a:cs typeface="Calibri" pitchFamily="34" charset="-120"/>
              </a:rPr>
              <a:t>text</a:t>
            </a:r>
            <a:pPr indent="0" marL="0">
              <a:buNone/>
            </a:pPr>
            <a:r>
              <a:rPr lang="en-US" sz="2000" dirty="0">
                <a:solidFill>
                  <a:srgbClr val="F5F5F3"/>
                </a:solidFill>
                <a:latin typeface="Calibri" pitchFamily="34" charset="0"/>
                <a:ea typeface="Calibri" pitchFamily="34" charset="-122"/>
                <a:cs typeface="Calibri" pitchFamily="34" charset="-120"/>
              </a:rPr>
              <a:t> "3", so + </a:t>
            </a:r>
            <a:pPr indent="0" marL="0">
              <a:buNone/>
            </a:pPr>
            <a:r>
              <a:rPr lang="en-US" sz="2000" b="1" dirty="0">
                <a:solidFill>
                  <a:srgbClr val="D8A73D"/>
                </a:solidFill>
                <a:latin typeface="Calibri" pitchFamily="34" charset="0"/>
                <a:ea typeface="Calibri" pitchFamily="34" charset="-122"/>
                <a:cs typeface="Calibri" pitchFamily="34" charset="-120"/>
              </a:rPr>
              <a:t>joins</a:t>
            </a:r>
            <a:pPr indent="0" marL="0">
              <a:buNone/>
            </a:pPr>
            <a:r>
              <a:rPr lang="en-US" sz="2000" dirty="0">
                <a:solidFill>
                  <a:srgbClr val="F5F5F3"/>
                </a:solidFill>
                <a:latin typeface="Calibri" pitchFamily="34" charset="0"/>
                <a:ea typeface="Calibri" pitchFamily="34" charset="-122"/>
                <a:cs typeface="Calibri" pitchFamily="34" charset="-120"/>
              </a:rPr>
              <a:t> it on</a:t>
            </a:r>
            <a:endParaRPr lang="en-US" sz="2000" dirty="0"/>
          </a:p>
        </p:txBody>
      </p:sp>
      <p:sp>
        <p:nvSpPr>
          <p:cNvPr id="26" name="click5 · terminal"/>
          <p:cNvSpPr/>
          <p:nvPr/>
        </p:nvSpPr>
        <p:spPr>
          <a:xfrm>
            <a:off x="6446520" y="4069080"/>
            <a:ext cx="2926080" cy="1325880"/>
          </a:xfrm>
          <a:prstGeom prst="roundRect">
            <a:avLst>
              <a:gd name="adj" fmla="val 5517"/>
            </a:avLst>
          </a:prstGeom>
          <a:solidFill>
            <a:srgbClr val="0A0A0D"/>
          </a:solidFill>
          <a:ln w="15875">
            <a:solidFill>
              <a:srgbClr val="3A3A44"/>
            </a:solidFill>
            <a:prstDash val="solid"/>
          </a:ln>
        </p:spPr>
      </p:sp>
      <p:sp>
        <p:nvSpPr>
          <p:cNvPr id="27" name="click5"/>
          <p:cNvSpPr txBox="1"/>
          <p:nvPr/>
        </p:nvSpPr>
        <p:spPr>
          <a:xfrm>
            <a:off x="6675120" y="4297680"/>
            <a:ext cx="2468880" cy="44704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Tries: 3</a:t>
            </a:r>
            <a:endParaRPr lang="en-US" sz="2200" dirty="0"/>
          </a:p>
        </p:txBody>
      </p:sp>
      <p:sp>
        <p:nvSpPr>
          <p:cNvPr id="28" name="click5"/>
          <p:cNvSpPr txBox="1"/>
          <p:nvPr/>
        </p:nvSpPr>
        <p:spPr>
          <a:xfrm>
            <a:off x="6446520" y="5486400"/>
            <a:ext cx="2926080" cy="320040"/>
          </a:xfrm>
          <a:prstGeom prst="rect">
            <a:avLst/>
          </a:prstGeom>
          <a:noFill/>
          <a:ln/>
        </p:spPr>
        <p:txBody>
          <a:bodyPr wrap="square" lIns="0" tIns="0" rIns="0" bIns="0" rtlCol="0" anchor="ctr"/>
          <a:lstStyle/>
          <a:p>
            <a:pPr indent="0" marL="0">
              <a:buNone/>
            </a:pPr>
            <a:r>
              <a:rPr lang="en-US" sz="1400" i="1" dirty="0">
                <a:solidFill>
                  <a:srgbClr val="A9A9B4"/>
                </a:solidFill>
                <a:latin typeface="Calibri" pitchFamily="34" charset="0"/>
                <a:ea typeface="Calibri" pitchFamily="34" charset="-122"/>
                <a:cs typeface="Calibri" pitchFamily="34" charset="-120"/>
              </a:rPr>
              <a:t>Joined into one line</a:t>
            </a:r>
            <a:endParaRPr lang="en-US" sz="1400" dirty="0"/>
          </a:p>
        </p:txBody>
      </p:sp>
      <p:sp>
        <p:nvSpPr>
          <p:cNvPr id="29" name="click6"/>
          <p:cNvSpPr/>
          <p:nvPr/>
        </p:nvSpPr>
        <p:spPr>
          <a:xfrm>
            <a:off x="9601200" y="4343400"/>
            <a:ext cx="2039112" cy="868680"/>
          </a:xfrm>
          <a:prstGeom prst="roundRect">
            <a:avLst>
              <a:gd name="adj" fmla="val 6316"/>
            </a:avLst>
          </a:prstGeom>
          <a:solidFill>
            <a:srgbClr val="111115"/>
          </a:solidFill>
          <a:ln w="25400">
            <a:solidFill>
              <a:srgbClr val="56B4E9"/>
            </a:solidFill>
            <a:prstDash val="solid"/>
          </a:ln>
        </p:spPr>
      </p:sp>
      <p:sp>
        <p:nvSpPr>
          <p:cNvPr id="30" name="click6"/>
          <p:cNvSpPr/>
          <p:nvPr/>
        </p:nvSpPr>
        <p:spPr>
          <a:xfrm>
            <a:off x="9738360" y="4160520"/>
            <a:ext cx="1883664" cy="347472"/>
          </a:xfrm>
          <a:prstGeom prst="roundRect">
            <a:avLst>
              <a:gd name="adj" fmla="val 13158"/>
            </a:avLst>
          </a:prstGeom>
          <a:solidFill>
            <a:srgbClr val="56B4E9"/>
          </a:solidFill>
          <a:ln/>
        </p:spPr>
      </p:sp>
      <p:sp>
        <p:nvSpPr>
          <p:cNvPr id="31" name="click6"/>
          <p:cNvSpPr txBox="1"/>
          <p:nvPr/>
        </p:nvSpPr>
        <p:spPr>
          <a:xfrm>
            <a:off x="9738360" y="4160520"/>
            <a:ext cx="1883664"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attempts  ·  int</a:t>
            </a:r>
            <a:endParaRPr lang="en-US" sz="1400" dirty="0"/>
          </a:p>
        </p:txBody>
      </p:sp>
      <p:sp>
        <p:nvSpPr>
          <p:cNvPr id="32" name="click6"/>
          <p:cNvSpPr txBox="1"/>
          <p:nvPr/>
        </p:nvSpPr>
        <p:spPr>
          <a:xfrm>
            <a:off x="9692640" y="4526280"/>
            <a:ext cx="1856232" cy="640080"/>
          </a:xfrm>
          <a:prstGeom prst="rect">
            <a:avLst/>
          </a:prstGeom>
          <a:noFill/>
          <a:ln/>
        </p:spPr>
        <p:txBody>
          <a:bodyPr wrap="square" lIns="0" tIns="0" rIns="0" bIns="0" rtlCol="0" anchor="ctr"/>
          <a:lstStyle/>
          <a:p>
            <a:pPr algn="ctr" indent="0" marL="0">
              <a:buNone/>
            </a:pPr>
            <a:r>
              <a:rPr lang="en-US" sz="2400" dirty="0">
                <a:solidFill>
                  <a:srgbClr val="F5F5F3"/>
                </a:solidFill>
                <a:latin typeface="Consolas" pitchFamily="34" charset="0"/>
                <a:ea typeface="Consolas" pitchFamily="34" charset="-122"/>
                <a:cs typeface="Consolas" pitchFamily="34" charset="-120"/>
              </a:rPr>
              <a:t>3</a:t>
            </a:r>
            <a:endParaRPr lang="en-US" sz="2400" dirty="0"/>
          </a:p>
        </p:txBody>
      </p:sp>
      <p:sp>
        <p:nvSpPr>
          <p:cNvPr id="33" name="click6"/>
          <p:cNvSpPr txBox="1"/>
          <p:nvPr/>
        </p:nvSpPr>
        <p:spPr>
          <a:xfrm>
            <a:off x="9601200" y="5303520"/>
            <a:ext cx="2039112" cy="320040"/>
          </a:xfrm>
          <a:prstGeom prst="rect">
            <a:avLst/>
          </a:prstGeom>
          <a:noFill/>
          <a:ln/>
        </p:spPr>
        <p:txBody>
          <a:bodyPr wrap="square" lIns="0" tIns="0" rIns="0" bIns="0" rtlCol="0" anchor="ctr"/>
          <a:lstStyle/>
          <a:p>
            <a:pPr indent="0" marL="0">
              <a:buNone/>
            </a:pPr>
            <a:r>
              <a:rPr lang="en-US" sz="1400" i="1" dirty="0">
                <a:solidFill>
                  <a:srgbClr val="A9A9B4"/>
                </a:solidFill>
                <a:latin typeface="Calibri" pitchFamily="34" charset="0"/>
                <a:ea typeface="Calibri" pitchFamily="34" charset="-122"/>
                <a:cs typeface="Calibri" pitchFamily="34" charset="-120"/>
              </a:rPr>
              <a:t>Still a number: str() doesn’t change the box</a:t>
            </a:r>
            <a:endParaRPr lang="en-US" sz="1400" dirty="0"/>
          </a:p>
        </p:txBody>
      </p:sp>
      <p:pic>
        <p:nvPicPr>
          <p:cNvPr id="34" name="Image 2" descr="New information">    </p:cNvPr>
          <p:cNvPicPr>
            <a:picLocks noChangeAspect="1"/>
          </p:cNvPicPr>
          <p:nvPr/>
        </p:nvPicPr>
        <p:blipFill>
          <a:blip r:embed="rId3"/>
          <a:stretch>
            <a:fillRect/>
          </a:stretch>
        </p:blipFill>
        <p:spPr>
          <a:xfrm>
            <a:off x="10972800" y="384048"/>
            <a:ext cx="731520" cy="731520"/>
          </a:xfrm>
          <a:prstGeom prst="rect">
            <a:avLst/>
          </a:prstGeom>
        </p:spPr>
      </p:pic>
      <p:sp>
        <p:nvSpPr>
          <p:cNvPr id="3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500"/>
                                        <p:tgtEl>
                                          <p:spTgt spid="2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500"/>
                                        <p:tgtEl>
                                          <p:spTgt spid="2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par>
                                <p:cTn id="78" presetID="10" presetClass="entr" presetSubtype="0" fill="hold"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50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500"/>
                                        <p:tgtEl>
                                          <p:spTgt spid="3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500"/>
                                        <p:tgtEl>
                                          <p:spTgt spid="32"/>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3"/>
                                        </p:tgtEl>
                                        <p:attrNameLst>
                                          <p:attrName>style.visibility</p:attrName>
                                        </p:attrNameLst>
                                      </p:cBhvr>
                                      <p:to>
                                        <p:strVal val="visible"/>
                                      </p:to>
                                    </p:set>
                                    <p:animEffect transition="in" filter="fade">
                                      <p:cBhvr>
                                        <p:cTn id="8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4" grpId="0" animBg="1"/>
      <p:bldP spid="15" grpId="0" animBg="1"/>
      <p:bldP spid="18" grpId="0" animBg="1"/>
      <p:bldP spid="19" grpId="0" animBg="1"/>
      <p:bldP spid="20" grpId="0" animBg="1"/>
      <p:bldP spid="23" grpId="0" animBg="1"/>
      <p:bldP spid="24" grpId="0" animBg="1"/>
      <p:bldP spid="25" grpId="0" animBg="1"/>
      <p:bldP spid="27" grpId="0" animBg="1"/>
      <p:bldP spid="28" grpId="0" animBg="1"/>
      <p:bldP spid="31" grpId="0" animBg="1"/>
      <p:bldP spid="32" grpId="0" animBg="1"/>
      <p:bldP spid="3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txBox="1"/>
          <p:nvPr/>
        </p:nvSpPr>
        <p:spPr>
          <a:xfrm>
            <a:off x="548640" y="548640"/>
            <a:ext cx="5486400" cy="320040"/>
          </a:xfrm>
          <a:prstGeom prst="rect">
            <a:avLst/>
          </a:prstGeom>
          <a:noFill/>
          <a:ln/>
        </p:spPr>
        <p:txBody>
          <a:bodyPr wrap="square" lIns="0" tIns="0" rIns="0" bIns="0" rtlCol="0" anchor="ctr"/>
          <a:lstStyle/>
          <a:p>
            <a:pPr indent="0" marL="0">
              <a:buNone/>
            </a:pPr>
            <a:r>
              <a:rPr lang="en-US" sz="1400" b="1" spc="300" kern="0" dirty="0">
                <a:solidFill>
                  <a:srgbClr val="D8A73D"/>
                </a:solidFill>
                <a:latin typeface="Calibri" pitchFamily="34" charset="0"/>
                <a:ea typeface="Calibri" pitchFamily="34" charset="-122"/>
                <a:cs typeface="Calibri" pitchFamily="34" charset="-120"/>
              </a:rPr>
              <a:t>CHAPTER 3</a:t>
            </a:r>
            <a:endParaRPr lang="en-US" sz="1400" dirty="0"/>
          </a:p>
        </p:txBody>
      </p:sp>
      <p:sp>
        <p:nvSpPr>
          <p:cNvPr id="6" name="Text 2"/>
          <p:cNvSpPr txBox="1"/>
          <p:nvPr/>
        </p:nvSpPr>
        <p:spPr>
          <a:xfrm>
            <a:off x="548640" y="914400"/>
            <a:ext cx="5486400" cy="914400"/>
          </a:xfrm>
          <a:prstGeom prst="rect">
            <a:avLst/>
          </a:prstGeom>
          <a:noFill/>
          <a:ln/>
        </p:spPr>
        <p:txBody>
          <a:bodyPr wrap="square" lIns="0" tIns="0" rIns="0" bIns="0" rtlCol="0" anchor="ctr"/>
          <a:lstStyle/>
          <a:p>
            <a:pPr indent="0" marL="0">
              <a:buNone/>
            </a:pPr>
            <a:r>
              <a:rPr lang="en-US" sz="4800" b="1" dirty="0">
                <a:solidFill>
                  <a:srgbClr val="F5F5F3"/>
                </a:solidFill>
                <a:latin typeface="Cambria" pitchFamily="34" charset="0"/>
                <a:ea typeface="Cambria" pitchFamily="34" charset="-122"/>
                <a:cs typeface="Cambria" pitchFamily="34" charset="-120"/>
              </a:rPr>
              <a:t>Locked In</a:t>
            </a:r>
            <a:endParaRPr lang="en-US" sz="4800" dirty="0"/>
          </a:p>
        </p:txBody>
      </p:sp>
      <p:sp>
        <p:nvSpPr>
          <p:cNvPr id="7" name="terminal"/>
          <p:cNvSpPr/>
          <p:nvPr/>
        </p:nvSpPr>
        <p:spPr>
          <a:xfrm>
            <a:off x="548640" y="2148840"/>
            <a:ext cx="5212080" cy="2788920"/>
          </a:xfrm>
          <a:prstGeom prst="roundRect">
            <a:avLst>
              <a:gd name="adj" fmla="val 2623"/>
            </a:avLst>
          </a:prstGeom>
          <a:solidFill>
            <a:srgbClr val="0D1310"/>
          </a:solidFill>
          <a:ln w="15875">
            <a:solidFill>
              <a:srgbClr val="2C4434"/>
            </a:solidFill>
            <a:prstDash val="solid"/>
          </a:ln>
        </p:spPr>
      </p:sp>
      <p:sp>
        <p:nvSpPr>
          <p:cNvPr id="8" name="Text 4"/>
          <p:cNvSpPr txBox="1"/>
          <p:nvPr/>
        </p:nvSpPr>
        <p:spPr>
          <a:xfrm>
            <a:off x="777240" y="2331720"/>
            <a:ext cx="4754880" cy="274320"/>
          </a:xfrm>
          <a:prstGeom prst="rect">
            <a:avLst/>
          </a:prstGeom>
          <a:noFill/>
          <a:ln/>
        </p:spPr>
        <p:txBody>
          <a:bodyPr wrap="square" lIns="0" tIns="0" rIns="0" bIns="0" rtlCol="0" anchor="ctr"/>
          <a:lstStyle/>
          <a:p>
            <a:pPr indent="0" marL="0">
              <a:buNone/>
            </a:pPr>
            <a:r>
              <a:rPr lang="en-US" sz="1200" b="1" spc="200" kern="0" dirty="0">
                <a:solidFill>
                  <a:srgbClr val="7FD99A"/>
                </a:solidFill>
                <a:latin typeface="Calibri" pitchFamily="34" charset="0"/>
                <a:ea typeface="Calibri" pitchFamily="34" charset="-122"/>
                <a:cs typeface="Calibri" pitchFamily="34" charset="-120"/>
              </a:rPr>
              <a:t>AIRLOCK 1</a:t>
            </a:r>
            <a:endParaRPr lang="en-US" sz="1200" dirty="0"/>
          </a:p>
        </p:txBody>
      </p:sp>
      <p:sp>
        <p:nvSpPr>
          <p:cNvPr id="9" name="Text 5"/>
          <p:cNvSpPr txBox="1"/>
          <p:nvPr/>
        </p:nvSpPr>
        <p:spPr>
          <a:xfrm>
            <a:off x="777240" y="26974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The airlock is sealed.</a:t>
            </a:r>
            <a:endParaRPr lang="en-US" sz="2000" dirty="0"/>
          </a:p>
        </p:txBody>
      </p:sp>
      <p:sp>
        <p:nvSpPr>
          <p:cNvPr id="10" name="Text 6"/>
          <p:cNvSpPr txBox="1"/>
          <p:nvPr/>
        </p:nvSpPr>
        <p:spPr>
          <a:xfrm>
            <a:off x="777240" y="3103880"/>
            <a:ext cx="4754880" cy="406400"/>
          </a:xfrm>
          <a:prstGeom prst="rect">
            <a:avLst/>
          </a:prstGeom>
          <a:noFill/>
          <a:ln/>
        </p:spPr>
        <p:txBody>
          <a:bodyPr wrap="square" lIns="0" tIns="0" rIns="0" bIns="0" rtlCol="0" anchor="ctr"/>
          <a:lstStyle/>
          <a:p>
            <a:pPr indent="0" marL="0">
              <a:buNone/>
            </a:pPr>
            <a:endParaRPr lang="en-US" sz="2000" dirty="0"/>
          </a:p>
        </p:txBody>
      </p:sp>
      <p:sp>
        <p:nvSpPr>
          <p:cNvPr id="11" name="Text 7"/>
          <p:cNvSpPr txBox="1"/>
          <p:nvPr/>
        </p:nvSpPr>
        <p:spPr>
          <a:xfrm>
            <a:off x="777240" y="35102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WARDEN changed the code.</a:t>
            </a:r>
            <a:endParaRPr lang="en-US" sz="2000" dirty="0"/>
          </a:p>
        </p:txBody>
      </p:sp>
      <p:sp>
        <p:nvSpPr>
          <p:cNvPr id="12" name="Text 8"/>
          <p:cNvSpPr txBox="1"/>
          <p:nvPr/>
        </p:nvSpPr>
        <p:spPr>
          <a:xfrm>
            <a:off x="777240" y="39166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Something is moving</a:t>
            </a:r>
            <a:endParaRPr lang="en-US" sz="2000" dirty="0"/>
          </a:p>
        </p:txBody>
      </p:sp>
      <p:sp>
        <p:nvSpPr>
          <p:cNvPr id="13" name="Text 9"/>
          <p:cNvSpPr txBox="1"/>
          <p:nvPr/>
        </p:nvSpPr>
        <p:spPr>
          <a:xfrm>
            <a:off x="777240" y="4323080"/>
            <a:ext cx="4754880" cy="406400"/>
          </a:xfrm>
          <a:prstGeom prst="rect">
            <a:avLst/>
          </a:prstGeom>
          <a:noFill/>
          <a:ln/>
        </p:spPr>
        <p:txBody>
          <a:bodyPr wrap="square" lIns="0" tIns="0" rIns="0" bIns="0" rtlCol="0" anchor="ctr"/>
          <a:lstStyle/>
          <a:p>
            <a:pPr indent="0" marL="0">
              <a:buNone/>
            </a:pPr>
            <a:r>
              <a:rPr lang="en-US" sz="2000" dirty="0">
                <a:solidFill>
                  <a:srgbClr val="7FD99A"/>
                </a:solidFill>
                <a:latin typeface="Consolas" pitchFamily="34" charset="0"/>
                <a:ea typeface="Consolas" pitchFamily="34" charset="-122"/>
                <a:cs typeface="Consolas" pitchFamily="34" charset="-120"/>
              </a:rPr>
              <a:t>down the ring corridor.</a:t>
            </a:r>
            <a:endParaRPr lang="en-US" sz="2000" dirty="0"/>
          </a:p>
        </p:txBody>
      </p:sp>
      <p:sp>
        <p:nvSpPr>
          <p:cNvPr id="14" name="Shape 10"/>
          <p:cNvSpPr/>
          <p:nvPr/>
        </p:nvSpPr>
        <p:spPr>
          <a:xfrm>
            <a:off x="6172200" y="1417320"/>
            <a:ext cx="5468112" cy="4434840"/>
          </a:xfrm>
          <a:prstGeom prst="roundRect">
            <a:avLst>
              <a:gd name="adj" fmla="val 1649"/>
            </a:avLst>
          </a:prstGeom>
          <a:solidFill>
            <a:srgbClr val="2A2A32"/>
          </a:solidFill>
          <a:ln w="15875">
            <a:solidFill>
              <a:srgbClr val="3A3A44"/>
            </a:solidFill>
            <a:prstDash val="solid"/>
          </a:ln>
        </p:spPr>
      </p:sp>
      <p:sp>
        <p:nvSpPr>
          <p:cNvPr id="15" name="Text 11"/>
          <p:cNvSpPr txBox="1"/>
          <p:nvPr/>
        </p:nvSpPr>
        <p:spPr>
          <a:xfrm>
            <a:off x="6492240" y="1645920"/>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YOUR TASK</a:t>
            </a:r>
            <a:endParaRPr lang="en-US" sz="1300" dirty="0"/>
          </a:p>
        </p:txBody>
      </p:sp>
      <p:sp>
        <p:nvSpPr>
          <p:cNvPr id="16" name="Text 12"/>
          <p:cNvSpPr txBox="1"/>
          <p:nvPr/>
        </p:nvSpPr>
        <p:spPr>
          <a:xfrm>
            <a:off x="6492240" y="1965960"/>
            <a:ext cx="4828032" cy="822960"/>
          </a:xfrm>
          <a:prstGeom prst="rect">
            <a:avLst/>
          </a:prstGeom>
          <a:noFill/>
          <a:ln/>
        </p:spPr>
        <p:txBody>
          <a:bodyPr wrap="square" lIns="0" tIns="0" rIns="0" bIns="0" rtlCol="0" anchor="ctr"/>
          <a:lstStyle/>
          <a:p>
            <a:pPr indent="0" marL="0">
              <a:buNone/>
            </a:pPr>
            <a:r>
              <a:rPr lang="en-US" sz="2600" dirty="0">
                <a:solidFill>
                  <a:srgbClr val="F5F5F3"/>
                </a:solidFill>
                <a:latin typeface="Calibri" pitchFamily="34" charset="0"/>
                <a:ea typeface="Calibri" pitchFamily="34" charset="-122"/>
                <a:cs typeface="Calibri" pitchFamily="34" charset="-120"/>
              </a:rPr>
              <a:t>Open </a:t>
            </a:r>
            <a:pPr indent="0" marL="0">
              <a:buNone/>
            </a:pPr>
            <a:r>
              <a:rPr lang="en-US" sz="2600" b="1" dirty="0">
                <a:solidFill>
                  <a:srgbClr val="D8A73D"/>
                </a:solidFill>
                <a:latin typeface="Calibri" pitchFamily="34" charset="0"/>
                <a:ea typeface="Calibri" pitchFamily="34" charset="-122"/>
                <a:cs typeface="Calibri" pitchFamily="34" charset="-120"/>
              </a:rPr>
              <a:t>Locked In</a:t>
            </a:r>
            <a:pPr indent="0" marL="0">
              <a:buNone/>
            </a:pPr>
            <a:r>
              <a:rPr lang="en-US" sz="2600" dirty="0">
                <a:solidFill>
                  <a:srgbClr val="F5F5F3"/>
                </a:solidFill>
                <a:latin typeface="Calibri" pitchFamily="34" charset="0"/>
                <a:ea typeface="Calibri" pitchFamily="34" charset="-122"/>
                <a:cs typeface="Calibri" pitchFamily="34" charset="-120"/>
              </a:rPr>
              <a:t> from Google Classroom</a:t>
            </a:r>
            <a:endParaRPr lang="en-US" sz="2600" dirty="0"/>
          </a:p>
        </p:txBody>
      </p:sp>
      <p:sp>
        <p:nvSpPr>
          <p:cNvPr id="17" name="Shape 13"/>
          <p:cNvSpPr/>
          <p:nvPr/>
        </p:nvSpPr>
        <p:spPr>
          <a:xfrm>
            <a:off x="6492240" y="3063240"/>
            <a:ext cx="914400" cy="685800"/>
          </a:xfrm>
          <a:prstGeom prst="roundRect">
            <a:avLst>
              <a:gd name="adj" fmla="val 8000"/>
            </a:avLst>
          </a:prstGeom>
          <a:solidFill>
            <a:srgbClr val="1E1E24"/>
          </a:solidFill>
          <a:ln w="15875">
            <a:solidFill>
              <a:srgbClr val="D8A73D"/>
            </a:solidFill>
            <a:prstDash val="solid"/>
          </a:ln>
        </p:spPr>
      </p:sp>
      <p:sp>
        <p:nvSpPr>
          <p:cNvPr id="18" name="Text 14"/>
          <p:cNvSpPr txBox="1"/>
          <p:nvPr/>
        </p:nvSpPr>
        <p:spPr>
          <a:xfrm>
            <a:off x="6492240"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P</a:t>
            </a:r>
            <a:endParaRPr lang="en-US" sz="2800" dirty="0"/>
          </a:p>
        </p:txBody>
      </p:sp>
      <p:sp>
        <p:nvSpPr>
          <p:cNvPr id="19" name="Text 15"/>
          <p:cNvSpPr txBox="1"/>
          <p:nvPr/>
        </p:nvSpPr>
        <p:spPr>
          <a:xfrm>
            <a:off x="6400800"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Predict</a:t>
            </a:r>
            <a:endParaRPr lang="en-US" sz="1200" dirty="0"/>
          </a:p>
        </p:txBody>
      </p:sp>
      <p:sp>
        <p:nvSpPr>
          <p:cNvPr id="20" name="Shape 16"/>
          <p:cNvSpPr/>
          <p:nvPr/>
        </p:nvSpPr>
        <p:spPr>
          <a:xfrm>
            <a:off x="7470648" y="3063240"/>
            <a:ext cx="914400" cy="685800"/>
          </a:xfrm>
          <a:prstGeom prst="roundRect">
            <a:avLst>
              <a:gd name="adj" fmla="val 8000"/>
            </a:avLst>
          </a:prstGeom>
          <a:solidFill>
            <a:srgbClr val="1E1E24"/>
          </a:solidFill>
          <a:ln w="15875">
            <a:solidFill>
              <a:srgbClr val="D8A73D"/>
            </a:solidFill>
            <a:prstDash val="solid"/>
          </a:ln>
        </p:spPr>
      </p:sp>
      <p:sp>
        <p:nvSpPr>
          <p:cNvPr id="21" name="Text 17"/>
          <p:cNvSpPr txBox="1"/>
          <p:nvPr/>
        </p:nvSpPr>
        <p:spPr>
          <a:xfrm>
            <a:off x="7470648"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R</a:t>
            </a:r>
            <a:endParaRPr lang="en-US" sz="2800" dirty="0"/>
          </a:p>
        </p:txBody>
      </p:sp>
      <p:sp>
        <p:nvSpPr>
          <p:cNvPr id="22" name="Text 18"/>
          <p:cNvSpPr txBox="1"/>
          <p:nvPr/>
        </p:nvSpPr>
        <p:spPr>
          <a:xfrm>
            <a:off x="7379208"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Run</a:t>
            </a:r>
            <a:endParaRPr lang="en-US" sz="1200" dirty="0"/>
          </a:p>
        </p:txBody>
      </p:sp>
      <p:sp>
        <p:nvSpPr>
          <p:cNvPr id="23" name="Shape 19"/>
          <p:cNvSpPr/>
          <p:nvPr/>
        </p:nvSpPr>
        <p:spPr>
          <a:xfrm>
            <a:off x="8449056" y="3063240"/>
            <a:ext cx="914400" cy="685800"/>
          </a:xfrm>
          <a:prstGeom prst="roundRect">
            <a:avLst>
              <a:gd name="adj" fmla="val 8000"/>
            </a:avLst>
          </a:prstGeom>
          <a:solidFill>
            <a:srgbClr val="1E1E24"/>
          </a:solidFill>
          <a:ln w="15875">
            <a:solidFill>
              <a:srgbClr val="D8A73D"/>
            </a:solidFill>
            <a:prstDash val="solid"/>
          </a:ln>
        </p:spPr>
      </p:sp>
      <p:sp>
        <p:nvSpPr>
          <p:cNvPr id="24" name="Text 20"/>
          <p:cNvSpPr txBox="1"/>
          <p:nvPr/>
        </p:nvSpPr>
        <p:spPr>
          <a:xfrm>
            <a:off x="8449056"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I</a:t>
            </a:r>
            <a:endParaRPr lang="en-US" sz="2800" dirty="0"/>
          </a:p>
        </p:txBody>
      </p:sp>
      <p:sp>
        <p:nvSpPr>
          <p:cNvPr id="25" name="Text 21"/>
          <p:cNvSpPr txBox="1"/>
          <p:nvPr/>
        </p:nvSpPr>
        <p:spPr>
          <a:xfrm>
            <a:off x="8357616"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Investigate</a:t>
            </a:r>
            <a:endParaRPr lang="en-US" sz="1200" dirty="0"/>
          </a:p>
        </p:txBody>
      </p:sp>
      <p:sp>
        <p:nvSpPr>
          <p:cNvPr id="26" name="Shape 22"/>
          <p:cNvSpPr/>
          <p:nvPr/>
        </p:nvSpPr>
        <p:spPr>
          <a:xfrm>
            <a:off x="9427464" y="3063240"/>
            <a:ext cx="914400" cy="685800"/>
          </a:xfrm>
          <a:prstGeom prst="roundRect">
            <a:avLst>
              <a:gd name="adj" fmla="val 8000"/>
            </a:avLst>
          </a:prstGeom>
          <a:solidFill>
            <a:srgbClr val="1E1E24"/>
          </a:solidFill>
          <a:ln w="15875">
            <a:solidFill>
              <a:srgbClr val="D8A73D"/>
            </a:solidFill>
            <a:prstDash val="solid"/>
          </a:ln>
        </p:spPr>
      </p:sp>
      <p:sp>
        <p:nvSpPr>
          <p:cNvPr id="27" name="Text 23"/>
          <p:cNvSpPr txBox="1"/>
          <p:nvPr/>
        </p:nvSpPr>
        <p:spPr>
          <a:xfrm>
            <a:off x="9427464"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M</a:t>
            </a:r>
            <a:endParaRPr lang="en-US" sz="2800" dirty="0"/>
          </a:p>
        </p:txBody>
      </p:sp>
      <p:sp>
        <p:nvSpPr>
          <p:cNvPr id="28" name="Text 24"/>
          <p:cNvSpPr txBox="1"/>
          <p:nvPr/>
        </p:nvSpPr>
        <p:spPr>
          <a:xfrm>
            <a:off x="9336024"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Modify</a:t>
            </a:r>
            <a:endParaRPr lang="en-US" sz="1200" dirty="0"/>
          </a:p>
        </p:txBody>
      </p:sp>
      <p:sp>
        <p:nvSpPr>
          <p:cNvPr id="29" name="Shape 25"/>
          <p:cNvSpPr/>
          <p:nvPr/>
        </p:nvSpPr>
        <p:spPr>
          <a:xfrm>
            <a:off x="10405872" y="3063240"/>
            <a:ext cx="914400" cy="685800"/>
          </a:xfrm>
          <a:prstGeom prst="roundRect">
            <a:avLst>
              <a:gd name="adj" fmla="val 8000"/>
            </a:avLst>
          </a:prstGeom>
          <a:solidFill>
            <a:srgbClr val="1E1E24"/>
          </a:solidFill>
          <a:ln w="15875">
            <a:solidFill>
              <a:srgbClr val="D8A73D"/>
            </a:solidFill>
            <a:prstDash val="solid"/>
          </a:ln>
        </p:spPr>
      </p:sp>
      <p:sp>
        <p:nvSpPr>
          <p:cNvPr id="30" name="Text 26"/>
          <p:cNvSpPr txBox="1"/>
          <p:nvPr/>
        </p:nvSpPr>
        <p:spPr>
          <a:xfrm>
            <a:off x="10405872" y="3063240"/>
            <a:ext cx="914400" cy="685800"/>
          </a:xfrm>
          <a:prstGeom prst="rect">
            <a:avLst/>
          </a:prstGeom>
          <a:noFill/>
          <a:ln/>
        </p:spPr>
        <p:txBody>
          <a:bodyPr wrap="square" lIns="0" tIns="0" rIns="0" bIns="0" rtlCol="0" anchor="ctr"/>
          <a:lstStyle/>
          <a:p>
            <a:pPr algn="ctr" indent="0" marL="0">
              <a:buNone/>
            </a:pPr>
            <a:r>
              <a:rPr lang="en-US" sz="2800" b="1" dirty="0">
                <a:solidFill>
                  <a:srgbClr val="D8A73D"/>
                </a:solidFill>
                <a:latin typeface="Cambria" pitchFamily="34" charset="0"/>
                <a:ea typeface="Cambria" pitchFamily="34" charset="-122"/>
                <a:cs typeface="Cambria" pitchFamily="34" charset="-120"/>
              </a:rPr>
              <a:t>M</a:t>
            </a:r>
            <a:endParaRPr lang="en-US" sz="2800" dirty="0"/>
          </a:p>
        </p:txBody>
      </p:sp>
      <p:sp>
        <p:nvSpPr>
          <p:cNvPr id="31" name="Text 27"/>
          <p:cNvSpPr txBox="1"/>
          <p:nvPr/>
        </p:nvSpPr>
        <p:spPr>
          <a:xfrm>
            <a:off x="10314432" y="3794760"/>
            <a:ext cx="1097280" cy="274320"/>
          </a:xfrm>
          <a:prstGeom prst="rect">
            <a:avLst/>
          </a:prstGeom>
          <a:noFill/>
          <a:ln/>
        </p:spPr>
        <p:txBody>
          <a:bodyPr wrap="square" lIns="0" tIns="0" rIns="0" bIns="0" rtlCol="0" anchor="ctr"/>
          <a:lstStyle/>
          <a:p>
            <a:pPr algn="ctr" indent="0" marL="0">
              <a:buNone/>
            </a:pPr>
            <a:r>
              <a:rPr lang="en-US" sz="1200" dirty="0">
                <a:solidFill>
                  <a:srgbClr val="A9A9B4"/>
                </a:solidFill>
                <a:latin typeface="Calibri" pitchFamily="34" charset="0"/>
                <a:ea typeface="Calibri" pitchFamily="34" charset="-122"/>
                <a:cs typeface="Calibri" pitchFamily="34" charset="-120"/>
              </a:rPr>
              <a:t>Make</a:t>
            </a:r>
            <a:endParaRPr lang="en-US" sz="1200" dirty="0"/>
          </a:p>
        </p:txBody>
      </p:sp>
      <p:sp>
        <p:nvSpPr>
          <p:cNvPr id="32" name="Text 28"/>
          <p:cNvSpPr txBox="1"/>
          <p:nvPr/>
        </p:nvSpPr>
        <p:spPr>
          <a:xfrm>
            <a:off x="6492240" y="4343400"/>
            <a:ext cx="4828032" cy="1280160"/>
          </a:xfrm>
          <a:prstGeom prst="rect">
            <a:avLst/>
          </a:prstGeom>
          <a:noFill/>
          <a:ln/>
        </p:spPr>
        <p:txBody>
          <a:bodyPr wrap="square" lIns="0" tIns="0" rIns="0" bIns="0" rtlCol="0" anchor="ctr"/>
          <a:lstStyle/>
          <a:p>
            <a:pPr indent="0" marL="0">
              <a:buNone/>
            </a:pPr>
            <a:r>
              <a:rPr lang="en-US" sz="1900" b="1" dirty="0">
                <a:solidFill>
                  <a:srgbClr val="D8A73D"/>
                </a:solidFill>
                <a:latin typeface="Calibri" pitchFamily="34" charset="0"/>
                <a:ea typeface="Calibri" pitchFamily="34" charset="-122"/>
                <a:cs typeface="Calibri" pitchFamily="34" charset="-120"/>
              </a:rPr>
              <a:t>Three calls again: </a:t>
            </a:r>
            <a:pPr indent="0" marL="0">
              <a:buNone/>
            </a:pPr>
            <a:r>
              <a:rPr lang="en-US" sz="1900" dirty="0">
                <a:solidFill>
                  <a:srgbClr val="F5F5F3"/>
                </a:solidFill>
                <a:latin typeface="Calibri" pitchFamily="34" charset="0"/>
                <a:ea typeface="Calibri" pitchFamily="34" charset="-122"/>
                <a:cs typeface="Calibri" pitchFamily="34" charset="-120"/>
              </a:rPr>
              <a:t>in Investigate, Modify and Make. They change the story, not your score.</a:t>
            </a:r>
            <a:endParaRPr lang="en-US" sz="1900" dirty="0"/>
          </a:p>
        </p:txBody>
      </p:sp>
      <p:sp>
        <p:nvSpPr>
          <p:cNvPr id="33" name="Shape 29"/>
          <p:cNvSpPr/>
          <p:nvPr/>
        </p:nvSpPr>
        <p:spPr>
          <a:xfrm>
            <a:off x="10131552" y="1627632"/>
            <a:ext cx="1280160" cy="329184"/>
          </a:xfrm>
          <a:prstGeom prst="roundRect">
            <a:avLst>
              <a:gd name="adj" fmla="val 50000"/>
            </a:avLst>
          </a:prstGeom>
          <a:solidFill>
            <a:srgbClr val="1E1E24"/>
          </a:solidFill>
          <a:ln w="15875">
            <a:solidFill>
              <a:srgbClr val="D8A73D"/>
            </a:solidFill>
            <a:prstDash val="solid"/>
          </a:ln>
        </p:spPr>
      </p:sp>
      <p:sp>
        <p:nvSpPr>
          <p:cNvPr id="34" name="Text 30"/>
          <p:cNvSpPr txBox="1"/>
          <p:nvPr/>
        </p:nvSpPr>
        <p:spPr>
          <a:xfrm>
            <a:off x="10131552" y="1627632"/>
            <a:ext cx="1280160" cy="329184"/>
          </a:xfrm>
          <a:prstGeom prst="rect">
            <a:avLst/>
          </a:prstGeom>
          <a:noFill/>
          <a:ln/>
        </p:spPr>
        <p:txBody>
          <a:bodyPr wrap="square" lIns="0" tIns="0" rIns="0" bIns="0" rtlCol="0" anchor="ctr"/>
          <a:lstStyle/>
          <a:p>
            <a:pPr algn="ctr" indent="0" marL="0">
              <a:buNone/>
            </a:pPr>
            <a:r>
              <a:rPr lang="en-US" sz="1400" b="1" spc="100" kern="0" dirty="0">
                <a:solidFill>
                  <a:srgbClr val="D8A73D"/>
                </a:solidFill>
                <a:latin typeface="Calibri" pitchFamily="34" charset="0"/>
                <a:ea typeface="Calibri" pitchFamily="34" charset="-122"/>
                <a:cs typeface="Calibri" pitchFamily="34" charset="-120"/>
              </a:rPr>
              <a:t>⏱  ≈30 MIN</a:t>
            </a:r>
            <a:endParaRPr lang="en-US" sz="1400" dirty="0"/>
          </a:p>
        </p:txBody>
      </p:sp>
      <p:pic>
        <p:nvPicPr>
          <p:cNvPr id="35" name="Image 2" descr="Deliberate practice">    </p:cNvPr>
          <p:cNvPicPr>
            <a:picLocks noChangeAspect="1"/>
          </p:cNvPicPr>
          <p:nvPr/>
        </p:nvPicPr>
        <p:blipFill>
          <a:blip r:embed="rId3"/>
          <a:stretch>
            <a:fillRect/>
          </a:stretch>
        </p:blipFill>
        <p:spPr>
          <a:xfrm>
            <a:off x="10972800" y="384048"/>
            <a:ext cx="731520" cy="731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tation edge_red" descr="C:\Users\n.houlton_grange.out\source\repos\interactive\_presentations\Y9_Python\station\edge_red.png">    </p:cNvPr>
          <p:cNvPicPr>
            <a:picLocks noChangeAspect="1"/>
          </p:cNvPicPr>
          <p:nvPr/>
        </p:nvPicPr>
        <p:blipFill>
          <a:blip r:embed="rId1"/>
          <a:stretch>
            <a:fillRect/>
          </a:stretch>
        </p:blipFill>
        <p:spPr>
          <a:xfrm>
            <a:off x="0" y="0"/>
            <a:ext cx="12191695" cy="6858000"/>
          </a:xfrm>
          <a:prstGeom prst="rect">
            <a:avLst/>
          </a:prstGeom>
        </p:spPr>
      </p:pic>
      <p:pic>
        <p:nvPicPr>
          <p:cNvPr id="3" name="station hazard" descr="C:\Users\n.houlton_grange.out\source\repos\interactive\_presentations\Y9_Python\station\hazard.png">    </p:cNvPr>
          <p:cNvPicPr>
            <a:picLocks noChangeAspect="1"/>
          </p:cNvPicPr>
          <p:nvPr/>
        </p:nvPicPr>
        <p:blipFill>
          <a:blip r:embed="rId2"/>
          <a:stretch>
            <a:fillRect/>
          </a:stretch>
        </p:blipFill>
        <p:spPr>
          <a:xfrm>
            <a:off x="0" y="0"/>
            <a:ext cx="12191695" cy="6858000"/>
          </a:xfrm>
          <a:prstGeom prst="rect">
            <a:avLst/>
          </a:prstGeom>
        </p:spPr>
      </p:pic>
      <p:sp>
        <p:nvSpPr>
          <p:cNvPr id="4"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FF6B6B"/>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LOCKDOWN   ·   AIRLOCK CYCLING   ·   WARDEN: NO RESPONSE</a:t>
            </a:r>
            <a:endParaRPr lang="en-US" sz="1100" dirty="0"/>
          </a:p>
        </p:txBody>
      </p:sp>
      <p:sp>
        <p:nvSpPr>
          <p:cNvPr id="5"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A loop that never ends</a:t>
            </a:r>
            <a:endParaRPr lang="en-US" sz="3600" dirty="0"/>
          </a:p>
        </p:txBody>
      </p:sp>
      <p:sp>
        <p:nvSpPr>
          <p:cNvPr id="6" name="code"/>
          <p:cNvSpPr/>
          <p:nvPr/>
        </p:nvSpPr>
        <p:spPr>
          <a:xfrm>
            <a:off x="548640" y="1600200"/>
            <a:ext cx="7498080" cy="1785366"/>
          </a:xfrm>
          <a:prstGeom prst="roundRect">
            <a:avLst>
              <a:gd name="adj" fmla="val 4097"/>
            </a:avLst>
          </a:prstGeom>
          <a:solidFill>
            <a:srgbClr val="111115"/>
          </a:solidFill>
          <a:ln w="15875">
            <a:solidFill>
              <a:srgbClr val="3A3A44"/>
            </a:solidFill>
            <a:prstDash val="solid"/>
          </a:ln>
        </p:spPr>
      </p:sp>
      <p:sp>
        <p:nvSpPr>
          <p:cNvPr id="7" name="Text 3"/>
          <p:cNvSpPr txBox="1"/>
          <p:nvPr/>
        </p:nvSpPr>
        <p:spPr>
          <a:xfrm>
            <a:off x="658368" y="180136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1</a:t>
            </a:r>
            <a:endParaRPr lang="en-US" sz="1800" dirty="0"/>
          </a:p>
        </p:txBody>
      </p:sp>
      <p:sp>
        <p:nvSpPr>
          <p:cNvPr id="8" name="Text 4"/>
          <p:cNvSpPr txBox="1"/>
          <p:nvPr/>
        </p:nvSpPr>
        <p:spPr>
          <a:xfrm>
            <a:off x="1188720" y="1801368"/>
            <a:ext cx="6766560" cy="46101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code</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input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"Code: "</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9" name="Shape 5"/>
          <p:cNvSpPr/>
          <p:nvPr/>
        </p:nvSpPr>
        <p:spPr>
          <a:xfrm>
            <a:off x="603504" y="2262378"/>
            <a:ext cx="7388352" cy="461010"/>
          </a:xfrm>
          <a:prstGeom prst="rect">
            <a:avLst/>
          </a:prstGeom>
          <a:solidFill>
            <a:srgbClr val="2B2618"/>
          </a:solidFill>
          <a:ln/>
        </p:spPr>
      </p:sp>
      <p:sp>
        <p:nvSpPr>
          <p:cNvPr id="10" name="Text 6"/>
          <p:cNvSpPr txBox="1"/>
          <p:nvPr/>
        </p:nvSpPr>
        <p:spPr>
          <a:xfrm>
            <a:off x="658368" y="226237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2</a:t>
            </a:r>
            <a:endParaRPr lang="en-US" sz="1800" dirty="0"/>
          </a:p>
        </p:txBody>
      </p:sp>
      <p:sp>
        <p:nvSpPr>
          <p:cNvPr id="11" name="Text 7"/>
          <p:cNvSpPr txBox="1"/>
          <p:nvPr/>
        </p:nvSpPr>
        <p:spPr>
          <a:xfrm>
            <a:off x="1188720" y="2262378"/>
            <a:ext cx="6766560" cy="46101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while</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code</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69F00"/>
                </a:solidFill>
                <a:latin typeface="Consolas" pitchFamily="34" charset="0"/>
                <a:ea typeface="Consolas" pitchFamily="34" charset="-122"/>
                <a:cs typeface="Consolas" pitchFamily="34" charset="-120"/>
              </a:rPr>
              <a:t>"4271"</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2" name="Text 8"/>
          <p:cNvSpPr txBox="1"/>
          <p:nvPr/>
        </p:nvSpPr>
        <p:spPr>
          <a:xfrm>
            <a:off x="658368" y="2723388"/>
            <a:ext cx="274320" cy="461010"/>
          </a:xfrm>
          <a:prstGeom prst="rect">
            <a:avLst/>
          </a:prstGeom>
          <a:noFill/>
          <a:ln/>
        </p:spPr>
        <p:txBody>
          <a:bodyPr wrap="square" lIns="0" tIns="0" rIns="0" bIns="0" rtlCol="0" anchor="ctr"/>
          <a:lstStyle/>
          <a:p>
            <a:pPr algn="r" indent="0" marL="0">
              <a:buNone/>
            </a:pPr>
            <a:r>
              <a:rPr lang="en-US" sz="1800" dirty="0">
                <a:solidFill>
                  <a:srgbClr val="6E6E7A"/>
                </a:solidFill>
                <a:latin typeface="Consolas" pitchFamily="34" charset="0"/>
                <a:ea typeface="Consolas" pitchFamily="34" charset="-122"/>
                <a:cs typeface="Consolas" pitchFamily="34" charset="-120"/>
              </a:rPr>
              <a:t>3</a:t>
            </a:r>
            <a:endParaRPr lang="en-US" sz="1800" dirty="0"/>
          </a:p>
        </p:txBody>
      </p:sp>
      <p:sp>
        <p:nvSpPr>
          <p:cNvPr id="13" name="Text 9"/>
          <p:cNvSpPr txBox="1"/>
          <p:nvPr/>
        </p:nvSpPr>
        <p:spPr>
          <a:xfrm>
            <a:off x="1188720" y="2723388"/>
            <a:ext cx="6766560" cy="461010"/>
          </a:xfrm>
          <a:prstGeom prst="rect">
            <a:avLst/>
          </a:prstGeom>
          <a:noFill/>
          <a:ln/>
        </p:spPr>
        <p:txBody>
          <a:bodyPr wrap="square" lIns="0" tIns="0" rIns="0" bIns="0" rtlCol="0" anchor="ctr"/>
          <a:lstStyle/>
          <a:p>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"ACCESS DENIED"</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4" name="terminal"/>
          <p:cNvSpPr/>
          <p:nvPr/>
        </p:nvSpPr>
        <p:spPr>
          <a:xfrm>
            <a:off x="548640" y="3614166"/>
            <a:ext cx="11091672" cy="1143000"/>
          </a:xfrm>
          <a:prstGeom prst="roundRect">
            <a:avLst>
              <a:gd name="adj" fmla="val 6400"/>
            </a:avLst>
          </a:prstGeom>
          <a:solidFill>
            <a:srgbClr val="0A0A0D"/>
          </a:solidFill>
          <a:ln w="15875">
            <a:solidFill>
              <a:srgbClr val="3A3A44"/>
            </a:solidFill>
            <a:prstDash val="solid"/>
          </a:ln>
        </p:spPr>
      </p:sp>
      <p:sp>
        <p:nvSpPr>
          <p:cNvPr id="15" name="Text 11"/>
          <p:cNvSpPr txBox="1"/>
          <p:nvPr/>
        </p:nvSpPr>
        <p:spPr>
          <a:xfrm>
            <a:off x="777240" y="3797046"/>
            <a:ext cx="10634472" cy="274320"/>
          </a:xfrm>
          <a:prstGeom prst="rect">
            <a:avLst/>
          </a:prstGeom>
          <a:noFill/>
          <a:ln/>
        </p:spPr>
        <p:txBody>
          <a:bodyPr wrap="square" lIns="0" tIns="0" rIns="0" bIns="0" rtlCol="0" anchor="ctr"/>
          <a:lstStyle/>
          <a:p>
            <a:pPr indent="0" marL="0">
              <a:buNone/>
            </a:pPr>
            <a:r>
              <a:rPr lang="en-US" sz="1200" b="1" spc="200" kern="0" dirty="0">
                <a:solidFill>
                  <a:srgbClr val="A9A9B4"/>
                </a:solidFill>
                <a:latin typeface="Calibri" pitchFamily="34" charset="0"/>
                <a:ea typeface="Calibri" pitchFamily="34" charset="-122"/>
                <a:cs typeface="Calibri" pitchFamily="34" charset="-120"/>
              </a:rPr>
              <a:t>ERROR — LAST LINE</a:t>
            </a:r>
            <a:endParaRPr lang="en-US" sz="1200" dirty="0"/>
          </a:p>
        </p:txBody>
      </p:sp>
      <p:sp>
        <p:nvSpPr>
          <p:cNvPr id="16" name="Text 12"/>
          <p:cNvSpPr txBox="1"/>
          <p:nvPr/>
        </p:nvSpPr>
        <p:spPr>
          <a:xfrm>
            <a:off x="777240" y="4162806"/>
            <a:ext cx="10634472" cy="365760"/>
          </a:xfrm>
          <a:prstGeom prst="rect">
            <a:avLst/>
          </a:prstGeom>
          <a:noFill/>
          <a:ln/>
        </p:spPr>
        <p:txBody>
          <a:bodyPr wrap="square" lIns="0" tIns="0" rIns="0" bIns="0" rtlCol="0" anchor="ctr"/>
          <a:lstStyle/>
          <a:p>
            <a:pPr indent="0" marL="0">
              <a:buNone/>
            </a:pPr>
            <a:r>
              <a:rPr lang="en-US" sz="1800" b="1" dirty="0">
                <a:solidFill>
                  <a:srgbClr val="FF6B6B"/>
                </a:solidFill>
                <a:latin typeface="Consolas" pitchFamily="34" charset="0"/>
                <a:ea typeface="Consolas" pitchFamily="34" charset="-122"/>
                <a:cs typeface="Consolas" pitchFamily="34" charset="-120"/>
              </a:rPr>
              <a:t>InfiniteLoopError: </a:t>
            </a:r>
            <a:pPr indent="0" marL="0">
              <a:buNone/>
            </a:pPr>
            <a:r>
              <a:rPr lang="en-US" sz="1800" dirty="0">
                <a:solidFill>
                  <a:srgbClr val="FF6B6B"/>
                </a:solidFill>
                <a:latin typeface="Consolas" pitchFamily="34" charset="0"/>
                <a:ea typeface="Consolas" pitchFamily="34" charset="-122"/>
                <a:cs typeface="Consolas" pitchFamily="34" charset="-120"/>
              </a:rPr>
              <a:t>the program was still running after 4 seconds</a:t>
            </a:r>
            <a:endParaRPr lang="en-US" sz="1800" dirty="0"/>
          </a:p>
        </p:txBody>
      </p:sp>
      <p:sp>
        <p:nvSpPr>
          <p:cNvPr id="17" name="Text 13"/>
          <p:cNvSpPr txBox="1"/>
          <p:nvPr/>
        </p:nvSpPr>
        <p:spPr>
          <a:xfrm>
            <a:off x="8412480" y="1554480"/>
            <a:ext cx="2743200" cy="274320"/>
          </a:xfrm>
          <a:prstGeom prst="rect">
            <a:avLst/>
          </a:prstGeom>
          <a:noFill/>
          <a:ln/>
        </p:spPr>
        <p:txBody>
          <a:bodyPr wrap="square" lIns="0" tIns="0" rIns="0" bIns="0" rtlCol="0" anchor="ctr"/>
          <a:lstStyle/>
          <a:p>
            <a:pPr indent="0" marL="0">
              <a:buNone/>
            </a:pPr>
            <a:r>
              <a:rPr lang="en-US" sz="1300" b="1" spc="200" kern="0" dirty="0">
                <a:solidFill>
                  <a:srgbClr val="6E6E7A"/>
                </a:solidFill>
                <a:latin typeface="Calibri" pitchFamily="34" charset="0"/>
                <a:ea typeface="Calibri" pitchFamily="34" charset="-122"/>
                <a:cs typeface="Calibri" pitchFamily="34" charset="-120"/>
              </a:rPr>
              <a:t>IN MEMORY</a:t>
            </a:r>
            <a:endParaRPr lang="en-US" sz="1300" dirty="0"/>
          </a:p>
        </p:txBody>
      </p:sp>
      <p:sp>
        <p:nvSpPr>
          <p:cNvPr id="18" name="Shape 14"/>
          <p:cNvSpPr/>
          <p:nvPr/>
        </p:nvSpPr>
        <p:spPr>
          <a:xfrm>
            <a:off x="8412480" y="2103120"/>
            <a:ext cx="2743200" cy="868680"/>
          </a:xfrm>
          <a:prstGeom prst="roundRect">
            <a:avLst>
              <a:gd name="adj" fmla="val 6316"/>
            </a:avLst>
          </a:prstGeom>
          <a:solidFill>
            <a:srgbClr val="111115"/>
          </a:solidFill>
          <a:ln w="25400">
            <a:solidFill>
              <a:srgbClr val="E69F00"/>
            </a:solidFill>
            <a:prstDash val="solid"/>
          </a:ln>
        </p:spPr>
      </p:sp>
      <p:sp>
        <p:nvSpPr>
          <p:cNvPr id="19" name="Shape 15"/>
          <p:cNvSpPr/>
          <p:nvPr/>
        </p:nvSpPr>
        <p:spPr>
          <a:xfrm>
            <a:off x="8549640" y="1920240"/>
            <a:ext cx="1481328" cy="347472"/>
          </a:xfrm>
          <a:prstGeom prst="roundRect">
            <a:avLst>
              <a:gd name="adj" fmla="val 13158"/>
            </a:avLst>
          </a:prstGeom>
          <a:solidFill>
            <a:srgbClr val="E69F00"/>
          </a:solidFill>
          <a:ln/>
        </p:spPr>
      </p:sp>
      <p:sp>
        <p:nvSpPr>
          <p:cNvPr id="20" name="Text 16"/>
          <p:cNvSpPr txBox="1"/>
          <p:nvPr/>
        </p:nvSpPr>
        <p:spPr>
          <a:xfrm>
            <a:off x="8549640" y="1920240"/>
            <a:ext cx="1481328" cy="347472"/>
          </a:xfrm>
          <a:prstGeom prst="rect">
            <a:avLst/>
          </a:prstGeom>
          <a:noFill/>
          <a:ln/>
        </p:spPr>
        <p:txBody>
          <a:bodyPr wrap="square" lIns="0" tIns="0" rIns="0" bIns="0" rtlCol="0" anchor="ctr"/>
          <a:lstStyle/>
          <a:p>
            <a:pPr algn="ctr" indent="0" marL="0">
              <a:buNone/>
            </a:pPr>
            <a:r>
              <a:rPr lang="en-US" sz="1400" b="1" dirty="0">
                <a:solidFill>
                  <a:srgbClr val="111115"/>
                </a:solidFill>
                <a:latin typeface="Consolas" pitchFamily="34" charset="0"/>
                <a:ea typeface="Consolas" pitchFamily="34" charset="-122"/>
                <a:cs typeface="Consolas" pitchFamily="34" charset="-120"/>
              </a:rPr>
              <a:t>code  ·  str</a:t>
            </a:r>
            <a:endParaRPr lang="en-US" sz="1400" dirty="0"/>
          </a:p>
        </p:txBody>
      </p:sp>
      <p:sp>
        <p:nvSpPr>
          <p:cNvPr id="21" name="Text 17"/>
          <p:cNvSpPr txBox="1"/>
          <p:nvPr/>
        </p:nvSpPr>
        <p:spPr>
          <a:xfrm>
            <a:off x="8503920" y="2286000"/>
            <a:ext cx="2560320" cy="640080"/>
          </a:xfrm>
          <a:prstGeom prst="rect">
            <a:avLst/>
          </a:prstGeom>
          <a:noFill/>
          <a:ln/>
        </p:spPr>
        <p:txBody>
          <a:bodyPr wrap="square" lIns="0" tIns="0" rIns="0" bIns="0" rtlCol="0" anchor="ctr"/>
          <a:lstStyle/>
          <a:p>
            <a:pPr algn="ctr" indent="0" marL="0">
              <a:buNone/>
            </a:pPr>
            <a:r>
              <a:rPr lang="en-US" sz="2600" dirty="0">
                <a:solidFill>
                  <a:srgbClr val="F5F5F3"/>
                </a:solidFill>
                <a:latin typeface="Consolas" pitchFamily="34" charset="0"/>
                <a:ea typeface="Consolas" pitchFamily="34" charset="-122"/>
                <a:cs typeface="Consolas" pitchFamily="34" charset="-120"/>
              </a:rPr>
              <a:t>"1234"</a:t>
            </a:r>
            <a:endParaRPr lang="en-US" sz="2600" dirty="0"/>
          </a:p>
        </p:txBody>
      </p:sp>
      <p:sp>
        <p:nvSpPr>
          <p:cNvPr id="22" name="Shape 18"/>
          <p:cNvSpPr/>
          <p:nvPr/>
        </p:nvSpPr>
        <p:spPr>
          <a:xfrm>
            <a:off x="548640" y="4572000"/>
            <a:ext cx="11091672" cy="1188720"/>
          </a:xfrm>
          <a:prstGeom prst="roundRect">
            <a:avLst>
              <a:gd name="adj" fmla="val 6154"/>
            </a:avLst>
          </a:prstGeom>
          <a:solidFill>
            <a:srgbClr val="1E1E24"/>
          </a:solidFill>
          <a:ln w="25400">
            <a:solidFill>
              <a:srgbClr val="D8A73D"/>
            </a:solidFill>
            <a:prstDash val="solid"/>
          </a:ln>
        </p:spPr>
      </p:sp>
      <p:sp>
        <p:nvSpPr>
          <p:cNvPr id="23" name="Text 19"/>
          <p:cNvSpPr txBox="1"/>
          <p:nvPr/>
        </p:nvSpPr>
        <p:spPr>
          <a:xfrm>
            <a:off x="914400" y="4572000"/>
            <a:ext cx="10332720" cy="1188720"/>
          </a:xfrm>
          <a:prstGeom prst="rect">
            <a:avLst/>
          </a:prstGeom>
          <a:noFill/>
          <a:ln/>
        </p:spPr>
        <p:txBody>
          <a:bodyPr wrap="square" lIns="0" tIns="0" rIns="0" bIns="0" rtlCol="0" anchor="ctr"/>
          <a:lstStyle/>
          <a:p>
            <a:pPr indent="0" marL="0">
              <a:buNone/>
            </a:pPr>
            <a:r>
              <a:rPr lang="en-US" sz="2400" b="1" dirty="0">
                <a:solidFill>
                  <a:srgbClr val="D8A73D"/>
                </a:solidFill>
                <a:latin typeface="Calibri" pitchFamily="34" charset="0"/>
                <a:ea typeface="Calibri" pitchFamily="34" charset="-122"/>
                <a:cs typeface="Calibri" pitchFamily="34" charset="-120"/>
              </a:rPr>
              <a:t>Nothing inside the loop changes code, so the condition stays True. </a:t>
            </a:r>
            <a:pPr indent="0" marL="0">
              <a:buNone/>
            </a:pPr>
            <a:r>
              <a:rPr lang="en-US" sz="2400" dirty="0">
                <a:solidFill>
                  <a:srgbClr val="F5F5F3"/>
                </a:solidFill>
                <a:latin typeface="Calibri" pitchFamily="34" charset="0"/>
                <a:ea typeface="Calibri" pitchFamily="34" charset="-122"/>
                <a:cs typeface="Calibri" pitchFamily="34" charset="-120"/>
              </a:rPr>
              <a:t>Step ④: change the variable inside the loop.</a:t>
            </a:r>
            <a:endParaRPr lang="en-US" sz="2400" dirty="0"/>
          </a:p>
        </p:txBody>
      </p:sp>
      <p:pic>
        <p:nvPicPr>
          <p:cNvPr id="24" name="Image 2" descr="Feedback">    </p:cNvPr>
          <p:cNvPicPr>
            <a:picLocks noChangeAspect="1"/>
          </p:cNvPicPr>
          <p:nvPr/>
        </p:nvPicPr>
        <p:blipFill>
          <a:blip r:embed="rId3"/>
          <a:stretch>
            <a:fillRect/>
          </a:stretch>
        </p:blipFill>
        <p:spPr>
          <a:xfrm>
            <a:off x="10972800" y="384048"/>
            <a:ext cx="731520" cy="731520"/>
          </a:xfrm>
          <a:prstGeom prst="rect">
            <a:avLst/>
          </a:prstGeom>
        </p:spPr>
      </p:pic>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auto · station static" descr="C:\Users\n.houlton_grange.out\source\repos\interactive\_presentations\Y9_Python\station\static.png">    </p:cNvPr>
          <p:cNvPicPr>
            <a:picLocks noChangeAspect="1"/>
          </p:cNvPicPr>
          <p:nvPr/>
        </p:nvPicPr>
        <p:blipFill>
          <a:blip r:embed="rId1"/>
          <a:stretch>
            <a:fillRect/>
          </a:stretch>
        </p:blipFill>
        <p:spPr>
          <a:xfrm>
            <a:off x="0" y="0"/>
            <a:ext cx="12191695" cy="6858000"/>
          </a:xfrm>
          <a:prstGeom prst="rect">
            <a:avLst/>
          </a:prstGeom>
        </p:spPr>
      </p:pic>
      <p:sp>
        <p:nvSpPr>
          <p:cNvPr id="3" name="station status"/>
          <p:cNvSpPr txBox="1"/>
          <p:nvPr/>
        </p:nvSpPr>
        <p:spPr>
          <a:xfrm>
            <a:off x="548640" y="73152"/>
            <a:ext cx="10241280" cy="237744"/>
          </a:xfrm>
          <a:prstGeom prst="rect">
            <a:avLst/>
          </a:prstGeom>
          <a:noFill/>
          <a:ln/>
        </p:spPr>
        <p:txBody>
          <a:bodyPr wrap="square" lIns="0" tIns="0" rIns="0" bIns="0" rtlCol="0" anchor="ctr"/>
          <a:lstStyle/>
          <a:p>
            <a:pPr indent="0" marL="0">
              <a:buNone/>
            </a:pPr>
            <a:r>
              <a:rPr lang="en-US" sz="1100" spc="100" kern="0" dirty="0">
                <a:solidFill>
                  <a:srgbClr val="56B4E9"/>
                </a:solidFill>
                <a:latin typeface="Consolas" pitchFamily="34" charset="0"/>
                <a:ea typeface="Consolas" pitchFamily="34" charset="-122"/>
                <a:cs typeface="Consolas" pitchFamily="34" charset="-120"/>
              </a:rPr>
              <a:t>●  </a:t>
            </a:r>
            <a:pPr indent="0" marL="0">
              <a:buNone/>
            </a:pPr>
            <a:r>
              <a:rPr lang="en-US" sz="1100" spc="100" kern="0" dirty="0">
                <a:solidFill>
                  <a:srgbClr val="6E6E7A"/>
                </a:solidFill>
                <a:latin typeface="Consolas" pitchFamily="34" charset="0"/>
                <a:ea typeface="Consolas" pitchFamily="34" charset="-122"/>
                <a:cs typeface="Consolas" pitchFamily="34" charset="-120"/>
              </a:rPr>
              <a:t>NAV BEACON   ·   SIGNAL WEAK ▂▁▃▁   ·   RESCUE SHIP: NO REPLY</a:t>
            </a:r>
            <a:endParaRPr lang="en-US" sz="1100" dirty="0"/>
          </a:p>
        </p:txBody>
      </p:sp>
      <p:sp>
        <p:nvSpPr>
          <p:cNvPr id="4" name="Text 1"/>
          <p:cNvSpPr/>
          <p:nvPr>
            <p:ph idx="101" type="title" hasCustomPrompt="1"/>
          </p:nvPr>
        </p:nvSpPr>
        <p:spPr>
          <a:xfrm>
            <a:off x="548640" y="411480"/>
            <a:ext cx="9418320" cy="777240"/>
          </a:xfrm>
          <a:prstGeom prst="rect">
            <a:avLst/>
          </a:prstGeom>
          <a:noFill/>
          <a:ln/>
        </p:spPr>
        <p:txBody>
          <a:bodyPr wrap="square" lIns="0" tIns="0" rIns="0" bIns="0" rtlCol="0" anchor="ctr"/>
          <a:lstStyle/>
          <a:p>
            <a:pPr algn="l" indent="0" marL="0">
              <a:buNone/>
            </a:pPr>
            <a:r>
              <a:rPr lang="en-US" sz="3600" b="1" dirty="0">
                <a:solidFill>
                  <a:srgbClr val="F5F5F3"/>
                </a:solidFill>
                <a:latin typeface="Cambria" pitchFamily="34" charset="0"/>
                <a:ea typeface="Cambria" pitchFamily="34" charset="-122"/>
                <a:cs typeface="Cambria" pitchFamily="34" charset="-120"/>
              </a:rPr>
              <a:t>Plenary</a:t>
            </a:r>
            <a:endParaRPr lang="en-US" sz="3600" dirty="0"/>
          </a:p>
        </p:txBody>
      </p:sp>
      <p:sp>
        <p:nvSpPr>
          <p:cNvPr id="5" name="Shape 2"/>
          <p:cNvSpPr/>
          <p:nvPr/>
        </p:nvSpPr>
        <p:spPr>
          <a:xfrm>
            <a:off x="548640" y="1508760"/>
            <a:ext cx="11091672" cy="1097280"/>
          </a:xfrm>
          <a:prstGeom prst="roundRect">
            <a:avLst>
              <a:gd name="adj" fmla="val 6667"/>
            </a:avLst>
          </a:prstGeom>
          <a:solidFill>
            <a:srgbClr val="2A2A32"/>
          </a:solidFill>
          <a:ln w="25400">
            <a:solidFill>
              <a:srgbClr val="D8A73D"/>
            </a:solidFill>
            <a:prstDash val="solid"/>
          </a:ln>
        </p:spPr>
      </p:sp>
      <p:sp>
        <p:nvSpPr>
          <p:cNvPr id="6" name="Text 3"/>
          <p:cNvSpPr txBox="1"/>
          <p:nvPr/>
        </p:nvSpPr>
        <p:spPr>
          <a:xfrm>
            <a:off x="914400" y="1627632"/>
            <a:ext cx="3657600" cy="274320"/>
          </a:xfrm>
          <a:prstGeom prst="rect">
            <a:avLst/>
          </a:prstGeom>
          <a:noFill/>
          <a:ln/>
        </p:spPr>
        <p:txBody>
          <a:bodyPr wrap="square" lIns="0" tIns="0" rIns="0" bIns="0" rtlCol="0" anchor="ctr"/>
          <a:lstStyle/>
          <a:p>
            <a:pPr indent="0" marL="0">
              <a:buNone/>
            </a:pPr>
            <a:r>
              <a:rPr lang="en-US" sz="1300" b="1" spc="200" kern="0" dirty="0">
                <a:solidFill>
                  <a:srgbClr val="D8A73D"/>
                </a:solidFill>
                <a:latin typeface="Calibri" pitchFamily="34" charset="0"/>
                <a:ea typeface="Calibri" pitchFamily="34" charset="-122"/>
                <a:cs typeface="Calibri" pitchFamily="34" charset="-120"/>
              </a:rPr>
              <a:t>LESSON QUESTION</a:t>
            </a:r>
            <a:endParaRPr lang="en-US" sz="1300" dirty="0"/>
          </a:p>
        </p:txBody>
      </p:sp>
      <p:sp>
        <p:nvSpPr>
          <p:cNvPr id="7" name="Text 4"/>
          <p:cNvSpPr txBox="1"/>
          <p:nvPr/>
        </p:nvSpPr>
        <p:spPr>
          <a:xfrm>
            <a:off x="914400" y="1901952"/>
            <a:ext cx="10332720" cy="594360"/>
          </a:xfrm>
          <a:prstGeom prst="rect">
            <a:avLst/>
          </a:prstGeom>
          <a:noFill/>
          <a:ln/>
        </p:spPr>
        <p:txBody>
          <a:bodyPr wrap="square" lIns="0" tIns="0" rIns="0" bIns="0" rtlCol="0" anchor="ctr"/>
          <a:lstStyle/>
          <a:p>
            <a:pPr indent="0" marL="0">
              <a:buNone/>
            </a:pPr>
            <a:r>
              <a:rPr lang="en-US" sz="2600" b="1" dirty="0">
                <a:solidFill>
                  <a:srgbClr val="F5F5F3"/>
                </a:solidFill>
                <a:latin typeface="Cambria" pitchFamily="34" charset="0"/>
                <a:ea typeface="Cambria" pitchFamily="34" charset="-122"/>
                <a:cs typeface="Cambria" pitchFamily="34" charset="-120"/>
              </a:rPr>
              <a:t>How do we make a program repeat lines while a condition is True?</a:t>
            </a:r>
            <a:endParaRPr lang="en-US" sz="2600" dirty="0"/>
          </a:p>
        </p:txBody>
      </p:sp>
      <p:sp>
        <p:nvSpPr>
          <p:cNvPr id="8" name="Shape 5"/>
          <p:cNvSpPr/>
          <p:nvPr/>
        </p:nvSpPr>
        <p:spPr>
          <a:xfrm>
            <a:off x="548640" y="2953512"/>
            <a:ext cx="438912" cy="438912"/>
          </a:xfrm>
          <a:prstGeom prst="ellipse">
            <a:avLst/>
          </a:prstGeom>
          <a:solidFill>
            <a:srgbClr val="D8A73D"/>
          </a:solidFill>
          <a:ln/>
        </p:spPr>
      </p:sp>
      <p:sp>
        <p:nvSpPr>
          <p:cNvPr id="9" name="Text 6"/>
          <p:cNvSpPr txBox="1"/>
          <p:nvPr/>
        </p:nvSpPr>
        <p:spPr>
          <a:xfrm>
            <a:off x="548640" y="2953512"/>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1</a:t>
            </a:r>
            <a:endParaRPr lang="en-US" sz="2000" dirty="0"/>
          </a:p>
        </p:txBody>
      </p:sp>
      <p:sp>
        <p:nvSpPr>
          <p:cNvPr id="10" name="Text 7"/>
          <p:cNvSpPr txBox="1"/>
          <p:nvPr/>
        </p:nvSpPr>
        <p:spPr>
          <a:xfrm>
            <a:off x="1188720" y="2880360"/>
            <a:ext cx="10424160" cy="594360"/>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Write a loop that keeps asking "Password?" until the answer is "open".</a:t>
            </a:r>
            <a:endParaRPr lang="en-US" sz="2200" dirty="0"/>
          </a:p>
        </p:txBody>
      </p:sp>
      <p:sp>
        <p:nvSpPr>
          <p:cNvPr id="11" name="Shape 8"/>
          <p:cNvSpPr/>
          <p:nvPr/>
        </p:nvSpPr>
        <p:spPr>
          <a:xfrm>
            <a:off x="548640" y="4096512"/>
            <a:ext cx="438912" cy="438912"/>
          </a:xfrm>
          <a:prstGeom prst="ellipse">
            <a:avLst/>
          </a:prstGeom>
          <a:solidFill>
            <a:srgbClr val="D8A73D"/>
          </a:solidFill>
          <a:ln/>
        </p:spPr>
      </p:sp>
      <p:sp>
        <p:nvSpPr>
          <p:cNvPr id="12" name="Text 9"/>
          <p:cNvSpPr txBox="1"/>
          <p:nvPr/>
        </p:nvSpPr>
        <p:spPr>
          <a:xfrm>
            <a:off x="548640" y="4096512"/>
            <a:ext cx="438912" cy="438912"/>
          </a:xfrm>
          <a:prstGeom prst="rect">
            <a:avLst/>
          </a:prstGeom>
          <a:noFill/>
          <a:ln/>
        </p:spPr>
        <p:txBody>
          <a:bodyPr wrap="square" lIns="0" tIns="0" rIns="0" bIns="0" rtlCol="0" anchor="ctr"/>
          <a:lstStyle/>
          <a:p>
            <a:pPr algn="ctr" indent="0" marL="0">
              <a:buNone/>
            </a:pPr>
            <a:r>
              <a:rPr lang="en-US" sz="2000" b="1" dirty="0">
                <a:solidFill>
                  <a:srgbClr val="1E1E24"/>
                </a:solidFill>
                <a:latin typeface="Cambria" pitchFamily="34" charset="0"/>
                <a:ea typeface="Cambria" pitchFamily="34" charset="-122"/>
                <a:cs typeface="Cambria" pitchFamily="34" charset="-120"/>
              </a:rPr>
              <a:t>2</a:t>
            </a:r>
            <a:endParaRPr lang="en-US" sz="2000" dirty="0"/>
          </a:p>
        </p:txBody>
      </p:sp>
      <p:sp>
        <p:nvSpPr>
          <p:cNvPr id="13" name="Text 10"/>
          <p:cNvSpPr txBox="1"/>
          <p:nvPr/>
        </p:nvSpPr>
        <p:spPr>
          <a:xfrm>
            <a:off x="1188720" y="4023360"/>
            <a:ext cx="10424160" cy="594360"/>
          </a:xfrm>
          <a:prstGeom prst="rect">
            <a:avLst/>
          </a:prstGeom>
          <a:noFill/>
          <a:ln/>
        </p:spPr>
        <p:txBody>
          <a:bodyPr wrap="square" lIns="0" tIns="0" rIns="0" bIns="0" rtlCol="0" anchor="ctr"/>
          <a:lstStyle/>
          <a:p>
            <a:pPr indent="0" marL="0">
              <a:buNone/>
            </a:pPr>
            <a:r>
              <a:rPr lang="en-US" sz="2200" dirty="0">
                <a:solidFill>
                  <a:srgbClr val="F5F5F3"/>
                </a:solidFill>
                <a:latin typeface="Calibri" pitchFamily="34" charset="0"/>
                <a:ea typeface="Calibri" pitchFamily="34" charset="-122"/>
                <a:cs typeface="Calibri" pitchFamily="34" charset="-120"/>
              </a:rPr>
              <a:t>This loop never ends. Say why, and fix it:</a:t>
            </a:r>
            <a:endParaRPr lang="en-US" sz="2200" dirty="0"/>
          </a:p>
        </p:txBody>
      </p:sp>
      <p:sp>
        <p:nvSpPr>
          <p:cNvPr id="14" name="Text 11"/>
          <p:cNvSpPr txBox="1"/>
          <p:nvPr/>
        </p:nvSpPr>
        <p:spPr>
          <a:xfrm>
            <a:off x="1188720" y="4572000"/>
            <a:ext cx="5943600" cy="457200"/>
          </a:xfrm>
          <a:prstGeom prst="rect">
            <a:avLst/>
          </a:prstGeom>
          <a:noFill/>
          <a:ln/>
        </p:spPr>
        <p:txBody>
          <a:bodyPr wrap="square" lIns="0" tIns="0" rIns="0" bIns="0" rtlCol="0" anchor="ctr"/>
          <a:lstStyle/>
          <a:p>
            <a:pPr indent="0" marL="0">
              <a:buNone/>
            </a:pPr>
            <a:r>
              <a:rPr lang="en-US" sz="2200" b="1" dirty="0">
                <a:solidFill>
                  <a:srgbClr val="F5F5F3"/>
                </a:solidFill>
                <a:latin typeface="Consolas" pitchFamily="34" charset="0"/>
                <a:ea typeface="Consolas" pitchFamily="34" charset="-122"/>
                <a:cs typeface="Consolas" pitchFamily="34" charset="-120"/>
              </a:rPr>
              <a:t>while</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F5F5F3"/>
                </a:solidFill>
                <a:latin typeface="Consolas" pitchFamily="34" charset="0"/>
                <a:ea typeface="Consolas" pitchFamily="34" charset="-122"/>
                <a:cs typeface="Consolas" pitchFamily="34" charset="-120"/>
              </a:rPr>
              <a:t>fuel</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b="1" dirty="0">
                <a:solidFill>
                  <a:srgbClr val="F5F5F3"/>
                </a:solidFill>
                <a:latin typeface="Consolas" pitchFamily="34" charset="0"/>
                <a:ea typeface="Consolas" pitchFamily="34" charset="-122"/>
                <a:cs typeface="Consolas" pitchFamily="34" charset="-120"/>
              </a:rPr>
              <a:t>&lt;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56B4E9"/>
                </a:solidFill>
                <a:latin typeface="Consolas" pitchFamily="34" charset="0"/>
                <a:ea typeface="Consolas" pitchFamily="34" charset="-122"/>
                <a:cs typeface="Consolas" pitchFamily="34" charset="-120"/>
              </a:rPr>
              <a:t>100</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F5F5F3"/>
                </a:solidFill>
                <a:latin typeface="Consolas" pitchFamily="34" charset="0"/>
                <a:ea typeface="Consolas" pitchFamily="34" charset="-122"/>
                <a:cs typeface="Consolas" pitchFamily="34" charset="-120"/>
              </a:rPr>
              <a:t> </a:t>
            </a:r>
            <a:pPr indent="0" marL="0">
              <a:buNone/>
            </a:pPr>
            <a:r>
              <a:rPr lang="en-US" sz="2200" dirty="0">
                <a:solidFill>
                  <a:srgbClr val="E8C878"/>
                </a:solidFill>
                <a:latin typeface="Consolas" pitchFamily="34" charset="0"/>
                <a:ea typeface="Consolas" pitchFamily="34" charset="-122"/>
                <a:cs typeface="Consolas" pitchFamily="34" charset="-120"/>
              </a:rPr>
              <a:t>print</a:t>
            </a:r>
            <a:pPr indent="0" marL="0">
              <a:buNone/>
            </a:pPr>
            <a:r>
              <a:rPr lang="en-US" sz="2200" dirty="0">
                <a:solidFill>
                  <a:srgbClr val="A9A9B4"/>
                </a:solidFill>
                <a:latin typeface="Consolas" pitchFamily="34" charset="0"/>
                <a:ea typeface="Consolas" pitchFamily="34" charset="-122"/>
                <a:cs typeface="Consolas" pitchFamily="34" charset="-120"/>
              </a:rPr>
              <a:t>(</a:t>
            </a:r>
            <a:pPr indent="0" marL="0">
              <a:buNone/>
            </a:pPr>
            <a:r>
              <a:rPr lang="en-US" sz="2200" dirty="0">
                <a:solidFill>
                  <a:srgbClr val="E69F00"/>
                </a:solidFill>
                <a:latin typeface="Consolas" pitchFamily="34" charset="0"/>
                <a:ea typeface="Consolas" pitchFamily="34" charset="-122"/>
                <a:cs typeface="Consolas" pitchFamily="34" charset="-120"/>
              </a:rPr>
              <a:t>"Filling"</a:t>
            </a:r>
            <a:pPr indent="0" marL="0">
              <a:buNone/>
            </a:pPr>
            <a:r>
              <a:rPr lang="en-US" sz="2200" dirty="0">
                <a:solidFill>
                  <a:srgbClr val="A9A9B4"/>
                </a:solidFill>
                <a:latin typeface="Consolas" pitchFamily="34" charset="0"/>
                <a:ea typeface="Consolas" pitchFamily="34" charset="-122"/>
                <a:cs typeface="Consolas" pitchFamily="34" charset="-120"/>
              </a:rPr>
              <a:t>)</a:t>
            </a:r>
            <a:endParaRPr lang="en-US" sz="2200" dirty="0"/>
          </a:p>
        </p:txBody>
      </p:sp>
      <p:sp>
        <p:nvSpPr>
          <p:cNvPr id="15" name="terminal"/>
          <p:cNvSpPr/>
          <p:nvPr/>
        </p:nvSpPr>
        <p:spPr>
          <a:xfrm>
            <a:off x="1188720" y="5303520"/>
            <a:ext cx="7589520" cy="685800"/>
          </a:xfrm>
          <a:prstGeom prst="roundRect">
            <a:avLst>
              <a:gd name="adj" fmla="val 10667"/>
            </a:avLst>
          </a:prstGeom>
          <a:solidFill>
            <a:srgbClr val="0D1310"/>
          </a:solidFill>
          <a:ln w="15875">
            <a:solidFill>
              <a:srgbClr val="2C4434"/>
            </a:solidFill>
            <a:prstDash val="solid"/>
          </a:ln>
        </p:spPr>
      </p:sp>
      <p:sp>
        <p:nvSpPr>
          <p:cNvPr id="16" name="Text 13"/>
          <p:cNvSpPr txBox="1"/>
          <p:nvPr/>
        </p:nvSpPr>
        <p:spPr>
          <a:xfrm>
            <a:off x="1417320" y="5532120"/>
            <a:ext cx="7132320" cy="365760"/>
          </a:xfrm>
          <a:prstGeom prst="rect">
            <a:avLst/>
          </a:prstGeom>
          <a:noFill/>
          <a:ln/>
        </p:spPr>
        <p:txBody>
          <a:bodyPr wrap="square" lIns="0" tIns="0" rIns="0" bIns="0" rtlCol="0" anchor="ctr"/>
          <a:lstStyle/>
          <a:p>
            <a:pPr indent="0" marL="0">
              <a:buNone/>
            </a:pPr>
            <a:r>
              <a:rPr lang="en-US" sz="1800" dirty="0">
                <a:solidFill>
                  <a:srgbClr val="7FD99A"/>
                </a:solidFill>
                <a:latin typeface="Consolas" pitchFamily="34" charset="0"/>
                <a:ea typeface="Consolas" pitchFamily="34" charset="-122"/>
                <a:cs typeface="Consolas" pitchFamily="34" charset="-120"/>
              </a:rPr>
              <a:t>INTERCOM: "LET ME IN. IT’S ME."  ·  VOICEPRINT: </a:t>
            </a:r>
            <a:pPr indent="0" marL="0">
              <a:buNone/>
            </a:pPr>
            <a:r>
              <a:rPr lang="en-US" sz="1800" b="1" dirty="0">
                <a:solidFill>
                  <a:srgbClr val="D8A73D"/>
                </a:solidFill>
                <a:latin typeface="Consolas" pitchFamily="34" charset="0"/>
                <a:ea typeface="Consolas" pitchFamily="34" charset="-122"/>
                <a:cs typeface="Consolas" pitchFamily="34" charset="-120"/>
              </a:rPr>
              <a:t>NO MATCH</a:t>
            </a:r>
            <a:endParaRPr lang="en-US" sz="1800" dirty="0"/>
          </a:p>
        </p:txBody>
      </p:sp>
      <p:pic>
        <p:nvPicPr>
          <p:cNvPr id="17" name="Image 1" descr="Recap and recall">    </p:cNvPr>
          <p:cNvPicPr>
            <a:picLocks noChangeAspect="1"/>
          </p:cNvPicPr>
          <p:nvPr/>
        </p:nvPicPr>
        <p:blipFill>
          <a:blip r:embed="rId2"/>
          <a:stretch>
            <a:fillRect/>
          </a:stretch>
        </p:blipFill>
        <p:spPr>
          <a:xfrm>
            <a:off x="10972800" y="384048"/>
            <a:ext cx="731520" cy="731520"/>
          </a:xfrm>
          <a:prstGeom prst="rect">
            <a:avLst/>
          </a:prstGeom>
        </p:spPr>
      </p:pic>
      <p:sp>
        <p:nvSpPr>
          <p:cNvPr id="25" name="Slide Number Placeholder 0"/>
          <p:cNvSpPr>
            <a:spLocks noGrp="1"/>
          </p:cNvSpPr>
          <p:nvPr>
            <p:ph type="sldNum" sz="quarter" idx="4294967295"/>
          </p:nvPr>
        </p:nvSpPr>
        <p:spPr>
          <a:xfrm>
            <a:off x="11155680" y="638251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E6E7A"/>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7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Station Zero — Y9 Python Lesson 3: While loops</dc:title>
  <dc:subject>PptxGenJS Presentation</dc:subject>
  <dc:creator>Nicholas Houlton</dc:creator>
  <cp:lastModifiedBy>Nicholas Houlton</cp:lastModifiedBy>
  <cp:revision>1</cp:revision>
  <dcterms:created xsi:type="dcterms:W3CDTF">2026-10-22T10:38:18Z</dcterms:created>
  <dcterms:modified xsi:type="dcterms:W3CDTF">2026-10-22T10:38:18Z</dcterms:modified>
</cp:coreProperties>
</file>