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w to use" id="{57b2b50f-1db3-bac3-4be9-bf179dd28917}">
          <p14:sldIdLst>
            <p14:sldId id="256"/>
            <p14:sldId id="257"/>
            <p14:sldId id="258"/>
            <p14:sldId id="259"/>
            <p14:sldId id="260"/>
            <p14:sldId id="261"/>
          </p14:sldIdLst>
        </p14:section>
        <p14:section name="Examples" id="{4faa494b-82cd-94f0-4ae4-766926af6ec7}">
          <p14:sldIdLst>
            <p14:sldId id="262"/>
            <p14:sldId id="263"/>
            <p14:sldId id="264"/>
            <p14:sldId id="265"/>
            <p14:sldId id="266"/>
            <p14:sldId id="267"/>
            <p14:sldId id="268"/>
            <p14:sldId id="269"/>
            <p14:sldId id="270"/>
            <p14:sldId id="271"/>
            <p14:sldId id="272"/>
            <p14:sldId id="273"/>
            <p14:sldId id="274"/>
            <p14:sldId id="275"/>
          </p14:sldIdLst>
        </p14:section>
        <p14:section name="Station state" id="{7b8cd693-f29b-9c00-1a01-17b328c289c1}">
          <p14:sldIdLst>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reference, not a lesson. It shows one example of every Station Zero slide type, in lesson order.
Each example's footer names its recipe (the function in sz_slides.cjs), and its speaker notes say when to use it and what to watch for.
Rules and feedback live in README.md (same folder). Rebuild this deck with: node build_template.cjs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 (all in _presentations/Y9_Python/):
- README.md: the rules, the feedback log and the list of slide types.
- sz_slides.cjs: one function per slide type ("recipe").
- sz_kit.cjs: the drawing parts (palette, code panels, variable boxes, badges).
- build_deck.cjs: Lesson 1. Copy it for a new lesson.
Needs: npm install -g pptxgenjs. Close the .pptx in PowerPoint before rebuilding.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content repeats New Information → Deliberate Practice → Feedback as often as the lesson needs, with a chapter card before each activity.
Every slide carries exactly one pillar icon, top right (the title and chapter cards are story slides: the chapter card counts as Deliberate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always slide 1. Light background.
RULES: 4 questions on the previous lesson and further back; each card has a pill naming its source lesson.
Q1–2 multiple choice (3 options, similar lengths, the right answer not always the longest). Q3–4 need a written word or sentence.
At least 3 of the 4 use a code snippet students have already met. Ask for a confidence rating 1–3.
DATA: { pill, q, type: "mcq"|"write", code?, opts?, a, why }. For an MCQ, a starts with the right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2. Same questions as the starter; dark background.
The right option turns green; each card adds a one-line "why". Discuss confident-but-wrong answers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3. Kicker = year · lesson · lesson name; title = Station Zero; subtitle = this chapter.
The status readout is the only story text: short LABEL ..... VALUE lines. Tell the premise aloud from the notes, never as a paragraph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4. The topic question is the same all unit (muted); the lesson question is this lesson only (highlighted).
Reuse the exact lesson question on the plenary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showing what a short program does, before students predict or trace one themselves.
RULES: whole lines only — never fragments like input(…) (feedback 2026-10-08). Up to 2 lines.
One row per line, read left to right: the code → the whole screen after that line → memory after that line.
Under each line, one sentence saying what it does, with the sub-goal verbs in gold (Asks, stores, joins, prints).
Grey out older screen lines (color: P.dim) so the new output stands out. Say "No change" when memory stays the same.
ANIMATED: each part fades in on click — code, then screen, then memory (3 clicks per line, 6 for two). Ask "what will appear?" before each click. animate: false turns it off.
Any slide type can do this: wrap what should appear in K.onClick(s, clickNumber, () =&gt; { …draw…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lines that differ by ONE thing (variation theory). Cover the outputs, ask, then reveal.
Each row: code → output → a one-line rule. Optional "IN MEMORY" box shows what the variable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Deliberate Practice before the reveal. 4–6 lines of code, the answers the user types, one prompt, a timer.
No hints on the slide. A program not taken from the activity, so the activity's Predict is still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straight after predictSlide. Highlight the line that made the answer; name the two most likely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tracing (notional machine). Columns: Line, one per variable, Output. Then repeat it with reveal: { hl, side } and the rows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new information — an attempt first makes the explanation stick. Never show the answers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once per lesson before the activity, then flip back to it during Investigate.
Use a real Python error, copied exactly. The numbered badges sit on the error itself (marks: line + column), matching the 4 fixed steps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students open an activity. Story log: at most 3 short sentences, in green, broken into short lines.
The task names the activity exactly as it appears in Google Classroom. The note line is for the story choice (Modification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whole-class feedback after an activity, usually on its planted bug. Real error text; one takeaway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last slide. The same lesson question as slide 4, then 2 exit tasks: one to write, one to fix.
Optional one-line cliffhanger in green, to lead into the next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the decks show the state of the station, so the story builds week to week and peaks at its beats, without adding words to read.
Cognitive load comes first. The damage is drawn underneath everything, only in the frame, at low contrast. If it ever competes with the content, the content wins: turn the layer off.
It is made-up damage, not real corruption: every deck still validates and opens normally.
HOW: createDeck({ station: "L3" }) sets the chapter state for the whole deck. K.station("L5") switches it for the slides after it. K.beat("L2") does the same as a story beat (see the last two slides).
States: none, L1, L1b, L2, L3, L4, L5, L6, L7. L1b is Life Support (the O2 reading drops slide by slide). L6 is the assessment, so it stays clean apart from the status line.
Overrides change single layers, e.g. K.station("L7", { static: false }) once a system is repaired in Last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 Ch 1 Wake Up: frost in the corners.
Set it for a whole deck with createDeck({ station: 'L1' }), or from this slide on with K.station('L1').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L1b: Ch 1 Life Support: frost, O2 falling (light slides skip frost).
Set it for a whole deck with createDeck({ station: 'L1b' }), or from this slide on with K.station('L1b').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L2: Ch 2 Proximity: amber alarm at the edges.
Set it for a whole deck with createDeck({ station: 'L2' }), or from this slide on with K.station('L2').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L3: Ch 3 Locked In: red alarm + hazard stripes.
Set it for a whole deck with createDeck({ station: 'L3' }), or from this slide on with K.station('L3').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L4: Ch 4 Distress Signal: static at the edges.
Set it for a whole deck with createDeck({ station: 'L4' }), or from this slide on with K.station('L4').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L5: Ch 5 The Drone: hull cracks, claw marks, red alarm.
Set it for a whole deck with createDeck({ station: 'L5' }), or from this slide on with K.station('L5').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L6: Ch 6 Systems Check: clean (assessment), status line only.
Set it for a whole deck with createDeck({ station: 'L6' }), or from this slide on with K.station('L6').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L7: Ch 7 Last Stand: everything at once; switch layers off as systems are repaired.
Set it for a whole deck with createDeck({ station: 'L7' }), or from this slide on with K.station('L7').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1 of 2: before the beat. State L1b: frost, with O2 falling on the status line.
Present the next slide in Slide Show to see the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2 of 2: K.beat("L2") before this slide.
In Slide Show the slide fades in through black (the lights go out), then the amber alarm fades in by itself over 2 seconds. No click needed, and it never hides content.
Use a beat at most once or twice a lesson, on the story moment itself (here the cliffhanger), so it stays a shock.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1.png"/><Relationship Id="rId8" Type="http://schemas.openxmlformats.org/officeDocument/2006/relationships/image" Target="../media/image-3-1.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DECKS</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Deck template</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One example of every slide type</a:t>
            </a:r>
            <a:endParaRPr lang="en-US" sz="2800" dirty="0"/>
          </a:p>
        </p:txBody>
      </p:sp>
      <p:sp>
        <p:nvSpPr>
          <p:cNvPr id="5"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TEMPLATE</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SLIDE TYPES ...... 14</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RULES ............ 12</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SOURCE ........... README.md</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How to use this template</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Look</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Each example is labelled in its footer with the slide type. Its speaker notes say when to use it.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Build</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Copy build_deck.cjs, change only the content, then run node to make the .pptx.</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Feed back</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Add feedback to the log in README.md. Rebuild this template and it appears on the rules slides.</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Slide order</a:t>
            </a:r>
            <a:endParaRPr lang="en-US" sz="3600" dirty="0"/>
          </a:p>
        </p:txBody>
      </p:sp>
      <p:sp>
        <p:nvSpPr>
          <p:cNvPr id="3" name="Shape 1"/>
          <p:cNvSpPr/>
          <p:nvPr/>
        </p:nvSpPr>
        <p:spPr>
          <a:xfrm>
            <a:off x="548640" y="1737360"/>
            <a:ext cx="1700784" cy="2743200"/>
          </a:xfrm>
          <a:prstGeom prst="roundRect">
            <a:avLst>
              <a:gd name="adj" fmla="val 4301"/>
            </a:avLst>
          </a:prstGeom>
          <a:solidFill>
            <a:srgbClr val="2A2A32"/>
          </a:solidFill>
          <a:ln/>
        </p:spPr>
      </p:sp>
      <p:pic>
        <p:nvPicPr>
          <p:cNvPr id="4" name="Image 0" descr="Recap and recall">    </p:cNvPr>
          <p:cNvPicPr>
            <a:picLocks noChangeAspect="1"/>
          </p:cNvPicPr>
          <p:nvPr/>
        </p:nvPicPr>
        <p:blipFill>
          <a:blip r:embed="rId1"/>
          <a:stretch>
            <a:fillRect/>
          </a:stretch>
        </p:blipFill>
        <p:spPr>
          <a:xfrm>
            <a:off x="1033272" y="1965960"/>
            <a:ext cx="731520" cy="731520"/>
          </a:xfrm>
          <a:prstGeom prst="rect">
            <a:avLst/>
          </a:prstGeom>
        </p:spPr>
      </p:pic>
      <p:sp>
        <p:nvSpPr>
          <p:cNvPr id="5" name="Text 2"/>
          <p:cNvSpPr txBox="1"/>
          <p:nvPr/>
        </p:nvSpPr>
        <p:spPr>
          <a:xfrm>
            <a:off x="6858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1</a:t>
            </a:r>
            <a:endParaRPr lang="en-US" sz="1400" dirty="0"/>
          </a:p>
        </p:txBody>
      </p:sp>
      <p:sp>
        <p:nvSpPr>
          <p:cNvPr id="6" name="Text 3"/>
          <p:cNvSpPr txBox="1"/>
          <p:nvPr/>
        </p:nvSpPr>
        <p:spPr>
          <a:xfrm>
            <a:off x="6858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Recap &amp; Recall</a:t>
            </a:r>
            <a:endParaRPr lang="en-US" sz="1900" dirty="0"/>
          </a:p>
        </p:txBody>
      </p:sp>
      <p:sp>
        <p:nvSpPr>
          <p:cNvPr id="7" name="Text 4"/>
          <p:cNvSpPr txBox="1"/>
          <p:nvPr/>
        </p:nvSpPr>
        <p:spPr>
          <a:xfrm>
            <a:off x="6858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light</a:t>
            </a:r>
            <a:endParaRPr lang="en-US" sz="1400" dirty="0"/>
          </a:p>
        </p:txBody>
      </p:sp>
      <p:sp>
        <p:nvSpPr>
          <p:cNvPr id="8" name="Shape 5"/>
          <p:cNvSpPr/>
          <p:nvPr/>
        </p:nvSpPr>
        <p:spPr>
          <a:xfrm>
            <a:off x="2258568" y="3108960"/>
            <a:ext cx="155448" cy="0"/>
          </a:xfrm>
          <a:prstGeom prst="line">
            <a:avLst/>
          </a:prstGeom>
          <a:noFill/>
          <a:ln w="28575">
            <a:solidFill>
              <a:srgbClr val="D8A73D"/>
            </a:solidFill>
            <a:prstDash val="solid"/>
            <a:tailEnd type="triangle"/>
          </a:ln>
        </p:spPr>
      </p:sp>
      <p:sp>
        <p:nvSpPr>
          <p:cNvPr id="9" name="Shape 6"/>
          <p:cNvSpPr/>
          <p:nvPr/>
        </p:nvSpPr>
        <p:spPr>
          <a:xfrm>
            <a:off x="2423160" y="1737360"/>
            <a:ext cx="1700784" cy="2743200"/>
          </a:xfrm>
          <a:prstGeom prst="roundRect">
            <a:avLst>
              <a:gd name="adj" fmla="val 4301"/>
            </a:avLst>
          </a:prstGeom>
          <a:solidFill>
            <a:srgbClr val="2A2A32"/>
          </a:solidFill>
          <a:ln/>
        </p:spPr>
      </p:sp>
      <p:pic>
        <p:nvPicPr>
          <p:cNvPr id="10" name="Image 1" descr="Recap and recall">    </p:cNvPr>
          <p:cNvPicPr>
            <a:picLocks noChangeAspect="1"/>
          </p:cNvPicPr>
          <p:nvPr/>
        </p:nvPicPr>
        <p:blipFill>
          <a:blip r:embed="rId2"/>
          <a:stretch>
            <a:fillRect/>
          </a:stretch>
        </p:blipFill>
        <p:spPr>
          <a:xfrm>
            <a:off x="2907792" y="1965960"/>
            <a:ext cx="731520" cy="731520"/>
          </a:xfrm>
          <a:prstGeom prst="rect">
            <a:avLst/>
          </a:prstGeom>
        </p:spPr>
      </p:pic>
      <p:sp>
        <p:nvSpPr>
          <p:cNvPr id="11" name="Text 7"/>
          <p:cNvSpPr txBox="1"/>
          <p:nvPr/>
        </p:nvSpPr>
        <p:spPr>
          <a:xfrm>
            <a:off x="256032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2</a:t>
            </a:r>
            <a:endParaRPr lang="en-US" sz="1400" dirty="0"/>
          </a:p>
        </p:txBody>
      </p:sp>
      <p:sp>
        <p:nvSpPr>
          <p:cNvPr id="12" name="Text 8"/>
          <p:cNvSpPr txBox="1"/>
          <p:nvPr/>
        </p:nvSpPr>
        <p:spPr>
          <a:xfrm>
            <a:off x="256032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Answers</a:t>
            </a:r>
            <a:endParaRPr lang="en-US" sz="1900" dirty="0"/>
          </a:p>
        </p:txBody>
      </p:sp>
      <p:sp>
        <p:nvSpPr>
          <p:cNvPr id="13" name="Text 9"/>
          <p:cNvSpPr txBox="1"/>
          <p:nvPr/>
        </p:nvSpPr>
        <p:spPr>
          <a:xfrm>
            <a:off x="256032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dark</a:t>
            </a:r>
            <a:endParaRPr lang="en-US" sz="1400" dirty="0"/>
          </a:p>
        </p:txBody>
      </p:sp>
      <p:sp>
        <p:nvSpPr>
          <p:cNvPr id="14" name="Shape 10"/>
          <p:cNvSpPr/>
          <p:nvPr/>
        </p:nvSpPr>
        <p:spPr>
          <a:xfrm>
            <a:off x="4133088" y="3108960"/>
            <a:ext cx="155448" cy="0"/>
          </a:xfrm>
          <a:prstGeom prst="line">
            <a:avLst/>
          </a:prstGeom>
          <a:noFill/>
          <a:ln w="28575">
            <a:solidFill>
              <a:srgbClr val="D8A73D"/>
            </a:solidFill>
            <a:prstDash val="solid"/>
            <a:tailEnd type="triangle"/>
          </a:ln>
        </p:spPr>
      </p:sp>
      <p:sp>
        <p:nvSpPr>
          <p:cNvPr id="15" name="Shape 11"/>
          <p:cNvSpPr/>
          <p:nvPr/>
        </p:nvSpPr>
        <p:spPr>
          <a:xfrm>
            <a:off x="4297680" y="1737360"/>
            <a:ext cx="1700784" cy="2743200"/>
          </a:xfrm>
          <a:prstGeom prst="roundRect">
            <a:avLst>
              <a:gd name="adj" fmla="val 4301"/>
            </a:avLst>
          </a:prstGeom>
          <a:solidFill>
            <a:srgbClr val="2A2A32"/>
          </a:solidFill>
          <a:ln/>
        </p:spPr>
      </p:sp>
      <p:sp>
        <p:nvSpPr>
          <p:cNvPr id="16" name="Shape 12"/>
          <p:cNvSpPr/>
          <p:nvPr/>
        </p:nvSpPr>
        <p:spPr>
          <a:xfrm>
            <a:off x="4782312" y="1965960"/>
            <a:ext cx="731520" cy="731520"/>
          </a:xfrm>
          <a:prstGeom prst="ellipse">
            <a:avLst/>
          </a:prstGeom>
          <a:solidFill>
            <a:srgbClr val="1E1E24"/>
          </a:solidFill>
          <a:ln/>
        </p:spPr>
      </p:sp>
      <p:sp>
        <p:nvSpPr>
          <p:cNvPr id="17" name="Text 13"/>
          <p:cNvSpPr txBox="1"/>
          <p:nvPr/>
        </p:nvSpPr>
        <p:spPr>
          <a:xfrm>
            <a:off x="4782312" y="1965960"/>
            <a:ext cx="731520" cy="731520"/>
          </a:xfrm>
          <a:prstGeom prst="rect">
            <a:avLst/>
          </a:prstGeom>
          <a:noFill/>
          <a:ln/>
        </p:spPr>
        <p:txBody>
          <a:bodyPr wrap="square" lIns="0" tIns="0" rIns="0" bIns="0" rtlCol="0" anchor="ctr"/>
          <a:lstStyle/>
          <a:p>
            <a:pPr algn="ctr" indent="0" marL="0">
              <a:buNone/>
            </a:pPr>
            <a:r>
              <a:rPr lang="en-US" sz="2000" b="1" dirty="0">
                <a:solidFill>
                  <a:srgbClr val="D8A73D"/>
                </a:solidFill>
                <a:latin typeface="Cambria" pitchFamily="34" charset="0"/>
                <a:ea typeface="Cambria" pitchFamily="34" charset="-122"/>
                <a:cs typeface="Cambria" pitchFamily="34" charset="-120"/>
              </a:rPr>
              <a:t>T</a:t>
            </a:r>
            <a:endParaRPr lang="en-US" sz="2000" dirty="0"/>
          </a:p>
        </p:txBody>
      </p:sp>
      <p:sp>
        <p:nvSpPr>
          <p:cNvPr id="18" name="Text 14"/>
          <p:cNvSpPr txBox="1"/>
          <p:nvPr/>
        </p:nvSpPr>
        <p:spPr>
          <a:xfrm>
            <a:off x="443484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3</a:t>
            </a:r>
            <a:endParaRPr lang="en-US" sz="1400" dirty="0"/>
          </a:p>
        </p:txBody>
      </p:sp>
      <p:sp>
        <p:nvSpPr>
          <p:cNvPr id="19" name="Text 15"/>
          <p:cNvSpPr txBox="1"/>
          <p:nvPr/>
        </p:nvSpPr>
        <p:spPr>
          <a:xfrm>
            <a:off x="443484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Title</a:t>
            </a:r>
            <a:endParaRPr lang="en-US" sz="1900" dirty="0"/>
          </a:p>
        </p:txBody>
      </p:sp>
      <p:sp>
        <p:nvSpPr>
          <p:cNvPr id="20" name="Text 16"/>
          <p:cNvSpPr txBox="1"/>
          <p:nvPr/>
        </p:nvSpPr>
        <p:spPr>
          <a:xfrm>
            <a:off x="443484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story</a:t>
            </a:r>
            <a:endParaRPr lang="en-US" sz="1400" dirty="0"/>
          </a:p>
        </p:txBody>
      </p:sp>
      <p:sp>
        <p:nvSpPr>
          <p:cNvPr id="21" name="Shape 17"/>
          <p:cNvSpPr/>
          <p:nvPr/>
        </p:nvSpPr>
        <p:spPr>
          <a:xfrm>
            <a:off x="6007608" y="3108960"/>
            <a:ext cx="155448" cy="0"/>
          </a:xfrm>
          <a:prstGeom prst="line">
            <a:avLst/>
          </a:prstGeom>
          <a:noFill/>
          <a:ln w="28575">
            <a:solidFill>
              <a:srgbClr val="D8A73D"/>
            </a:solidFill>
            <a:prstDash val="solid"/>
            <a:tailEnd type="triangle"/>
          </a:ln>
        </p:spPr>
      </p:sp>
      <p:sp>
        <p:nvSpPr>
          <p:cNvPr id="22" name="Shape 18"/>
          <p:cNvSpPr/>
          <p:nvPr/>
        </p:nvSpPr>
        <p:spPr>
          <a:xfrm>
            <a:off x="6172200" y="1737360"/>
            <a:ext cx="1700784" cy="2743200"/>
          </a:xfrm>
          <a:prstGeom prst="roundRect">
            <a:avLst>
              <a:gd name="adj" fmla="val 4301"/>
            </a:avLst>
          </a:prstGeom>
          <a:solidFill>
            <a:srgbClr val="2A2A32"/>
          </a:solidFill>
          <a:ln/>
        </p:spPr>
      </p:sp>
      <p:pic>
        <p:nvPicPr>
          <p:cNvPr id="23" name="Image 2" descr="Clarity of learning intentions">    </p:cNvPr>
          <p:cNvPicPr>
            <a:picLocks noChangeAspect="1"/>
          </p:cNvPicPr>
          <p:nvPr/>
        </p:nvPicPr>
        <p:blipFill>
          <a:blip r:embed="rId3"/>
          <a:stretch>
            <a:fillRect/>
          </a:stretch>
        </p:blipFill>
        <p:spPr>
          <a:xfrm>
            <a:off x="6656832" y="1965960"/>
            <a:ext cx="731520" cy="731520"/>
          </a:xfrm>
          <a:prstGeom prst="rect">
            <a:avLst/>
          </a:prstGeom>
        </p:spPr>
      </p:pic>
      <p:sp>
        <p:nvSpPr>
          <p:cNvPr id="24" name="Text 19"/>
          <p:cNvSpPr txBox="1"/>
          <p:nvPr/>
        </p:nvSpPr>
        <p:spPr>
          <a:xfrm>
            <a:off x="630936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4</a:t>
            </a:r>
            <a:endParaRPr lang="en-US" sz="1400" dirty="0"/>
          </a:p>
        </p:txBody>
      </p:sp>
      <p:sp>
        <p:nvSpPr>
          <p:cNvPr id="25" name="Text 20"/>
          <p:cNvSpPr txBox="1"/>
          <p:nvPr/>
        </p:nvSpPr>
        <p:spPr>
          <a:xfrm>
            <a:off x="630936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Topic + lesson question</a:t>
            </a:r>
            <a:endParaRPr lang="en-US" sz="1900" dirty="0"/>
          </a:p>
        </p:txBody>
      </p:sp>
      <p:sp>
        <p:nvSpPr>
          <p:cNvPr id="26" name="Shape 21"/>
          <p:cNvSpPr/>
          <p:nvPr/>
        </p:nvSpPr>
        <p:spPr>
          <a:xfrm>
            <a:off x="7882128" y="3108960"/>
            <a:ext cx="155448" cy="0"/>
          </a:xfrm>
          <a:prstGeom prst="line">
            <a:avLst/>
          </a:prstGeom>
          <a:noFill/>
          <a:ln w="28575">
            <a:solidFill>
              <a:srgbClr val="D8A73D"/>
            </a:solidFill>
            <a:prstDash val="solid"/>
            <a:tailEnd type="triangle"/>
          </a:ln>
        </p:spPr>
      </p:sp>
      <p:sp>
        <p:nvSpPr>
          <p:cNvPr id="27" name="Shape 22"/>
          <p:cNvSpPr/>
          <p:nvPr/>
        </p:nvSpPr>
        <p:spPr>
          <a:xfrm>
            <a:off x="8046720" y="1737360"/>
            <a:ext cx="1700784" cy="2743200"/>
          </a:xfrm>
          <a:prstGeom prst="roundRect">
            <a:avLst>
              <a:gd name="adj" fmla="val 4301"/>
            </a:avLst>
          </a:prstGeom>
          <a:solidFill>
            <a:srgbClr val="2A2A32"/>
          </a:solidFill>
          <a:ln/>
        </p:spPr>
      </p:sp>
      <p:pic>
        <p:nvPicPr>
          <p:cNvPr id="28" name="Image 3" descr="New information">    </p:cNvPr>
          <p:cNvPicPr>
            <a:picLocks noChangeAspect="1"/>
          </p:cNvPicPr>
          <p:nvPr/>
        </p:nvPicPr>
        <p:blipFill>
          <a:blip r:embed="rId4"/>
          <a:stretch>
            <a:fillRect/>
          </a:stretch>
        </p:blipFill>
        <p:spPr>
          <a:xfrm>
            <a:off x="8165592" y="2011680"/>
            <a:ext cx="457200" cy="457200"/>
          </a:xfrm>
          <a:prstGeom prst="rect">
            <a:avLst/>
          </a:prstGeom>
        </p:spPr>
      </p:pic>
      <p:pic>
        <p:nvPicPr>
          <p:cNvPr id="29" name="Image 4" descr="Deliberate practice">    </p:cNvPr>
          <p:cNvPicPr>
            <a:picLocks noChangeAspect="1"/>
          </p:cNvPicPr>
          <p:nvPr/>
        </p:nvPicPr>
        <p:blipFill>
          <a:blip r:embed="rId5"/>
          <a:stretch>
            <a:fillRect/>
          </a:stretch>
        </p:blipFill>
        <p:spPr>
          <a:xfrm>
            <a:off x="8668512" y="2011680"/>
            <a:ext cx="457200" cy="457200"/>
          </a:xfrm>
          <a:prstGeom prst="rect">
            <a:avLst/>
          </a:prstGeom>
        </p:spPr>
      </p:pic>
      <p:pic>
        <p:nvPicPr>
          <p:cNvPr id="30" name="Image 5" descr="Feedback">    </p:cNvPr>
          <p:cNvPicPr>
            <a:picLocks noChangeAspect="1"/>
          </p:cNvPicPr>
          <p:nvPr/>
        </p:nvPicPr>
        <p:blipFill>
          <a:blip r:embed="rId6"/>
          <a:stretch>
            <a:fillRect/>
          </a:stretch>
        </p:blipFill>
        <p:spPr>
          <a:xfrm>
            <a:off x="9171432" y="2011680"/>
            <a:ext cx="457200" cy="457200"/>
          </a:xfrm>
          <a:prstGeom prst="rect">
            <a:avLst/>
          </a:prstGeom>
        </p:spPr>
      </p:pic>
      <p:sp>
        <p:nvSpPr>
          <p:cNvPr id="31" name="Text 23"/>
          <p:cNvSpPr txBox="1"/>
          <p:nvPr/>
        </p:nvSpPr>
        <p:spPr>
          <a:xfrm>
            <a:off x="818388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5</a:t>
            </a:r>
            <a:endParaRPr lang="en-US" sz="1400" dirty="0"/>
          </a:p>
        </p:txBody>
      </p:sp>
      <p:sp>
        <p:nvSpPr>
          <p:cNvPr id="32" name="Text 24"/>
          <p:cNvSpPr txBox="1"/>
          <p:nvPr/>
        </p:nvSpPr>
        <p:spPr>
          <a:xfrm>
            <a:off x="818388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Lesson content</a:t>
            </a:r>
            <a:endParaRPr lang="en-US" sz="1900" dirty="0"/>
          </a:p>
        </p:txBody>
      </p:sp>
      <p:sp>
        <p:nvSpPr>
          <p:cNvPr id="33" name="Text 25"/>
          <p:cNvSpPr txBox="1"/>
          <p:nvPr/>
        </p:nvSpPr>
        <p:spPr>
          <a:xfrm>
            <a:off x="818388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repeat</a:t>
            </a:r>
            <a:endParaRPr lang="en-US" sz="1400" dirty="0"/>
          </a:p>
        </p:txBody>
      </p:sp>
      <p:sp>
        <p:nvSpPr>
          <p:cNvPr id="34" name="Shape 26"/>
          <p:cNvSpPr/>
          <p:nvPr/>
        </p:nvSpPr>
        <p:spPr>
          <a:xfrm>
            <a:off x="9756648" y="3108960"/>
            <a:ext cx="155448" cy="0"/>
          </a:xfrm>
          <a:prstGeom prst="line">
            <a:avLst/>
          </a:prstGeom>
          <a:noFill/>
          <a:ln w="28575">
            <a:solidFill>
              <a:srgbClr val="D8A73D"/>
            </a:solidFill>
            <a:prstDash val="solid"/>
            <a:tailEnd type="triangle"/>
          </a:ln>
        </p:spPr>
      </p:sp>
      <p:sp>
        <p:nvSpPr>
          <p:cNvPr id="35" name="Shape 27"/>
          <p:cNvSpPr/>
          <p:nvPr/>
        </p:nvSpPr>
        <p:spPr>
          <a:xfrm>
            <a:off x="9921240" y="1737360"/>
            <a:ext cx="1700784" cy="2743200"/>
          </a:xfrm>
          <a:prstGeom prst="roundRect">
            <a:avLst>
              <a:gd name="adj" fmla="val 4301"/>
            </a:avLst>
          </a:prstGeom>
          <a:solidFill>
            <a:srgbClr val="2A2A32"/>
          </a:solidFill>
          <a:ln/>
        </p:spPr>
      </p:sp>
      <p:pic>
        <p:nvPicPr>
          <p:cNvPr id="36" name="Image 6" descr="Recap and recall">    </p:cNvPr>
          <p:cNvPicPr>
            <a:picLocks noChangeAspect="1"/>
          </p:cNvPicPr>
          <p:nvPr/>
        </p:nvPicPr>
        <p:blipFill>
          <a:blip r:embed="rId7"/>
          <a:stretch>
            <a:fillRect/>
          </a:stretch>
        </p:blipFill>
        <p:spPr>
          <a:xfrm>
            <a:off x="10405872" y="1965960"/>
            <a:ext cx="731520" cy="731520"/>
          </a:xfrm>
          <a:prstGeom prst="rect">
            <a:avLst/>
          </a:prstGeom>
        </p:spPr>
      </p:pic>
      <p:sp>
        <p:nvSpPr>
          <p:cNvPr id="37" name="Text 28"/>
          <p:cNvSpPr txBox="1"/>
          <p:nvPr/>
        </p:nvSpPr>
        <p:spPr>
          <a:xfrm>
            <a:off x="100584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6</a:t>
            </a:r>
            <a:endParaRPr lang="en-US" sz="1400" dirty="0"/>
          </a:p>
        </p:txBody>
      </p:sp>
      <p:sp>
        <p:nvSpPr>
          <p:cNvPr id="38" name="Text 29"/>
          <p:cNvSpPr txBox="1"/>
          <p:nvPr/>
        </p:nvSpPr>
        <p:spPr>
          <a:xfrm>
            <a:off x="100584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Plenary</a:t>
            </a:r>
            <a:endParaRPr lang="en-US" sz="1900" dirty="0"/>
          </a:p>
        </p:txBody>
      </p:sp>
      <p:sp>
        <p:nvSpPr>
          <p:cNvPr id="39" name="Text 30"/>
          <p:cNvSpPr txBox="1"/>
          <p:nvPr/>
        </p:nvSpPr>
        <p:spPr>
          <a:xfrm>
            <a:off x="100584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exit task</a:t>
            </a:r>
            <a:endParaRPr lang="en-US" sz="1400" dirty="0"/>
          </a:p>
        </p:txBody>
      </p:sp>
      <p:pic>
        <p:nvPicPr>
          <p:cNvPr id="40" name="Image 7" descr="Recap and recall">    </p:cNvPr>
          <p:cNvPicPr>
            <a:picLocks noChangeAspect="1"/>
          </p:cNvPicPr>
          <p:nvPr/>
        </p:nvPicPr>
        <p:blipFill>
          <a:blip r:embed="rId8"/>
          <a:stretch>
            <a:fillRect/>
          </a:stretch>
        </p:blipFill>
        <p:spPr>
          <a:xfrm>
            <a:off x="548640" y="4937760"/>
            <a:ext cx="457200" cy="457200"/>
          </a:xfrm>
          <a:prstGeom prst="rect">
            <a:avLst/>
          </a:prstGeom>
        </p:spPr>
      </p:pic>
      <p:sp>
        <p:nvSpPr>
          <p:cNvPr id="41" name="Text 31"/>
          <p:cNvSpPr txBox="1"/>
          <p:nvPr/>
        </p:nvSpPr>
        <p:spPr>
          <a:xfrm>
            <a:off x="109728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Recap &amp; Recall</a:t>
            </a:r>
            <a:endParaRPr lang="en-US" sz="1600" dirty="0"/>
          </a:p>
        </p:txBody>
      </p:sp>
      <p:pic>
        <p:nvPicPr>
          <p:cNvPr id="42" name="Image 8" descr="Clarity of learning intentions">    </p:cNvPr>
          <p:cNvPicPr>
            <a:picLocks noChangeAspect="1"/>
          </p:cNvPicPr>
          <p:nvPr/>
        </p:nvPicPr>
        <p:blipFill>
          <a:blip r:embed="rId9"/>
          <a:stretch>
            <a:fillRect/>
          </a:stretch>
        </p:blipFill>
        <p:spPr>
          <a:xfrm>
            <a:off x="2788920" y="4937760"/>
            <a:ext cx="457200" cy="457200"/>
          </a:xfrm>
          <a:prstGeom prst="rect">
            <a:avLst/>
          </a:prstGeom>
        </p:spPr>
      </p:pic>
      <p:sp>
        <p:nvSpPr>
          <p:cNvPr id="43" name="Text 32"/>
          <p:cNvSpPr txBox="1"/>
          <p:nvPr/>
        </p:nvSpPr>
        <p:spPr>
          <a:xfrm>
            <a:off x="333756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Clarity</a:t>
            </a:r>
            <a:endParaRPr lang="en-US" sz="1600" dirty="0"/>
          </a:p>
        </p:txBody>
      </p:sp>
      <p:pic>
        <p:nvPicPr>
          <p:cNvPr id="44" name="Image 9" descr="New information">    </p:cNvPr>
          <p:cNvPicPr>
            <a:picLocks noChangeAspect="1"/>
          </p:cNvPicPr>
          <p:nvPr/>
        </p:nvPicPr>
        <p:blipFill>
          <a:blip r:embed="rId10"/>
          <a:stretch>
            <a:fillRect/>
          </a:stretch>
        </p:blipFill>
        <p:spPr>
          <a:xfrm>
            <a:off x="5029200" y="4937760"/>
            <a:ext cx="457200" cy="457200"/>
          </a:xfrm>
          <a:prstGeom prst="rect">
            <a:avLst/>
          </a:prstGeom>
        </p:spPr>
      </p:pic>
      <p:sp>
        <p:nvSpPr>
          <p:cNvPr id="45" name="Text 33"/>
          <p:cNvSpPr txBox="1"/>
          <p:nvPr/>
        </p:nvSpPr>
        <p:spPr>
          <a:xfrm>
            <a:off x="557784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New information</a:t>
            </a:r>
            <a:endParaRPr lang="en-US" sz="1600" dirty="0"/>
          </a:p>
        </p:txBody>
      </p:sp>
      <p:pic>
        <p:nvPicPr>
          <p:cNvPr id="46" name="Image 10" descr="Deliberate practice">    </p:cNvPr>
          <p:cNvPicPr>
            <a:picLocks noChangeAspect="1"/>
          </p:cNvPicPr>
          <p:nvPr/>
        </p:nvPicPr>
        <p:blipFill>
          <a:blip r:embed="rId11"/>
          <a:stretch>
            <a:fillRect/>
          </a:stretch>
        </p:blipFill>
        <p:spPr>
          <a:xfrm>
            <a:off x="7269480" y="4937760"/>
            <a:ext cx="457200" cy="457200"/>
          </a:xfrm>
          <a:prstGeom prst="rect">
            <a:avLst/>
          </a:prstGeom>
        </p:spPr>
      </p:pic>
      <p:sp>
        <p:nvSpPr>
          <p:cNvPr id="47" name="Text 34"/>
          <p:cNvSpPr txBox="1"/>
          <p:nvPr/>
        </p:nvSpPr>
        <p:spPr>
          <a:xfrm>
            <a:off x="781812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Deliberate practice</a:t>
            </a:r>
            <a:endParaRPr lang="en-US" sz="1600" dirty="0"/>
          </a:p>
        </p:txBody>
      </p:sp>
      <p:pic>
        <p:nvPicPr>
          <p:cNvPr id="48" name="Image 11" descr="Feedback">    </p:cNvPr>
          <p:cNvPicPr>
            <a:picLocks noChangeAspect="1"/>
          </p:cNvPicPr>
          <p:nvPr/>
        </p:nvPicPr>
        <p:blipFill>
          <a:blip r:embed="rId12"/>
          <a:stretch>
            <a:fillRect/>
          </a:stretch>
        </p:blipFill>
        <p:spPr>
          <a:xfrm>
            <a:off x="9509760" y="4937760"/>
            <a:ext cx="457200" cy="457200"/>
          </a:xfrm>
          <a:prstGeom prst="rect">
            <a:avLst/>
          </a:prstGeom>
        </p:spPr>
      </p:pic>
      <p:sp>
        <p:nvSpPr>
          <p:cNvPr id="49" name="Text 35"/>
          <p:cNvSpPr txBox="1"/>
          <p:nvPr/>
        </p:nvSpPr>
        <p:spPr>
          <a:xfrm>
            <a:off x="1005840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Feedback</a:t>
            </a:r>
            <a:endParaRPr lang="en-US" sz="1600" dirty="0"/>
          </a:p>
        </p:txBody>
      </p:sp>
      <p:sp>
        <p:nvSpPr>
          <p:cNvPr id="50" name="Text 3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(1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Format</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decks are PowerPoint (.pptx), built with pptxgenjs from these scripts so every deck matches.</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Slide 1 is always Recap &amp; Recall on the previous lesson (in Lesson 1: basic Y8 Python facts), with 4 questions.</a:t>
            </a:r>
            <a:endParaRPr lang="en-US" sz="1800" dirty="0"/>
          </a:p>
        </p:txBody>
      </p:sp>
      <p:sp>
        <p:nvSpPr>
          <p:cNvPr id="11" name="Shape 9"/>
          <p:cNvSpPr/>
          <p:nvPr/>
        </p:nvSpPr>
        <p:spPr>
          <a:xfrm>
            <a:off x="548640" y="3291840"/>
            <a:ext cx="11091672" cy="804672"/>
          </a:xfrm>
          <a:prstGeom prst="roundRect">
            <a:avLst>
              <a:gd name="adj" fmla="val 6818"/>
            </a:avLst>
          </a:prstGeom>
          <a:solidFill>
            <a:srgbClr val="2A2A32"/>
          </a:solidFill>
          <a:ln/>
        </p:spPr>
      </p:sp>
      <p:sp>
        <p:nvSpPr>
          <p:cNvPr id="12" name="Text 10"/>
          <p:cNvSpPr txBox="1"/>
          <p:nvPr/>
        </p:nvSpPr>
        <p:spPr>
          <a:xfrm>
            <a:off x="777240" y="33649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13" name="Text 11"/>
          <p:cNvSpPr txBox="1"/>
          <p:nvPr/>
        </p:nvSpPr>
        <p:spPr>
          <a:xfrm>
            <a:off x="777240" y="37490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3284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Q1–2 are multiple choice; Q3–4 need a written word or sentence. At least 3 of the 4 are built on code snippets students have already met.</a:t>
            </a:r>
            <a:endParaRPr lang="en-US" sz="1800" dirty="0"/>
          </a:p>
        </p:txBody>
      </p:sp>
      <p:sp>
        <p:nvSpPr>
          <p:cNvPr id="15" name="Shape 13"/>
          <p:cNvSpPr/>
          <p:nvPr/>
        </p:nvSpPr>
        <p:spPr>
          <a:xfrm>
            <a:off x="548640" y="4206240"/>
            <a:ext cx="11091672" cy="804672"/>
          </a:xfrm>
          <a:prstGeom prst="roundRect">
            <a:avLst>
              <a:gd name="adj" fmla="val 6818"/>
            </a:avLst>
          </a:prstGeom>
          <a:solidFill>
            <a:srgbClr val="2A2A32"/>
          </a:solidFill>
          <a:ln/>
        </p:spPr>
      </p:sp>
      <p:sp>
        <p:nvSpPr>
          <p:cNvPr id="16" name="Text 14"/>
          <p:cNvSpPr txBox="1"/>
          <p:nvPr/>
        </p:nvSpPr>
        <p:spPr>
          <a:xfrm>
            <a:off x="777240" y="42793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46634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2428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Always show the whole line of code, never fragments like input(…). Show what each whole line does instead (runLinesSlide).</a:t>
            </a:r>
            <a:endParaRPr lang="en-US" sz="1800" dirty="0"/>
          </a:p>
        </p:txBody>
      </p:sp>
      <p:sp>
        <p:nvSpPr>
          <p:cNvPr id="19" name="Shape 17"/>
          <p:cNvSpPr/>
          <p:nvPr/>
        </p:nvSpPr>
        <p:spPr>
          <a:xfrm>
            <a:off x="548640" y="5120640"/>
            <a:ext cx="11091672" cy="804672"/>
          </a:xfrm>
          <a:prstGeom prst="roundRect">
            <a:avLst>
              <a:gd name="adj" fmla="val 6818"/>
            </a:avLst>
          </a:prstGeom>
          <a:solidFill>
            <a:srgbClr val="2A2A32"/>
          </a:solidFill>
          <a:ln/>
        </p:spPr>
      </p:sp>
      <p:sp>
        <p:nvSpPr>
          <p:cNvPr id="20" name="Text 18"/>
          <p:cNvSpPr txBox="1"/>
          <p:nvPr/>
        </p:nvSpPr>
        <p:spPr>
          <a:xfrm>
            <a:off x="777240" y="51937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Theme</a:t>
            </a:r>
            <a:endParaRPr lang="en-US" sz="1800" dirty="0"/>
          </a:p>
        </p:txBody>
      </p:sp>
      <p:sp>
        <p:nvSpPr>
          <p:cNvPr id="21" name="Text 19"/>
          <p:cNvSpPr txBox="1"/>
          <p:nvPr/>
        </p:nvSpPr>
        <p:spPr>
          <a:xfrm>
            <a:off x="777240" y="55778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22" name="Text 20"/>
          <p:cNvSpPr txBox="1"/>
          <p:nvPr/>
        </p:nvSpPr>
        <p:spPr>
          <a:xfrm>
            <a:off x="3291840" y="51572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Survival horror, but readable first: charcoal background, gold for warnings, green "terminal" text for story only, red for error messages only. Body text 18pt or more.</a:t>
            </a:r>
            <a:endParaRPr lang="en-US" sz="1800" dirty="0"/>
          </a:p>
        </p:txBody>
      </p:sp>
      <p:sp>
        <p:nvSpPr>
          <p:cNvPr id="23"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(2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story appears only on the title, chapter cards and the plenary cliffhanger. The premise is spoken from the notes, not written on the slide.</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Cognitive load</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No split attention (labels sit on or beside what they label) and no redundancy (say it or show it, not both). At most 3 text areas per slide.</a:t>
            </a:r>
            <a:endParaRPr lang="en-US" sz="1800" dirty="0"/>
          </a:p>
        </p:txBody>
      </p:sp>
      <p:sp>
        <p:nvSpPr>
          <p:cNvPr id="11" name="Shape 9"/>
          <p:cNvSpPr/>
          <p:nvPr/>
        </p:nvSpPr>
        <p:spPr>
          <a:xfrm>
            <a:off x="548640" y="3291840"/>
            <a:ext cx="11091672" cy="804672"/>
          </a:xfrm>
          <a:prstGeom prst="roundRect">
            <a:avLst>
              <a:gd name="adj" fmla="val 6818"/>
            </a:avLst>
          </a:prstGeom>
          <a:solidFill>
            <a:srgbClr val="2A2A32"/>
          </a:solidFill>
          <a:ln/>
        </p:spPr>
      </p:sp>
      <p:sp>
        <p:nvSpPr>
          <p:cNvPr id="12" name="Text 10"/>
          <p:cNvSpPr txBox="1"/>
          <p:nvPr/>
        </p:nvSpPr>
        <p:spPr>
          <a:xfrm>
            <a:off x="777240" y="33649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3" name="Text 11"/>
          <p:cNvSpPr txBox="1"/>
          <p:nvPr/>
        </p:nvSpPr>
        <p:spPr>
          <a:xfrm>
            <a:off x="777240" y="37490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3284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 slide must make sense without the teacher. No brackets, badges or numbers to decode: show each line, then what it puts on screen and in memory, read left to right.</a:t>
            </a:r>
            <a:endParaRPr lang="en-US" sz="1800" dirty="0"/>
          </a:p>
        </p:txBody>
      </p:sp>
      <p:sp>
        <p:nvSpPr>
          <p:cNvPr id="15" name="Shape 13"/>
          <p:cNvSpPr/>
          <p:nvPr/>
        </p:nvSpPr>
        <p:spPr>
          <a:xfrm>
            <a:off x="548640" y="4206240"/>
            <a:ext cx="11091672" cy="804672"/>
          </a:xfrm>
          <a:prstGeom prst="roundRect">
            <a:avLst>
              <a:gd name="adj" fmla="val 6818"/>
            </a:avLst>
          </a:prstGeom>
          <a:solidFill>
            <a:srgbClr val="2A2A32"/>
          </a:solidFill>
          <a:ln/>
        </p:spPr>
      </p:sp>
      <p:sp>
        <p:nvSpPr>
          <p:cNvPr id="16" name="Text 14"/>
          <p:cNvSpPr txBox="1"/>
          <p:nvPr/>
        </p:nvSpPr>
        <p:spPr>
          <a:xfrm>
            <a:off x="777240" y="42793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Animation</a:t>
            </a:r>
            <a:endParaRPr lang="en-US" sz="1800" dirty="0"/>
          </a:p>
        </p:txBody>
      </p:sp>
      <p:sp>
        <p:nvSpPr>
          <p:cNvPr id="17" name="Text 15"/>
          <p:cNvSpPr txBox="1"/>
          <p:nvPr/>
        </p:nvSpPr>
        <p:spPr>
          <a:xfrm>
            <a:off x="777240" y="46634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2428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Build worked examples up on click, one part at a time (code → screen → memory), so students only see the step being explained. Use K.onClick in any slide type.</a:t>
            </a:r>
            <a:endParaRPr lang="en-US" sz="1800" dirty="0"/>
          </a:p>
        </p:txBody>
      </p:sp>
      <p:sp>
        <p:nvSpPr>
          <p:cNvPr id="19" name="Shape 17"/>
          <p:cNvSpPr/>
          <p:nvPr/>
        </p:nvSpPr>
        <p:spPr>
          <a:xfrm>
            <a:off x="548640" y="5120640"/>
            <a:ext cx="11091672" cy="804672"/>
          </a:xfrm>
          <a:prstGeom prst="roundRect">
            <a:avLst>
              <a:gd name="adj" fmla="val 6818"/>
            </a:avLst>
          </a:prstGeom>
          <a:solidFill>
            <a:srgbClr val="2A2A32"/>
          </a:solidFill>
          <a:ln/>
        </p:spPr>
      </p:sp>
      <p:sp>
        <p:nvSpPr>
          <p:cNvPr id="20" name="Text 18"/>
          <p:cNvSpPr txBox="1"/>
          <p:nvPr/>
        </p:nvSpPr>
        <p:spPr>
          <a:xfrm>
            <a:off x="777240" y="51937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Sequencing</a:t>
            </a:r>
            <a:endParaRPr lang="en-US" sz="1800" dirty="0"/>
          </a:p>
        </p:txBody>
      </p:sp>
      <p:sp>
        <p:nvSpPr>
          <p:cNvPr id="21" name="Text 19"/>
          <p:cNvSpPr txBox="1"/>
          <p:nvPr/>
        </p:nvSpPr>
        <p:spPr>
          <a:xfrm>
            <a:off x="777240" y="55778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22" name="Text 20"/>
          <p:cNvSpPr txBox="1"/>
          <p:nvPr/>
        </p:nvSpPr>
        <p:spPr>
          <a:xfrm>
            <a:off x="3291840" y="51572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Reintroduce each idea on its own slide before a slide builds on it (e.g. a variable is a named box, *then* input() fills the box). Reuse the same layout so only the new part changes.</a:t>
            </a:r>
            <a:endParaRPr lang="en-US" sz="1800" dirty="0"/>
          </a:p>
        </p:txBody>
      </p:sp>
      <p:sp>
        <p:nvSpPr>
          <p:cNvPr id="23"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(3 of 3)</a:t>
            </a:r>
            <a:endParaRPr lang="en-US" sz="3600" dirty="0"/>
          </a:p>
        </p:txBody>
      </p:sp>
      <p:sp>
        <p:nvSpPr>
          <p:cNvPr id="3" name="Shape 1"/>
          <p:cNvSpPr/>
          <p:nvPr/>
        </p:nvSpPr>
        <p:spPr>
          <a:xfrm>
            <a:off x="548640" y="1463040"/>
            <a:ext cx="11091672" cy="804672"/>
          </a:xfrm>
          <a:prstGeom prst="roundRect">
            <a:avLst>
              <a:gd name="adj" fmla="val 6818"/>
            </a:avLst>
          </a:prstGeom>
          <a:solidFill>
            <a:srgbClr val="2A2A32"/>
          </a:solidFill>
          <a:ln/>
        </p:spPr>
      </p:sp>
      <p:sp>
        <p:nvSpPr>
          <p:cNvPr id="4" name="Text 2"/>
          <p:cNvSpPr txBox="1"/>
          <p:nvPr/>
        </p:nvSpPr>
        <p:spPr>
          <a:xfrm>
            <a:off x="777240" y="15361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996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slides decay with the story: chapter by chapter, and on screen at a story beat. Damage only ever goes in the frame, under the content, so code, output and memory stay clean (createDeck({ station }), K.station, K.beat).</a:t>
            </a:r>
            <a:endParaRPr lang="en-US" sz="1800" dirty="0"/>
          </a:p>
        </p:txBody>
      </p:sp>
      <p:sp>
        <p:nvSpPr>
          <p:cNvPr id="7" name="Shape 5"/>
          <p:cNvSpPr/>
          <p:nvPr/>
        </p:nvSpPr>
        <p:spPr>
          <a:xfrm>
            <a:off x="548640" y="2377440"/>
            <a:ext cx="11091672" cy="804672"/>
          </a:xfrm>
          <a:prstGeom prst="roundRect">
            <a:avLst>
              <a:gd name="adj" fmla="val 6818"/>
            </a:avLst>
          </a:prstGeom>
          <a:solidFill>
            <a:srgbClr val="2A2A32"/>
          </a:solidFill>
          <a:ln/>
        </p:spPr>
      </p:sp>
      <p:sp>
        <p:nvSpPr>
          <p:cNvPr id="8" name="Text 6"/>
          <p:cNvSpPr txBox="1"/>
          <p:nvPr/>
        </p:nvSpPr>
        <p:spPr>
          <a:xfrm>
            <a:off x="777240" y="245059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9" name="Text 7"/>
          <p:cNvSpPr txBox="1"/>
          <p:nvPr/>
        </p:nvSpPr>
        <p:spPr>
          <a:xfrm>
            <a:off x="777240" y="28346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414016"/>
            <a:ext cx="8183880" cy="731520"/>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Make the damage clearly visible (first version was too subtle): stronger frost, wider alarm glow, solid hazard stripes, heavier static and cracks. Still frame only.</a:t>
            </a:r>
            <a:endParaRPr lang="en-US" sz="1800" dirty="0"/>
          </a:p>
        </p:txBody>
      </p:sp>
      <p:sp>
        <p:nvSpPr>
          <p:cNvPr id="11" name="Text 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1088136"/>
          </a:xfrm>
          <a:prstGeom prst="roundRect">
            <a:avLst>
              <a:gd name="adj" fmla="val 5042"/>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6" name="Text 24"/>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0"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1" name="Shape 29"/>
          <p:cNvSpPr/>
          <p:nvPr/>
        </p:nvSpPr>
        <p:spPr>
          <a:xfrm>
            <a:off x="777240" y="4224528"/>
            <a:ext cx="384048" cy="384048"/>
          </a:xfrm>
          <a:prstGeom prst="ellipse">
            <a:avLst/>
          </a:prstGeom>
          <a:solidFill>
            <a:srgbClr val="1E1E24"/>
          </a:solidFill>
          <a:ln/>
        </p:spPr>
      </p:sp>
      <p:sp>
        <p:nvSpPr>
          <p:cNvPr id="32" name="Text 30"/>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3" name="Shape 31"/>
          <p:cNvSpPr/>
          <p:nvPr/>
        </p:nvSpPr>
        <p:spPr>
          <a:xfrm>
            <a:off x="1280160" y="4251960"/>
            <a:ext cx="1600200" cy="310896"/>
          </a:xfrm>
          <a:prstGeom prst="roundRect">
            <a:avLst>
              <a:gd name="adj" fmla="val 52941"/>
            </a:avLst>
          </a:prstGeom>
          <a:solidFill>
            <a:srgbClr val="EDE6D3"/>
          </a:solidFill>
          <a:ln/>
        </p:spPr>
      </p:sp>
      <p:sp>
        <p:nvSpPr>
          <p:cNvPr id="34" name="Text 32"/>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5" name="Shape 33"/>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6" name="Text 34"/>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7" name="Text 35"/>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8" name="Shape 36"/>
          <p:cNvSpPr/>
          <p:nvPr/>
        </p:nvSpPr>
        <p:spPr>
          <a:xfrm>
            <a:off x="777240" y="5074920"/>
            <a:ext cx="4956048" cy="484632"/>
          </a:xfrm>
          <a:prstGeom prst="roundRect">
            <a:avLst>
              <a:gd name="adj" fmla="val 11321"/>
            </a:avLst>
          </a:prstGeom>
          <a:solidFill>
            <a:srgbClr val="111115"/>
          </a:solidFill>
          <a:ln/>
        </p:spPr>
      </p:sp>
      <p:sp>
        <p:nvSpPr>
          <p:cNvPr id="39" name="Text 37"/>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recallStarter()  ·  Recap &amp; Recall starter</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Saves text into a file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input() is the one that asks the user</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14</a:t>
            </a:r>
            <a:endParaRPr lang="en-US" sz="1800" dirty="0"/>
          </a:p>
        </p:txBody>
      </p:sp>
      <p:sp>
        <p:nvSpPr>
          <p:cNvPr id="31" name="Text 29"/>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the new value replaces the old one</a:t>
            </a:r>
            <a:endParaRPr lang="en-US" sz="1800" dirty="0"/>
          </a:p>
        </p:txBody>
      </p:sp>
      <p:sp>
        <p:nvSpPr>
          <p:cNvPr id="32"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3" name="Shape 31"/>
          <p:cNvSpPr/>
          <p:nvPr/>
        </p:nvSpPr>
        <p:spPr>
          <a:xfrm>
            <a:off x="777240" y="4224528"/>
            <a:ext cx="384048" cy="384048"/>
          </a:xfrm>
          <a:prstGeom prst="ellipse">
            <a:avLst/>
          </a:prstGeom>
          <a:solidFill>
            <a:srgbClr val="D8A73D"/>
          </a:solidFill>
          <a:ln/>
        </p:spPr>
      </p:sp>
      <p:sp>
        <p:nvSpPr>
          <p:cNvPr id="34" name="Text 32"/>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Shape 33"/>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6" name="Text 34"/>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37" name="Shape 35"/>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8" name="Text 36"/>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9" name="Text 37"/>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This line crashes. What is missing?</a:t>
            </a:r>
            <a:endParaRPr lang="en-US" sz="2000" dirty="0"/>
          </a:p>
        </p:txBody>
      </p:sp>
      <p:sp>
        <p:nvSpPr>
          <p:cNvPr id="40" name="Shape 38"/>
          <p:cNvSpPr/>
          <p:nvPr/>
        </p:nvSpPr>
        <p:spPr>
          <a:xfrm>
            <a:off x="777240" y="5074920"/>
            <a:ext cx="4956048" cy="484632"/>
          </a:xfrm>
          <a:prstGeom prst="roundRect">
            <a:avLst>
              <a:gd name="adj" fmla="val 11321"/>
            </a:avLst>
          </a:prstGeom>
          <a:solidFill>
            <a:srgbClr val="111115"/>
          </a:solidFill>
          <a:ln/>
        </p:spPr>
      </p:sp>
      <p:sp>
        <p:nvSpPr>
          <p:cNvPr id="41" name="Text 39"/>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2" name="Text 40"/>
          <p:cNvSpPr txBox="1"/>
          <p:nvPr/>
        </p:nvSpPr>
        <p:spPr>
          <a:xfrm>
            <a:off x="777240" y="5632704"/>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A closing quote mark</a:t>
            </a:r>
            <a:pPr indent="0" marL="0">
              <a:buNone/>
            </a:pPr>
            <a:r>
              <a:rPr lang="en-US" sz="1800" dirty="0">
                <a:solidFill>
                  <a:srgbClr val="A9A9B4"/>
                </a:solidFill>
                <a:latin typeface="Consolas" pitchFamily="34" charset="0"/>
                <a:ea typeface="Consolas" pitchFamily="34" charset="-122"/>
                <a:cs typeface="Consolas" pitchFamily="34" charset="-120"/>
              </a:rPr>
              <a:t>   print("Hello")</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Write exactly what this prints.</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Hi Sam</a:t>
            </a:r>
            <a:pPr indent="0" marL="0">
              <a:buNone/>
            </a:pPr>
            <a:r>
              <a:rPr lang="en-US" sz="1800" dirty="0">
                <a:solidFill>
                  <a:srgbClr val="A9A9B4"/>
                </a:solidFill>
                <a:latin typeface="Calibri" pitchFamily="34" charset="0"/>
                <a:ea typeface="Calibri" pitchFamily="34" charset="-122"/>
                <a:cs typeface="Calibri" pitchFamily="34" charset="-120"/>
              </a:rPr>
              <a:t>   the space is inside the quotes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7" name="Text 5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recallAnswers()  ·  Recap &amp; Recall answers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5"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POD 2 .......... </a:t>
            </a:r>
            <a:pPr indent="0" marL="0">
              <a:buNone/>
            </a:pPr>
            <a:r>
              <a:rPr lang="en-US" sz="2000" b="1" dirty="0">
                <a:solidFill>
                  <a:srgbClr val="D8A73D"/>
                </a:solidFill>
                <a:latin typeface="Consolas" pitchFamily="34" charset="0"/>
                <a:ea typeface="Consolas" pitchFamily="34" charset="-122"/>
                <a:cs typeface="Consolas" pitchFamily="34" charset="-120"/>
              </a:rPr>
              <a:t>OPEN</a:t>
            </a:r>
            <a:endParaRPr lang="en-US" sz="2000" dirty="0"/>
          </a:p>
        </p:txBody>
      </p:sp>
      <p:sp>
        <p:nvSpPr>
          <p:cNvPr id="11" name="Text 9"/>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titleSlide()  ·  Title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3" name="Shape 1"/>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4" name="Text 2"/>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5" name="Text 3"/>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6" name="Shape 4"/>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7" name="Text 5"/>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6"/>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3600" dirty="0"/>
          </a:p>
        </p:txBody>
      </p:sp>
      <p:pic>
        <p:nvPicPr>
          <p:cNvPr id="9"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questionsSlide()  ·  Topic + lesson question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3" name="Text 1"/>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4" name="Text 2"/>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5" name="Text 3"/>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7" name="click1"/>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8" name="click1"/>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9"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0"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1"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2"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3"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4" name="click3"/>
          <p:cNvSpPr/>
          <p:nvPr/>
        </p:nvSpPr>
        <p:spPr>
          <a:xfrm>
            <a:off x="9738360" y="1965960"/>
            <a:ext cx="1481328" cy="347472"/>
          </a:xfrm>
          <a:prstGeom prst="roundRect">
            <a:avLst>
              <a:gd name="adj" fmla="val 13158"/>
            </a:avLst>
          </a:prstGeom>
          <a:solidFill>
            <a:srgbClr val="E69F00"/>
          </a:solidFill>
          <a:ln/>
        </p:spPr>
      </p:sp>
      <p:sp>
        <p:nvSpPr>
          <p:cNvPr id="15"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7" name="click4"/>
          <p:cNvSpPr/>
          <p:nvPr/>
        </p:nvSpPr>
        <p:spPr>
          <a:xfrm>
            <a:off x="548640" y="3977640"/>
            <a:ext cx="11091672" cy="0"/>
          </a:xfrm>
          <a:prstGeom prst="line">
            <a:avLst/>
          </a:prstGeom>
          <a:noFill/>
          <a:ln w="12700">
            <a:solidFill>
              <a:srgbClr val="3A3A44"/>
            </a:solidFill>
            <a:prstDash val="solid"/>
          </a:ln>
        </p:spPr>
      </p:sp>
      <p:sp>
        <p:nvSpPr>
          <p:cNvPr id="18"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19" name="click4"/>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0" name="click4"/>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1"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2"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3"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4" name="click5"/>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5" name="click6"/>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6" name="click6"/>
          <p:cNvSpPr/>
          <p:nvPr/>
        </p:nvSpPr>
        <p:spPr>
          <a:xfrm>
            <a:off x="9738360" y="4160520"/>
            <a:ext cx="1481328" cy="347472"/>
          </a:xfrm>
          <a:prstGeom prst="roundRect">
            <a:avLst>
              <a:gd name="adj" fmla="val 13158"/>
            </a:avLst>
          </a:prstGeom>
          <a:solidFill>
            <a:srgbClr val="E69F00"/>
          </a:solidFill>
          <a:ln/>
        </p:spPr>
      </p:sp>
      <p:sp>
        <p:nvSpPr>
          <p:cNvPr id="27"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28"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9"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2" name="Text 2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runLinesSlide()  ·  Run it line by line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2" grpId="0" animBg="1"/>
      <p:bldP spid="15" grpId="0" animBg="1"/>
      <p:bldP spid="16" grpId="0" animBg="1"/>
      <p:bldP spid="19" grpId="0" animBg="1"/>
      <p:bldP spid="20" grpId="0" animBg="1"/>
      <p:bldP spid="21" grpId="0" animBg="1"/>
      <p:bldP spid="23" grpId="0" animBg="1"/>
      <p:bldP spid="24" grpId="0" animBg="1"/>
      <p:bldP spid="27" grpId="0" animBg="1"/>
      <p:bldP spid="28" grpId="0" animBg="1"/>
      <p:bldP spid="2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3" name="Text 1"/>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4" name="Shape 2"/>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5" name="Shape 3"/>
          <p:cNvSpPr/>
          <p:nvPr/>
        </p:nvSpPr>
        <p:spPr>
          <a:xfrm>
            <a:off x="685800" y="1965960"/>
            <a:ext cx="1481328" cy="347472"/>
          </a:xfrm>
          <a:prstGeom prst="roundRect">
            <a:avLst>
              <a:gd name="adj" fmla="val 13158"/>
            </a:avLst>
          </a:prstGeom>
          <a:solidFill>
            <a:srgbClr val="E69F00"/>
          </a:solidFill>
          <a:ln/>
        </p:spPr>
      </p:sp>
      <p:sp>
        <p:nvSpPr>
          <p:cNvPr id="6" name="Text 4"/>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7" name="Text 5"/>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8"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9" name="Text 7"/>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Shape 8"/>
          <p:cNvSpPr/>
          <p:nvPr/>
        </p:nvSpPr>
        <p:spPr>
          <a:xfrm>
            <a:off x="4251960" y="3858768"/>
            <a:ext cx="640080" cy="0"/>
          </a:xfrm>
          <a:prstGeom prst="line">
            <a:avLst/>
          </a:prstGeom>
          <a:noFill/>
          <a:ln w="28575">
            <a:solidFill>
              <a:srgbClr val="A9A9B4"/>
            </a:solidFill>
            <a:prstDash val="solid"/>
            <a:tailEnd type="triangle"/>
          </a:ln>
        </p:spPr>
      </p:sp>
      <p:sp>
        <p:nvSpPr>
          <p:cNvPr id="11"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2" name="Text 10"/>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3" name="Text 11"/>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4"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5" name="Text 13"/>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Shape 14"/>
          <p:cNvSpPr/>
          <p:nvPr/>
        </p:nvSpPr>
        <p:spPr>
          <a:xfrm>
            <a:off x="4251960" y="5093208"/>
            <a:ext cx="640080" cy="0"/>
          </a:xfrm>
          <a:prstGeom prst="line">
            <a:avLst/>
          </a:prstGeom>
          <a:noFill/>
          <a:ln w="28575">
            <a:solidFill>
              <a:srgbClr val="A9A9B4"/>
            </a:solidFill>
            <a:prstDash val="solid"/>
            <a:tailEnd type="triangle"/>
          </a:ln>
        </p:spPr>
      </p:sp>
      <p:sp>
        <p:nvSpPr>
          <p:cNvPr id="17"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18" name="Text 16"/>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9" name="Text 17"/>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pairSlide()  ·  Discriminating pair</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8"/>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1" name="Text 9"/>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10"/>
          <p:cNvSpPr/>
          <p:nvPr/>
        </p:nvSpPr>
        <p:spPr>
          <a:xfrm>
            <a:off x="7909560" y="1600200"/>
            <a:ext cx="3730752" cy="1947672"/>
          </a:xfrm>
          <a:prstGeom prst="roundRect">
            <a:avLst>
              <a:gd name="adj" fmla="val 3756"/>
            </a:avLst>
          </a:prstGeom>
          <a:solidFill>
            <a:srgbClr val="2A2A32"/>
          </a:solidFill>
          <a:ln/>
        </p:spPr>
      </p:sp>
      <p:sp>
        <p:nvSpPr>
          <p:cNvPr id="13" name="Text 11"/>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4" name="Text 12"/>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5" name="Text 13"/>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6" name="Shape 14"/>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17" name="Text 15"/>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18" name="Shape 16"/>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9" name="Text 1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0"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predictSlide()  ·  Predict (mini-whiteboards)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what it prints</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603504" y="3184398"/>
            <a:ext cx="6931152" cy="461010"/>
          </a:xfrm>
          <a:prstGeom prst="rect">
            <a:avLst/>
          </a:prstGeom>
          <a:solidFill>
            <a:srgbClr val="2B2618"/>
          </a:solidFill>
          <a:ln/>
        </p:spPr>
      </p:sp>
      <p:sp>
        <p:nvSpPr>
          <p:cNvPr id="11"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2"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7909560" y="1600200"/>
            <a:ext cx="3730752" cy="2402840"/>
          </a:xfrm>
          <a:prstGeom prst="roundRect">
            <a:avLst>
              <a:gd name="adj" fmla="val 3044"/>
            </a:avLst>
          </a:prstGeom>
          <a:solidFill>
            <a:srgbClr val="0A0A0D"/>
          </a:solidFill>
          <a:ln w="15875">
            <a:solidFill>
              <a:srgbClr val="3A3A44"/>
            </a:solidFill>
            <a:prstDash val="solid"/>
          </a:ln>
        </p:spPr>
      </p:sp>
      <p:sp>
        <p:nvSpPr>
          <p:cNvPr id="14" name="Text 12"/>
          <p:cNvSpPr txBox="1"/>
          <p:nvPr/>
        </p:nvSpPr>
        <p:spPr>
          <a:xfrm>
            <a:off x="8138160" y="1783080"/>
            <a:ext cx="327355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OUTPUT</a:t>
            </a:r>
            <a:endParaRPr lang="en-US" sz="1200" dirty="0"/>
          </a:p>
        </p:txBody>
      </p:sp>
      <p:sp>
        <p:nvSpPr>
          <p:cNvPr id="15" name="Text 13"/>
          <p:cNvSpPr txBox="1"/>
          <p:nvPr/>
        </p:nvSpPr>
        <p:spPr>
          <a:xfrm>
            <a:off x="8138160" y="21488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room? </a:t>
            </a:r>
            <a:pPr indent="0" marL="0">
              <a:buNone/>
            </a:pPr>
            <a:r>
              <a:rPr lang="en-US" sz="2000" dirty="0">
                <a:solidFill>
                  <a:srgbClr val="E69F00"/>
                </a:solidFill>
                <a:latin typeface="Consolas" pitchFamily="34" charset="0"/>
                <a:ea typeface="Consolas" pitchFamily="34" charset="-122"/>
                <a:cs typeface="Consolas" pitchFamily="34" charset="-120"/>
              </a:rPr>
              <a:t>Medbay</a:t>
            </a:r>
            <a:endParaRPr lang="en-US" sz="2000" dirty="0"/>
          </a:p>
        </p:txBody>
      </p:sp>
      <p:sp>
        <p:nvSpPr>
          <p:cNvPr id="16" name="Text 14"/>
          <p:cNvSpPr txBox="1"/>
          <p:nvPr/>
        </p:nvSpPr>
        <p:spPr>
          <a:xfrm>
            <a:off x="8138160" y="25552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level? </a:t>
            </a:r>
            <a:pPr indent="0" marL="0">
              <a:buNone/>
            </a:pPr>
            <a:r>
              <a:rPr lang="en-US" sz="2000" dirty="0">
                <a:solidFill>
                  <a:srgbClr val="E69F00"/>
                </a:solidFill>
                <a:latin typeface="Consolas" pitchFamily="34" charset="0"/>
                <a:ea typeface="Consolas" pitchFamily="34" charset="-122"/>
                <a:cs typeface="Consolas" pitchFamily="34" charset="-120"/>
              </a:rPr>
              <a:t>3</a:t>
            </a:r>
            <a:endParaRPr lang="en-US" sz="2000" dirty="0"/>
          </a:p>
        </p:txBody>
      </p:sp>
      <p:sp>
        <p:nvSpPr>
          <p:cNvPr id="17" name="Text 15"/>
          <p:cNvSpPr txBox="1"/>
          <p:nvPr/>
        </p:nvSpPr>
        <p:spPr>
          <a:xfrm>
            <a:off x="8138160" y="29616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Scanning...</a:t>
            </a:r>
            <a:endParaRPr lang="en-US" sz="2000" dirty="0"/>
          </a:p>
        </p:txBody>
      </p:sp>
      <p:sp>
        <p:nvSpPr>
          <p:cNvPr id="18" name="Text 16"/>
          <p:cNvSpPr txBox="1"/>
          <p:nvPr/>
        </p:nvSpPr>
        <p:spPr>
          <a:xfrm>
            <a:off x="8138160" y="3368040"/>
            <a:ext cx="3273552" cy="406400"/>
          </a:xfrm>
          <a:prstGeom prst="rect">
            <a:avLst/>
          </a:prstGeom>
          <a:noFill/>
          <a:ln/>
        </p:spPr>
        <p:txBody>
          <a:bodyPr wrap="square" lIns="0" tIns="0" rIns="0" bIns="0" rtlCol="0" anchor="ctr"/>
          <a:lstStyle/>
          <a:p>
            <a:pPr indent="0" marL="0">
              <a:buNone/>
            </a:pPr>
            <a:r>
              <a:rPr lang="en-US" sz="2000" b="1" dirty="0">
                <a:solidFill>
                  <a:srgbClr val="D8A73D"/>
                </a:solidFill>
                <a:latin typeface="Consolas" pitchFamily="34" charset="0"/>
                <a:ea typeface="Consolas" pitchFamily="34" charset="-122"/>
                <a:cs typeface="Consolas" pitchFamily="34" charset="-120"/>
              </a:rPr>
              <a:t>Medbay on level 3</a:t>
            </a:r>
            <a:endParaRPr lang="en-US" sz="2000" dirty="0"/>
          </a:p>
        </p:txBody>
      </p:sp>
      <p:sp>
        <p:nvSpPr>
          <p:cNvPr id="19" name="Shape 17"/>
          <p:cNvSpPr/>
          <p:nvPr/>
        </p:nvSpPr>
        <p:spPr>
          <a:xfrm>
            <a:off x="548640" y="4206240"/>
            <a:ext cx="5394960" cy="1508760"/>
          </a:xfrm>
          <a:prstGeom prst="roundRect">
            <a:avLst>
              <a:gd name="adj" fmla="val 4848"/>
            </a:avLst>
          </a:prstGeom>
          <a:solidFill>
            <a:srgbClr val="2A2A32"/>
          </a:solidFill>
          <a:ln/>
        </p:spPr>
      </p:sp>
      <p:sp>
        <p:nvSpPr>
          <p:cNvPr id="20" name="Text 18"/>
          <p:cNvSpPr txBox="1"/>
          <p:nvPr/>
        </p:nvSpPr>
        <p:spPr>
          <a:xfrm>
            <a:off x="822960"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FF6B6B"/>
                </a:solidFill>
                <a:latin typeface="Consolas" pitchFamily="34" charset="0"/>
                <a:ea typeface="Consolas" pitchFamily="34" charset="-122"/>
                <a:cs typeface="Consolas" pitchFamily="34" charset="-120"/>
              </a:rPr>
              <a:t>✗  room on level level</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No quotes → Python prints what’s stored, not the name</a:t>
            </a:r>
            <a:endParaRPr lang="en-US" sz="2000" dirty="0"/>
          </a:p>
        </p:txBody>
      </p:sp>
      <p:sp>
        <p:nvSpPr>
          <p:cNvPr id="21" name="Shape 19"/>
          <p:cNvSpPr/>
          <p:nvPr/>
        </p:nvSpPr>
        <p:spPr>
          <a:xfrm>
            <a:off x="6245352" y="4206240"/>
            <a:ext cx="5394960" cy="1508760"/>
          </a:xfrm>
          <a:prstGeom prst="roundRect">
            <a:avLst>
              <a:gd name="adj" fmla="val 4848"/>
            </a:avLst>
          </a:prstGeom>
          <a:solidFill>
            <a:srgbClr val="2A2A32"/>
          </a:solidFill>
          <a:ln/>
        </p:spPr>
      </p:sp>
      <p:sp>
        <p:nvSpPr>
          <p:cNvPr id="22" name="Text 20"/>
          <p:cNvSpPr txBox="1"/>
          <p:nvPr/>
        </p:nvSpPr>
        <p:spPr>
          <a:xfrm>
            <a:off x="6519672"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E69F00"/>
                </a:solidFill>
                <a:latin typeface="Consolas" pitchFamily="34" charset="0"/>
                <a:ea typeface="Consolas" pitchFamily="34" charset="-122"/>
                <a:cs typeface="Consolas" pitchFamily="34" charset="-120"/>
              </a:rPr>
              <a:t>" on level "</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The spaces come from inside the quotes</a:t>
            </a:r>
            <a:endParaRPr lang="en-US" sz="2000" dirty="0"/>
          </a:p>
        </p:txBody>
      </p:sp>
      <p:pic>
        <p:nvPicPr>
          <p:cNvPr id="23"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5"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predictRevealSlide()  ·  Predict reveal</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trace it</a:t>
            </a:r>
            <a:endParaRPr lang="en-US" sz="3600" dirty="0"/>
          </a:p>
        </p:txBody>
      </p:sp>
      <p:sp>
        <p:nvSpPr>
          <p:cNvPr id="3" name="code"/>
          <p:cNvSpPr/>
          <p:nvPr/>
        </p:nvSpPr>
        <p:spPr>
          <a:xfrm>
            <a:off x="548640" y="1508760"/>
            <a:ext cx="8046720" cy="1785366"/>
          </a:xfrm>
          <a:prstGeom prst="roundRect">
            <a:avLst>
              <a:gd name="adj" fmla="val 4097"/>
            </a:avLst>
          </a:prstGeom>
          <a:solidFill>
            <a:srgbClr val="111115"/>
          </a:solidFill>
          <a:ln w="15875">
            <a:solidFill>
              <a:srgbClr val="3A3A44"/>
            </a:solidFill>
            <a:prstDash val="solid"/>
          </a:ln>
        </p:spPr>
      </p:sp>
      <p:sp>
        <p:nvSpPr>
          <p:cNvPr id="4" name="Text 2"/>
          <p:cNvSpPr txBox="1"/>
          <p:nvPr/>
        </p:nvSpPr>
        <p:spPr>
          <a:xfrm>
            <a:off x="658368" y="170992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70992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"Battery %: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17093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17093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15</a:t>
            </a:r>
            <a:endParaRPr lang="en-US" sz="2200" dirty="0"/>
          </a:p>
        </p:txBody>
      </p:sp>
      <p:sp>
        <p:nvSpPr>
          <p:cNvPr id="8" name="Text 6"/>
          <p:cNvSpPr txBox="1"/>
          <p:nvPr/>
        </p:nvSpPr>
        <p:spPr>
          <a:xfrm>
            <a:off x="658368" y="263194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631948"/>
            <a:ext cx="731520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"Power left: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8823960" y="1508760"/>
            <a:ext cx="2816352" cy="1719072"/>
          </a:xfrm>
          <a:prstGeom prst="roundRect">
            <a:avLst>
              <a:gd name="adj" fmla="val 4255"/>
            </a:avLst>
          </a:prstGeom>
          <a:solidFill>
            <a:srgbClr val="2A2A32"/>
          </a:solidFill>
          <a:ln/>
        </p:spPr>
      </p:sp>
      <p:sp>
        <p:nvSpPr>
          <p:cNvPr id="11" name="Text 9"/>
          <p:cNvSpPr txBox="1"/>
          <p:nvPr/>
        </p:nvSpPr>
        <p:spPr>
          <a:xfrm>
            <a:off x="9052560" y="1691640"/>
            <a:ext cx="246888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2" name="Text 10"/>
          <p:cNvSpPr txBox="1"/>
          <p:nvPr/>
        </p:nvSpPr>
        <p:spPr>
          <a:xfrm>
            <a:off x="9052560" y="2057400"/>
            <a:ext cx="2377440" cy="914400"/>
          </a:xfrm>
          <a:prstGeom prst="rect">
            <a:avLst/>
          </a:prstGeom>
          <a:noFill/>
          <a:ln/>
        </p:spPr>
        <p:txBody>
          <a:bodyPr wrap="square" lIns="0" tIns="0" rIns="0" bIns="0" rtlCol="0" anchor="ctr"/>
          <a:lstStyle/>
          <a:p>
            <a:pPr indent="0" marL="0">
              <a:buNone/>
            </a:pPr>
            <a:r>
              <a:rPr lang="en-US" sz="4000" b="1" dirty="0">
                <a:solidFill>
                  <a:srgbClr val="E69F00"/>
                </a:solidFill>
                <a:latin typeface="Consolas" pitchFamily="34" charset="0"/>
                <a:ea typeface="Consolas" pitchFamily="34" charset="-122"/>
                <a:cs typeface="Consolas" pitchFamily="34" charset="-120"/>
              </a:rPr>
              <a:t>80</a:t>
            </a:r>
            <a:endParaRPr lang="en-US" sz="40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 MIN</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1672" cy="914400"/>
        </p:xfrm>
        <a:graphic>
          <a:graphicData uri="http://schemas.openxmlformats.org/drawingml/2006/table">
            <a:tbl>
              <a:tblPr/>
              <a:tblGrid>
                <a:gridCol w="1280160"/>
                <a:gridCol w="2377440"/>
                <a:gridCol w="7434072"/>
              </a:tblGrid>
              <a:tr h="475488">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Line</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battery</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Output</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pic>
        <p:nvPicPr>
          <p:cNvPr id="16"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8"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traceSlide()  ·  Trace table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3"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4" name="Text 2"/>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5"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6" name="Text 4"/>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7"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8" name="Text 6"/>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9"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0" name="Text 8"/>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1" name="Shape 9"/>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2" name="Text 10"/>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turnTalkSlide()  ·  Turn &amp; Talk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Debugging recipe</a:t>
            </a:r>
            <a:endParaRPr lang="en-US" sz="3600" dirty="0"/>
          </a:p>
        </p:txBody>
      </p:sp>
      <p:sp>
        <p:nvSpPr>
          <p:cNvPr id="3" name="terminal"/>
          <p:cNvSpPr/>
          <p:nvPr/>
        </p:nvSpPr>
        <p:spPr>
          <a:xfrm>
            <a:off x="548640" y="1554480"/>
            <a:ext cx="8503920" cy="2402840"/>
          </a:xfrm>
          <a:prstGeom prst="roundRect">
            <a:avLst>
              <a:gd name="adj" fmla="val 3044"/>
            </a:avLst>
          </a:prstGeom>
          <a:solidFill>
            <a:srgbClr val="0A0A0D"/>
          </a:solidFill>
          <a:ln w="15875">
            <a:solidFill>
              <a:srgbClr val="3A3A44"/>
            </a:solidFill>
            <a:prstDash val="solid"/>
          </a:ln>
        </p:spPr>
      </p:sp>
      <p:sp>
        <p:nvSpPr>
          <p:cNvPr id="4" name="Text 2"/>
          <p:cNvSpPr txBox="1"/>
          <p:nvPr/>
        </p:nvSpPr>
        <p:spPr>
          <a:xfrm>
            <a:off x="777240" y="1737360"/>
            <a:ext cx="8046720"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MESSAGE</a:t>
            </a:r>
            <a:endParaRPr lang="en-US" sz="1200" dirty="0"/>
          </a:p>
        </p:txBody>
      </p:sp>
      <p:sp>
        <p:nvSpPr>
          <p:cNvPr id="5" name="Text 3"/>
          <p:cNvSpPr txBox="1"/>
          <p:nvPr/>
        </p:nvSpPr>
        <p:spPr>
          <a:xfrm>
            <a:off x="777240" y="21031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File "main.py", line 3</a:t>
            </a:r>
            <a:endParaRPr lang="en-US" sz="2000" dirty="0"/>
          </a:p>
        </p:txBody>
      </p:sp>
      <p:sp>
        <p:nvSpPr>
          <p:cNvPr id="6" name="Text 4"/>
          <p:cNvSpPr txBox="1"/>
          <p:nvPr/>
        </p:nvSpPr>
        <p:spPr>
          <a:xfrm>
            <a:off x="777240" y="25095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print("Scanning...)</a:t>
            </a:r>
            <a:endParaRPr lang="en-US" sz="2000" dirty="0"/>
          </a:p>
        </p:txBody>
      </p:sp>
      <p:sp>
        <p:nvSpPr>
          <p:cNvPr id="7" name="Text 5"/>
          <p:cNvSpPr txBox="1"/>
          <p:nvPr/>
        </p:nvSpPr>
        <p:spPr>
          <a:xfrm>
            <a:off x="777240" y="29159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endParaRPr lang="en-US" sz="2000" dirty="0"/>
          </a:p>
        </p:txBody>
      </p:sp>
      <p:sp>
        <p:nvSpPr>
          <p:cNvPr id="8" name="Text 6"/>
          <p:cNvSpPr txBox="1"/>
          <p:nvPr/>
        </p:nvSpPr>
        <p:spPr>
          <a:xfrm>
            <a:off x="777240" y="3322320"/>
            <a:ext cx="8046720" cy="406400"/>
          </a:xfrm>
          <a:prstGeom prst="rect">
            <a:avLst/>
          </a:prstGeom>
          <a:noFill/>
          <a:ln/>
        </p:spPr>
        <p:txBody>
          <a:bodyPr wrap="square" lIns="0" tIns="0" rIns="0" bIns="0" rtlCol="0" anchor="ctr"/>
          <a:lstStyle/>
          <a:p>
            <a:pPr indent="0" marL="0">
              <a:buNone/>
            </a:pPr>
            <a:r>
              <a:rPr lang="en-US" sz="2000" b="1" dirty="0">
                <a:solidFill>
                  <a:srgbClr val="FF6B6B"/>
                </a:solidFill>
                <a:latin typeface="Consolas" pitchFamily="34" charset="0"/>
                <a:ea typeface="Consolas" pitchFamily="34" charset="-122"/>
                <a:cs typeface="Consolas" pitchFamily="34" charset="-120"/>
              </a:rPr>
              <a:t>SyntaxError: </a:t>
            </a:r>
            <a:pPr indent="0" marL="0">
              <a:buNone/>
            </a:pPr>
            <a:r>
              <a:rPr lang="en-US" sz="2000" dirty="0">
                <a:solidFill>
                  <a:srgbClr val="FF6B6B"/>
                </a:solidFill>
                <a:latin typeface="Consolas" pitchFamily="34" charset="0"/>
                <a:ea typeface="Consolas" pitchFamily="34" charset="-122"/>
                <a:cs typeface="Consolas" pitchFamily="34" charset="-120"/>
              </a:rPr>
              <a:t>unterminated string literal</a:t>
            </a:r>
            <a:endParaRPr lang="en-US" sz="2000" dirty="0"/>
          </a:p>
        </p:txBody>
      </p:sp>
      <p:sp>
        <p:nvSpPr>
          <p:cNvPr id="9" name="Shape 7"/>
          <p:cNvSpPr/>
          <p:nvPr/>
        </p:nvSpPr>
        <p:spPr>
          <a:xfrm>
            <a:off x="6733540" y="3306064"/>
            <a:ext cx="438912" cy="438912"/>
          </a:xfrm>
          <a:prstGeom prst="ellipse">
            <a:avLst/>
          </a:prstGeom>
          <a:solidFill>
            <a:srgbClr val="D8A73D"/>
          </a:solidFill>
          <a:ln/>
        </p:spPr>
      </p:sp>
      <p:sp>
        <p:nvSpPr>
          <p:cNvPr id="10" name="Text 8"/>
          <p:cNvSpPr txBox="1"/>
          <p:nvPr/>
        </p:nvSpPr>
        <p:spPr>
          <a:xfrm>
            <a:off x="6733540" y="33060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Shape 9"/>
          <p:cNvSpPr/>
          <p:nvPr/>
        </p:nvSpPr>
        <p:spPr>
          <a:xfrm>
            <a:off x="4358640" y="2086864"/>
            <a:ext cx="438912" cy="438912"/>
          </a:xfrm>
          <a:prstGeom prst="ellipse">
            <a:avLst/>
          </a:prstGeom>
          <a:solidFill>
            <a:srgbClr val="D8A73D"/>
          </a:solidFill>
          <a:ln/>
        </p:spPr>
      </p:sp>
      <p:sp>
        <p:nvSpPr>
          <p:cNvPr id="12" name="Text 10"/>
          <p:cNvSpPr txBox="1"/>
          <p:nvPr/>
        </p:nvSpPr>
        <p:spPr>
          <a:xfrm>
            <a:off x="4358640" y="20868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Shape 11"/>
          <p:cNvSpPr/>
          <p:nvPr/>
        </p:nvSpPr>
        <p:spPr>
          <a:xfrm>
            <a:off x="4218940" y="2493264"/>
            <a:ext cx="438912" cy="438912"/>
          </a:xfrm>
          <a:prstGeom prst="ellipse">
            <a:avLst/>
          </a:prstGeom>
          <a:solidFill>
            <a:srgbClr val="D8A73D"/>
          </a:solidFill>
          <a:ln/>
        </p:spPr>
      </p:sp>
      <p:sp>
        <p:nvSpPr>
          <p:cNvPr id="14" name="Text 12"/>
          <p:cNvSpPr txBox="1"/>
          <p:nvPr/>
        </p:nvSpPr>
        <p:spPr>
          <a:xfrm>
            <a:off x="4218940" y="24932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5" name="Shape 13"/>
          <p:cNvSpPr/>
          <p:nvPr/>
        </p:nvSpPr>
        <p:spPr>
          <a:xfrm>
            <a:off x="548640" y="3977640"/>
            <a:ext cx="2633472" cy="2011680"/>
          </a:xfrm>
          <a:prstGeom prst="roundRect">
            <a:avLst>
              <a:gd name="adj" fmla="val 3636"/>
            </a:avLst>
          </a:prstGeom>
          <a:solidFill>
            <a:srgbClr val="2A2A32"/>
          </a:solidFill>
          <a:ln/>
        </p:spPr>
      </p:sp>
      <p:sp>
        <p:nvSpPr>
          <p:cNvPr id="16" name="Shape 14"/>
          <p:cNvSpPr/>
          <p:nvPr/>
        </p:nvSpPr>
        <p:spPr>
          <a:xfrm>
            <a:off x="749808" y="4206240"/>
            <a:ext cx="438912" cy="438912"/>
          </a:xfrm>
          <a:prstGeom prst="ellipse">
            <a:avLst/>
          </a:prstGeom>
          <a:solidFill>
            <a:srgbClr val="D8A73D"/>
          </a:solidFill>
          <a:ln/>
        </p:spPr>
      </p:sp>
      <p:sp>
        <p:nvSpPr>
          <p:cNvPr id="17" name="Text 15"/>
          <p:cNvSpPr txBox="1"/>
          <p:nvPr/>
        </p:nvSpPr>
        <p:spPr>
          <a:xfrm>
            <a:off x="749808"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8" name="Text 16"/>
          <p:cNvSpPr txBox="1"/>
          <p:nvPr/>
        </p:nvSpPr>
        <p:spPr>
          <a:xfrm>
            <a:off x="749808"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the last line</a:t>
            </a:r>
            <a:endParaRPr lang="en-US" sz="2000" dirty="0"/>
          </a:p>
        </p:txBody>
      </p:sp>
      <p:sp>
        <p:nvSpPr>
          <p:cNvPr id="19" name="Text 17"/>
          <p:cNvSpPr txBox="1"/>
          <p:nvPr/>
        </p:nvSpPr>
        <p:spPr>
          <a:xfrm>
            <a:off x="749808"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What kind of error?</a:t>
            </a:r>
            <a:endParaRPr lang="en-US" sz="1800" dirty="0"/>
          </a:p>
        </p:txBody>
      </p:sp>
      <p:sp>
        <p:nvSpPr>
          <p:cNvPr id="20" name="Shape 18"/>
          <p:cNvSpPr/>
          <p:nvPr/>
        </p:nvSpPr>
        <p:spPr>
          <a:xfrm>
            <a:off x="3364992" y="3977640"/>
            <a:ext cx="2633472" cy="2011680"/>
          </a:xfrm>
          <a:prstGeom prst="roundRect">
            <a:avLst>
              <a:gd name="adj" fmla="val 3636"/>
            </a:avLst>
          </a:prstGeom>
          <a:solidFill>
            <a:srgbClr val="2A2A32"/>
          </a:solidFill>
          <a:ln/>
        </p:spPr>
      </p:sp>
      <p:sp>
        <p:nvSpPr>
          <p:cNvPr id="21" name="Shape 19"/>
          <p:cNvSpPr/>
          <p:nvPr/>
        </p:nvSpPr>
        <p:spPr>
          <a:xfrm>
            <a:off x="3566160" y="4206240"/>
            <a:ext cx="438912" cy="438912"/>
          </a:xfrm>
          <a:prstGeom prst="ellipse">
            <a:avLst/>
          </a:prstGeom>
          <a:solidFill>
            <a:srgbClr val="D8A73D"/>
          </a:solidFill>
          <a:ln/>
        </p:spPr>
      </p:sp>
      <p:sp>
        <p:nvSpPr>
          <p:cNvPr id="22" name="Text 20"/>
          <p:cNvSpPr txBox="1"/>
          <p:nvPr/>
        </p:nvSpPr>
        <p:spPr>
          <a:xfrm>
            <a:off x="3566160"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23" name="Text 21"/>
          <p:cNvSpPr txBox="1"/>
          <p:nvPr/>
        </p:nvSpPr>
        <p:spPr>
          <a:xfrm>
            <a:off x="3566160"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Find the line number</a:t>
            </a:r>
            <a:endParaRPr lang="en-US" sz="2000" dirty="0"/>
          </a:p>
        </p:txBody>
      </p:sp>
      <p:sp>
        <p:nvSpPr>
          <p:cNvPr id="24" name="Text 22"/>
          <p:cNvSpPr txBox="1"/>
          <p:nvPr/>
        </p:nvSpPr>
        <p:spPr>
          <a:xfrm>
            <a:off x="3566160"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Where is it?</a:t>
            </a:r>
            <a:endParaRPr lang="en-US" sz="1800" dirty="0"/>
          </a:p>
        </p:txBody>
      </p:sp>
      <p:sp>
        <p:nvSpPr>
          <p:cNvPr id="25" name="Shape 23"/>
          <p:cNvSpPr/>
          <p:nvPr/>
        </p:nvSpPr>
        <p:spPr>
          <a:xfrm>
            <a:off x="6181344" y="3977640"/>
            <a:ext cx="2633472" cy="2011680"/>
          </a:xfrm>
          <a:prstGeom prst="roundRect">
            <a:avLst>
              <a:gd name="adj" fmla="val 3636"/>
            </a:avLst>
          </a:prstGeom>
          <a:solidFill>
            <a:srgbClr val="2A2A32"/>
          </a:solidFill>
          <a:ln/>
        </p:spPr>
      </p:sp>
      <p:sp>
        <p:nvSpPr>
          <p:cNvPr id="26" name="Shape 24"/>
          <p:cNvSpPr/>
          <p:nvPr/>
        </p:nvSpPr>
        <p:spPr>
          <a:xfrm>
            <a:off x="6382512" y="4206240"/>
            <a:ext cx="438912" cy="438912"/>
          </a:xfrm>
          <a:prstGeom prst="ellipse">
            <a:avLst/>
          </a:prstGeom>
          <a:solidFill>
            <a:srgbClr val="D8A73D"/>
          </a:solidFill>
          <a:ln/>
        </p:spPr>
      </p:sp>
      <p:sp>
        <p:nvSpPr>
          <p:cNvPr id="27" name="Text 25"/>
          <p:cNvSpPr txBox="1"/>
          <p:nvPr/>
        </p:nvSpPr>
        <p:spPr>
          <a:xfrm>
            <a:off x="6382512"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28" name="Text 26"/>
          <p:cNvSpPr txBox="1"/>
          <p:nvPr/>
        </p:nvSpPr>
        <p:spPr>
          <a:xfrm>
            <a:off x="6382512"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that line aloud</a:t>
            </a:r>
            <a:endParaRPr lang="en-US" sz="2000" dirty="0"/>
          </a:p>
        </p:txBody>
      </p:sp>
      <p:sp>
        <p:nvSpPr>
          <p:cNvPr id="29" name="Text 27"/>
          <p:cNvSpPr txBox="1"/>
          <p:nvPr/>
        </p:nvSpPr>
        <p:spPr>
          <a:xfrm>
            <a:off x="6382512"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Quote by quote</a:t>
            </a:r>
            <a:endParaRPr lang="en-US" sz="1800" dirty="0"/>
          </a:p>
        </p:txBody>
      </p:sp>
      <p:sp>
        <p:nvSpPr>
          <p:cNvPr id="30" name="Shape 28"/>
          <p:cNvSpPr/>
          <p:nvPr/>
        </p:nvSpPr>
        <p:spPr>
          <a:xfrm>
            <a:off x="8997696" y="3977640"/>
            <a:ext cx="2633472" cy="2011680"/>
          </a:xfrm>
          <a:prstGeom prst="roundRect">
            <a:avLst>
              <a:gd name="adj" fmla="val 3636"/>
            </a:avLst>
          </a:prstGeom>
          <a:solidFill>
            <a:srgbClr val="2A2A32"/>
          </a:solidFill>
          <a:ln/>
        </p:spPr>
      </p:sp>
      <p:sp>
        <p:nvSpPr>
          <p:cNvPr id="31" name="Shape 29"/>
          <p:cNvSpPr/>
          <p:nvPr/>
        </p:nvSpPr>
        <p:spPr>
          <a:xfrm>
            <a:off x="9198864" y="4206240"/>
            <a:ext cx="438912" cy="438912"/>
          </a:xfrm>
          <a:prstGeom prst="ellipse">
            <a:avLst/>
          </a:prstGeom>
          <a:solidFill>
            <a:srgbClr val="D8A73D"/>
          </a:solidFill>
          <a:ln/>
        </p:spPr>
      </p:sp>
      <p:sp>
        <p:nvSpPr>
          <p:cNvPr id="32" name="Text 30"/>
          <p:cNvSpPr txBox="1"/>
          <p:nvPr/>
        </p:nvSpPr>
        <p:spPr>
          <a:xfrm>
            <a:off x="9198864"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9198864"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Compare to what you meant</a:t>
            </a:r>
            <a:endParaRPr lang="en-US" sz="2000" dirty="0"/>
          </a:p>
        </p:txBody>
      </p:sp>
      <p:sp>
        <p:nvSpPr>
          <p:cNvPr id="34" name="Text 32"/>
          <p:cNvSpPr txBox="1"/>
          <p:nvPr/>
        </p:nvSpPr>
        <p:spPr>
          <a:xfrm>
            <a:off x="9198864" y="5486400"/>
            <a:ext cx="2267712" cy="365760"/>
          </a:xfrm>
          <a:prstGeom prst="rect">
            <a:avLst/>
          </a:prstGeom>
          <a:noFill/>
          <a:ln/>
        </p:spPr>
        <p:txBody>
          <a:bodyPr wrap="square" lIns="0" tIns="0" rIns="0" bIns="0" rtlCol="0" anchor="t"/>
          <a:lstStyle/>
          <a:p>
            <a:pPr indent="0" marL="0">
              <a:buNone/>
            </a:pPr>
            <a:r>
              <a:rPr lang="en-US" sz="1600" dirty="0">
                <a:solidFill>
                  <a:srgbClr val="E8C878"/>
                </a:solidFill>
                <a:latin typeface="Consolas" pitchFamily="34" charset="0"/>
                <a:ea typeface="Consolas" pitchFamily="34" charset="-122"/>
                <a:cs typeface="Consolas" pitchFamily="34" charset="-120"/>
              </a:rPr>
              <a:t>print</a:t>
            </a:r>
            <a:pPr indent="0" marL="0">
              <a:buNone/>
            </a:pPr>
            <a:r>
              <a:rPr lang="en-US" sz="1600" dirty="0">
                <a:solidFill>
                  <a:srgbClr val="A9A9B4"/>
                </a:solidFill>
                <a:latin typeface="Consolas" pitchFamily="34" charset="0"/>
                <a:ea typeface="Consolas" pitchFamily="34" charset="-122"/>
                <a:cs typeface="Consolas" pitchFamily="34" charset="-120"/>
              </a:rPr>
              <a:t>(</a:t>
            </a:r>
            <a:pPr indent="0" marL="0">
              <a:buNone/>
            </a:pPr>
            <a:r>
              <a:rPr lang="en-US" sz="1600" dirty="0">
                <a:solidFill>
                  <a:srgbClr val="E69F00"/>
                </a:solidFill>
                <a:latin typeface="Consolas" pitchFamily="34" charset="0"/>
                <a:ea typeface="Consolas" pitchFamily="34" charset="-122"/>
                <a:cs typeface="Consolas" pitchFamily="34" charset="-120"/>
              </a:rPr>
              <a:t>"Scanning..."</a:t>
            </a:r>
            <a:pPr indent="0" marL="0">
              <a:buNone/>
            </a:pPr>
            <a:r>
              <a:rPr lang="en-US" sz="1600" dirty="0">
                <a:solidFill>
                  <a:srgbClr val="A9A9B4"/>
                </a:solidFill>
                <a:latin typeface="Consolas" pitchFamily="34" charset="0"/>
                <a:ea typeface="Consolas" pitchFamily="34" charset="-122"/>
                <a:cs typeface="Consolas" pitchFamily="34" charset="-120"/>
              </a:rPr>
              <a:t>)</a:t>
            </a:r>
            <a:endParaRPr lang="en-US" sz="1800" dirty="0"/>
          </a:p>
        </p:txBody>
      </p:sp>
      <p:pic>
        <p:nvPicPr>
          <p:cNvPr id="35"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debugRecipeSlide()  ·  Debugging recipe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1</a:t>
            </a:r>
            <a:endParaRPr lang="en-US" sz="1400" dirty="0"/>
          </a:p>
        </p:txBody>
      </p:sp>
      <p:sp>
        <p:nvSpPr>
          <p:cNvPr id="3" name="Text 1"/>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5" name="Text 3"/>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Every pod is frosted</a:t>
            </a:r>
            <a:endParaRPr lang="en-US" sz="2000" dirty="0"/>
          </a:p>
        </p:txBody>
      </p:sp>
      <p:sp>
        <p:nvSpPr>
          <p:cNvPr id="7" name="Text 5"/>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over — except Pod 2.</a:t>
            </a:r>
            <a:endParaRPr lang="en-US" sz="2000" dirty="0"/>
          </a:p>
        </p:txBody>
      </p:sp>
      <p:sp>
        <p:nvSpPr>
          <p:cNvPr id="8" name="Text 6"/>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9" name="Text 7"/>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Open. Empty.</a:t>
            </a:r>
            <a:endParaRPr lang="en-US" sz="2000" dirty="0"/>
          </a:p>
        </p:txBody>
      </p:sp>
      <p:sp>
        <p:nvSpPr>
          <p:cNvPr id="10" name="Text 8"/>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Cracked from the inside.</a:t>
            </a:r>
            <a:endParaRPr lang="en-US" sz="2000" dirty="0"/>
          </a:p>
        </p:txBody>
      </p:sp>
      <p:sp>
        <p:nvSpPr>
          <p:cNvPr id="11"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2"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3"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Wake Up</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4"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5"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6"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7"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8"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19"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0"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1"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2"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3"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4"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5"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6"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7"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8"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29"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0"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1"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2"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4"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Chapter card + task</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Capitals matter</a:t>
            </a:r>
            <a:endParaRPr lang="en-US" sz="3600" dirty="0"/>
          </a:p>
        </p:txBody>
      </p:sp>
      <p:sp>
        <p:nvSpPr>
          <p:cNvPr id="3"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"Enter your name: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Shape 4"/>
          <p:cNvSpPr/>
          <p:nvPr/>
        </p:nvSpPr>
        <p:spPr>
          <a:xfrm>
            <a:off x="603504" y="2262378"/>
            <a:ext cx="7388352" cy="461010"/>
          </a:xfrm>
          <a:prstGeom prst="rect">
            <a:avLst/>
          </a:prstGeom>
          <a:solidFill>
            <a:srgbClr val="2B2618"/>
          </a:solidFill>
          <a:ln/>
        </p:spPr>
      </p:sp>
      <p:sp>
        <p:nvSpPr>
          <p:cNvPr id="7"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8" name="Text 6"/>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"Access granted to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0" name="Text 8"/>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1" name="Text 9"/>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NameError: </a:t>
            </a:r>
            <a:pPr indent="0" marL="0">
              <a:buNone/>
            </a:pPr>
            <a:r>
              <a:rPr lang="en-US" sz="1800" dirty="0">
                <a:solidFill>
                  <a:srgbClr val="FF6B6B"/>
                </a:solidFill>
                <a:latin typeface="Consolas" pitchFamily="34" charset="0"/>
                <a:ea typeface="Consolas" pitchFamily="34" charset="-122"/>
                <a:cs typeface="Consolas" pitchFamily="34" charset="-120"/>
              </a:rPr>
              <a:t>name 'Name' is not defined. Did you mean: 'name'?</a:t>
            </a:r>
            <a:endParaRPr lang="en-US" sz="1800" dirty="0"/>
          </a:p>
        </p:txBody>
      </p:sp>
      <p:sp>
        <p:nvSpPr>
          <p:cNvPr id="12" name="Text 10"/>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3" name="Shape 11"/>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4" name="Shape 12"/>
          <p:cNvSpPr/>
          <p:nvPr/>
        </p:nvSpPr>
        <p:spPr>
          <a:xfrm>
            <a:off x="8549640" y="1920240"/>
            <a:ext cx="1481328" cy="347472"/>
          </a:xfrm>
          <a:prstGeom prst="roundRect">
            <a:avLst>
              <a:gd name="adj" fmla="val 13158"/>
            </a:avLst>
          </a:prstGeom>
          <a:solidFill>
            <a:srgbClr val="E69F00"/>
          </a:solidFill>
          <a:ln/>
        </p:spPr>
      </p:sp>
      <p:sp>
        <p:nvSpPr>
          <p:cNvPr id="15" name="Text 13"/>
          <p:cNvSpPr txBox="1"/>
          <p:nvPr/>
        </p:nvSpPr>
        <p:spPr>
          <a:xfrm>
            <a:off x="8549640" y="192024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Text 14"/>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7" name="Shape 15"/>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18" name="Text 16"/>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FF6B6B"/>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and  </a:t>
            </a:r>
            <a:pPr indent="0" marL="0">
              <a:buNone/>
            </a:pPr>
            <a:r>
              <a:rPr lang="en-US" sz="2400" b="1" dirty="0">
                <a:solidFill>
                  <a:srgbClr val="7FD99A"/>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are two different names. Python only knows the one you stored.</a:t>
            </a:r>
            <a:endParaRPr lang="en-US" sz="2400" dirty="0"/>
          </a:p>
        </p:txBody>
      </p:sp>
      <p:pic>
        <p:nvPicPr>
          <p:cNvPr id="19"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1"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errorFeedbackSlide()  ·  Common error feedback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3" name="Shape 1"/>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4" name="Text 2"/>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5" name="Text 3"/>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6" name="Shape 4"/>
          <p:cNvSpPr/>
          <p:nvPr/>
        </p:nvSpPr>
        <p:spPr>
          <a:xfrm>
            <a:off x="548640" y="2953512"/>
            <a:ext cx="438912" cy="438912"/>
          </a:xfrm>
          <a:prstGeom prst="ellipse">
            <a:avLst/>
          </a:prstGeom>
          <a:solidFill>
            <a:srgbClr val="D8A73D"/>
          </a:solidFill>
          <a:ln/>
        </p:spPr>
      </p:sp>
      <p:sp>
        <p:nvSpPr>
          <p:cNvPr id="7" name="Text 5"/>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8" name="Text 6"/>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9" name="Shape 7"/>
          <p:cNvSpPr/>
          <p:nvPr/>
        </p:nvSpPr>
        <p:spPr>
          <a:xfrm>
            <a:off x="548640" y="4096512"/>
            <a:ext cx="438912" cy="438912"/>
          </a:xfrm>
          <a:prstGeom prst="ellipse">
            <a:avLst/>
          </a:prstGeom>
          <a:solidFill>
            <a:srgbClr val="D8A73D"/>
          </a:solidFill>
          <a:ln/>
        </p:spPr>
      </p:sp>
      <p:sp>
        <p:nvSpPr>
          <p:cNvPr id="10" name="Text 8"/>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2" name="Text 10"/>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4" name="Text 12"/>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Plenary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station decays with the story</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Why</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Students feel what is happening to the station without reading anything extra. The story is in the look, not in more text.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Where</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Only the frame: the edges, the corners and the status line above the title. Code, output and memory boxes always stay clean.</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When</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It gets worse each chapter. At a story beat it changes in front of the class: the lights go out, then new damage creeps in.</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  ·  STATION STATE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7"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station('L1')  ·  Ch 1 Wake Up: frost in the corners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8A8A93"/>
                </a:solidFill>
                <a:latin typeface="Consolas" pitchFamily="34" charset="0"/>
                <a:ea typeface="Consolas" pitchFamily="34" charset="-122"/>
                <a:cs typeface="Consolas" pitchFamily="34" charset="-120"/>
              </a:rPr>
              <a:t>LIFE SUPPORT   ·   O2 94%   ·   POWER 31%   ·   CREW AWAKE 1/5</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4" name="Text 2"/>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5"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6" name="Shape 4"/>
          <p:cNvSpPr/>
          <p:nvPr/>
        </p:nvSpPr>
        <p:spPr>
          <a:xfrm>
            <a:off x="777240" y="1801368"/>
            <a:ext cx="384048" cy="384048"/>
          </a:xfrm>
          <a:prstGeom prst="ellipse">
            <a:avLst/>
          </a:prstGeom>
          <a:solidFill>
            <a:srgbClr val="1E1E24"/>
          </a:solidFill>
          <a:ln/>
        </p:spPr>
      </p:sp>
      <p:sp>
        <p:nvSpPr>
          <p:cNvPr id="7" name="Text 5"/>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8" name="Shape 6"/>
          <p:cNvSpPr/>
          <p:nvPr/>
        </p:nvSpPr>
        <p:spPr>
          <a:xfrm>
            <a:off x="1280160" y="1828800"/>
            <a:ext cx="1600200" cy="310896"/>
          </a:xfrm>
          <a:prstGeom prst="roundRect">
            <a:avLst>
              <a:gd name="adj" fmla="val 52941"/>
            </a:avLst>
          </a:prstGeom>
          <a:solidFill>
            <a:srgbClr val="EDE6D3"/>
          </a:solidFill>
          <a:ln/>
        </p:spPr>
      </p:sp>
      <p:sp>
        <p:nvSpPr>
          <p:cNvPr id="9" name="Text 7"/>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10" name="Shape 8"/>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1" name="Text 9"/>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2" name="Text 10"/>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3" name="Text 11"/>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4" name="Text 12"/>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5" name="Text 13"/>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6"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7" name="Shape 15"/>
          <p:cNvSpPr/>
          <p:nvPr/>
        </p:nvSpPr>
        <p:spPr>
          <a:xfrm>
            <a:off x="6464808" y="1801368"/>
            <a:ext cx="384048" cy="384048"/>
          </a:xfrm>
          <a:prstGeom prst="ellipse">
            <a:avLst/>
          </a:prstGeom>
          <a:solidFill>
            <a:srgbClr val="1E1E24"/>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EDE6D3"/>
          </a:solidFill>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1"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2" name="Shape 30"/>
          <p:cNvSpPr/>
          <p:nvPr/>
        </p:nvSpPr>
        <p:spPr>
          <a:xfrm>
            <a:off x="777240" y="4224528"/>
            <a:ext cx="384048" cy="384048"/>
          </a:xfrm>
          <a:prstGeom prst="ellipse">
            <a:avLst/>
          </a:prstGeom>
          <a:solidFill>
            <a:srgbClr val="1E1E24"/>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EDE6D3"/>
          </a:solidFill>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6" name="Shape 34"/>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9" name="Shape 37"/>
          <p:cNvSpPr/>
          <p:nvPr/>
        </p:nvSpPr>
        <p:spPr>
          <a:xfrm>
            <a:off x="777240" y="5074920"/>
            <a:ext cx="4956048" cy="484632"/>
          </a:xfrm>
          <a:prstGeom prst="roundRect">
            <a:avLst>
              <a:gd name="adj" fmla="val 11321"/>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1"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2" name="Shape 40"/>
          <p:cNvSpPr/>
          <p:nvPr/>
        </p:nvSpPr>
        <p:spPr>
          <a:xfrm>
            <a:off x="6464808" y="4224528"/>
            <a:ext cx="384048" cy="384048"/>
          </a:xfrm>
          <a:prstGeom prst="ellipse">
            <a:avLst/>
          </a:prstGeom>
          <a:solidFill>
            <a:srgbClr val="1E1E24"/>
          </a:solidFill>
          <a:ln/>
        </p:spPr>
      </p:sp>
      <p:sp>
        <p:nvSpPr>
          <p:cNvPr id="43" name="Text 41"/>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4" name="Shape 42"/>
          <p:cNvSpPr/>
          <p:nvPr/>
        </p:nvSpPr>
        <p:spPr>
          <a:xfrm>
            <a:off x="6967728" y="4251960"/>
            <a:ext cx="1600200" cy="310896"/>
          </a:xfrm>
          <a:prstGeom prst="roundRect">
            <a:avLst>
              <a:gd name="adj" fmla="val 52941"/>
            </a:avLst>
          </a:prstGeom>
          <a:solidFill>
            <a:srgbClr val="EDE6D3"/>
          </a:solidFill>
          <a:ln/>
        </p:spPr>
      </p:sp>
      <p:sp>
        <p:nvSpPr>
          <p:cNvPr id="45" name="Text 43"/>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6" name="Shape 44"/>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7" name="Text 45"/>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8" name="Text 46"/>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9" name="Shape 47"/>
          <p:cNvSpPr/>
          <p:nvPr/>
        </p:nvSpPr>
        <p:spPr>
          <a:xfrm>
            <a:off x="6464808" y="5074920"/>
            <a:ext cx="4956048" cy="786384"/>
          </a:xfrm>
          <a:prstGeom prst="roundRect">
            <a:avLst>
              <a:gd name="adj" fmla="val 6977"/>
            </a:avLst>
          </a:prstGeom>
          <a:solidFill>
            <a:srgbClr val="111115"/>
          </a:solidFill>
          <a:ln/>
        </p:spPr>
      </p:sp>
      <p:sp>
        <p:nvSpPr>
          <p:cNvPr id="50" name="Text 48"/>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1" name="Text 49"/>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2" name="Shape 50"/>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4"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station('L1b')  ·  Ch 1 Life Support: frost, O2 falling (light slides skip frost)</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5" name="Text 2"/>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Shape 3"/>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7" name="Shape 4"/>
          <p:cNvSpPr/>
          <p:nvPr/>
        </p:nvSpPr>
        <p:spPr>
          <a:xfrm>
            <a:off x="685800" y="1965960"/>
            <a:ext cx="1481328" cy="347472"/>
          </a:xfrm>
          <a:prstGeom prst="roundRect">
            <a:avLst>
              <a:gd name="adj" fmla="val 13158"/>
            </a:avLst>
          </a:prstGeom>
          <a:solidFill>
            <a:srgbClr val="E69F00"/>
          </a:solidFill>
          <a:ln/>
        </p:spPr>
      </p:sp>
      <p:sp>
        <p:nvSpPr>
          <p:cNvPr id="8" name="Text 5"/>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9" name="Text 6"/>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0"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11" name="Text 8"/>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Shape 9"/>
          <p:cNvSpPr/>
          <p:nvPr/>
        </p:nvSpPr>
        <p:spPr>
          <a:xfrm>
            <a:off x="4251960" y="3858768"/>
            <a:ext cx="640080" cy="0"/>
          </a:xfrm>
          <a:prstGeom prst="line">
            <a:avLst/>
          </a:prstGeom>
          <a:noFill/>
          <a:ln w="28575">
            <a:solidFill>
              <a:srgbClr val="A9A9B4"/>
            </a:solidFill>
            <a:prstDash val="solid"/>
            <a:tailEnd type="triangle"/>
          </a:ln>
        </p:spPr>
      </p:sp>
      <p:sp>
        <p:nvSpPr>
          <p:cNvPr id="13"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4" name="Text 11"/>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5" name="Text 12"/>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6"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7" name="Text 14"/>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Shape 15"/>
          <p:cNvSpPr/>
          <p:nvPr/>
        </p:nvSpPr>
        <p:spPr>
          <a:xfrm>
            <a:off x="4251960" y="5093208"/>
            <a:ext cx="640080" cy="0"/>
          </a:xfrm>
          <a:prstGeom prst="line">
            <a:avLst/>
          </a:prstGeom>
          <a:noFill/>
          <a:ln w="28575">
            <a:solidFill>
              <a:srgbClr val="A9A9B4"/>
            </a:solidFill>
            <a:prstDash val="solid"/>
            <a:tailEnd type="triangle"/>
          </a:ln>
        </p:spPr>
      </p:sp>
      <p:sp>
        <p:nvSpPr>
          <p:cNvPr id="19"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20" name="Text 17"/>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1" name="Text 18"/>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3"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station('L2')  ·  Ch 2 Proximity: amber alarm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6"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7"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8" name="Text 4"/>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6"/>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xt 7"/>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2" name="Text 8"/>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4"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Shape 11"/>
          <p:cNvSpPr/>
          <p:nvPr/>
        </p:nvSpPr>
        <p:spPr>
          <a:xfrm>
            <a:off x="7909560" y="1600200"/>
            <a:ext cx="3730752" cy="1947672"/>
          </a:xfrm>
          <a:prstGeom prst="roundRect">
            <a:avLst>
              <a:gd name="adj" fmla="val 3756"/>
            </a:avLst>
          </a:prstGeom>
          <a:solidFill>
            <a:srgbClr val="2A2A32"/>
          </a:solidFill>
          <a:ln/>
        </p:spPr>
      </p:sp>
      <p:sp>
        <p:nvSpPr>
          <p:cNvPr id="16" name="Text 12"/>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7" name="Text 13"/>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8" name="Text 14"/>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9" name="Shape 15"/>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20" name="Text 16"/>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21" name="Shape 1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2" name="Text 1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3"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24"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station('L3')  ·  Ch 3 Locked In: red alarm + hazard stripes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station static" descr="C:\Users\n.houlton_grange.out\source\repos\interactive\_presentations\Y9_Python\station\static.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56B4E9"/>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NAV BEACON   ·   SIGNAL WEAK ▂▁▃▁   ·   RESCUE SHIP: NO REPLY</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5"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6" name="Text 3"/>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7"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8" name="Text 5"/>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9"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10" name="Text 7"/>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11"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2" name="Text 9"/>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3" name="Shape 10"/>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4" name="Text 11"/>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5" name="Shape 12"/>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6" name="Text 13"/>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18"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station('L4')  ·  Ch 4 Distress Signal: static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cracks" descr="C:\Users\n.houlton_grange.out\source\repos\interactive\_presentations\Y9_Python\station\cracks.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HULL BREACH · DECK 2   ·   DRONE ONLINE   ·   O2 VENTING</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6"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7"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8"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9" name="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10" name="Text 6"/>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11" name="Text 7"/>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12" name="Text 8"/>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3" name="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4" name="Text 10"/>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5" name="Text 11"/>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6" name="Shape 12"/>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7" name="Shape 13"/>
          <p:cNvSpPr/>
          <p:nvPr/>
        </p:nvSpPr>
        <p:spPr>
          <a:xfrm>
            <a:off x="9738360" y="1965960"/>
            <a:ext cx="1481328" cy="347472"/>
          </a:xfrm>
          <a:prstGeom prst="roundRect">
            <a:avLst>
              <a:gd name="adj" fmla="val 13158"/>
            </a:avLst>
          </a:prstGeom>
          <a:solidFill>
            <a:srgbClr val="E69F00"/>
          </a:solidFill>
          <a:ln/>
        </p:spPr>
      </p:sp>
      <p:sp>
        <p:nvSpPr>
          <p:cNvPr id="18" name="Text 14"/>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9" name="Text 15"/>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0" name="Shape 16"/>
          <p:cNvSpPr/>
          <p:nvPr/>
        </p:nvSpPr>
        <p:spPr>
          <a:xfrm>
            <a:off x="548640" y="3977640"/>
            <a:ext cx="11091672" cy="0"/>
          </a:xfrm>
          <a:prstGeom prst="line">
            <a:avLst/>
          </a:prstGeom>
          <a:noFill/>
          <a:ln w="12700">
            <a:solidFill>
              <a:srgbClr val="3A3A44"/>
            </a:solidFill>
            <a:prstDash val="solid"/>
          </a:ln>
        </p:spPr>
      </p:sp>
      <p:sp>
        <p:nvSpPr>
          <p:cNvPr id="21" name="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Text 18"/>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3" name="Text 19"/>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4" name="Text 20"/>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5" name="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Text 22"/>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7" name="Text 23"/>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8" name="Shape 24"/>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9" name="Shape 25"/>
          <p:cNvSpPr/>
          <p:nvPr/>
        </p:nvSpPr>
        <p:spPr>
          <a:xfrm>
            <a:off x="9738360" y="4160520"/>
            <a:ext cx="1481328" cy="347472"/>
          </a:xfrm>
          <a:prstGeom prst="roundRect">
            <a:avLst>
              <a:gd name="adj" fmla="val 13158"/>
            </a:avLst>
          </a:prstGeom>
          <a:solidFill>
            <a:srgbClr val="E69F00"/>
          </a:solidFill>
          <a:ln/>
        </p:spPr>
      </p:sp>
      <p:sp>
        <p:nvSpPr>
          <p:cNvPr id="30" name="Text 2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31" name="Text 27"/>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32" name="Text 28"/>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3"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4"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station('L5')  ·  Ch 5 The Drone: hull cracks, claw marks, red alarm</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D8A73D"/>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SYSTEMS CHECK   ·   DIAGNOSTIC MODE</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4"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5"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6"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7"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8"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9"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Can every system pass the check?</a:t>
            </a:r>
            <a:endParaRPr lang="en-US" sz="3600" dirty="0"/>
          </a:p>
        </p:txBody>
      </p:sp>
      <p:pic>
        <p:nvPicPr>
          <p:cNvPr id="10"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station('L6')  ·  Ch 6 Systems Check: clean (assessment), status line only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static" descr="C:\Users\n.houlton_grange.out\source\repos\interactive\_presentations\Y9_Python\station\static.png">    </p:cNvPr>
          <p:cNvPicPr>
            <a:picLocks noChangeAspect="1"/>
          </p:cNvPicPr>
          <p:nvPr/>
        </p:nvPicPr>
        <p:blipFill>
          <a:blip r:embed="rId2"/>
          <a:stretch>
            <a:fillRect/>
          </a:stretch>
        </p:blipFill>
        <p:spPr>
          <a:xfrm>
            <a:off x="0" y="0"/>
            <a:ext cx="12191695" cy="6858000"/>
          </a:xfrm>
          <a:prstGeom prst="rect">
            <a:avLst/>
          </a:prstGeom>
        </p:spPr>
      </p:pic>
      <p:pic>
        <p:nvPicPr>
          <p:cNvPr id="4" name="station cracks" descr="C:\Users\n.houlton_grange.out\source\repos\interactive\_presentations\Y9_Python\station\cracks.png">    </p:cNvPr>
          <p:cNvPicPr>
            <a:picLocks noChangeAspect="1"/>
          </p:cNvPicPr>
          <p:nvPr/>
        </p:nvPicPr>
        <p:blipFill>
          <a:blip r:embed="rId3"/>
          <a:stretch>
            <a:fillRect/>
          </a:stretch>
        </p:blipFill>
        <p:spPr>
          <a:xfrm>
            <a:off x="0" y="0"/>
            <a:ext cx="12191695" cy="6858000"/>
          </a:xfrm>
          <a:prstGeom prst="rect">
            <a:avLst/>
          </a:prstGeom>
        </p:spPr>
      </p:pic>
      <p:sp>
        <p:nvSpPr>
          <p:cNvPr id="5"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LAST STAND   ·   SYSTEMS DAMAGED   ·   RESCUE SHIP DOCKING</a:t>
            </a:r>
            <a:endParaRPr lang="en-US" sz="1100" dirty="0"/>
          </a:p>
        </p:txBody>
      </p:sp>
      <p:sp>
        <p:nvSpPr>
          <p:cNvPr id="6"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7</a:t>
            </a:r>
            <a:endParaRPr lang="en-US" sz="1400" dirty="0"/>
          </a:p>
        </p:txBody>
      </p:sp>
      <p:sp>
        <p:nvSpPr>
          <p:cNvPr id="7"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Last Stand</a:t>
            </a:r>
            <a:endParaRPr lang="en-US" sz="4800" dirty="0"/>
          </a:p>
        </p:txBody>
      </p:sp>
      <p:sp>
        <p:nvSpPr>
          <p:cNvPr id="8"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9"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ALL DECKS</a:t>
            </a:r>
            <a:endParaRPr lang="en-US" sz="1200" dirty="0"/>
          </a:p>
        </p:txBody>
      </p:sp>
      <p:sp>
        <p:nvSpPr>
          <p:cNvPr id="10"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Three systems down.</a:t>
            </a:r>
            <a:endParaRPr lang="en-US" sz="2000" dirty="0"/>
          </a:p>
        </p:txBody>
      </p:sp>
      <p:sp>
        <p:nvSpPr>
          <p:cNvPr id="11"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rescue ship is</a:t>
            </a:r>
            <a:endParaRPr lang="en-US" sz="2000" dirty="0"/>
          </a:p>
        </p:txBody>
      </p:sp>
      <p:sp>
        <p:nvSpPr>
          <p:cNvPr id="12"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docking anyway.</a:t>
            </a:r>
            <a:endParaRPr lang="en-US" sz="2000" dirty="0"/>
          </a:p>
        </p:txBody>
      </p:sp>
      <p:sp>
        <p:nvSpPr>
          <p:cNvPr id="13" name="Shape 8"/>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9"/>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0"/>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Containment Protocol</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1"/>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2"/>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3"/>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4"/>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5"/>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6"/>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7"/>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18"/>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19"/>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0"/>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1"/>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2"/>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3"/>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4"/>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5"/>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6"/>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Airlock or nest.</a:t>
            </a:r>
            <a:endParaRPr lang="en-US" sz="1900" dirty="0"/>
          </a:p>
        </p:txBody>
      </p:sp>
      <p:sp>
        <p:nvSpPr>
          <p:cNvPr id="32" name="Shape 27"/>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28"/>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4" name="Image 3" descr="Deliberate practice">    </p:cNvPr>
          <p:cNvPicPr>
            <a:picLocks noChangeAspect="1"/>
          </p:cNvPicPr>
          <p:nvPr/>
        </p:nvPicPr>
        <p:blipFill>
          <a:blip r:embed="rId4"/>
          <a:stretch>
            <a:fillRect/>
          </a:stretch>
        </p:blipFill>
        <p:spPr>
          <a:xfrm>
            <a:off x="10972800" y="384048"/>
            <a:ext cx="731520" cy="731520"/>
          </a:xfrm>
          <a:prstGeom prst="rect">
            <a:avLst/>
          </a:prstGeom>
        </p:spPr>
      </p:pic>
      <p:sp>
        <p:nvSpPr>
          <p:cNvPr id="35"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station('L7')  ·  Ch 7 Last Stand: everything at once; switch layers off as systems are repaired</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94%   ·   POWER 31%   ·   CREW AWAKE 1/5</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Life Support</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LIFE SUPPORT</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O2 recycler is failing.</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Hale’s last log is</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still on the screen.</a:t>
            </a:r>
            <a:endParaRPr lang="en-US" sz="2000" dirty="0"/>
          </a:p>
        </p:txBody>
      </p:sp>
      <p:sp>
        <p:nvSpPr>
          <p:cNvPr id="12"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3"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4"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Life Support</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5"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6"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7"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8"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9"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0"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1"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2"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3"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4"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5"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6"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7"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8"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9"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0"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1"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5"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beat demo 1 of 2: station('L1b') before the beat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5"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6"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7"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8" name="Shape 5"/>
          <p:cNvSpPr/>
          <p:nvPr/>
        </p:nvSpPr>
        <p:spPr>
          <a:xfrm>
            <a:off x="548640" y="2953512"/>
            <a:ext cx="438912" cy="438912"/>
          </a:xfrm>
          <a:prstGeom prst="ellipse">
            <a:avLst/>
          </a:prstGeom>
          <a:solidFill>
            <a:srgbClr val="D8A73D"/>
          </a:solidFill>
          <a:ln/>
        </p:spPr>
      </p:sp>
      <p:sp>
        <p:nvSpPr>
          <p:cNvPr id="9"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11" name="Shape 8"/>
          <p:cNvSpPr/>
          <p:nvPr/>
        </p:nvSpPr>
        <p:spPr>
          <a:xfrm>
            <a:off x="548640" y="4096512"/>
            <a:ext cx="438912" cy="438912"/>
          </a:xfrm>
          <a:prstGeom prst="ellipse">
            <a:avLst/>
          </a:prstGeom>
          <a:solidFill>
            <a:srgbClr val="D8A73D"/>
          </a:solidFill>
          <a:ln/>
        </p:spPr>
      </p:sp>
      <p:sp>
        <p:nvSpPr>
          <p:cNvPr id="12"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4"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6"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7" name="Image 1" descr="Recap and recall">    </p:cNvPr>
          <p:cNvPicPr>
            <a:picLocks noChangeAspect="1"/>
          </p:cNvPicPr>
          <p:nvPr/>
        </p:nvPicPr>
        <p:blipFill>
          <a:blip r:embed="rId2"/>
          <a:stretch>
            <a:fillRect/>
          </a:stretch>
        </p:blipFill>
        <p:spPr>
          <a:xfrm>
            <a:off x="10972800" y="384048"/>
            <a:ext cx="731520" cy="731520"/>
          </a:xfrm>
          <a:prstGeom prst="rect">
            <a:avLst/>
          </a:prstGeom>
        </p:spPr>
      </p:pic>
      <p:sp>
        <p:nvSpPr>
          <p:cNvPr id="19"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beat demo 2 of 2: beat('L2') — lights out, then the alarm creeps in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Station Zero">
  <a:themeElements>
    <a:clrScheme name="Station Zero">
      <a:dk1>
        <a:srgbClr val="1E1E24"/>
      </a:dk1>
      <a:lt1>
        <a:srgbClr val="F5F5F3"/>
      </a:lt1>
      <a:dk2>
        <a:srgbClr val="141418"/>
      </a:dk2>
      <a:lt2>
        <a:srgbClr val="E9E8E4"/>
      </a:lt2>
      <a:accent1>
        <a:srgbClr val="D8A73D"/>
      </a:accent1>
      <a:accent2>
        <a:srgbClr val="E69F00"/>
      </a:accent2>
      <a:accent3>
        <a:srgbClr val="56B4E9"/>
      </a:accent3>
      <a:accent4>
        <a:srgbClr val="7FD99A"/>
      </a:accent4>
      <a:accent5>
        <a:srgbClr val="FF6B6B"/>
      </a:accent5>
      <a:accent6>
        <a:srgbClr val="A9A9B4"/>
      </a:accent6>
      <a:hlink>
        <a:srgbClr val="56B4E9"/>
      </a:hlink>
      <a:folHlink>
        <a:srgbClr val="A9A9B4"/>
      </a:folHlink>
    </a:clrScheme>
    <a:fontScheme name="Station Zer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deck template</dc:title>
  <dc:subject>PptxGenJS Presentation</dc:subject>
  <dc:creator>Nicholas Houlton</dc:creator>
  <cp:lastModifiedBy>Nicholas Houlton</cp:lastModifiedBy>
  <cp:revision>1</cp:revision>
  <dcterms:created xsi:type="dcterms:W3CDTF">2026-10-08T18:20:03Z</dcterms:created>
  <dcterms:modified xsi:type="dcterms:W3CDTF">2026-10-08T18:20:03Z</dcterms:modified>
</cp:coreProperties>
</file>