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7d5c6f06-b8df-621c-8f8b-3023f32bafc6}">
          <p14:sldIdLst>
            <p14:sldId id="256"/>
            <p14:sldId id="257"/>
            <p14:sldId id="258"/>
            <p14:sldId id="259"/>
            <p14:sldId id="260"/>
            <p14:sldId id="261"/>
          </p14:sldIdLst>
        </p14:section>
        <p14:section name="Examples" id="{f589a799-80d9-e864-015d-aefbc0ebd702}">
          <p14:sldIdLst>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Station state" id="{a71c5453-be48-ed91-980d-cee74f82be71}">
          <p14:sldIdLst>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practice straight after teaching a new kind of condition (comparisons now; loop conditions later).
Include boundary pairs (5 &gt; 5 vs 4 &gt;= 4): they are where programs go wrong.
reveal: true gives the answers slide (True / False chips) — pass the "watch out" line as takeaway.
DATA: items: 6 × { expr, value }, takeaway: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worked examples of selection, as I do (model it) then WE DO (boards up before each click). mode sets the chip and icon.
One step per click: what is in the box → each condition checked → which lines run → what is printed. The strip names the steps, the same every time.
Conditions after the first True one show "not checked" (elif). Code lines ≤ 24 characters at size 24; use size: 22, lh: 0.55 for 7 lines.
DATA: code, memory?, conds: [{ line, expr, result }], runs, skipped, always, output,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DO after an I do + We do pair: three short programs, silent, on boards.
reveal: true gives the answers slide: each output under its code, plus a one-line why (e.g. "50 &gt;= 50 is True").
Code lines ≤ 23 characters. DATA: items: 3 × { code, output, why?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14</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13</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51"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Worked examples</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2026-10-14</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Teach selection conditions first (True or False on their own), then "what is printed?" in two rounds: numbers in the condition, then one variable. Each round is I do (1 example) → We do (1) → You do (3) → answers (whatPrintedSlide, whatPrintedGridSlide).</a:t>
            </a:r>
            <a:endParaRPr lang="en-US" sz="1800" dirty="0"/>
          </a:p>
        </p:txBody>
      </p:sp>
      <p:sp>
        <p:nvSpPr>
          <p:cNvPr id="15"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5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2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8"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3" name="Shape 1"/>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4" name="Shape 2"/>
          <p:cNvSpPr/>
          <p:nvPr/>
        </p:nvSpPr>
        <p:spPr>
          <a:xfrm>
            <a:off x="713232" y="1719072"/>
            <a:ext cx="384048" cy="384048"/>
          </a:xfrm>
          <a:prstGeom prst="ellipse">
            <a:avLst/>
          </a:prstGeom>
          <a:solidFill>
            <a:srgbClr val="D8A73D"/>
          </a:solidFill>
          <a:ln/>
        </p:spPr>
      </p:sp>
      <p:sp>
        <p:nvSpPr>
          <p:cNvPr id="5" name="Text 3"/>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7" name="Shape 5"/>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8" name="Shape 6"/>
          <p:cNvSpPr/>
          <p:nvPr/>
        </p:nvSpPr>
        <p:spPr>
          <a:xfrm>
            <a:off x="4498848" y="1719072"/>
            <a:ext cx="384048" cy="384048"/>
          </a:xfrm>
          <a:prstGeom prst="ellipse">
            <a:avLst/>
          </a:prstGeom>
          <a:solidFill>
            <a:srgbClr val="D8A73D"/>
          </a:solidFill>
          <a:ln/>
        </p:spPr>
      </p:sp>
      <p:sp>
        <p:nvSpPr>
          <p:cNvPr id="9" name="Text 7"/>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1" name="Shape 9"/>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2" name="Shape 10"/>
          <p:cNvSpPr/>
          <p:nvPr/>
        </p:nvSpPr>
        <p:spPr>
          <a:xfrm>
            <a:off x="8284464" y="1719072"/>
            <a:ext cx="384048" cy="384048"/>
          </a:xfrm>
          <a:prstGeom prst="ellipse">
            <a:avLst/>
          </a:prstGeom>
          <a:solidFill>
            <a:srgbClr val="D8A73D"/>
          </a:solidFill>
          <a:ln/>
        </p:spPr>
      </p:sp>
      <p:sp>
        <p:nvSpPr>
          <p:cNvPr id="13" name="Text 11"/>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5" name="Shape 13"/>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6" name="Shape 14"/>
          <p:cNvSpPr/>
          <p:nvPr/>
        </p:nvSpPr>
        <p:spPr>
          <a:xfrm>
            <a:off x="713232" y="3273552"/>
            <a:ext cx="384048" cy="384048"/>
          </a:xfrm>
          <a:prstGeom prst="ellipse">
            <a:avLst/>
          </a:prstGeom>
          <a:solidFill>
            <a:srgbClr val="D8A73D"/>
          </a:solidFill>
          <a:ln/>
        </p:spPr>
      </p:sp>
      <p:sp>
        <p:nvSpPr>
          <p:cNvPr id="17" name="Text 15"/>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19" name="Shape 17"/>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0" name="Shape 18"/>
          <p:cNvSpPr/>
          <p:nvPr/>
        </p:nvSpPr>
        <p:spPr>
          <a:xfrm>
            <a:off x="4498848" y="3273552"/>
            <a:ext cx="384048" cy="384048"/>
          </a:xfrm>
          <a:prstGeom prst="ellipse">
            <a:avLst/>
          </a:prstGeom>
          <a:solidFill>
            <a:srgbClr val="D8A73D"/>
          </a:solidFill>
          <a:ln/>
        </p:spPr>
      </p:sp>
      <p:sp>
        <p:nvSpPr>
          <p:cNvPr id="21" name="Text 19"/>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2" name="Text 20"/>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3" name="Shape 21"/>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4" name="Shape 22"/>
          <p:cNvSpPr/>
          <p:nvPr/>
        </p:nvSpPr>
        <p:spPr>
          <a:xfrm>
            <a:off x="8284464" y="3273552"/>
            <a:ext cx="384048" cy="384048"/>
          </a:xfrm>
          <a:prstGeom prst="ellipse">
            <a:avLst/>
          </a:prstGeom>
          <a:solidFill>
            <a:srgbClr val="D8A73D"/>
          </a:solidFill>
          <a:ln/>
        </p:spPr>
      </p:sp>
      <p:sp>
        <p:nvSpPr>
          <p:cNvPr id="25" name="Text 23"/>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6" name="Text 24"/>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7" name="Shape 25"/>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28" name="Text 26"/>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29" name="Shape 2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0"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3"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trueFalseSlide()  ·  True or False? grid</a:t>
            </a:r>
            <a:endParaRPr lang="en-US" sz="1300" dirty="0"/>
          </a:p>
        </p:txBody>
      </p:sp>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4" name="Text 2"/>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5" name="Text 3"/>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6" name="Text 4"/>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7" name="Text 5"/>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6"/>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9" name="Text 7"/>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8"/>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1" name="Text 9"/>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10"/>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3" name="Text 11"/>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2"/>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5" name="Text 13"/>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click1"/>
          <p:cNvSpPr/>
          <p:nvPr/>
        </p:nvSpPr>
        <p:spPr>
          <a:xfrm>
            <a:off x="5623560" y="1874520"/>
            <a:ext cx="329184" cy="329184"/>
          </a:xfrm>
          <a:prstGeom prst="ellipse">
            <a:avLst/>
          </a:prstGeom>
          <a:solidFill>
            <a:srgbClr val="D8A73D"/>
          </a:solidFill>
          <a:ln/>
        </p:spPr>
      </p:sp>
      <p:sp>
        <p:nvSpPr>
          <p:cNvPr id="17"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8"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19" name="click1"/>
          <p:cNvSpPr/>
          <p:nvPr/>
        </p:nvSpPr>
        <p:spPr>
          <a:xfrm>
            <a:off x="6236208" y="1627632"/>
            <a:ext cx="1883664" cy="347472"/>
          </a:xfrm>
          <a:prstGeom prst="roundRect">
            <a:avLst>
              <a:gd name="adj" fmla="val 13158"/>
            </a:avLst>
          </a:prstGeom>
          <a:solidFill>
            <a:srgbClr val="56B4E9"/>
          </a:solidFill>
          <a:ln/>
        </p:spPr>
      </p:sp>
      <p:sp>
        <p:nvSpPr>
          <p:cNvPr id="20"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1"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2" name="click2"/>
          <p:cNvSpPr/>
          <p:nvPr/>
        </p:nvSpPr>
        <p:spPr>
          <a:xfrm>
            <a:off x="5623560" y="2441448"/>
            <a:ext cx="329184" cy="329184"/>
          </a:xfrm>
          <a:prstGeom prst="ellipse">
            <a:avLst/>
          </a:prstGeom>
          <a:solidFill>
            <a:srgbClr val="D8A73D"/>
          </a:solidFill>
          <a:ln/>
        </p:spPr>
      </p:sp>
      <p:sp>
        <p:nvSpPr>
          <p:cNvPr id="23"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4"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5" name="click2"/>
          <p:cNvSpPr/>
          <p:nvPr/>
        </p:nvSpPr>
        <p:spPr>
          <a:xfrm>
            <a:off x="7516368" y="2606040"/>
            <a:ext cx="365760" cy="0"/>
          </a:xfrm>
          <a:prstGeom prst="line">
            <a:avLst/>
          </a:prstGeom>
          <a:noFill/>
          <a:ln w="28575">
            <a:solidFill>
              <a:srgbClr val="A9A9B4"/>
            </a:solidFill>
            <a:prstDash val="solid"/>
            <a:tailEnd type="triangle"/>
          </a:ln>
        </p:spPr>
      </p:sp>
      <p:sp>
        <p:nvSpPr>
          <p:cNvPr id="26"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7"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8" name="click3"/>
          <p:cNvSpPr/>
          <p:nvPr/>
        </p:nvSpPr>
        <p:spPr>
          <a:xfrm>
            <a:off x="5623560" y="3008376"/>
            <a:ext cx="329184" cy="329184"/>
          </a:xfrm>
          <a:prstGeom prst="ellipse">
            <a:avLst/>
          </a:prstGeom>
          <a:solidFill>
            <a:srgbClr val="D8A73D"/>
          </a:solidFill>
          <a:ln/>
        </p:spPr>
      </p:sp>
      <p:sp>
        <p:nvSpPr>
          <p:cNvPr id="29"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1"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2"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3" name="click4"/>
          <p:cNvSpPr/>
          <p:nvPr/>
        </p:nvSpPr>
        <p:spPr>
          <a:xfrm>
            <a:off x="9098280" y="1554480"/>
            <a:ext cx="329184" cy="329184"/>
          </a:xfrm>
          <a:prstGeom prst="ellipse">
            <a:avLst/>
          </a:prstGeom>
          <a:solidFill>
            <a:srgbClr val="D8A73D"/>
          </a:solidFill>
          <a:ln/>
        </p:spPr>
      </p:sp>
      <p:sp>
        <p:nvSpPr>
          <p:cNvPr id="34"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5"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6"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7"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38"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39" name="Shape 37"/>
          <p:cNvSpPr/>
          <p:nvPr/>
        </p:nvSpPr>
        <p:spPr>
          <a:xfrm>
            <a:off x="548640" y="5559552"/>
            <a:ext cx="11091672" cy="566928"/>
          </a:xfrm>
          <a:prstGeom prst="roundRect">
            <a:avLst>
              <a:gd name="adj" fmla="val 12903"/>
            </a:avLst>
          </a:prstGeom>
          <a:solidFill>
            <a:srgbClr val="2A2A32"/>
          </a:solidFill>
          <a:ln/>
        </p:spPr>
      </p:sp>
      <p:sp>
        <p:nvSpPr>
          <p:cNvPr id="40" name="Shape 38"/>
          <p:cNvSpPr/>
          <p:nvPr/>
        </p:nvSpPr>
        <p:spPr>
          <a:xfrm>
            <a:off x="731520" y="5678424"/>
            <a:ext cx="329184" cy="329184"/>
          </a:xfrm>
          <a:prstGeom prst="ellipse">
            <a:avLst/>
          </a:prstGeom>
          <a:solidFill>
            <a:srgbClr val="D8A73D"/>
          </a:solidFill>
          <a:ln/>
        </p:spPr>
      </p:sp>
      <p:sp>
        <p:nvSpPr>
          <p:cNvPr id="41"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2"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3" name="Shape 41"/>
          <p:cNvSpPr/>
          <p:nvPr/>
        </p:nvSpPr>
        <p:spPr>
          <a:xfrm>
            <a:off x="3504438" y="5678424"/>
            <a:ext cx="329184" cy="329184"/>
          </a:xfrm>
          <a:prstGeom prst="ellipse">
            <a:avLst/>
          </a:prstGeom>
          <a:solidFill>
            <a:srgbClr val="D8A73D"/>
          </a:solidFill>
          <a:ln/>
        </p:spPr>
      </p:sp>
      <p:sp>
        <p:nvSpPr>
          <p:cNvPr id="44"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5"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6" name="Shape 44"/>
          <p:cNvSpPr/>
          <p:nvPr/>
        </p:nvSpPr>
        <p:spPr>
          <a:xfrm>
            <a:off x="6277356" y="5678424"/>
            <a:ext cx="329184" cy="329184"/>
          </a:xfrm>
          <a:prstGeom prst="ellipse">
            <a:avLst/>
          </a:prstGeom>
          <a:solidFill>
            <a:srgbClr val="D8A73D"/>
          </a:solidFill>
          <a:ln/>
        </p:spPr>
      </p:sp>
      <p:sp>
        <p:nvSpPr>
          <p:cNvPr id="47"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8"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49" name="Shape 47"/>
          <p:cNvSpPr/>
          <p:nvPr/>
        </p:nvSpPr>
        <p:spPr>
          <a:xfrm>
            <a:off x="9050274" y="5678424"/>
            <a:ext cx="329184" cy="329184"/>
          </a:xfrm>
          <a:prstGeom prst="ellipse">
            <a:avLst/>
          </a:prstGeom>
          <a:solidFill>
            <a:srgbClr val="D8A73D"/>
          </a:solidFill>
          <a:ln/>
        </p:spPr>
      </p:sp>
      <p:sp>
        <p:nvSpPr>
          <p:cNvPr id="50"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1"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2" name="Shape 50"/>
          <p:cNvSpPr/>
          <p:nvPr/>
        </p:nvSpPr>
        <p:spPr>
          <a:xfrm>
            <a:off x="9464040" y="566928"/>
            <a:ext cx="1280160" cy="329184"/>
          </a:xfrm>
          <a:prstGeom prst="roundRect">
            <a:avLst>
              <a:gd name="adj" fmla="val 50000"/>
            </a:avLst>
          </a:prstGeom>
          <a:solidFill>
            <a:srgbClr val="D8A73D"/>
          </a:solidFill>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4"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56"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whatPrintedSlide()  ·  What is printed? (I do / We do)</a:t>
            </a:r>
            <a:endParaRPr lang="en-US" sz="1300" dirty="0"/>
          </a:p>
        </p:txBody>
      </p:sp>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5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par>
                                <p:cTn id="71" presetID="10"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animBg="1"/>
      <p:bldP spid="21" grpId="0" animBg="1"/>
      <p:bldP spid="23" grpId="0" animBg="1"/>
      <p:bldP spid="24" grpId="0" animBg="1"/>
      <p:bldP spid="27" grpId="0" animBg="1"/>
      <p:bldP spid="29" grpId="0" animBg="1"/>
      <p:bldP spid="30" grpId="0" animBg="1"/>
      <p:bldP spid="31" grpId="0" animBg="1"/>
      <p:bldP spid="32" grpId="0" animBg="1"/>
      <p:bldP spid="34" grpId="0" animBg="1"/>
      <p:bldP spid="35" grpId="0" animBg="1"/>
      <p:bldP spid="37" grpId="0" animBg="1"/>
      <p:bldP spid="3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Shape 1"/>
          <p:cNvSpPr/>
          <p:nvPr/>
        </p:nvSpPr>
        <p:spPr>
          <a:xfrm>
            <a:off x="548640" y="1508760"/>
            <a:ext cx="384048" cy="384048"/>
          </a:xfrm>
          <a:prstGeom prst="ellipse">
            <a:avLst/>
          </a:prstGeom>
          <a:solidFill>
            <a:srgbClr val="D8A73D"/>
          </a:solidFill>
          <a:ln/>
        </p:spPr>
      </p:sp>
      <p:sp>
        <p:nvSpPr>
          <p:cNvPr id="4"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6" name="Text 4"/>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7" name="Text 5"/>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8" name="Text 6"/>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7"/>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8"/>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Shape 9"/>
          <p:cNvSpPr/>
          <p:nvPr/>
        </p:nvSpPr>
        <p:spPr>
          <a:xfrm>
            <a:off x="4334256" y="1508760"/>
            <a:ext cx="384048" cy="384048"/>
          </a:xfrm>
          <a:prstGeom prst="ellipse">
            <a:avLst/>
          </a:prstGeom>
          <a:solidFill>
            <a:srgbClr val="D8A73D"/>
          </a:solidFill>
          <a:ln/>
        </p:spPr>
      </p:sp>
      <p:sp>
        <p:nvSpPr>
          <p:cNvPr id="12"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4" name="Text 12"/>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5" name="Text 13"/>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Shape 18"/>
          <p:cNvSpPr/>
          <p:nvPr/>
        </p:nvSpPr>
        <p:spPr>
          <a:xfrm>
            <a:off x="8119872" y="1508760"/>
            <a:ext cx="384048" cy="384048"/>
          </a:xfrm>
          <a:prstGeom prst="ellipse">
            <a:avLst/>
          </a:prstGeom>
          <a:solidFill>
            <a:srgbClr val="D8A73D"/>
          </a:solidFill>
          <a:ln/>
        </p:spPr>
      </p:sp>
      <p:sp>
        <p:nvSpPr>
          <p:cNvPr id="21" name="Text 19"/>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3" name="Text 21"/>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4" name="Text 22"/>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4"/>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6"/>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Shape 27"/>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0" name="Text 28"/>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1" name="Shape 29"/>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3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3" name="Shape 31"/>
          <p:cNvSpPr/>
          <p:nvPr/>
        </p:nvSpPr>
        <p:spPr>
          <a:xfrm>
            <a:off x="8046720" y="566928"/>
            <a:ext cx="1280160" cy="329184"/>
          </a:xfrm>
          <a:prstGeom prst="roundRect">
            <a:avLst>
              <a:gd name="adj" fmla="val 50000"/>
            </a:avLst>
          </a:prstGeom>
          <a:solidFill>
            <a:srgbClr val="D8A73D"/>
          </a:solidFill>
          <a:ln/>
        </p:spPr>
      </p:sp>
      <p:sp>
        <p:nvSpPr>
          <p:cNvPr id="34" name="Text 32"/>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whatPrintedGridSlide()  ·  What is printed? (You do)</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2026-10-14T09:51:22Z</dcterms:created>
  <dcterms:modified xsi:type="dcterms:W3CDTF">2026-10-14T09:51:22Z</dcterms:modified>
</cp:coreProperties>
</file>