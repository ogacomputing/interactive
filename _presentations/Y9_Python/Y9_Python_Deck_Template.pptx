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How to use" id="{6ca1e9f3-c14d-4687-fe23-4396f437f986}">
          <p14:sldIdLst>
            <p14:sldId id="256"/>
            <p14:sldId id="257"/>
            <p14:sldId id="258"/>
            <p14:sldId id="259"/>
            <p14:sldId id="260"/>
          </p14:sldIdLst>
        </p14:section>
        <p14:section name="Examples" id="{4c576295-3fe2-28a1-8024-81c2b39c85a8}">
          <p14:sldIdLst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deck is a reference, not a lesson. It shows one example of every Station Zero slide type, in lesson order.
Each example's footer names its recipe (the function in sz_slides.cjs), and its speaker notes say when to use it and what to watch for.
Rules and feedback live in README.md (same folder). Rebuild this deck with: node build_template.cjs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Files (all in _presentations/Y9_Python/):
- README.md: the rules, the feedback log and the list of slide types.
- sz_slides.cjs: one function per slide type ("recipe").
- sz_kit.cjs: the drawing parts (palette, code panels, variable boxes, badges).
- build_deck.cjs: Lesson 1. Copy it for a new lesson.
Needs: npm install -g pptxgenjs. Close the .pptx in PowerPoint before rebuilding.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content repeats New Information → Deliberate Practice → Feedback as often as the lesson needs, with a chapter card before each activity.
Every slide carries exactly one pillar icon, top right (the title and chapter cards are story slides: the chapter card counts as Deliberate Practice).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rules come from the "Rules and feedback log" in README.md. Add new feedback there (one dated line) and rebuild.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rules come from the "Rules and feedback log" in README.md. Add new feedback there (one dated line) and rebuild.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WHEN: always slide 1. Light background.
RULES: 4 questions on the previous lesson and further back; each card has a pill naming its source lesson.
Q1–2 multiple choice (3 options, similar lengths, the right answer not always the longest). Q3–4 need a written word or sentence.
At least 3 of the 4 use a code snippet students have already met. Ask for a confidence rating 1–3.
DATA: { pill, q, type: "mcq"|"write", code?, opts?, a, why }. For an MCQ, a starts with the right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WHEN: slide 2. Same questions as the starter; dark background.
The right option turns green; each card adds a one-line "why". Discuss confident-but-wrong answers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WHEN: slide 3. Kicker = year · lesson · lesson name; title = Station Zero; subtitle = this chapter.
The status readout is the only story text: short LABEL ..... VALUE lines. Tell the premise aloud from the notes, never as a paragraph on the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WHEN: slide 4. The topic question is the same all unit (muted); the lesson question is this lesson only (highlighted).
Reuse the exact lesson question on the plenary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WHEN: introducing sub-goals (the steps of a recipe) on real code.
RULES: whole lines only — never fragments like input(…) (feedback 2026-10-08). Up to 2 lines.
Each label is bracketed under the exact characters that do that step: from/to are character positions in the line.
Number the labels in the order Python does them (so in line 1, Ask is 1 and Store is 2), and give each result on the right the same number.
Results are a terminal (what the screen shows) or a variable box (what memory holds).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WHEN: two lines that differ by ONE thing (variation theory). Cover the outputs, ask, then reveal.
Each row: code → output → a one-line rule. Optional "IN MEMORY" box shows what the variable holds.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WHEN: Deliberate Practice before the reveal. 4–6 lines of code, the answers the user types, one prompt, a timer.
No hints on the slide. A program not taken from the activity, so the activity's Predict is still fresh.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WHEN: straight after predictSlide. Highlight the line that made the answer; name the two most likely mistakes.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WHEN: tracing (notional machine). Columns: Line, one per variable, Output. Then repeat it with reveal: { hl, side } and the rows filled 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WHEN: just before new information — an attempt first makes the explanation stick. Never show the answers on this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WHEN: once per lesson before the activity, then flip back to it during Investigate.
Use a real Python error, copied exactly. The numbered badges sit on the error itself (marks: line + column), matching the 4 fixed steps below.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WHEN: just before students open an activity. Story log: at most 3 short sentences, in green, broken into short lines.
The task names the activity exactly as it appears in Google Classroom. The note line is for the story choice (Modification 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WHEN: whole-class feedback after an activity, usually on its planted bug. Real error text; one takeaway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WHEN: last slide. The same lesson question as slide 4, then 2 exit tasks: one to write, one to fix.
Optional one-line cliffhanger in green, to lead into the next chapter.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Z_DARK">
    <p:bg>
      <p:bgPr>
        <a:solidFill>
          <a:srgbClr val="1E1E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6E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 ZERO  ·  Y9 PYTHON  ·  DECK TEMPLATE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411480"/>
            <a:ext cx="941832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5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E6E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Z_LIGHT">
    <p:bg>
      <p:bgPr>
        <a:solidFill>
          <a:srgbClr val="F5F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8A8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 ZERO  ·  Y9 PYTHON  ·  DECK TEMPLATE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411480"/>
            <a:ext cx="941832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A8A9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Z_COVER">
    <p:bg>
      <p:bgPr>
        <a:solidFill>
          <a:srgbClr val="1414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E6E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1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1.png"/><Relationship Id="rId8" Type="http://schemas.openxmlformats.org/officeDocument/2006/relationships/image" Target="../media/image-3-1.png"/><Relationship Id="rId9" Type="http://schemas.openxmlformats.org/officeDocument/2006/relationships/image" Target="../media/image-3-3.png"/><Relationship Id="rId10" Type="http://schemas.openxmlformats.org/officeDocument/2006/relationships/image" Target="../media/image-3-4.png"/><Relationship Id="rId11" Type="http://schemas.openxmlformats.org/officeDocument/2006/relationships/image" Target="../media/image-3-5.png"/><Relationship Id="rId12" Type="http://schemas.openxmlformats.org/officeDocument/2006/relationships/image" Target="../media/image-3-6.png"/><Relationship Id="rId13" Type="http://schemas.openxmlformats.org/officeDocument/2006/relationships/slideLayout" Target="../slideLayouts/slideLayout2.xml"/><Relationship Id="rId1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87452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Y9 PYTHON  ·  LESSON DECKS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28600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5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Deck template</a:t>
            </a:r>
            <a:endParaRPr lang="en-US" sz="6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42900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A9A9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example of every slide type</a:t>
            </a:r>
            <a:endParaRPr lang="en-US" sz="2800" dirty="0"/>
          </a:p>
        </p:txBody>
      </p:sp>
      <p:sp>
        <p:nvSpPr>
          <p:cNvPr id="5" name="terminal"/>
          <p:cNvSpPr/>
          <p:nvPr/>
        </p:nvSpPr>
        <p:spPr>
          <a:xfrm>
            <a:off x="6903720" y="1600200"/>
            <a:ext cx="4663440" cy="2402840"/>
          </a:xfrm>
          <a:prstGeom prst="roundRect">
            <a:avLst>
              <a:gd name="adj" fmla="val 3044"/>
            </a:avLst>
          </a:prstGeom>
          <a:solidFill>
            <a:srgbClr val="0D1310"/>
          </a:solidFill>
          <a:ln w="15875">
            <a:solidFill>
              <a:srgbClr val="2C443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0" y="178308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FD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132320" y="2148840"/>
            <a:ext cx="420624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7FD9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SLIDE TYPES ...... 14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7132320" y="2555240"/>
            <a:ext cx="420624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7FD9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RULES ............ 7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7132320" y="2961640"/>
            <a:ext cx="420624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7FD9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SOURCE ........... README.md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7132320" y="3368040"/>
            <a:ext cx="420624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7FD9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_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5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to use this template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3538728" cy="4023360"/>
          </a:xfrm>
          <a:prstGeom prst="roundRect">
            <a:avLst>
              <a:gd name="adj" fmla="val 2067"/>
            </a:avLst>
          </a:prstGeom>
          <a:solidFill>
            <a:srgbClr val="2A2A32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1874520"/>
            <a:ext cx="548640" cy="548640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874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06040"/>
            <a:ext cx="29900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8A7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Look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246120"/>
            <a:ext cx="299008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example is labelled in its footer with the slide type. Its speaker notes say when to use it.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325112" y="1600200"/>
            <a:ext cx="3538728" cy="4023360"/>
          </a:xfrm>
          <a:prstGeom prst="roundRect">
            <a:avLst>
              <a:gd name="adj" fmla="val 2067"/>
            </a:avLst>
          </a:prstGeom>
          <a:solidFill>
            <a:srgbClr val="2A2A32"/>
          </a:solidFill>
          <a:ln/>
        </p:spPr>
      </p:sp>
      <p:sp>
        <p:nvSpPr>
          <p:cNvPr id="9" name="Shape 7"/>
          <p:cNvSpPr/>
          <p:nvPr/>
        </p:nvSpPr>
        <p:spPr>
          <a:xfrm>
            <a:off x="4599432" y="1874520"/>
            <a:ext cx="548640" cy="548640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99432" y="1874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599432" y="2606040"/>
            <a:ext cx="29900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8A7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4599432" y="3246120"/>
            <a:ext cx="299008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build_deck.cjs, change only the content, then run node to make the .pptx.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8101584" y="1600200"/>
            <a:ext cx="3538728" cy="4023360"/>
          </a:xfrm>
          <a:prstGeom prst="roundRect">
            <a:avLst>
              <a:gd name="adj" fmla="val 2067"/>
            </a:avLst>
          </a:prstGeom>
          <a:solidFill>
            <a:srgbClr val="2A2A32"/>
          </a:solidFill>
          <a:ln/>
        </p:spPr>
      </p:sp>
      <p:sp>
        <p:nvSpPr>
          <p:cNvPr id="14" name="Shape 12"/>
          <p:cNvSpPr/>
          <p:nvPr/>
        </p:nvSpPr>
        <p:spPr>
          <a:xfrm>
            <a:off x="8375904" y="1874520"/>
            <a:ext cx="548640" cy="548640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375904" y="1874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8375904" y="2606040"/>
            <a:ext cx="29900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8A7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Feed back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8375904" y="3246120"/>
            <a:ext cx="299008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feedback to the log in README.md. Rebuild this template and it appears on the rules slides.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4206240" y="6355080"/>
            <a:ext cx="6812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i="1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E6E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5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Slide order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1700784" cy="2743200"/>
          </a:xfrm>
          <a:prstGeom prst="roundRect">
            <a:avLst>
              <a:gd name="adj" fmla="val 4301"/>
            </a:avLst>
          </a:prstGeom>
          <a:solidFill>
            <a:srgbClr val="2A2A32"/>
          </a:solidFill>
          <a:ln/>
        </p:spPr>
      </p:sp>
      <p:pic>
        <p:nvPicPr>
          <p:cNvPr id="4" name="Image 0" descr="Recap and reca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" y="1965960"/>
            <a:ext cx="731520" cy="7315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85800" y="288036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E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3200400"/>
            <a:ext cx="14264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 &amp; Recall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3977640"/>
            <a:ext cx="1426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2258568" y="3108960"/>
            <a:ext cx="155448" cy="0"/>
          </a:xfrm>
          <a:prstGeom prst="line">
            <a:avLst/>
          </a:prstGeom>
          <a:noFill/>
          <a:ln w="28575">
            <a:solidFill>
              <a:srgbClr val="D8A73D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2423160" y="1737360"/>
            <a:ext cx="1700784" cy="2743200"/>
          </a:xfrm>
          <a:prstGeom prst="roundRect">
            <a:avLst>
              <a:gd name="adj" fmla="val 4301"/>
            </a:avLst>
          </a:prstGeom>
          <a:solidFill>
            <a:srgbClr val="2A2A32"/>
          </a:solidFill>
          <a:ln/>
        </p:spPr>
      </p:sp>
      <p:pic>
        <p:nvPicPr>
          <p:cNvPr id="10" name="Image 1" descr="Recap and recal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7792" y="1965960"/>
            <a:ext cx="731520" cy="7315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560320" y="288036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E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2560320" y="3200400"/>
            <a:ext cx="14264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2560320" y="3977640"/>
            <a:ext cx="1426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4133088" y="3108960"/>
            <a:ext cx="155448" cy="0"/>
          </a:xfrm>
          <a:prstGeom prst="line">
            <a:avLst/>
          </a:prstGeom>
          <a:noFill/>
          <a:ln w="28575">
            <a:solidFill>
              <a:srgbClr val="D8A73D"/>
            </a:solidFill>
            <a:prstDash val="solid"/>
            <a:tailEnd type="triangle"/>
          </a:ln>
        </p:spPr>
      </p:sp>
      <p:sp>
        <p:nvSpPr>
          <p:cNvPr id="15" name="Shape 11"/>
          <p:cNvSpPr/>
          <p:nvPr/>
        </p:nvSpPr>
        <p:spPr>
          <a:xfrm>
            <a:off x="4297680" y="1737360"/>
            <a:ext cx="1700784" cy="2743200"/>
          </a:xfrm>
          <a:prstGeom prst="roundRect">
            <a:avLst>
              <a:gd name="adj" fmla="val 4301"/>
            </a:avLst>
          </a:prstGeom>
          <a:solidFill>
            <a:srgbClr val="2A2A32"/>
          </a:solidFill>
          <a:ln/>
        </p:spPr>
      </p:sp>
      <p:sp>
        <p:nvSpPr>
          <p:cNvPr id="16" name="Shape 12"/>
          <p:cNvSpPr/>
          <p:nvPr/>
        </p:nvSpPr>
        <p:spPr>
          <a:xfrm>
            <a:off x="4782312" y="1965960"/>
            <a:ext cx="731520" cy="731520"/>
          </a:xfrm>
          <a:prstGeom prst="ellipse">
            <a:avLst/>
          </a:prstGeom>
          <a:solidFill>
            <a:srgbClr val="1E1E24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4782312" y="19659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8A7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endParaRPr lang="en-US" sz="2000" dirty="0"/>
          </a:p>
        </p:txBody>
      </p:sp>
      <p:sp>
        <p:nvSpPr>
          <p:cNvPr id="18" name="Text 14"/>
          <p:cNvSpPr txBox="1"/>
          <p:nvPr/>
        </p:nvSpPr>
        <p:spPr>
          <a:xfrm>
            <a:off x="4434840" y="288036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E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4434840" y="3200400"/>
            <a:ext cx="14264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</a:t>
            </a:r>
            <a:endParaRPr lang="en-US" sz="1900" dirty="0"/>
          </a:p>
        </p:txBody>
      </p:sp>
      <p:sp>
        <p:nvSpPr>
          <p:cNvPr id="20" name="Text 16"/>
          <p:cNvSpPr txBox="1"/>
          <p:nvPr/>
        </p:nvSpPr>
        <p:spPr>
          <a:xfrm>
            <a:off x="4434840" y="3977640"/>
            <a:ext cx="1426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</a:t>
            </a:r>
            <a:endParaRPr lang="en-US" sz="1400" dirty="0"/>
          </a:p>
        </p:txBody>
      </p:sp>
      <p:sp>
        <p:nvSpPr>
          <p:cNvPr id="21" name="Shape 17"/>
          <p:cNvSpPr/>
          <p:nvPr/>
        </p:nvSpPr>
        <p:spPr>
          <a:xfrm>
            <a:off x="6007608" y="3108960"/>
            <a:ext cx="155448" cy="0"/>
          </a:xfrm>
          <a:prstGeom prst="line">
            <a:avLst/>
          </a:prstGeom>
          <a:noFill/>
          <a:ln w="28575">
            <a:solidFill>
              <a:srgbClr val="D8A73D"/>
            </a:solidFill>
            <a:prstDash val="solid"/>
            <a:tailEnd type="triangle"/>
          </a:ln>
        </p:spPr>
      </p:sp>
      <p:sp>
        <p:nvSpPr>
          <p:cNvPr id="22" name="Shape 18"/>
          <p:cNvSpPr/>
          <p:nvPr/>
        </p:nvSpPr>
        <p:spPr>
          <a:xfrm>
            <a:off x="6172200" y="1737360"/>
            <a:ext cx="1700784" cy="2743200"/>
          </a:xfrm>
          <a:prstGeom prst="roundRect">
            <a:avLst>
              <a:gd name="adj" fmla="val 4301"/>
            </a:avLst>
          </a:prstGeom>
          <a:solidFill>
            <a:srgbClr val="2A2A32"/>
          </a:solidFill>
          <a:ln/>
        </p:spPr>
      </p:sp>
      <p:pic>
        <p:nvPicPr>
          <p:cNvPr id="23" name="Image 2" descr="Clarity of learning intention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6832" y="1965960"/>
            <a:ext cx="731520" cy="731520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6309360" y="288036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E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5" name="Text 20"/>
          <p:cNvSpPr txBox="1"/>
          <p:nvPr/>
        </p:nvSpPr>
        <p:spPr>
          <a:xfrm>
            <a:off x="6309360" y="3200400"/>
            <a:ext cx="14264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+ lesson question</a:t>
            </a:r>
            <a:endParaRPr lang="en-US" sz="1900" dirty="0"/>
          </a:p>
        </p:txBody>
      </p:sp>
      <p:sp>
        <p:nvSpPr>
          <p:cNvPr id="26" name="Shape 21"/>
          <p:cNvSpPr/>
          <p:nvPr/>
        </p:nvSpPr>
        <p:spPr>
          <a:xfrm>
            <a:off x="7882128" y="3108960"/>
            <a:ext cx="155448" cy="0"/>
          </a:xfrm>
          <a:prstGeom prst="line">
            <a:avLst/>
          </a:prstGeom>
          <a:noFill/>
          <a:ln w="28575">
            <a:solidFill>
              <a:srgbClr val="D8A73D"/>
            </a:solidFill>
            <a:prstDash val="solid"/>
            <a:tailEnd type="triangle"/>
          </a:ln>
        </p:spPr>
      </p:sp>
      <p:sp>
        <p:nvSpPr>
          <p:cNvPr id="27" name="Shape 22"/>
          <p:cNvSpPr/>
          <p:nvPr/>
        </p:nvSpPr>
        <p:spPr>
          <a:xfrm>
            <a:off x="8046720" y="1737360"/>
            <a:ext cx="1700784" cy="2743200"/>
          </a:xfrm>
          <a:prstGeom prst="roundRect">
            <a:avLst>
              <a:gd name="adj" fmla="val 4301"/>
            </a:avLst>
          </a:prstGeom>
          <a:solidFill>
            <a:srgbClr val="2A2A32"/>
          </a:solidFill>
          <a:ln/>
        </p:spPr>
      </p:sp>
      <p:pic>
        <p:nvPicPr>
          <p:cNvPr id="28" name="Image 3" descr="New informati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65592" y="2011680"/>
            <a:ext cx="457200" cy="457200"/>
          </a:xfrm>
          <a:prstGeom prst="rect">
            <a:avLst/>
          </a:prstGeom>
        </p:spPr>
      </p:pic>
      <p:pic>
        <p:nvPicPr>
          <p:cNvPr id="29" name="Image 4" descr="Deliberate practic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68512" y="2011680"/>
            <a:ext cx="457200" cy="457200"/>
          </a:xfrm>
          <a:prstGeom prst="rect">
            <a:avLst/>
          </a:prstGeom>
        </p:spPr>
      </p:pic>
      <p:pic>
        <p:nvPicPr>
          <p:cNvPr id="30" name="Image 5" descr="Feedbac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71432" y="2011680"/>
            <a:ext cx="457200" cy="45720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8183880" y="288036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E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2" name="Text 24"/>
          <p:cNvSpPr txBox="1"/>
          <p:nvPr/>
        </p:nvSpPr>
        <p:spPr>
          <a:xfrm>
            <a:off x="8183880" y="3200400"/>
            <a:ext cx="14264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content</a:t>
            </a:r>
            <a:endParaRPr lang="en-US" sz="1900" dirty="0"/>
          </a:p>
        </p:txBody>
      </p:sp>
      <p:sp>
        <p:nvSpPr>
          <p:cNvPr id="33" name="Text 25"/>
          <p:cNvSpPr txBox="1"/>
          <p:nvPr/>
        </p:nvSpPr>
        <p:spPr>
          <a:xfrm>
            <a:off x="8183880" y="3977640"/>
            <a:ext cx="1426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</a:t>
            </a:r>
            <a:endParaRPr lang="en-US" sz="1400" dirty="0"/>
          </a:p>
        </p:txBody>
      </p:sp>
      <p:sp>
        <p:nvSpPr>
          <p:cNvPr id="34" name="Shape 26"/>
          <p:cNvSpPr/>
          <p:nvPr/>
        </p:nvSpPr>
        <p:spPr>
          <a:xfrm>
            <a:off x="9756648" y="3108960"/>
            <a:ext cx="155448" cy="0"/>
          </a:xfrm>
          <a:prstGeom prst="line">
            <a:avLst/>
          </a:prstGeom>
          <a:noFill/>
          <a:ln w="28575">
            <a:solidFill>
              <a:srgbClr val="D8A73D"/>
            </a:solidFill>
            <a:prstDash val="solid"/>
            <a:tailEnd type="triangle"/>
          </a:ln>
        </p:spPr>
      </p:sp>
      <p:sp>
        <p:nvSpPr>
          <p:cNvPr id="35" name="Shape 27"/>
          <p:cNvSpPr/>
          <p:nvPr/>
        </p:nvSpPr>
        <p:spPr>
          <a:xfrm>
            <a:off x="9921240" y="1737360"/>
            <a:ext cx="1700784" cy="2743200"/>
          </a:xfrm>
          <a:prstGeom prst="roundRect">
            <a:avLst>
              <a:gd name="adj" fmla="val 4301"/>
            </a:avLst>
          </a:prstGeom>
          <a:solidFill>
            <a:srgbClr val="2A2A32"/>
          </a:solidFill>
          <a:ln/>
        </p:spPr>
      </p:sp>
      <p:pic>
        <p:nvPicPr>
          <p:cNvPr id="36" name="Image 6" descr="Recap and recall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05872" y="1965960"/>
            <a:ext cx="731520" cy="731520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10058400" y="288036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E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8" name="Text 29"/>
          <p:cNvSpPr txBox="1"/>
          <p:nvPr/>
        </p:nvSpPr>
        <p:spPr>
          <a:xfrm>
            <a:off x="10058400" y="3200400"/>
            <a:ext cx="14264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Plenary</a:t>
            </a:r>
            <a:endParaRPr lang="en-US" sz="1900" dirty="0"/>
          </a:p>
        </p:txBody>
      </p:sp>
      <p:sp>
        <p:nvSpPr>
          <p:cNvPr id="39" name="Text 30"/>
          <p:cNvSpPr txBox="1"/>
          <p:nvPr/>
        </p:nvSpPr>
        <p:spPr>
          <a:xfrm>
            <a:off x="10058400" y="3977640"/>
            <a:ext cx="1426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task</a:t>
            </a:r>
            <a:endParaRPr lang="en-US" sz="1400" dirty="0"/>
          </a:p>
        </p:txBody>
      </p:sp>
      <p:pic>
        <p:nvPicPr>
          <p:cNvPr id="40" name="Image 7" descr="Recap and recall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8640" y="4937760"/>
            <a:ext cx="457200" cy="457200"/>
          </a:xfrm>
          <a:prstGeom prst="rect">
            <a:avLst/>
          </a:prstGeom>
        </p:spPr>
      </p:pic>
      <p:sp>
        <p:nvSpPr>
          <p:cNvPr id="41" name="Text 31"/>
          <p:cNvSpPr txBox="1"/>
          <p:nvPr/>
        </p:nvSpPr>
        <p:spPr>
          <a:xfrm>
            <a:off x="1097280" y="49377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 &amp; Recall</a:t>
            </a:r>
            <a:endParaRPr lang="en-US" sz="1600" dirty="0"/>
          </a:p>
        </p:txBody>
      </p:sp>
      <p:pic>
        <p:nvPicPr>
          <p:cNvPr id="42" name="Image 8" descr="Clarity of learning intentions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788920" y="4937760"/>
            <a:ext cx="457200" cy="457200"/>
          </a:xfrm>
          <a:prstGeom prst="rect">
            <a:avLst/>
          </a:prstGeom>
        </p:spPr>
      </p:pic>
      <p:sp>
        <p:nvSpPr>
          <p:cNvPr id="43" name="Text 32"/>
          <p:cNvSpPr txBox="1"/>
          <p:nvPr/>
        </p:nvSpPr>
        <p:spPr>
          <a:xfrm>
            <a:off x="3337560" y="49377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Clarity</a:t>
            </a:r>
            <a:endParaRPr lang="en-US" sz="1600" dirty="0"/>
          </a:p>
        </p:txBody>
      </p:sp>
      <p:pic>
        <p:nvPicPr>
          <p:cNvPr id="44" name="Image 9" descr="New information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29200" y="4937760"/>
            <a:ext cx="457200" cy="457200"/>
          </a:xfrm>
          <a:prstGeom prst="rect">
            <a:avLst/>
          </a:prstGeom>
        </p:spPr>
      </p:pic>
      <p:sp>
        <p:nvSpPr>
          <p:cNvPr id="45" name="Text 33"/>
          <p:cNvSpPr txBox="1"/>
          <p:nvPr/>
        </p:nvSpPr>
        <p:spPr>
          <a:xfrm>
            <a:off x="5577840" y="49377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information</a:t>
            </a:r>
            <a:endParaRPr lang="en-US" sz="1600" dirty="0"/>
          </a:p>
        </p:txBody>
      </p:sp>
      <p:pic>
        <p:nvPicPr>
          <p:cNvPr id="46" name="Image 10" descr="Deliberate practice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269480" y="4937760"/>
            <a:ext cx="457200" cy="457200"/>
          </a:xfrm>
          <a:prstGeom prst="rect">
            <a:avLst/>
          </a:prstGeom>
        </p:spPr>
      </p:pic>
      <p:sp>
        <p:nvSpPr>
          <p:cNvPr id="47" name="Text 34"/>
          <p:cNvSpPr txBox="1"/>
          <p:nvPr/>
        </p:nvSpPr>
        <p:spPr>
          <a:xfrm>
            <a:off x="7818120" y="49377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 practice</a:t>
            </a:r>
            <a:endParaRPr lang="en-US" sz="1600" dirty="0"/>
          </a:p>
        </p:txBody>
      </p:sp>
      <p:pic>
        <p:nvPicPr>
          <p:cNvPr id="48" name="Image 11" descr="Feedback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509760" y="4937760"/>
            <a:ext cx="457200" cy="457200"/>
          </a:xfrm>
          <a:prstGeom prst="rect">
            <a:avLst/>
          </a:prstGeom>
        </p:spPr>
      </p:pic>
      <p:sp>
        <p:nvSpPr>
          <p:cNvPr id="49" name="Text 35"/>
          <p:cNvSpPr txBox="1"/>
          <p:nvPr/>
        </p:nvSpPr>
        <p:spPr>
          <a:xfrm>
            <a:off x="10058400" y="49377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</a:t>
            </a:r>
            <a:endParaRPr lang="en-US" sz="1600" dirty="0"/>
          </a:p>
        </p:txBody>
      </p:sp>
      <p:sp>
        <p:nvSpPr>
          <p:cNvPr id="50" name="Text 36"/>
          <p:cNvSpPr txBox="1"/>
          <p:nvPr/>
        </p:nvSpPr>
        <p:spPr>
          <a:xfrm>
            <a:off x="4206240" y="6355080"/>
            <a:ext cx="6812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i="1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E6E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5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Rules and feedback (1 of 2)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11091672" cy="804672"/>
          </a:xfrm>
          <a:prstGeom prst="roundRect">
            <a:avLst>
              <a:gd name="adj" fmla="val 6818"/>
            </a:avLst>
          </a:prstGeom>
          <a:solidFill>
            <a:srgbClr val="2A2A3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536192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9202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2026-10-08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3291840" y="1499616"/>
            <a:ext cx="8183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decks are PowerPoint (.pptx), built with pptxgenjs from these scripts so every deck matches.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2377440"/>
            <a:ext cx="11091672" cy="804672"/>
          </a:xfrm>
          <a:prstGeom prst="roundRect">
            <a:avLst>
              <a:gd name="adj" fmla="val 6818"/>
            </a:avLst>
          </a:prstGeom>
          <a:solidFill>
            <a:srgbClr val="2A2A3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7240" y="2450592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 &amp; Recall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834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2026-10-08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3291840" y="2414016"/>
            <a:ext cx="8183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 is always Recap &amp; Recall on the previous lesson (in Lesson 1: basic Y8 Python facts), with 4 questions.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548640" y="3291840"/>
            <a:ext cx="11091672" cy="804672"/>
          </a:xfrm>
          <a:prstGeom prst="roundRect">
            <a:avLst>
              <a:gd name="adj" fmla="val 6818"/>
            </a:avLst>
          </a:prstGeom>
          <a:solidFill>
            <a:srgbClr val="2A2A3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77240" y="3364992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 &amp; Recall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37490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2026-10-08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291840" y="3328416"/>
            <a:ext cx="8183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Q1–2 are multiple choice; Q3–4 need a written word or sentence. At least 3 of the 4 are built on code snippets students have already met.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4206240"/>
            <a:ext cx="11091672" cy="804672"/>
          </a:xfrm>
          <a:prstGeom prst="roundRect">
            <a:avLst>
              <a:gd name="adj" fmla="val 6818"/>
            </a:avLst>
          </a:prstGeom>
          <a:solidFill>
            <a:srgbClr val="2A2A3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77240" y="4279392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on slides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46634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2026-10-08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3291840" y="4242816"/>
            <a:ext cx="8183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show the whole line of code, never fragments like input(…). Label the parts of the real line instead (labelledLinesSlide).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548640" y="5120640"/>
            <a:ext cx="11091672" cy="804672"/>
          </a:xfrm>
          <a:prstGeom prst="roundRect">
            <a:avLst>
              <a:gd name="adj" fmla="val 6818"/>
            </a:avLst>
          </a:prstGeom>
          <a:solidFill>
            <a:srgbClr val="2A2A3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77240" y="5193792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777240" y="55778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2026-10-08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3291840" y="5157216"/>
            <a:ext cx="8183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Survival horror, but readable first: charcoal background, gold for warnings, green "terminal" text for story only, red for error messages only. Body text 18pt or more.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4206240" y="6355080"/>
            <a:ext cx="6812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i="1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README.md — ADD NEW FEEDBACK THERE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E6E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5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Rules and feedback (2 of 2)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11091672" cy="804672"/>
          </a:xfrm>
          <a:prstGeom prst="roundRect">
            <a:avLst>
              <a:gd name="adj" fmla="val 6818"/>
            </a:avLst>
          </a:prstGeom>
          <a:solidFill>
            <a:srgbClr val="2A2A3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536192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9202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2026-10-08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3291840" y="1499616"/>
            <a:ext cx="8183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story appears only on the title, chapter cards and the plenary cliffhanger. The premise is spoken from the notes, not written on the slide.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2377440"/>
            <a:ext cx="11091672" cy="804672"/>
          </a:xfrm>
          <a:prstGeom prst="roundRect">
            <a:avLst>
              <a:gd name="adj" fmla="val 6818"/>
            </a:avLst>
          </a:prstGeom>
          <a:solidFill>
            <a:srgbClr val="2A2A3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7240" y="2450592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Cognitive load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834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2026-10-08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3291840" y="2414016"/>
            <a:ext cx="8183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split attention (labels sit on or beside what they label) and no redundancy (say it or show it, not both). At most 3 text areas per slide.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206240" y="6355080"/>
            <a:ext cx="6812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i="1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README.md — ADD NEW FEEDBACK THERE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E6E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Recap &amp; Recall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70432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55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notes. Answer every question — a guess beats a blank. Then rate your confidence: 1, 2 or 3.</a:t>
            </a:r>
            <a:endParaRPr lang="en-US" sz="1800" dirty="0"/>
          </a:p>
        </p:txBody>
      </p:sp>
      <p:sp>
        <p:nvSpPr>
          <p:cNvPr id="4" name="q1"/>
          <p:cNvSpPr/>
          <p:nvPr/>
        </p:nvSpPr>
        <p:spPr>
          <a:xfrm>
            <a:off x="548640" y="1600200"/>
            <a:ext cx="5413248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5875">
            <a:solidFill>
              <a:srgbClr val="D6D5D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801368"/>
            <a:ext cx="384048" cy="384048"/>
          </a:xfrm>
          <a:prstGeom prst="ellipse">
            <a:avLst/>
          </a:prstGeom>
          <a:solidFill>
            <a:srgbClr val="1E1E2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801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280160" y="1828800"/>
            <a:ext cx="1600200" cy="310896"/>
          </a:xfrm>
          <a:prstGeom prst="roundRect">
            <a:avLst>
              <a:gd name="adj" fmla="val 52941"/>
            </a:avLst>
          </a:prstGeom>
          <a:solidFill>
            <a:srgbClr val="EDE6D3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280160" y="182880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Y8 · LESSON 1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971800" y="1828800"/>
            <a:ext cx="1783080" cy="310896"/>
          </a:xfrm>
          <a:prstGeom prst="roundRect">
            <a:avLst>
              <a:gd name="adj" fmla="val 52941"/>
            </a:avLst>
          </a:prstGeom>
          <a:solidFill>
            <a:srgbClr val="F5F5F3"/>
          </a:solidFill>
          <a:ln w="15875">
            <a:solidFill>
              <a:srgbClr val="D6D5D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971800" y="1828800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555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A, B OR C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2240280"/>
            <a:ext cx="4956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print() do?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2651760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pPr indent="0" marL="0">
              <a:buNone/>
            </a:pPr>
            <a:r>
              <a:rPr lang="en-US" sz="1800" dirty="0">
                <a:solidFill>
                  <a:srgbClr val="1E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 text on the screen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2980944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</a:t>
            </a:r>
            <a:pPr indent="0" marL="0">
              <a:buNone/>
            </a:pPr>
            <a:r>
              <a:rPr lang="en-US" sz="1800" dirty="0">
                <a:solidFill>
                  <a:srgbClr val="1E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Asks the user to type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3310128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pPr indent="0" marL="0">
              <a:buNone/>
            </a:pPr>
            <a:r>
              <a:rPr lang="en-US" sz="1800" dirty="0">
                <a:solidFill>
                  <a:srgbClr val="1E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Saves text into a file</a:t>
            </a:r>
            <a:endParaRPr lang="en-US" sz="1800" dirty="0"/>
          </a:p>
        </p:txBody>
      </p:sp>
      <p:sp>
        <p:nvSpPr>
          <p:cNvPr id="15" name="q2"/>
          <p:cNvSpPr/>
          <p:nvPr/>
        </p:nvSpPr>
        <p:spPr>
          <a:xfrm>
            <a:off x="6236208" y="1600200"/>
            <a:ext cx="5413248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5875">
            <a:solidFill>
              <a:srgbClr val="D6D5D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64808" y="1801368"/>
            <a:ext cx="384048" cy="384048"/>
          </a:xfrm>
          <a:prstGeom prst="ellipse">
            <a:avLst/>
          </a:prstGeom>
          <a:solidFill>
            <a:srgbClr val="1E1E2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64808" y="1801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6967728" y="1828800"/>
            <a:ext cx="1600200" cy="310896"/>
          </a:xfrm>
          <a:prstGeom prst="roundRect">
            <a:avLst>
              <a:gd name="adj" fmla="val 52941"/>
            </a:avLst>
          </a:prstGeom>
          <a:solidFill>
            <a:srgbClr val="EDE6D3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967728" y="182880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Y8 · LESSON 2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659368" y="1828800"/>
            <a:ext cx="1783080" cy="310896"/>
          </a:xfrm>
          <a:prstGeom prst="roundRect">
            <a:avLst>
              <a:gd name="adj" fmla="val 52941"/>
            </a:avLst>
          </a:prstGeom>
          <a:solidFill>
            <a:srgbClr val="F5F5F3"/>
          </a:solidFill>
          <a:ln w="15875">
            <a:solidFill>
              <a:srgbClr val="D6D5D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659368" y="1828800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555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A, B OR C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464808" y="2240280"/>
            <a:ext cx="4956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this print?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6464808" y="2651760"/>
            <a:ext cx="2286000" cy="1088136"/>
          </a:xfrm>
          <a:prstGeom prst="roundRect">
            <a:avLst>
              <a:gd name="adj" fmla="val 5042"/>
            </a:avLst>
          </a:prstGeom>
          <a:solidFill>
            <a:srgbClr val="111115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601968" y="2743200"/>
            <a:ext cx="2011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6601968" y="3044952"/>
            <a:ext cx="2011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6601968" y="3346704"/>
            <a:ext cx="2011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8979408" y="2651760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pPr indent="0" marL="0">
              <a:buNone/>
            </a:pPr>
            <a:r>
              <a:rPr lang="en-US" sz="1800" dirty="0">
                <a:solidFill>
                  <a:srgbClr val="1E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8979408" y="2980944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</a:t>
            </a:r>
            <a:pPr indent="0" marL="0">
              <a:buNone/>
            </a:pPr>
            <a:r>
              <a:rPr lang="en-US" sz="1800" dirty="0">
                <a:solidFill>
                  <a:srgbClr val="1E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8979408" y="3310128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pPr indent="0" marL="0">
              <a:buNone/>
            </a:pPr>
            <a:r>
              <a:rPr lang="en-US" sz="1800" dirty="0">
                <a:solidFill>
                  <a:srgbClr val="1E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800" dirty="0"/>
          </a:p>
        </p:txBody>
      </p:sp>
      <p:sp>
        <p:nvSpPr>
          <p:cNvPr id="30" name="q3"/>
          <p:cNvSpPr/>
          <p:nvPr/>
        </p:nvSpPr>
        <p:spPr>
          <a:xfrm>
            <a:off x="548640" y="4023360"/>
            <a:ext cx="5413248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5875">
            <a:solidFill>
              <a:srgbClr val="D6D5D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77240" y="4224528"/>
            <a:ext cx="384048" cy="384048"/>
          </a:xfrm>
          <a:prstGeom prst="ellipse">
            <a:avLst/>
          </a:prstGeom>
          <a:solidFill>
            <a:srgbClr val="1E1E24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77240" y="4224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1280160" y="4251960"/>
            <a:ext cx="1600200" cy="310896"/>
          </a:xfrm>
          <a:prstGeom prst="roundRect">
            <a:avLst>
              <a:gd name="adj" fmla="val 52941"/>
            </a:avLst>
          </a:prstGeom>
          <a:solidFill>
            <a:srgbClr val="EDE6D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1280160" y="425196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Y8 · LESSON 1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2971800" y="4251960"/>
            <a:ext cx="1783080" cy="310896"/>
          </a:xfrm>
          <a:prstGeom prst="roundRect">
            <a:avLst>
              <a:gd name="adj" fmla="val 52941"/>
            </a:avLst>
          </a:prstGeom>
          <a:solidFill>
            <a:srgbClr val="F5F5F3"/>
          </a:solidFill>
          <a:ln w="15875">
            <a:solidFill>
              <a:srgbClr val="D6D5D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2971800" y="4251960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555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IT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777240" y="4663440"/>
            <a:ext cx="4956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line crashes. What is missing?</a:t>
            </a:r>
            <a:endParaRPr lang="en-US" sz="2000" dirty="0"/>
          </a:p>
        </p:txBody>
      </p:sp>
      <p:sp>
        <p:nvSpPr>
          <p:cNvPr id="38" name="Shape 36"/>
          <p:cNvSpPr/>
          <p:nvPr/>
        </p:nvSpPr>
        <p:spPr>
          <a:xfrm>
            <a:off x="777240" y="5074920"/>
            <a:ext cx="4956048" cy="484632"/>
          </a:xfrm>
          <a:prstGeom prst="roundRect">
            <a:avLst>
              <a:gd name="adj" fmla="val 11321"/>
            </a:avLst>
          </a:prstGeom>
          <a:solidFill>
            <a:srgbClr val="111115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914400" y="5166360"/>
            <a:ext cx="4681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8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"Hello)</a:t>
            </a:r>
            <a:endParaRPr lang="en-US" sz="1800" dirty="0"/>
          </a:p>
        </p:txBody>
      </p:sp>
      <p:sp>
        <p:nvSpPr>
          <p:cNvPr id="40" name="q4"/>
          <p:cNvSpPr/>
          <p:nvPr/>
        </p:nvSpPr>
        <p:spPr>
          <a:xfrm>
            <a:off x="6236208" y="4023360"/>
            <a:ext cx="5413248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5875">
            <a:solidFill>
              <a:srgbClr val="D6D5D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464808" y="4224528"/>
            <a:ext cx="384048" cy="384048"/>
          </a:xfrm>
          <a:prstGeom prst="ellipse">
            <a:avLst/>
          </a:prstGeom>
          <a:solidFill>
            <a:srgbClr val="1E1E24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464808" y="4224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6967728" y="4251960"/>
            <a:ext cx="1600200" cy="310896"/>
          </a:xfrm>
          <a:prstGeom prst="roundRect">
            <a:avLst>
              <a:gd name="adj" fmla="val 52941"/>
            </a:avLst>
          </a:prstGeom>
          <a:solidFill>
            <a:srgbClr val="EDE6D3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6967728" y="425196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Y8 · LESSON 2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8659368" y="4251960"/>
            <a:ext cx="1783080" cy="310896"/>
          </a:xfrm>
          <a:prstGeom prst="roundRect">
            <a:avLst>
              <a:gd name="adj" fmla="val 52941"/>
            </a:avLst>
          </a:prstGeom>
          <a:solidFill>
            <a:srgbClr val="F5F5F3"/>
          </a:solidFill>
          <a:ln w="15875">
            <a:solidFill>
              <a:srgbClr val="D6D5D0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8659368" y="4251960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555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IT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464808" y="4663440"/>
            <a:ext cx="4956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exactly what this prints.</a:t>
            </a:r>
            <a:endParaRPr lang="en-US" sz="2000" dirty="0"/>
          </a:p>
        </p:txBody>
      </p:sp>
      <p:sp>
        <p:nvSpPr>
          <p:cNvPr id="48" name="Shape 46"/>
          <p:cNvSpPr/>
          <p:nvPr/>
        </p:nvSpPr>
        <p:spPr>
          <a:xfrm>
            <a:off x="6464808" y="5074920"/>
            <a:ext cx="4956048" cy="786384"/>
          </a:xfrm>
          <a:prstGeom prst="roundRect">
            <a:avLst>
              <a:gd name="adj" fmla="val 6977"/>
            </a:avLst>
          </a:prstGeom>
          <a:solidFill>
            <a:srgbClr val="111115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601968" y="5166360"/>
            <a:ext cx="4681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"Sam"</a:t>
            </a:r>
            <a:endParaRPr lang="en-US" sz="1800" dirty="0"/>
          </a:p>
        </p:txBody>
      </p:sp>
      <p:sp>
        <p:nvSpPr>
          <p:cNvPr id="50" name="Text 48"/>
          <p:cNvSpPr txBox="1"/>
          <p:nvPr/>
        </p:nvSpPr>
        <p:spPr>
          <a:xfrm>
            <a:off x="6601968" y="5468112"/>
            <a:ext cx="4681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8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"Hi "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800" dirty="0"/>
          </a:p>
        </p:txBody>
      </p:sp>
      <p:sp>
        <p:nvSpPr>
          <p:cNvPr id="51" name="Shape 49"/>
          <p:cNvSpPr/>
          <p:nvPr/>
        </p:nvSpPr>
        <p:spPr>
          <a:xfrm>
            <a:off x="9464040" y="566928"/>
            <a:ext cx="1280160" cy="329184"/>
          </a:xfrm>
          <a:prstGeom prst="roundRect">
            <a:avLst>
              <a:gd name="adj" fmla="val 50000"/>
            </a:avLst>
          </a:prstGeom>
          <a:solidFill>
            <a:srgbClr val="F5F5F3"/>
          </a:solidFill>
          <a:ln w="15875">
            <a:solidFill>
              <a:srgbClr val="1E1E24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9464040" y="566928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1E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 5 MIN</a:t>
            </a:r>
            <a:endParaRPr lang="en-US" sz="1400" dirty="0"/>
          </a:p>
        </p:txBody>
      </p:sp>
      <p:pic>
        <p:nvPicPr>
          <p:cNvPr id="53" name="Image 0" descr="Recap and reca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0" y="384048"/>
            <a:ext cx="731520" cy="731520"/>
          </a:xfrm>
          <a:prstGeom prst="rect">
            <a:avLst/>
          </a:prstGeom>
        </p:spPr>
      </p:pic>
      <p:sp>
        <p:nvSpPr>
          <p:cNvPr id="55" name="Text 51"/>
          <p:cNvSpPr txBox="1"/>
          <p:nvPr/>
        </p:nvSpPr>
        <p:spPr>
          <a:xfrm>
            <a:off x="4206240" y="6355080"/>
            <a:ext cx="6812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i="1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recallStarter()  ·  Recap &amp; Recall starter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A8A9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5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Recap &amp; Recall — answers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70432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your own. Confident but wrong? Those are the ones to fix.</a:t>
            </a:r>
            <a:endParaRPr lang="en-US" sz="1800" dirty="0"/>
          </a:p>
        </p:txBody>
      </p:sp>
      <p:sp>
        <p:nvSpPr>
          <p:cNvPr id="4" name="q1"/>
          <p:cNvSpPr/>
          <p:nvPr/>
        </p:nvSpPr>
        <p:spPr>
          <a:xfrm>
            <a:off x="548640" y="1600200"/>
            <a:ext cx="5413248" cy="2286000"/>
          </a:xfrm>
          <a:prstGeom prst="roundRect">
            <a:avLst>
              <a:gd name="adj" fmla="val 3200"/>
            </a:avLst>
          </a:prstGeom>
          <a:solidFill>
            <a:srgbClr val="2A2A32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801368"/>
            <a:ext cx="384048" cy="384048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801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280160" y="1828800"/>
            <a:ext cx="1600200" cy="310896"/>
          </a:xfrm>
          <a:prstGeom prst="roundRect">
            <a:avLst>
              <a:gd name="adj" fmla="val 52941"/>
            </a:avLst>
          </a:prstGeom>
          <a:solidFill>
            <a:srgbClr val="1E1E24"/>
          </a:solidFill>
          <a:ln w="15875">
            <a:solidFill>
              <a:srgbClr val="D8A73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280160" y="182880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Y8 · LESSON 1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971800" y="1828800"/>
            <a:ext cx="1783080" cy="310896"/>
          </a:xfrm>
          <a:prstGeom prst="roundRect">
            <a:avLst>
              <a:gd name="adj" fmla="val 52941"/>
            </a:avLst>
          </a:prstGeom>
          <a:solidFill>
            <a:srgbClr val="1E1E24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971800" y="1828800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A, B OR C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2240280"/>
            <a:ext cx="4956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print() do?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2651760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D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pPr indent="0" marL="0">
              <a:buNone/>
            </a:pPr>
            <a:r>
              <a:rPr lang="en-US" sz="1800" b="1" dirty="0">
                <a:solidFill>
                  <a:srgbClr val="7FD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 text on the screen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2980944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Asks the user to type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3310128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Saves text into a file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3886200" y="2651760"/>
            <a:ext cx="1892808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input() is the one that asks the user</a:t>
            </a:r>
            <a:endParaRPr lang="en-US" sz="1800" dirty="0"/>
          </a:p>
        </p:txBody>
      </p:sp>
      <p:sp>
        <p:nvSpPr>
          <p:cNvPr id="16" name="q2"/>
          <p:cNvSpPr/>
          <p:nvPr/>
        </p:nvSpPr>
        <p:spPr>
          <a:xfrm>
            <a:off x="6236208" y="1600200"/>
            <a:ext cx="5413248" cy="2286000"/>
          </a:xfrm>
          <a:prstGeom prst="roundRect">
            <a:avLst>
              <a:gd name="adj" fmla="val 3200"/>
            </a:avLst>
          </a:prstGeom>
          <a:solidFill>
            <a:srgbClr val="2A2A32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64808" y="1801368"/>
            <a:ext cx="384048" cy="384048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64808" y="1801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967728" y="1828800"/>
            <a:ext cx="1600200" cy="310896"/>
          </a:xfrm>
          <a:prstGeom prst="roundRect">
            <a:avLst>
              <a:gd name="adj" fmla="val 52941"/>
            </a:avLst>
          </a:prstGeom>
          <a:solidFill>
            <a:srgbClr val="1E1E24"/>
          </a:solidFill>
          <a:ln w="15875">
            <a:solidFill>
              <a:srgbClr val="D8A73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967728" y="182880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Y8 · LESSON 2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659368" y="1828800"/>
            <a:ext cx="1783080" cy="310896"/>
          </a:xfrm>
          <a:prstGeom prst="roundRect">
            <a:avLst>
              <a:gd name="adj" fmla="val 52941"/>
            </a:avLst>
          </a:prstGeom>
          <a:solidFill>
            <a:srgbClr val="1E1E24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659368" y="1828800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A, B OR C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464808" y="2240280"/>
            <a:ext cx="4956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this print?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6464808" y="2651760"/>
            <a:ext cx="2286000" cy="1088136"/>
          </a:xfrm>
          <a:prstGeom prst="roundRect">
            <a:avLst>
              <a:gd name="adj" fmla="val 5042"/>
            </a:avLst>
          </a:prstGeom>
          <a:solidFill>
            <a:srgbClr val="111115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601968" y="2743200"/>
            <a:ext cx="2011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6601968" y="3044952"/>
            <a:ext cx="2011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6601968" y="3346704"/>
            <a:ext cx="2011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8979408" y="2651760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8979408" y="2980944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D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</a:t>
            </a:r>
            <a:pPr indent="0" marL="0">
              <a:buNone/>
            </a:pPr>
            <a:r>
              <a:rPr lang="en-US" sz="1800" b="1" dirty="0">
                <a:solidFill>
                  <a:srgbClr val="7FD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8979408" y="3310128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9756648" y="2651760"/>
            <a:ext cx="1709928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new value replaces the old one</a:t>
            </a:r>
            <a:endParaRPr lang="en-US" sz="1800" dirty="0"/>
          </a:p>
        </p:txBody>
      </p:sp>
      <p:sp>
        <p:nvSpPr>
          <p:cNvPr id="32" name="q3"/>
          <p:cNvSpPr/>
          <p:nvPr/>
        </p:nvSpPr>
        <p:spPr>
          <a:xfrm>
            <a:off x="548640" y="4023360"/>
            <a:ext cx="5413248" cy="2286000"/>
          </a:xfrm>
          <a:prstGeom prst="roundRect">
            <a:avLst>
              <a:gd name="adj" fmla="val 3200"/>
            </a:avLst>
          </a:prstGeom>
          <a:solidFill>
            <a:srgbClr val="2A2A32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77240" y="4224528"/>
            <a:ext cx="384048" cy="384048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77240" y="4224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1280160" y="4251960"/>
            <a:ext cx="1600200" cy="310896"/>
          </a:xfrm>
          <a:prstGeom prst="roundRect">
            <a:avLst>
              <a:gd name="adj" fmla="val 52941"/>
            </a:avLst>
          </a:prstGeom>
          <a:solidFill>
            <a:srgbClr val="1E1E24"/>
          </a:solidFill>
          <a:ln w="15875">
            <a:solidFill>
              <a:srgbClr val="D8A73D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1280160" y="425196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Y8 · LESSON 1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971800" y="4251960"/>
            <a:ext cx="1783080" cy="310896"/>
          </a:xfrm>
          <a:prstGeom prst="roundRect">
            <a:avLst>
              <a:gd name="adj" fmla="val 52941"/>
            </a:avLst>
          </a:prstGeom>
          <a:solidFill>
            <a:srgbClr val="1E1E24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2971800" y="4251960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IT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777240" y="4663440"/>
            <a:ext cx="4956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line crashes. What is missing?</a:t>
            </a:r>
            <a:endParaRPr lang="en-US" sz="2000" dirty="0"/>
          </a:p>
        </p:txBody>
      </p:sp>
      <p:sp>
        <p:nvSpPr>
          <p:cNvPr id="40" name="Shape 38"/>
          <p:cNvSpPr/>
          <p:nvPr/>
        </p:nvSpPr>
        <p:spPr>
          <a:xfrm>
            <a:off x="777240" y="5074920"/>
            <a:ext cx="4956048" cy="484632"/>
          </a:xfrm>
          <a:prstGeom prst="roundRect">
            <a:avLst>
              <a:gd name="adj" fmla="val 11321"/>
            </a:avLst>
          </a:prstGeom>
          <a:solidFill>
            <a:srgbClr val="111115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914400" y="5166360"/>
            <a:ext cx="4681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8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"Hello)</a:t>
            </a:r>
            <a:endParaRPr lang="en-US" sz="1800" dirty="0"/>
          </a:p>
        </p:txBody>
      </p:sp>
      <p:sp>
        <p:nvSpPr>
          <p:cNvPr id="42" name="Text 40"/>
          <p:cNvSpPr txBox="1"/>
          <p:nvPr/>
        </p:nvSpPr>
        <p:spPr>
          <a:xfrm>
            <a:off x="777240" y="5632704"/>
            <a:ext cx="4956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FD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closing quote mark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print("Hello")</a:t>
            </a:r>
            <a:endParaRPr lang="en-US" sz="2200" dirty="0"/>
          </a:p>
        </p:txBody>
      </p:sp>
      <p:sp>
        <p:nvSpPr>
          <p:cNvPr id="43" name="q4"/>
          <p:cNvSpPr/>
          <p:nvPr/>
        </p:nvSpPr>
        <p:spPr>
          <a:xfrm>
            <a:off x="6236208" y="4023360"/>
            <a:ext cx="5413248" cy="2286000"/>
          </a:xfrm>
          <a:prstGeom prst="roundRect">
            <a:avLst>
              <a:gd name="adj" fmla="val 3200"/>
            </a:avLst>
          </a:prstGeom>
          <a:solidFill>
            <a:srgbClr val="2A2A32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6464808" y="4224528"/>
            <a:ext cx="384048" cy="384048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6464808" y="4224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6967728" y="4251960"/>
            <a:ext cx="1600200" cy="310896"/>
          </a:xfrm>
          <a:prstGeom prst="roundRect">
            <a:avLst>
              <a:gd name="adj" fmla="val 52941"/>
            </a:avLst>
          </a:prstGeom>
          <a:solidFill>
            <a:srgbClr val="1E1E24"/>
          </a:solidFill>
          <a:ln w="15875">
            <a:solidFill>
              <a:srgbClr val="D8A73D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967728" y="425196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Y8 · LESSON 2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8659368" y="4251960"/>
            <a:ext cx="1783080" cy="310896"/>
          </a:xfrm>
          <a:prstGeom prst="roundRect">
            <a:avLst>
              <a:gd name="adj" fmla="val 52941"/>
            </a:avLst>
          </a:prstGeom>
          <a:solidFill>
            <a:srgbClr val="1E1E24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8659368" y="4251960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IT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6464808" y="4663440"/>
            <a:ext cx="4956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exactly what this prints.</a:t>
            </a:r>
            <a:endParaRPr lang="en-US" sz="2000" dirty="0"/>
          </a:p>
        </p:txBody>
      </p:sp>
      <p:sp>
        <p:nvSpPr>
          <p:cNvPr id="51" name="Shape 49"/>
          <p:cNvSpPr/>
          <p:nvPr/>
        </p:nvSpPr>
        <p:spPr>
          <a:xfrm>
            <a:off x="6464808" y="5074920"/>
            <a:ext cx="4956048" cy="786384"/>
          </a:xfrm>
          <a:prstGeom prst="roundRect">
            <a:avLst>
              <a:gd name="adj" fmla="val 6977"/>
            </a:avLst>
          </a:prstGeom>
          <a:solidFill>
            <a:srgbClr val="111115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6601968" y="5166360"/>
            <a:ext cx="4681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"Sam"</a:t>
            </a:r>
            <a:endParaRPr lang="en-US" sz="1800" dirty="0"/>
          </a:p>
        </p:txBody>
      </p:sp>
      <p:sp>
        <p:nvSpPr>
          <p:cNvPr id="53" name="Text 51"/>
          <p:cNvSpPr txBox="1"/>
          <p:nvPr/>
        </p:nvSpPr>
        <p:spPr>
          <a:xfrm>
            <a:off x="6601968" y="5468112"/>
            <a:ext cx="4681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8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"Hi "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800" dirty="0"/>
          </a:p>
        </p:txBody>
      </p:sp>
      <p:sp>
        <p:nvSpPr>
          <p:cNvPr id="54" name="Text 52"/>
          <p:cNvSpPr txBox="1"/>
          <p:nvPr/>
        </p:nvSpPr>
        <p:spPr>
          <a:xfrm>
            <a:off x="6464808" y="5934456"/>
            <a:ext cx="4956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FD9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 Sam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the space is inside the quotes</a:t>
            </a:r>
            <a:endParaRPr lang="en-US" sz="2200" dirty="0"/>
          </a:p>
        </p:txBody>
      </p:sp>
      <p:pic>
        <p:nvPicPr>
          <p:cNvPr id="55" name="Image 0" descr="Recap and reca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0" y="384048"/>
            <a:ext cx="731520" cy="731520"/>
          </a:xfrm>
          <a:prstGeom prst="rect">
            <a:avLst/>
          </a:prstGeom>
        </p:spPr>
      </p:pic>
      <p:sp>
        <p:nvSpPr>
          <p:cNvPr id="57" name="Text 53"/>
          <p:cNvSpPr txBox="1"/>
          <p:nvPr/>
        </p:nvSpPr>
        <p:spPr>
          <a:xfrm>
            <a:off x="4206240" y="6355080"/>
            <a:ext cx="6812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i="1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recallAnswers()  ·  Recap &amp; Recall answers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E6E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87452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Y9 PYTHON  ·  LESSON 1  ·  PYTHON REFRESH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28600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5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Station Zero</a:t>
            </a:r>
            <a:endParaRPr lang="en-US" sz="6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42900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A9A9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Chapter 1 — Wake Up</a:t>
            </a:r>
            <a:endParaRPr lang="en-US" sz="2800" dirty="0"/>
          </a:p>
        </p:txBody>
      </p:sp>
      <p:sp>
        <p:nvSpPr>
          <p:cNvPr id="5" name="terminal"/>
          <p:cNvSpPr/>
          <p:nvPr/>
        </p:nvSpPr>
        <p:spPr>
          <a:xfrm>
            <a:off x="6903720" y="1600200"/>
            <a:ext cx="4663440" cy="2809240"/>
          </a:xfrm>
          <a:prstGeom prst="roundRect">
            <a:avLst>
              <a:gd name="adj" fmla="val 2604"/>
            </a:avLst>
          </a:prstGeom>
          <a:solidFill>
            <a:srgbClr val="0D1310"/>
          </a:solidFill>
          <a:ln w="15875">
            <a:solidFill>
              <a:srgbClr val="2C443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0" y="178308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FD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 STATUS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132320" y="2148840"/>
            <a:ext cx="420624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7FD9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SOFTWARE ....... WIPED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7132320" y="2555240"/>
            <a:ext cx="420624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7FD9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DOORS .......... SEALED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7132320" y="2961640"/>
            <a:ext cx="420624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7FD9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CREW AWAKE ..... 1 OF 5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7132320" y="3368040"/>
            <a:ext cx="420624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7FD9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POD 2 .......... </a:t>
            </a:r>
            <a:pPr indent="0" marL="0">
              <a:buNone/>
            </a:pPr>
            <a:r>
              <a:rPr lang="en-US" sz="2000" b="1" dirty="0">
                <a:solidFill>
                  <a:srgbClr val="D8A7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7132320" y="3774440"/>
            <a:ext cx="420624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7FD9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_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4206240" y="6355080"/>
            <a:ext cx="6812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i="1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titleSlide()  ·  Title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5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are we learning?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11091672" cy="1417320"/>
          </a:xfrm>
          <a:prstGeom prst="roundRect">
            <a:avLst>
              <a:gd name="adj" fmla="val 5161"/>
            </a:avLst>
          </a:prstGeom>
          <a:solidFill>
            <a:srgbClr val="1E1E24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1783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E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QUESTION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10312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we write programs that make decisions, repeat and reuse code?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48640" y="3291840"/>
            <a:ext cx="11091672" cy="2331720"/>
          </a:xfrm>
          <a:prstGeom prst="roundRect">
            <a:avLst>
              <a:gd name="adj" fmla="val 3137"/>
            </a:avLst>
          </a:prstGeom>
          <a:solidFill>
            <a:srgbClr val="2A2A32"/>
          </a:solidFill>
          <a:ln w="31750">
            <a:solidFill>
              <a:srgbClr val="D8A73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35204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QUESTION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3886200"/>
            <a:ext cx="10332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5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do we ask for, store and calculate with what a user types?</a:t>
            </a:r>
            <a:endParaRPr lang="en-US" sz="3600" dirty="0"/>
          </a:p>
        </p:txBody>
      </p:sp>
      <p:pic>
        <p:nvPicPr>
          <p:cNvPr id="9" name="Image 0" descr="Clarity of learning intentio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0" y="384048"/>
            <a:ext cx="731520" cy="7315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206240" y="6355080"/>
            <a:ext cx="6812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i="1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questionsSlide()  ·  Topic + lesson question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E6E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5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Ask → store → join → output</a:t>
            </a:r>
            <a:endParaRPr lang="en-US" sz="3600" dirty="0"/>
          </a:p>
        </p:txBody>
      </p:sp>
      <p:sp>
        <p:nvSpPr>
          <p:cNvPr id="3" name="line1"/>
          <p:cNvSpPr/>
          <p:nvPr/>
        </p:nvSpPr>
        <p:spPr>
          <a:xfrm>
            <a:off x="548640" y="1554480"/>
            <a:ext cx="6492240" cy="2057400"/>
          </a:xfrm>
          <a:prstGeom prst="roundRect">
            <a:avLst>
              <a:gd name="adj" fmla="val 3556"/>
            </a:avLst>
          </a:prstGeom>
          <a:solidFill>
            <a:srgbClr val="111115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68680" y="16916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E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1965960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pPr indent="0" marL="0">
              <a:buNone/>
            </a:pPr>
            <a:r>
              <a:rPr lang="en-US" sz="26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6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26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6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pPr indent="0" marL="0">
              <a:buNone/>
            </a:pPr>
            <a:r>
              <a:rPr lang="en-US" sz="26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6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"Name? "</a:t>
            </a:r>
            <a:pPr indent="0" marL="0">
              <a:buNone/>
            </a:pPr>
            <a:r>
              <a:rPr lang="en-US" sz="26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896112" y="2560320"/>
            <a:ext cx="1034796" cy="0"/>
          </a:xfrm>
          <a:prstGeom prst="line">
            <a:avLst/>
          </a:prstGeom>
          <a:noFill/>
          <a:ln w="25400">
            <a:solidFill>
              <a:srgbClr val="D8A73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96112" y="2468880"/>
            <a:ext cx="0" cy="91440"/>
          </a:xfrm>
          <a:prstGeom prst="line">
            <a:avLst/>
          </a:prstGeom>
          <a:noFill/>
          <a:ln w="25400">
            <a:solidFill>
              <a:srgbClr val="D8A73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930908" y="2468880"/>
            <a:ext cx="0" cy="91440"/>
          </a:xfrm>
          <a:prstGeom prst="line">
            <a:avLst/>
          </a:prstGeom>
          <a:noFill/>
          <a:ln w="25400">
            <a:solidFill>
              <a:srgbClr val="D8A73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413510" y="2560320"/>
            <a:ext cx="0" cy="182880"/>
          </a:xfrm>
          <a:prstGeom prst="line">
            <a:avLst/>
          </a:prstGeom>
          <a:noFill/>
          <a:ln w="25400">
            <a:solidFill>
              <a:srgbClr val="D8A7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221486" y="2743200"/>
            <a:ext cx="384048" cy="384048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221486" y="2743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90550" y="31546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8A7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Store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2167382" y="2560320"/>
            <a:ext cx="2669286" cy="0"/>
          </a:xfrm>
          <a:prstGeom prst="line">
            <a:avLst/>
          </a:prstGeom>
          <a:noFill/>
          <a:ln w="25400">
            <a:solidFill>
              <a:srgbClr val="D8A73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167382" y="2468880"/>
            <a:ext cx="0" cy="91440"/>
          </a:xfrm>
          <a:prstGeom prst="line">
            <a:avLst/>
          </a:prstGeom>
          <a:noFill/>
          <a:ln w="25400">
            <a:solidFill>
              <a:srgbClr val="D8A73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836668" y="2468880"/>
            <a:ext cx="0" cy="91440"/>
          </a:xfrm>
          <a:prstGeom prst="line">
            <a:avLst/>
          </a:prstGeom>
          <a:noFill/>
          <a:ln w="25400">
            <a:solidFill>
              <a:srgbClr val="D8A73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502025" y="2560320"/>
            <a:ext cx="0" cy="182880"/>
          </a:xfrm>
          <a:prstGeom prst="line">
            <a:avLst/>
          </a:prstGeom>
          <a:noFill/>
          <a:ln w="25400">
            <a:solidFill>
              <a:srgbClr val="D8A73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310001" y="2743200"/>
            <a:ext cx="384048" cy="384048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310001" y="2743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2679065" y="31546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8A7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Ask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7360920" y="1828800"/>
            <a:ext cx="384048" cy="384048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360920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22" name="terminal"/>
          <p:cNvSpPr/>
          <p:nvPr/>
        </p:nvSpPr>
        <p:spPr>
          <a:xfrm>
            <a:off x="7909560" y="1645920"/>
            <a:ext cx="3730752" cy="731520"/>
          </a:xfrm>
          <a:prstGeom prst="roundRect">
            <a:avLst>
              <a:gd name="adj" fmla="val 10000"/>
            </a:avLst>
          </a:prstGeom>
          <a:solidFill>
            <a:srgbClr val="0A0A0D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138160" y="1874520"/>
            <a:ext cx="3273552" cy="447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Name? </a:t>
            </a:r>
            <a:pPr indent="0" marL="0">
              <a:buNone/>
            </a:pPr>
            <a:r>
              <a:rPr lang="en-US" sz="2200" b="1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Riley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7360920" y="2880360"/>
            <a:ext cx="384048" cy="384048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36092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7909560" y="2788920"/>
            <a:ext cx="2377440" cy="777240"/>
          </a:xfrm>
          <a:prstGeom prst="roundRect">
            <a:avLst>
              <a:gd name="adj" fmla="val 7059"/>
            </a:avLst>
          </a:prstGeom>
          <a:solidFill>
            <a:srgbClr val="111115"/>
          </a:solidFill>
          <a:ln w="25400">
            <a:solidFill>
              <a:srgbClr val="E69F0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046720" y="2606040"/>
            <a:ext cx="1481328" cy="347472"/>
          </a:xfrm>
          <a:prstGeom prst="roundRect">
            <a:avLst>
              <a:gd name="adj" fmla="val 13158"/>
            </a:avLst>
          </a:prstGeom>
          <a:solidFill>
            <a:srgbClr val="E69F00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046720" y="2606040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1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  ·  str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8001000" y="297180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"Riley"</a:t>
            </a:r>
            <a:endParaRPr lang="en-US" sz="2600" dirty="0"/>
          </a:p>
        </p:txBody>
      </p:sp>
      <p:sp>
        <p:nvSpPr>
          <p:cNvPr id="30" name="line2"/>
          <p:cNvSpPr/>
          <p:nvPr/>
        </p:nvSpPr>
        <p:spPr>
          <a:xfrm>
            <a:off x="548640" y="3840480"/>
            <a:ext cx="6492240" cy="2057400"/>
          </a:xfrm>
          <a:prstGeom prst="roundRect">
            <a:avLst>
              <a:gd name="adj" fmla="val 3556"/>
            </a:avLst>
          </a:prstGeom>
          <a:solidFill>
            <a:srgbClr val="111115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68680" y="39776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E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2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868680" y="4251960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26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6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"Hi "</a:t>
            </a:r>
            <a:pPr indent="0" marL="0">
              <a:buNone/>
            </a:pPr>
            <a:r>
              <a:rPr lang="en-US" sz="26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6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pPr indent="0" marL="0">
              <a:buNone/>
            </a:pPr>
            <a:r>
              <a:rPr lang="en-US" sz="26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6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pPr indent="0" marL="0">
              <a:buNone/>
            </a:pPr>
            <a:r>
              <a:rPr lang="en-US" sz="26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600" dirty="0"/>
          </a:p>
        </p:txBody>
      </p:sp>
      <p:sp>
        <p:nvSpPr>
          <p:cNvPr id="33" name="Shape 31"/>
          <p:cNvSpPr/>
          <p:nvPr/>
        </p:nvSpPr>
        <p:spPr>
          <a:xfrm>
            <a:off x="896112" y="4846320"/>
            <a:ext cx="853186" cy="0"/>
          </a:xfrm>
          <a:prstGeom prst="line">
            <a:avLst/>
          </a:prstGeom>
          <a:noFill/>
          <a:ln w="25400">
            <a:solidFill>
              <a:srgbClr val="D8A73D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96112" y="4754880"/>
            <a:ext cx="0" cy="91440"/>
          </a:xfrm>
          <a:prstGeom prst="line">
            <a:avLst/>
          </a:prstGeom>
          <a:noFill/>
          <a:ln w="25400">
            <a:solidFill>
              <a:srgbClr val="D8A73D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749298" y="4754880"/>
            <a:ext cx="0" cy="91440"/>
          </a:xfrm>
          <a:prstGeom prst="line">
            <a:avLst/>
          </a:prstGeom>
          <a:noFill/>
          <a:ln w="25400">
            <a:solidFill>
              <a:srgbClr val="D8A73D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322705" y="4846320"/>
            <a:ext cx="0" cy="182880"/>
          </a:xfrm>
          <a:prstGeom prst="line">
            <a:avLst/>
          </a:prstGeom>
          <a:noFill/>
          <a:ln w="25400">
            <a:solidFill>
              <a:srgbClr val="D8A73D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130681" y="5029200"/>
            <a:ext cx="384048" cy="384048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1130681" y="5029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39" name="Text 37"/>
          <p:cNvSpPr txBox="1"/>
          <p:nvPr/>
        </p:nvSpPr>
        <p:spPr>
          <a:xfrm>
            <a:off x="499745" y="54406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8A7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Output</a:t>
            </a:r>
            <a:endParaRPr lang="en-US" sz="2200" dirty="0"/>
          </a:p>
        </p:txBody>
      </p:sp>
      <p:sp>
        <p:nvSpPr>
          <p:cNvPr id="40" name="Shape 38"/>
          <p:cNvSpPr/>
          <p:nvPr/>
        </p:nvSpPr>
        <p:spPr>
          <a:xfrm>
            <a:off x="1985772" y="4846320"/>
            <a:ext cx="2124456" cy="0"/>
          </a:xfrm>
          <a:prstGeom prst="line">
            <a:avLst/>
          </a:prstGeom>
          <a:noFill/>
          <a:ln w="25400">
            <a:solidFill>
              <a:srgbClr val="D8A73D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985772" y="4754880"/>
            <a:ext cx="0" cy="91440"/>
          </a:xfrm>
          <a:prstGeom prst="line">
            <a:avLst/>
          </a:prstGeom>
          <a:noFill/>
          <a:ln w="25400">
            <a:solidFill>
              <a:srgbClr val="D8A73D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110228" y="4754880"/>
            <a:ext cx="0" cy="91440"/>
          </a:xfrm>
          <a:prstGeom prst="line">
            <a:avLst/>
          </a:prstGeom>
          <a:noFill/>
          <a:ln w="25400">
            <a:solidFill>
              <a:srgbClr val="D8A73D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048000" y="4846320"/>
            <a:ext cx="0" cy="182880"/>
          </a:xfrm>
          <a:prstGeom prst="line">
            <a:avLst/>
          </a:prstGeom>
          <a:noFill/>
          <a:ln w="25400">
            <a:solidFill>
              <a:srgbClr val="D8A73D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855976" y="5029200"/>
            <a:ext cx="384048" cy="384048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2855976" y="5029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46" name="Text 44"/>
          <p:cNvSpPr txBox="1"/>
          <p:nvPr/>
        </p:nvSpPr>
        <p:spPr>
          <a:xfrm>
            <a:off x="2225040" y="54406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8A7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Join</a:t>
            </a:r>
            <a:endParaRPr lang="en-US" sz="2200" dirty="0"/>
          </a:p>
        </p:txBody>
      </p:sp>
      <p:sp>
        <p:nvSpPr>
          <p:cNvPr id="47" name="Shape 45"/>
          <p:cNvSpPr/>
          <p:nvPr/>
        </p:nvSpPr>
        <p:spPr>
          <a:xfrm>
            <a:off x="7360920" y="4114800"/>
            <a:ext cx="384048" cy="384048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7360920" y="4114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49" name="Shape 47"/>
          <p:cNvSpPr/>
          <p:nvPr/>
        </p:nvSpPr>
        <p:spPr>
          <a:xfrm>
            <a:off x="7909560" y="4023360"/>
            <a:ext cx="2377440" cy="777240"/>
          </a:xfrm>
          <a:prstGeom prst="roundRect">
            <a:avLst>
              <a:gd name="adj" fmla="val 7059"/>
            </a:avLst>
          </a:prstGeom>
          <a:solidFill>
            <a:srgbClr val="111115"/>
          </a:solidFill>
          <a:ln w="25400">
            <a:solidFill>
              <a:srgbClr val="E69F0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046720" y="3840480"/>
            <a:ext cx="822960" cy="347472"/>
          </a:xfrm>
          <a:prstGeom prst="roundRect">
            <a:avLst>
              <a:gd name="adj" fmla="val 13158"/>
            </a:avLst>
          </a:prstGeom>
          <a:solidFill>
            <a:srgbClr val="E69F00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8046720" y="3840480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1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8001000" y="42062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"Hi Riley"</a:t>
            </a:r>
            <a:endParaRPr lang="en-US" sz="2400" dirty="0"/>
          </a:p>
        </p:txBody>
      </p:sp>
      <p:sp>
        <p:nvSpPr>
          <p:cNvPr id="53" name="Shape 51"/>
          <p:cNvSpPr/>
          <p:nvPr/>
        </p:nvSpPr>
        <p:spPr>
          <a:xfrm>
            <a:off x="7360920" y="5166360"/>
            <a:ext cx="384048" cy="384048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7360920" y="5166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55" name="terminal"/>
          <p:cNvSpPr/>
          <p:nvPr/>
        </p:nvSpPr>
        <p:spPr>
          <a:xfrm>
            <a:off x="7909560" y="4983480"/>
            <a:ext cx="3730752" cy="731520"/>
          </a:xfrm>
          <a:prstGeom prst="roundRect">
            <a:avLst>
              <a:gd name="adj" fmla="val 10000"/>
            </a:avLst>
          </a:prstGeom>
          <a:solidFill>
            <a:srgbClr val="0A0A0D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8138160" y="5212080"/>
            <a:ext cx="3273552" cy="447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 Riley</a:t>
            </a:r>
            <a:endParaRPr lang="en-US" sz="2200" dirty="0"/>
          </a:p>
        </p:txBody>
      </p:sp>
      <p:pic>
        <p:nvPicPr>
          <p:cNvPr id="57" name="Image 0" descr="New inform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0" y="384048"/>
            <a:ext cx="731520" cy="731520"/>
          </a:xfrm>
          <a:prstGeom prst="rect">
            <a:avLst/>
          </a:prstGeom>
        </p:spPr>
      </p:pic>
      <p:sp>
        <p:nvSpPr>
          <p:cNvPr id="59" name="Text 55"/>
          <p:cNvSpPr txBox="1"/>
          <p:nvPr/>
        </p:nvSpPr>
        <p:spPr>
          <a:xfrm>
            <a:off x="4206240" y="6355080"/>
            <a:ext cx="6812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i="1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labelledLinesSlide()  ·  Whole lines with sub-goal labels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E6E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5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Quotes: the word, or what’s stored?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44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E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MEMORY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2377440" cy="868680"/>
          </a:xfrm>
          <a:prstGeom prst="roundRect">
            <a:avLst>
              <a:gd name="adj" fmla="val 6316"/>
            </a:avLst>
          </a:prstGeom>
          <a:solidFill>
            <a:srgbClr val="111115"/>
          </a:solidFill>
          <a:ln w="25400">
            <a:solidFill>
              <a:srgbClr val="E69F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965960"/>
            <a:ext cx="1481328" cy="347472"/>
          </a:xfrm>
          <a:prstGeom prst="roundRect">
            <a:avLst>
              <a:gd name="adj" fmla="val 13158"/>
            </a:avLst>
          </a:prstGeom>
          <a:solidFill>
            <a:srgbClr val="E69F0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965960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1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  ·  str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3317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"Riley"</a:t>
            </a:r>
            <a:endParaRPr lang="en-US" sz="2600" dirty="0"/>
          </a:p>
        </p:txBody>
      </p:sp>
      <p:sp>
        <p:nvSpPr>
          <p:cNvPr id="8" name="code"/>
          <p:cNvSpPr/>
          <p:nvPr/>
        </p:nvSpPr>
        <p:spPr>
          <a:xfrm>
            <a:off x="548640" y="3429000"/>
            <a:ext cx="3566160" cy="868680"/>
          </a:xfrm>
          <a:prstGeom prst="roundRect">
            <a:avLst>
              <a:gd name="adj" fmla="val 8421"/>
            </a:avLst>
          </a:prstGeom>
          <a:solidFill>
            <a:srgbClr val="111115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3630168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24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4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"name"</a:t>
            </a:r>
            <a:pPr indent="0" marL="0">
              <a:buNone/>
            </a:pPr>
            <a:r>
              <a:rPr lang="en-US" sz="24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4251960" y="3858768"/>
            <a:ext cx="640080" cy="0"/>
          </a:xfrm>
          <a:prstGeom prst="line">
            <a:avLst/>
          </a:prstGeom>
          <a:noFill/>
          <a:ln w="28575">
            <a:solidFill>
              <a:srgbClr val="A9A9B4"/>
            </a:solidFill>
            <a:prstDash val="solid"/>
            <a:tailEnd type="triangle"/>
          </a:ln>
        </p:spPr>
      </p:sp>
      <p:sp>
        <p:nvSpPr>
          <p:cNvPr id="11" name="terminal"/>
          <p:cNvSpPr/>
          <p:nvPr/>
        </p:nvSpPr>
        <p:spPr>
          <a:xfrm>
            <a:off x="5029200" y="3429000"/>
            <a:ext cx="2194560" cy="868680"/>
          </a:xfrm>
          <a:prstGeom prst="roundRect">
            <a:avLst>
              <a:gd name="adj" fmla="val 8421"/>
            </a:avLst>
          </a:prstGeom>
          <a:solidFill>
            <a:srgbClr val="0A0A0D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257800" y="3657600"/>
            <a:ext cx="17373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7543800" y="3429000"/>
            <a:ext cx="4114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9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quotes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printed exactly as written</a:t>
            </a:r>
            <a:endParaRPr lang="en-US" sz="2200" dirty="0"/>
          </a:p>
        </p:txBody>
      </p:sp>
      <p:sp>
        <p:nvSpPr>
          <p:cNvPr id="14" name="code"/>
          <p:cNvSpPr/>
          <p:nvPr/>
        </p:nvSpPr>
        <p:spPr>
          <a:xfrm>
            <a:off x="548640" y="4663440"/>
            <a:ext cx="3566160" cy="868680"/>
          </a:xfrm>
          <a:prstGeom prst="roundRect">
            <a:avLst>
              <a:gd name="adj" fmla="val 8421"/>
            </a:avLst>
          </a:prstGeom>
          <a:solidFill>
            <a:srgbClr val="111115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4864608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24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4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pPr indent="0" marL="0">
              <a:buNone/>
            </a:pPr>
            <a:r>
              <a:rPr lang="en-US" sz="24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4251960" y="5093208"/>
            <a:ext cx="640080" cy="0"/>
          </a:xfrm>
          <a:prstGeom prst="line">
            <a:avLst/>
          </a:prstGeom>
          <a:noFill/>
          <a:ln w="28575">
            <a:solidFill>
              <a:srgbClr val="A9A9B4"/>
            </a:solidFill>
            <a:prstDash val="solid"/>
            <a:tailEnd type="triangle"/>
          </a:ln>
        </p:spPr>
      </p:sp>
      <p:sp>
        <p:nvSpPr>
          <p:cNvPr id="17" name="terminal"/>
          <p:cNvSpPr/>
          <p:nvPr/>
        </p:nvSpPr>
        <p:spPr>
          <a:xfrm>
            <a:off x="5029200" y="4663440"/>
            <a:ext cx="2194560" cy="868680"/>
          </a:xfrm>
          <a:prstGeom prst="roundRect">
            <a:avLst>
              <a:gd name="adj" fmla="val 8421"/>
            </a:avLst>
          </a:prstGeom>
          <a:solidFill>
            <a:srgbClr val="0A0A0D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257800" y="4892040"/>
            <a:ext cx="17373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Riley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7543800" y="4663440"/>
            <a:ext cx="4114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quotes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prints what’s stored inside</a:t>
            </a:r>
            <a:endParaRPr lang="en-US" sz="2200" dirty="0"/>
          </a:p>
        </p:txBody>
      </p:sp>
      <p:pic>
        <p:nvPicPr>
          <p:cNvPr id="20" name="Image 0" descr="New inform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0" y="384048"/>
            <a:ext cx="731520" cy="731520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4206240" y="6355080"/>
            <a:ext cx="6812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i="1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pairSlide()  ·  Discriminating pair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E6E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5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</a:t>
            </a:r>
            <a:endParaRPr lang="en-US" sz="3600" dirty="0"/>
          </a:p>
        </p:txBody>
      </p:sp>
      <p:sp>
        <p:nvSpPr>
          <p:cNvPr id="3" name="code"/>
          <p:cNvSpPr/>
          <p:nvPr/>
        </p:nvSpPr>
        <p:spPr>
          <a:xfrm>
            <a:off x="548640" y="1600200"/>
            <a:ext cx="7040880" cy="2246376"/>
          </a:xfrm>
          <a:prstGeom prst="roundRect">
            <a:avLst>
              <a:gd name="adj" fmla="val 3256"/>
            </a:avLst>
          </a:prstGeom>
          <a:solidFill>
            <a:srgbClr val="111115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1801368"/>
            <a:ext cx="274320" cy="461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801368"/>
            <a:ext cx="6309360" cy="461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room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2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"Which room? "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2262378"/>
            <a:ext cx="274320" cy="461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2262378"/>
            <a:ext cx="6309360" cy="461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level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2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"Which level? "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2723388"/>
            <a:ext cx="274320" cy="461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2723388"/>
            <a:ext cx="6309360" cy="461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2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"Scanning..."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3184398"/>
            <a:ext cx="274320" cy="461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3184398"/>
            <a:ext cx="6309360" cy="461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room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 on level "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level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7909560" y="1600200"/>
            <a:ext cx="3730752" cy="1947672"/>
          </a:xfrm>
          <a:prstGeom prst="roundRect">
            <a:avLst>
              <a:gd name="adj" fmla="val 3756"/>
            </a:avLst>
          </a:prstGeom>
          <a:solidFill>
            <a:srgbClr val="2A2A3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183880" y="17830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E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USER TYPES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183880" y="214884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1st   </a:t>
            </a:r>
            <a:pPr indent="0" marL="0">
              <a:buNone/>
            </a:pPr>
            <a:r>
              <a:rPr lang="en-US" sz="2800" b="1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Medbay</a:t>
            </a:r>
            <a:endParaRPr lang="en-US" sz="2800" dirty="0"/>
          </a:p>
        </p:txBody>
      </p:sp>
      <p:sp>
        <p:nvSpPr>
          <p:cNvPr id="15" name="Text 13"/>
          <p:cNvSpPr txBox="1"/>
          <p:nvPr/>
        </p:nvSpPr>
        <p:spPr>
          <a:xfrm>
            <a:off x="8183880" y="26974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2nd   </a:t>
            </a:r>
            <a:pPr indent="0" marL="0">
              <a:buNone/>
            </a:pPr>
            <a:r>
              <a:rPr lang="en-US" sz="2800" b="1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548640" y="4160520"/>
            <a:ext cx="11091672" cy="1280160"/>
          </a:xfrm>
          <a:prstGeom prst="roundRect">
            <a:avLst>
              <a:gd name="adj" fmla="val 5714"/>
            </a:avLst>
          </a:prstGeom>
          <a:solidFill>
            <a:srgbClr val="1E1E24"/>
          </a:solidFill>
          <a:ln w="25400">
            <a:solidFill>
              <a:srgbClr val="D8A73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14400" y="4160520"/>
            <a:ext cx="10332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your whiteboard: </a:t>
            </a:r>
            <a:pPr indent="0" marL="0">
              <a:buNone/>
            </a:pPr>
            <a:r>
              <a:rPr lang="en-US" sz="25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exact last line this program prints.</a:t>
            </a:r>
            <a:endParaRPr lang="en-US" sz="2500" dirty="0"/>
          </a:p>
        </p:txBody>
      </p:sp>
      <p:sp>
        <p:nvSpPr>
          <p:cNvPr id="18" name="Shape 16"/>
          <p:cNvSpPr/>
          <p:nvPr/>
        </p:nvSpPr>
        <p:spPr>
          <a:xfrm>
            <a:off x="9464040" y="566928"/>
            <a:ext cx="1280160" cy="329184"/>
          </a:xfrm>
          <a:prstGeom prst="roundRect">
            <a:avLst>
              <a:gd name="adj" fmla="val 50000"/>
            </a:avLst>
          </a:prstGeom>
          <a:solidFill>
            <a:srgbClr val="1E1E24"/>
          </a:solidFill>
          <a:ln w="15875">
            <a:solidFill>
              <a:srgbClr val="D8A73D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464040" y="566928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 2 MIN</a:t>
            </a:r>
            <a:endParaRPr lang="en-US" sz="1400" dirty="0"/>
          </a:p>
        </p:txBody>
      </p:sp>
      <p:pic>
        <p:nvPicPr>
          <p:cNvPr id="20" name="Image 0" descr="Deliberate practi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0" y="384048"/>
            <a:ext cx="731520" cy="731520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4206240" y="6355080"/>
            <a:ext cx="6812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i="1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predictSlide()  ·  Predict (mini-whiteboards)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E6E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5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 — what it prints</a:t>
            </a:r>
            <a:endParaRPr lang="en-US" sz="3600" dirty="0"/>
          </a:p>
        </p:txBody>
      </p:sp>
      <p:sp>
        <p:nvSpPr>
          <p:cNvPr id="3" name="code"/>
          <p:cNvSpPr/>
          <p:nvPr/>
        </p:nvSpPr>
        <p:spPr>
          <a:xfrm>
            <a:off x="548640" y="1600200"/>
            <a:ext cx="7040880" cy="2246376"/>
          </a:xfrm>
          <a:prstGeom prst="roundRect">
            <a:avLst>
              <a:gd name="adj" fmla="val 3256"/>
            </a:avLst>
          </a:prstGeom>
          <a:solidFill>
            <a:srgbClr val="111115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1801368"/>
            <a:ext cx="274320" cy="461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801368"/>
            <a:ext cx="6309360" cy="461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room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2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"Which room? "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2262378"/>
            <a:ext cx="274320" cy="461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2262378"/>
            <a:ext cx="6309360" cy="461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level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2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"Which level? "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2723388"/>
            <a:ext cx="274320" cy="461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2723388"/>
            <a:ext cx="6309360" cy="461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2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"Scanning..."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603504" y="3184398"/>
            <a:ext cx="6931152" cy="461010"/>
          </a:xfrm>
          <a:prstGeom prst="rect">
            <a:avLst/>
          </a:prstGeom>
          <a:solidFill>
            <a:srgbClr val="2B261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58368" y="3184398"/>
            <a:ext cx="274320" cy="461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188720" y="3184398"/>
            <a:ext cx="6309360" cy="461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room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 on level "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level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200" dirty="0"/>
          </a:p>
        </p:txBody>
      </p:sp>
      <p:sp>
        <p:nvSpPr>
          <p:cNvPr id="13" name="terminal"/>
          <p:cNvSpPr/>
          <p:nvPr/>
        </p:nvSpPr>
        <p:spPr>
          <a:xfrm>
            <a:off x="7909560" y="1600200"/>
            <a:ext cx="3730752" cy="2402840"/>
          </a:xfrm>
          <a:prstGeom prst="roundRect">
            <a:avLst>
              <a:gd name="adj" fmla="val 3044"/>
            </a:avLst>
          </a:prstGeom>
          <a:solidFill>
            <a:srgbClr val="0A0A0D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138160" y="1783080"/>
            <a:ext cx="3273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138160" y="2148840"/>
            <a:ext cx="3273552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Which room? </a:t>
            </a:r>
            <a:pPr indent="0" marL="0">
              <a:buNone/>
            </a:pPr>
            <a:r>
              <a:rPr lang="en-US" sz="20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Medbay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8138160" y="2555240"/>
            <a:ext cx="3273552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Which level? </a:t>
            </a:r>
            <a:pPr indent="0" marL="0">
              <a:buNone/>
            </a:pPr>
            <a:r>
              <a:rPr lang="en-US" sz="20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8138160" y="2961640"/>
            <a:ext cx="3273552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Scanning...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8138160" y="3368040"/>
            <a:ext cx="3273552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8A7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Medbay on level 3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4206240"/>
            <a:ext cx="5394960" cy="1508760"/>
          </a:xfrm>
          <a:prstGeom prst="roundRect">
            <a:avLst>
              <a:gd name="adj" fmla="val 4848"/>
            </a:avLst>
          </a:prstGeom>
          <a:solidFill>
            <a:srgbClr val="2A2A3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2960" y="4206240"/>
            <a:ext cx="49377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FF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✗  room on level level</a:t>
            </a:r>
            <a:pPr indent="0" marL="0">
              <a:spcAft>
                <a:spcPts val="600"/>
              </a:spcAft>
              <a:buNone/>
            </a:pP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quotes → Python prints what’s stored, not the name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6245352" y="4206240"/>
            <a:ext cx="5394960" cy="1508760"/>
          </a:xfrm>
          <a:prstGeom prst="roundRect">
            <a:avLst>
              <a:gd name="adj" fmla="val 4848"/>
            </a:avLst>
          </a:prstGeom>
          <a:solidFill>
            <a:srgbClr val="2A2A3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19672" y="4206240"/>
            <a:ext cx="49377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 on level "</a:t>
            </a:r>
            <a:pPr indent="0" marL="0">
              <a:spcAft>
                <a:spcPts val="600"/>
              </a:spcAft>
              <a:buNone/>
            </a:pP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spaces come from inside the quotes</a:t>
            </a:r>
            <a:endParaRPr lang="en-US" sz="2000" dirty="0"/>
          </a:p>
        </p:txBody>
      </p:sp>
      <p:pic>
        <p:nvPicPr>
          <p:cNvPr id="23" name="Image 0" descr="Feedba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0" y="384048"/>
            <a:ext cx="731520" cy="731520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4206240" y="6355080"/>
            <a:ext cx="6812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i="1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predictRevealSlide()  ·  Predict reveal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E6E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5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 — trace it</a:t>
            </a:r>
            <a:endParaRPr lang="en-US" sz="3600" dirty="0"/>
          </a:p>
        </p:txBody>
      </p:sp>
      <p:sp>
        <p:nvSpPr>
          <p:cNvPr id="3" name="code"/>
          <p:cNvSpPr/>
          <p:nvPr/>
        </p:nvSpPr>
        <p:spPr>
          <a:xfrm>
            <a:off x="548640" y="1508760"/>
            <a:ext cx="8046720" cy="1785366"/>
          </a:xfrm>
          <a:prstGeom prst="roundRect">
            <a:avLst>
              <a:gd name="adj" fmla="val 4097"/>
            </a:avLst>
          </a:prstGeom>
          <a:solidFill>
            <a:srgbClr val="111115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1709928"/>
            <a:ext cx="274320" cy="461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709928"/>
            <a:ext cx="7315200" cy="461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battery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2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2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"Battery %: "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2170938"/>
            <a:ext cx="274320" cy="461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2170938"/>
            <a:ext cx="7315200" cy="461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battery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battery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2631948"/>
            <a:ext cx="274320" cy="461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2631948"/>
            <a:ext cx="7315200" cy="461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2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"Power left: "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battery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"%"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8823960" y="1508760"/>
            <a:ext cx="2816352" cy="1719072"/>
          </a:xfrm>
          <a:prstGeom prst="roundRect">
            <a:avLst>
              <a:gd name="adj" fmla="val 4255"/>
            </a:avLst>
          </a:prstGeom>
          <a:solidFill>
            <a:srgbClr val="2A2A3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052560" y="16916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E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USER TYPES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9052560" y="205740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80</a:t>
            </a:r>
            <a:endParaRPr lang="en-US" sz="4000" dirty="0"/>
          </a:p>
        </p:txBody>
      </p:sp>
      <p:sp>
        <p:nvSpPr>
          <p:cNvPr id="13" name="Shape 11"/>
          <p:cNvSpPr/>
          <p:nvPr/>
        </p:nvSpPr>
        <p:spPr>
          <a:xfrm>
            <a:off x="9464040" y="566928"/>
            <a:ext cx="1280160" cy="329184"/>
          </a:xfrm>
          <a:prstGeom prst="roundRect">
            <a:avLst>
              <a:gd name="adj" fmla="val 50000"/>
            </a:avLst>
          </a:prstGeom>
          <a:solidFill>
            <a:srgbClr val="1E1E24"/>
          </a:solidFill>
          <a:ln w="15875">
            <a:solidFill>
              <a:srgbClr val="D8A73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464040" y="566928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 3 MIN</a:t>
            </a:r>
            <a:endParaRPr lang="en-US" sz="1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40480"/>
          <a:ext cx="11091672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2377440"/>
                <a:gridCol w="7434072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D8A7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36576" marB="36576" anchor="ctr">
                    <a:lnL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56B4E9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battery</a:t>
                      </a:r>
                      <a:endParaRPr lang="en-US" sz="2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37160" marR="137160" marT="36576" marB="36576" anchor="ctr">
                    <a:lnL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D8A7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Output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36576" marB="36576" anchor="ctr">
                    <a:lnL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3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A9A9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36576" marB="36576" anchor="ctr">
                    <a:lnL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2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2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37160" marR="137160" marT="36576" marB="36576" anchor="ctr">
                    <a:lnL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2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2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37160" marR="137160" marT="36576" marB="36576" anchor="ctr">
                    <a:lnL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2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A9A9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36576" marB="36576" anchor="ctr">
                    <a:lnL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2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2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37160" marR="137160" marT="36576" marB="36576" anchor="ctr">
                    <a:lnL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2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2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37160" marR="137160" marT="36576" marB="36576" anchor="ctr">
                    <a:lnL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2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A9A9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36576" marB="36576" anchor="ctr">
                    <a:lnL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2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2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37160" marR="137160" marT="36576" marB="36576" anchor="ctr">
                    <a:lnL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2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2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37160" marR="137160" marT="36576" marB="36576" anchor="ctr">
                    <a:lnL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24"/>
                    </a:solidFill>
                  </a:tcPr>
                </a:tc>
              </a:tr>
            </a:tbl>
          </a:graphicData>
        </a:graphic>
      </p:graphicFrame>
      <p:pic>
        <p:nvPicPr>
          <p:cNvPr id="16" name="Image 0" descr="Deliberate practi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0" y="384048"/>
            <a:ext cx="731520" cy="73152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4206240" y="6355080"/>
            <a:ext cx="6812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i="1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traceSlide()  ·  Trace table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E6E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5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Join or add?</a:t>
            </a:r>
            <a:endParaRPr lang="en-US" sz="3600" dirty="0"/>
          </a:p>
        </p:txBody>
      </p:sp>
      <p:sp>
        <p:nvSpPr>
          <p:cNvPr id="3" name="code"/>
          <p:cNvSpPr/>
          <p:nvPr/>
        </p:nvSpPr>
        <p:spPr>
          <a:xfrm>
            <a:off x="548640" y="1737360"/>
            <a:ext cx="5394960" cy="1188720"/>
          </a:xfrm>
          <a:prstGeom prst="roundRect">
            <a:avLst>
              <a:gd name="adj" fmla="val 6154"/>
            </a:avLst>
          </a:prstGeom>
          <a:solidFill>
            <a:srgbClr val="111115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938528"/>
            <a:ext cx="512064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3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30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"5"</a:t>
            </a:r>
            <a:pPr indent="0" marL="0">
              <a:buNone/>
            </a:pPr>
            <a:r>
              <a:rPr lang="en-US" sz="3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3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pPr indent="0" marL="0">
              <a:buNone/>
            </a:pPr>
            <a:r>
              <a:rPr lang="en-US" sz="3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30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"5"</a:t>
            </a:r>
            <a:pPr indent="0" marL="0">
              <a:buNone/>
            </a:pPr>
            <a:r>
              <a:rPr lang="en-US" sz="3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3000" dirty="0"/>
          </a:p>
        </p:txBody>
      </p:sp>
      <p:sp>
        <p:nvSpPr>
          <p:cNvPr id="5" name="terminal"/>
          <p:cNvSpPr/>
          <p:nvPr/>
        </p:nvSpPr>
        <p:spPr>
          <a:xfrm>
            <a:off x="548640" y="3154680"/>
            <a:ext cx="5394960" cy="914400"/>
          </a:xfrm>
          <a:prstGeom prst="roundRect">
            <a:avLst>
              <a:gd name="adj" fmla="val 8000"/>
            </a:avLst>
          </a:prstGeom>
          <a:solidFill>
            <a:srgbClr val="0A0A0D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3383280"/>
            <a:ext cx="49377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?</a:t>
            </a:r>
            <a:endParaRPr lang="en-US" sz="3000" dirty="0"/>
          </a:p>
        </p:txBody>
      </p:sp>
      <p:sp>
        <p:nvSpPr>
          <p:cNvPr id="7" name="code"/>
          <p:cNvSpPr/>
          <p:nvPr/>
        </p:nvSpPr>
        <p:spPr>
          <a:xfrm>
            <a:off x="6245352" y="1737360"/>
            <a:ext cx="5394960" cy="1188720"/>
          </a:xfrm>
          <a:prstGeom prst="roundRect">
            <a:avLst>
              <a:gd name="adj" fmla="val 6154"/>
            </a:avLst>
          </a:prstGeom>
          <a:solidFill>
            <a:srgbClr val="111115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28232" y="1938528"/>
            <a:ext cx="512064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3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30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pPr indent="0" marL="0">
              <a:buNone/>
            </a:pPr>
            <a:r>
              <a:rPr lang="en-US" sz="3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3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pPr indent="0" marL="0">
              <a:buNone/>
            </a:pPr>
            <a:r>
              <a:rPr lang="en-US" sz="3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30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pPr indent="0" marL="0">
              <a:buNone/>
            </a:pPr>
            <a:r>
              <a:rPr lang="en-US" sz="3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3000" dirty="0"/>
          </a:p>
        </p:txBody>
      </p:sp>
      <p:sp>
        <p:nvSpPr>
          <p:cNvPr id="9" name="terminal"/>
          <p:cNvSpPr/>
          <p:nvPr/>
        </p:nvSpPr>
        <p:spPr>
          <a:xfrm>
            <a:off x="6245352" y="3154680"/>
            <a:ext cx="5394960" cy="914400"/>
          </a:xfrm>
          <a:prstGeom prst="roundRect">
            <a:avLst>
              <a:gd name="adj" fmla="val 8000"/>
            </a:avLst>
          </a:prstGeom>
          <a:solidFill>
            <a:srgbClr val="0A0A0D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73952" y="3383280"/>
            <a:ext cx="49377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?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548640" y="4526280"/>
            <a:ext cx="11091672" cy="1234440"/>
          </a:xfrm>
          <a:prstGeom prst="roundRect">
            <a:avLst>
              <a:gd name="adj" fmla="val 5926"/>
            </a:avLst>
          </a:prstGeom>
          <a:solidFill>
            <a:srgbClr val="1E1E24"/>
          </a:solidFill>
          <a:ln w="25400">
            <a:solidFill>
              <a:srgbClr val="D8A73D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4526280"/>
            <a:ext cx="10332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&amp; Talk: </a:t>
            </a:r>
            <a:pPr indent="0" marL="0">
              <a:buNone/>
            </a:pPr>
            <a:r>
              <a:rPr lang="en-US" sz="25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each one print — and why are they different?</a:t>
            </a:r>
            <a:endParaRPr lang="en-US" sz="2500" dirty="0"/>
          </a:p>
        </p:txBody>
      </p:sp>
      <p:sp>
        <p:nvSpPr>
          <p:cNvPr id="13" name="Shape 11"/>
          <p:cNvSpPr/>
          <p:nvPr/>
        </p:nvSpPr>
        <p:spPr>
          <a:xfrm>
            <a:off x="9464040" y="566928"/>
            <a:ext cx="1280160" cy="329184"/>
          </a:xfrm>
          <a:prstGeom prst="roundRect">
            <a:avLst>
              <a:gd name="adj" fmla="val 50000"/>
            </a:avLst>
          </a:prstGeom>
          <a:solidFill>
            <a:srgbClr val="1E1E24"/>
          </a:solidFill>
          <a:ln w="15875">
            <a:solidFill>
              <a:srgbClr val="D8A73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464040" y="566928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 1 MIN</a:t>
            </a:r>
            <a:endParaRPr lang="en-US" sz="1400" dirty="0"/>
          </a:p>
        </p:txBody>
      </p:sp>
      <p:pic>
        <p:nvPicPr>
          <p:cNvPr id="15" name="Image 0" descr="Deliberate practi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0" y="384048"/>
            <a:ext cx="731520" cy="7315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4206240" y="6355080"/>
            <a:ext cx="6812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i="1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turnTalkSlide()  ·  Turn &amp; Talk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E6E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5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Debugging recipe</a:t>
            </a:r>
            <a:endParaRPr lang="en-US" sz="3600" dirty="0"/>
          </a:p>
        </p:txBody>
      </p:sp>
      <p:sp>
        <p:nvSpPr>
          <p:cNvPr id="3" name="terminal"/>
          <p:cNvSpPr/>
          <p:nvPr/>
        </p:nvSpPr>
        <p:spPr>
          <a:xfrm>
            <a:off x="548640" y="1554480"/>
            <a:ext cx="8503920" cy="2402840"/>
          </a:xfrm>
          <a:prstGeom prst="roundRect">
            <a:avLst>
              <a:gd name="adj" fmla="val 3044"/>
            </a:avLst>
          </a:prstGeom>
          <a:solidFill>
            <a:srgbClr val="0A0A0D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7373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MESSAGE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03120"/>
            <a:ext cx="804672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File "main.py", line 3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509520"/>
            <a:ext cx="804672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print("Scanning...)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915920"/>
            <a:ext cx="804672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^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322320"/>
            <a:ext cx="804672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SyntaxError: </a:t>
            </a:r>
            <a:pPr indent="0" marL="0">
              <a:buNone/>
            </a:pPr>
            <a:r>
              <a:rPr lang="en-US" sz="2000" dirty="0">
                <a:solidFill>
                  <a:srgbClr val="FF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unterminated string literal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6733540" y="3306064"/>
            <a:ext cx="438912" cy="438912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733540" y="330606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4358640" y="2086864"/>
            <a:ext cx="438912" cy="438912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358640" y="208686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4218940" y="2493264"/>
            <a:ext cx="438912" cy="438912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218940" y="249326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548640" y="3977640"/>
            <a:ext cx="2633472" cy="2011680"/>
          </a:xfrm>
          <a:prstGeom prst="roundRect">
            <a:avLst>
              <a:gd name="adj" fmla="val 3636"/>
            </a:avLst>
          </a:prstGeom>
          <a:solidFill>
            <a:srgbClr val="2A2A32"/>
          </a:solidFill>
          <a:ln/>
        </p:spPr>
      </p:sp>
      <p:sp>
        <p:nvSpPr>
          <p:cNvPr id="16" name="Shape 14"/>
          <p:cNvSpPr/>
          <p:nvPr/>
        </p:nvSpPr>
        <p:spPr>
          <a:xfrm>
            <a:off x="749808" y="4206240"/>
            <a:ext cx="438912" cy="438912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9808" y="42062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749808" y="4754880"/>
            <a:ext cx="22677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last line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749808" y="5486400"/>
            <a:ext cx="2267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kind of error?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3364992" y="3977640"/>
            <a:ext cx="2633472" cy="2011680"/>
          </a:xfrm>
          <a:prstGeom prst="roundRect">
            <a:avLst>
              <a:gd name="adj" fmla="val 3636"/>
            </a:avLst>
          </a:prstGeom>
          <a:solidFill>
            <a:srgbClr val="2A2A32"/>
          </a:solidFill>
          <a:ln/>
        </p:spPr>
      </p:sp>
      <p:sp>
        <p:nvSpPr>
          <p:cNvPr id="21" name="Shape 19"/>
          <p:cNvSpPr/>
          <p:nvPr/>
        </p:nvSpPr>
        <p:spPr>
          <a:xfrm>
            <a:off x="3566160" y="4206240"/>
            <a:ext cx="438912" cy="438912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3566160" y="42062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3566160" y="4754880"/>
            <a:ext cx="22677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line number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3566160" y="5486400"/>
            <a:ext cx="2267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is it?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6181344" y="3977640"/>
            <a:ext cx="2633472" cy="2011680"/>
          </a:xfrm>
          <a:prstGeom prst="roundRect">
            <a:avLst>
              <a:gd name="adj" fmla="val 3636"/>
            </a:avLst>
          </a:prstGeom>
          <a:solidFill>
            <a:srgbClr val="2A2A32"/>
          </a:solidFill>
          <a:ln/>
        </p:spPr>
      </p:sp>
      <p:sp>
        <p:nvSpPr>
          <p:cNvPr id="26" name="Shape 24"/>
          <p:cNvSpPr/>
          <p:nvPr/>
        </p:nvSpPr>
        <p:spPr>
          <a:xfrm>
            <a:off x="6382512" y="4206240"/>
            <a:ext cx="438912" cy="438912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382512" y="42062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6382512" y="4754880"/>
            <a:ext cx="22677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that line aloud</a:t>
            </a:r>
            <a:endParaRPr lang="en-US" sz="2000" dirty="0"/>
          </a:p>
        </p:txBody>
      </p:sp>
      <p:sp>
        <p:nvSpPr>
          <p:cNvPr id="29" name="Text 27"/>
          <p:cNvSpPr txBox="1"/>
          <p:nvPr/>
        </p:nvSpPr>
        <p:spPr>
          <a:xfrm>
            <a:off x="6382512" y="5486400"/>
            <a:ext cx="2267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Quote by quote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8997696" y="3977640"/>
            <a:ext cx="2633472" cy="2011680"/>
          </a:xfrm>
          <a:prstGeom prst="roundRect">
            <a:avLst>
              <a:gd name="adj" fmla="val 3636"/>
            </a:avLst>
          </a:prstGeom>
          <a:solidFill>
            <a:srgbClr val="2A2A32"/>
          </a:solidFill>
          <a:ln/>
        </p:spPr>
      </p:sp>
      <p:sp>
        <p:nvSpPr>
          <p:cNvPr id="31" name="Shape 29"/>
          <p:cNvSpPr/>
          <p:nvPr/>
        </p:nvSpPr>
        <p:spPr>
          <a:xfrm>
            <a:off x="9198864" y="4206240"/>
            <a:ext cx="438912" cy="438912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9198864" y="42062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33" name="Text 31"/>
          <p:cNvSpPr txBox="1"/>
          <p:nvPr/>
        </p:nvSpPr>
        <p:spPr>
          <a:xfrm>
            <a:off x="9198864" y="4754880"/>
            <a:ext cx="22677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to what you meant</a:t>
            </a:r>
            <a:endParaRPr lang="en-US" sz="2000" dirty="0"/>
          </a:p>
        </p:txBody>
      </p:sp>
      <p:sp>
        <p:nvSpPr>
          <p:cNvPr id="34" name="Text 32"/>
          <p:cNvSpPr txBox="1"/>
          <p:nvPr/>
        </p:nvSpPr>
        <p:spPr>
          <a:xfrm>
            <a:off x="9198864" y="5486400"/>
            <a:ext cx="2267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16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6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"Scanning..."</a:t>
            </a:r>
            <a:pPr indent="0" marL="0">
              <a:buNone/>
            </a:pPr>
            <a:r>
              <a:rPr lang="en-US" sz="16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800" dirty="0"/>
          </a:p>
        </p:txBody>
      </p:sp>
      <p:pic>
        <p:nvPicPr>
          <p:cNvPr id="35" name="Image 0" descr="New inform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0" y="384048"/>
            <a:ext cx="731520" cy="731520"/>
          </a:xfrm>
          <a:prstGeom prst="rect">
            <a:avLst/>
          </a:prstGeom>
        </p:spPr>
      </p:pic>
      <p:sp>
        <p:nvSpPr>
          <p:cNvPr id="37" name="Text 33"/>
          <p:cNvSpPr txBox="1"/>
          <p:nvPr/>
        </p:nvSpPr>
        <p:spPr>
          <a:xfrm>
            <a:off x="4206240" y="6355080"/>
            <a:ext cx="6812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i="1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debugRecipeSlide()  ·  Debugging recipe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E6E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  ·  PART 1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5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Wake Up</a:t>
            </a:r>
            <a:endParaRPr lang="en-US" sz="4800" dirty="0"/>
          </a:p>
        </p:txBody>
      </p:sp>
      <p:sp>
        <p:nvSpPr>
          <p:cNvPr id="4" name="terminal"/>
          <p:cNvSpPr/>
          <p:nvPr/>
        </p:nvSpPr>
        <p:spPr>
          <a:xfrm>
            <a:off x="548640" y="2148840"/>
            <a:ext cx="5212080" cy="2788920"/>
          </a:xfrm>
          <a:prstGeom prst="roundRect">
            <a:avLst>
              <a:gd name="adj" fmla="val 2623"/>
            </a:avLst>
          </a:prstGeom>
          <a:solidFill>
            <a:srgbClr val="0D1310"/>
          </a:solidFill>
          <a:ln w="15875">
            <a:solidFill>
              <a:srgbClr val="2C443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3317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FD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CRYO BAY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697480"/>
            <a:ext cx="475488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7FD9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Every pod is frosted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103880"/>
            <a:ext cx="475488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7FD9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over — except Pod 2.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510280"/>
            <a:ext cx="475488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916680"/>
            <a:ext cx="475488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7FD9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Open. Empty.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323080"/>
            <a:ext cx="475488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7FD9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Cracked from the inside.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172200" y="1417320"/>
            <a:ext cx="5468112" cy="4434840"/>
          </a:xfrm>
          <a:prstGeom prst="roundRect">
            <a:avLst>
              <a:gd name="adj" fmla="val 1649"/>
            </a:avLst>
          </a:prstGeom>
          <a:solidFill>
            <a:srgbClr val="2A2A32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92240" y="1645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E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TASK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92240" y="1965960"/>
            <a:ext cx="4828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</a:t>
            </a:r>
            <a:pPr indent="0" marL="0">
              <a:buNone/>
            </a:pPr>
            <a:r>
              <a:rPr lang="en-US" sz="2600" b="1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Wake Up</a:t>
            </a:r>
            <a:pPr indent="0" marL="0">
              <a:buNone/>
            </a:pPr>
            <a:r>
              <a:rPr lang="en-US" sz="26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from Google Classroom</a:t>
            </a:r>
            <a:endParaRPr lang="en-US" sz="2600" dirty="0"/>
          </a:p>
        </p:txBody>
      </p:sp>
      <p:sp>
        <p:nvSpPr>
          <p:cNvPr id="14" name="Shape 12"/>
          <p:cNvSpPr/>
          <p:nvPr/>
        </p:nvSpPr>
        <p:spPr>
          <a:xfrm>
            <a:off x="6492240" y="3063240"/>
            <a:ext cx="914400" cy="685800"/>
          </a:xfrm>
          <a:prstGeom prst="roundRect">
            <a:avLst>
              <a:gd name="adj" fmla="val 8000"/>
            </a:avLst>
          </a:prstGeom>
          <a:solidFill>
            <a:srgbClr val="1E1E24"/>
          </a:solidFill>
          <a:ln w="15875">
            <a:solidFill>
              <a:srgbClr val="D8A73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92240" y="3063240"/>
            <a:ext cx="914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8A7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endParaRPr lang="en-US" sz="28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0" y="37947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470648" y="3063240"/>
            <a:ext cx="914400" cy="685800"/>
          </a:xfrm>
          <a:prstGeom prst="roundRect">
            <a:avLst>
              <a:gd name="adj" fmla="val 8000"/>
            </a:avLst>
          </a:prstGeom>
          <a:solidFill>
            <a:srgbClr val="1E1E24"/>
          </a:solidFill>
          <a:ln w="15875">
            <a:solidFill>
              <a:srgbClr val="D8A73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470648" y="3063240"/>
            <a:ext cx="914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8A7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endParaRPr lang="en-US" sz="2800" dirty="0"/>
          </a:p>
        </p:txBody>
      </p:sp>
      <p:sp>
        <p:nvSpPr>
          <p:cNvPr id="19" name="Text 17"/>
          <p:cNvSpPr txBox="1"/>
          <p:nvPr/>
        </p:nvSpPr>
        <p:spPr>
          <a:xfrm>
            <a:off x="7379208" y="37947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449056" y="3063240"/>
            <a:ext cx="914400" cy="685800"/>
          </a:xfrm>
          <a:prstGeom prst="roundRect">
            <a:avLst>
              <a:gd name="adj" fmla="val 8000"/>
            </a:avLst>
          </a:prstGeom>
          <a:solidFill>
            <a:srgbClr val="1E1E24"/>
          </a:solidFill>
          <a:ln w="15875">
            <a:solidFill>
              <a:srgbClr val="D8A73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449056" y="3063240"/>
            <a:ext cx="914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8A7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endParaRPr lang="en-US" sz="2800" dirty="0"/>
          </a:p>
        </p:txBody>
      </p:sp>
      <p:sp>
        <p:nvSpPr>
          <p:cNvPr id="22" name="Text 20"/>
          <p:cNvSpPr txBox="1"/>
          <p:nvPr/>
        </p:nvSpPr>
        <p:spPr>
          <a:xfrm>
            <a:off x="8357616" y="37947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427464" y="3063240"/>
            <a:ext cx="914400" cy="685800"/>
          </a:xfrm>
          <a:prstGeom prst="roundRect">
            <a:avLst>
              <a:gd name="adj" fmla="val 8000"/>
            </a:avLst>
          </a:prstGeom>
          <a:solidFill>
            <a:srgbClr val="1E1E24"/>
          </a:solidFill>
          <a:ln w="15875">
            <a:solidFill>
              <a:srgbClr val="D8A73D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427464" y="3063240"/>
            <a:ext cx="914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8A7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</a:t>
            </a:r>
            <a:endParaRPr lang="en-US" sz="2800" dirty="0"/>
          </a:p>
        </p:txBody>
      </p:sp>
      <p:sp>
        <p:nvSpPr>
          <p:cNvPr id="25" name="Text 23"/>
          <p:cNvSpPr txBox="1"/>
          <p:nvPr/>
        </p:nvSpPr>
        <p:spPr>
          <a:xfrm>
            <a:off x="9336024" y="37947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Modify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10405872" y="3063240"/>
            <a:ext cx="914400" cy="685800"/>
          </a:xfrm>
          <a:prstGeom prst="roundRect">
            <a:avLst>
              <a:gd name="adj" fmla="val 8000"/>
            </a:avLst>
          </a:prstGeom>
          <a:solidFill>
            <a:srgbClr val="1E1E24"/>
          </a:solidFill>
          <a:ln w="15875">
            <a:solidFill>
              <a:srgbClr val="D8A73D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0405872" y="3063240"/>
            <a:ext cx="914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8A7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</a:t>
            </a:r>
            <a:endParaRPr lang="en-US" sz="2800" dirty="0"/>
          </a:p>
        </p:txBody>
      </p:sp>
      <p:sp>
        <p:nvSpPr>
          <p:cNvPr id="28" name="Text 26"/>
          <p:cNvSpPr txBox="1"/>
          <p:nvPr/>
        </p:nvSpPr>
        <p:spPr>
          <a:xfrm>
            <a:off x="10314432" y="37947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6492240" y="4343400"/>
            <a:ext cx="48280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Modification 1 is your call. </a:t>
            </a:r>
            <a:pPr indent="0" marL="0">
              <a:buNone/>
            </a:pPr>
            <a:r>
              <a:rPr lang="en-US" sz="19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changes the story, not your score.</a:t>
            </a:r>
            <a:endParaRPr lang="en-US" sz="1900" dirty="0"/>
          </a:p>
        </p:txBody>
      </p:sp>
      <p:sp>
        <p:nvSpPr>
          <p:cNvPr id="30" name="Shape 28"/>
          <p:cNvSpPr/>
          <p:nvPr/>
        </p:nvSpPr>
        <p:spPr>
          <a:xfrm>
            <a:off x="10131552" y="1627632"/>
            <a:ext cx="1280160" cy="329184"/>
          </a:xfrm>
          <a:prstGeom prst="roundRect">
            <a:avLst>
              <a:gd name="adj" fmla="val 50000"/>
            </a:avLst>
          </a:prstGeom>
          <a:solidFill>
            <a:srgbClr val="1E1E24"/>
          </a:solidFill>
          <a:ln w="15875">
            <a:solidFill>
              <a:srgbClr val="D8A73D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0131552" y="1627632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 ≈20 MIN</a:t>
            </a:r>
            <a:endParaRPr lang="en-US" sz="1400" dirty="0"/>
          </a:p>
        </p:txBody>
      </p:sp>
      <p:pic>
        <p:nvPicPr>
          <p:cNvPr id="32" name="Image 0" descr="Deliberate practi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0" y="384048"/>
            <a:ext cx="731520" cy="731520"/>
          </a:xfrm>
          <a:prstGeom prst="rect">
            <a:avLst/>
          </a:prstGeom>
        </p:spPr>
      </p:pic>
      <p:sp>
        <p:nvSpPr>
          <p:cNvPr id="34" name="Text 30"/>
          <p:cNvSpPr txBox="1"/>
          <p:nvPr/>
        </p:nvSpPr>
        <p:spPr>
          <a:xfrm>
            <a:off x="4206240" y="6355080"/>
            <a:ext cx="6812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i="1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chapterSlide()  ·  Chapter card + task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5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Capitals matter</a:t>
            </a:r>
            <a:endParaRPr lang="en-US" sz="3600" dirty="0"/>
          </a:p>
        </p:txBody>
      </p:sp>
      <p:sp>
        <p:nvSpPr>
          <p:cNvPr id="3" name="code"/>
          <p:cNvSpPr/>
          <p:nvPr/>
        </p:nvSpPr>
        <p:spPr>
          <a:xfrm>
            <a:off x="548640" y="1600200"/>
            <a:ext cx="7498080" cy="1324356"/>
          </a:xfrm>
          <a:prstGeom prst="roundRect">
            <a:avLst>
              <a:gd name="adj" fmla="val 5524"/>
            </a:avLst>
          </a:prstGeom>
          <a:solidFill>
            <a:srgbClr val="111115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1801368"/>
            <a:ext cx="274320" cy="461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801368"/>
            <a:ext cx="6766560" cy="461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2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"Enter your name: "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603504" y="2262378"/>
            <a:ext cx="7388352" cy="461010"/>
          </a:xfrm>
          <a:prstGeom prst="rect">
            <a:avLst/>
          </a:prstGeom>
          <a:solidFill>
            <a:srgbClr val="2B2618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58368" y="2262378"/>
            <a:ext cx="274320" cy="461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2262378"/>
            <a:ext cx="6766560" cy="461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2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"Access granted to "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200" dirty="0"/>
          </a:p>
        </p:txBody>
      </p:sp>
      <p:sp>
        <p:nvSpPr>
          <p:cNvPr id="9" name="terminal"/>
          <p:cNvSpPr/>
          <p:nvPr/>
        </p:nvSpPr>
        <p:spPr>
          <a:xfrm>
            <a:off x="548640" y="3153156"/>
            <a:ext cx="11091672" cy="1143000"/>
          </a:xfrm>
          <a:prstGeom prst="roundRect">
            <a:avLst>
              <a:gd name="adj" fmla="val 6400"/>
            </a:avLst>
          </a:prstGeom>
          <a:solidFill>
            <a:srgbClr val="0A0A0D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3336036"/>
            <a:ext cx="10634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— LAST LINE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3701796"/>
            <a:ext cx="10634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NameError: </a:t>
            </a:r>
            <a:pPr indent="0" marL="0">
              <a:buNone/>
            </a:pPr>
            <a:r>
              <a:rPr lang="en-US" sz="1800" dirty="0">
                <a:solidFill>
                  <a:srgbClr val="FF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 'Name' is not defined. Did you mean: 'name'?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8412480" y="15544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E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MEMORY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412480" y="2103120"/>
            <a:ext cx="2743200" cy="868680"/>
          </a:xfrm>
          <a:prstGeom prst="roundRect">
            <a:avLst>
              <a:gd name="adj" fmla="val 6316"/>
            </a:avLst>
          </a:prstGeom>
          <a:solidFill>
            <a:srgbClr val="111115"/>
          </a:solidFill>
          <a:ln w="25400">
            <a:solidFill>
              <a:srgbClr val="E69F0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549640" y="1920240"/>
            <a:ext cx="1481328" cy="347472"/>
          </a:xfrm>
          <a:prstGeom prst="roundRect">
            <a:avLst>
              <a:gd name="adj" fmla="val 13158"/>
            </a:avLst>
          </a:prstGeom>
          <a:solidFill>
            <a:srgbClr val="E69F0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549640" y="1920240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1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  ·  str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503920" y="228600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"Riley"</a:t>
            </a:r>
            <a:endParaRPr lang="en-US" sz="2600" dirty="0"/>
          </a:p>
        </p:txBody>
      </p:sp>
      <p:sp>
        <p:nvSpPr>
          <p:cNvPr id="17" name="Shape 15"/>
          <p:cNvSpPr/>
          <p:nvPr/>
        </p:nvSpPr>
        <p:spPr>
          <a:xfrm>
            <a:off x="548640" y="4572000"/>
            <a:ext cx="11091672" cy="1188720"/>
          </a:xfrm>
          <a:prstGeom prst="roundRect">
            <a:avLst>
              <a:gd name="adj" fmla="val 6154"/>
            </a:avLst>
          </a:prstGeom>
          <a:solidFill>
            <a:srgbClr val="1E1E24"/>
          </a:solidFill>
          <a:ln w="25400">
            <a:solidFill>
              <a:srgbClr val="D8A73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14400" y="4572000"/>
            <a:ext cx="10332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pPr indent="0" marL="0">
              <a:buNone/>
            </a:pPr>
            <a:r>
              <a:rPr lang="en-US" sz="24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and  </a:t>
            </a:r>
            <a:pPr indent="0" marL="0">
              <a:buNone/>
            </a:pPr>
            <a:r>
              <a:rPr lang="en-US" sz="2400" b="1" dirty="0">
                <a:solidFill>
                  <a:srgbClr val="7FD9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pPr indent="0" marL="0">
              <a:buNone/>
            </a:pPr>
            <a:r>
              <a:rPr lang="en-US" sz="24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are two different names. Python only knows the one you stored.</a:t>
            </a:r>
            <a:endParaRPr lang="en-US" sz="2400" dirty="0"/>
          </a:p>
        </p:txBody>
      </p:sp>
      <p:pic>
        <p:nvPicPr>
          <p:cNvPr id="19" name="Image 0" descr="Feedba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0" y="384048"/>
            <a:ext cx="731520" cy="731520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4206240" y="6355080"/>
            <a:ext cx="6812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i="1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errorFeedbackSlide()  ·  Common error feedback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E6E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5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Plenary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11091672" cy="1097280"/>
          </a:xfrm>
          <a:prstGeom prst="roundRect">
            <a:avLst>
              <a:gd name="adj" fmla="val 6667"/>
            </a:avLst>
          </a:prstGeom>
          <a:solidFill>
            <a:srgbClr val="2A2A32"/>
          </a:solidFill>
          <a:ln w="25400">
            <a:solidFill>
              <a:srgbClr val="D8A73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16276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QUESTION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1901952"/>
            <a:ext cx="10332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do we ask for, store and calculate with what a user types?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2953512"/>
            <a:ext cx="438912" cy="438912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295351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2880360"/>
            <a:ext cx="10424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one line that asks how many crew are awake and stores it as a whole number in crew.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4096512"/>
            <a:ext cx="438912" cy="438912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409651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4023360"/>
            <a:ext cx="10424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this line, and say why it crashed: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1188720" y="457200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2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"Crew awake: "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crew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200" dirty="0"/>
          </a:p>
        </p:txBody>
      </p:sp>
      <p:sp>
        <p:nvSpPr>
          <p:cNvPr id="13" name="terminal"/>
          <p:cNvSpPr/>
          <p:nvPr/>
        </p:nvSpPr>
        <p:spPr>
          <a:xfrm>
            <a:off x="1188720" y="5303520"/>
            <a:ext cx="7589520" cy="685800"/>
          </a:xfrm>
          <a:prstGeom prst="roundRect">
            <a:avLst>
              <a:gd name="adj" fmla="val 10667"/>
            </a:avLst>
          </a:prstGeom>
          <a:solidFill>
            <a:srgbClr val="0D1310"/>
          </a:solidFill>
          <a:ln w="15875">
            <a:solidFill>
              <a:srgbClr val="2C443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417320" y="553212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D9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MOTION DETECTED · SENSOR OPS · TAG: </a:t>
            </a:r>
            <a:pPr indent="0" marL="0">
              <a:buNone/>
            </a:pPr>
            <a:r>
              <a:rPr lang="en-US" sz="1800" b="1" dirty="0">
                <a:solidFill>
                  <a:srgbClr val="D8A7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HALE</a:t>
            </a:r>
            <a:endParaRPr lang="en-US" sz="1800" dirty="0"/>
          </a:p>
        </p:txBody>
      </p:sp>
      <p:pic>
        <p:nvPicPr>
          <p:cNvPr id="15" name="Image 0" descr="Recap and reca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0" y="384048"/>
            <a:ext cx="731520" cy="7315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4206240" y="6355080"/>
            <a:ext cx="6812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i="1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plenarySlide()  ·  Plenary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E6E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tation Zero">
  <a:themeElements>
    <a:clrScheme name="Station Zero">
      <a:dk1>
        <a:srgbClr val="1E1E24"/>
      </a:dk1>
      <a:lt1>
        <a:srgbClr val="F5F5F3"/>
      </a:lt1>
      <a:dk2>
        <a:srgbClr val="141418"/>
      </a:dk2>
      <a:lt2>
        <a:srgbClr val="E9E8E4"/>
      </a:lt2>
      <a:accent1>
        <a:srgbClr val="D8A73D"/>
      </a:accent1>
      <a:accent2>
        <a:srgbClr val="E69F00"/>
      </a:accent2>
      <a:accent3>
        <a:srgbClr val="56B4E9"/>
      </a:accent3>
      <a:accent4>
        <a:srgbClr val="7FD99A"/>
      </a:accent4>
      <a:accent5>
        <a:srgbClr val="FF6B6B"/>
      </a:accent5>
      <a:accent6>
        <a:srgbClr val="A9A9B4"/>
      </a:accent6>
      <a:hlink>
        <a:srgbClr val="56B4E9"/>
      </a:hlink>
      <a:folHlink>
        <a:srgbClr val="A9A9B4"/>
      </a:folHlink>
    </a:clrScheme>
    <a:fontScheme name="Station Zero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Station Zero — Y9 Python deck template</dc:title>
  <dc:subject>PptxGenJS Presentation</dc:subject>
  <dc:creator>Nicholas Houlton</dc:creator>
  <cp:lastModifiedBy>Nicholas Houlton</cp:lastModifiedBy>
  <cp:revision>1</cp:revision>
  <dcterms:created xsi:type="dcterms:W3CDTF">2026-10-08T12:01:10Z</dcterms:created>
  <dcterms:modified xsi:type="dcterms:W3CDTF">2026-10-08T12:01:10Z</dcterms:modified>
</cp:coreProperties>
</file>