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ow to use" id="{2314a0b5-8e26-6f31-e937-0f255df1c4ff}">
          <p14:sldIdLst>
            <p14:sldId id="256"/>
            <p14:sldId id="257"/>
            <p14:sldId id="258"/>
            <p14:sldId id="259"/>
            <p14:sldId id="260"/>
            <p14:sldId id="261"/>
          </p14:sldIdLst>
        </p14:section>
        <p14:section name="Examples" id="{b4e1d247-023f-f6c5-69b8-a9c729d86c03}">
          <p14:sldIdLst>
            <p14:sldId id="262"/>
            <p14:sldId id="263"/>
            <p14:sldId id="264"/>
            <p14:sldId id="265"/>
            <p14:sldId id="266"/>
            <p14:sldId id="267"/>
            <p14:sldId id="268"/>
            <p14:sldId id="269"/>
            <p14:sldId id="270"/>
            <p14:sldId id="271"/>
            <p14:sldId id="272"/>
            <p14:sldId id="273"/>
            <p14:sldId id="274"/>
            <p14:sldId id="275"/>
            <p14:sldId id="276"/>
            <p14:sldId id="277"/>
            <p14:sldId id="278"/>
            <p14:sldId id="279"/>
          </p14:sldIdLst>
        </p14:section>
        <p14:section name="Station state" id="{f0fd5ef0-eeb3-cb8f-fc14-74f8a3ab366f}">
          <p14:sldIdLst>
            <p14:sldId id="280"/>
            <p14:sldId id="281"/>
            <p14:sldId id="282"/>
            <p14:sldId id="283"/>
            <p14:sldId id="284"/>
            <p14:sldId id="285"/>
            <p14:sldId id="286"/>
            <p14:sldId id="287"/>
            <p14:sldId id="288"/>
            <p14:sldId id="289"/>
            <p14:sldId id="2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is a reference, not a lesson. It shows one example of every Station Zero slide type, in lesson order.
Each example's footer names its recipe (the function in sz_slides.cjs), and its speaker notes say when to use it and what to watch for.
Rules and feedback live in README.md (same folder). Rebuild this deck with: node build_template.cjs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Files (all in _presentations/Y9_Python/):
- README.md: the rules, the feedback log and the list of slide types.
- sz_slides.cjs: one function per slide type ("recipe").
- sz_kit.cjs: the drawing parts (palette, code panels, variable boxes, badges).
- build_deck.cjs: Lesson 1. Copy it for a new lesson.
Needs: npm install -g pptxgenjs. Close the .pptx in PowerPoint before rebuilding.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content repeats New Information → Deliberate Practice → Feedback as often as the lesson needs, with a chapter card before each activity.
Every slide carries exactly one pillar icon, top right (the title and chapter cards are story slides: the chapter card counts as Deliberate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rules come from the "Rules and feedback log" in README.md. Add new feedback there (one dated line) and rebuild.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rules come from the "Rules and feedback log" in README.md. Add new feedback there (one dated line) and rebuild.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rules come from the "Rules and feedback log" in README.md. Add new feedback there (one dated line) and rebuild.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always slide 1. Light background.
RULES: 4 questions on the previous lesson and further back; each card has a pill naming its source lesson.
Q1–2 multiple choice (3 options, similar lengths, the right answer not always the longest). Q3–4 need a written word or sentence.
At least 3 of the 4 use a code snippet students have already met. Ask for a confidence rating 1–3.
DATA: { pill, q, type: "mcq"|"write", code?, opts?, a, why }. For an MCQ, a starts with the right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slide 2. Same questions as the starter; dark background.
The right option turns green; each card adds a one-line "why". Discuss confident-but-wrong answers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slide 3. Kicker = year · lesson · lesson name; title = Station Zero; subtitle = this chapter.
The status readout is the only story text: short LABEL ..... VALUE lines. Tell the premise aloud from the notes, never as a paragraph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slide 4. The topic question is the same all unit (muted); the lesson question is this lesson only (highlighted).
Reuse the exact lesson question on the plenary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showing what a short program does, before students predict or trace one themselves.
RULES: whole lines only — never fragments like input(…) (feedback 2026-10-08). Up to 2 lines.
One row per line, read left to right: the code → the whole screen after that line → memory after that line.
Under each line, one sentence saying what it does, with the sub-goal verbs in gold (Asks, stores, joins, prints).
Grey out older screen lines (color: P.dim) so the new output stands out. Say "No change" when memory stays the same.
ANIMATED: each part fades in on click — code, then screen, then memory (3 clicks per line, 6 for two). Ask "what will appear?" before each click. animate: false turns it off.
Any slide type can do this: wrap what should appear in K.onClick(s, clickNumber, () =&gt; { …draw…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two lines that differ by ONE thing (variation theory). Cover the outputs, ask, then reveal.
Each row: code → output → a one-line rule. Optional "IN MEMORY" box shows what the variable 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after the New Information, just before the Predict stage (predictSlide, traceSlide or the first "What is printed?"). Once per Predict.
RULES: at most 3 short sentences, one per line. Read aloud in about 20 seconds, no discussion.
Keep it true for every student: leave out anything that depends on their story choices (the activity's "Previously…" recap covers those).
DATA: { title (the chapter), log: up to 3 sentences, one per line (≤ 50 characters), logLabel?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Deliberate Practice before the reveal. 4–6 lines of code, the answers the user types, one prompt, a timer.
No hints on the slide. A program not taken from the activity, so the activity's Predict is still fresh.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straight after predictSlide. Highlight the line that made the answer; name the two most likely mistakes.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tracing (notional machine). Columns: Line, one per variable, Output. Then repeat it with reveal: { hl, side } and the rows filled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just before new information — an attempt first makes the explanation stick. Never show the answers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once per lesson before the activity, then flip back to it during Investigate.
Use a real Python error, copied exactly. The numbered badges sit on the error itself (marks: line + column), matching the 4 fixed steps below.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just before students open an activity. Story log: at most 3 short sentences, in green, broken into short lines.
The task names the activity exactly as it appears in Google Classroom. The note line is for the story choice (Modification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whole-class feedback after an activity, usually on its planted bug. Real error text; one takeaway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practice straight after teaching a new kind of condition (comparisons now; loop conditions later).
Include boundary pairs (5 &gt; 5 vs 4 &gt;= 4): they are where programs go wrong.
reveal: true gives the answers slide (True / False chips) — pass the "watch out" line as takeaway.
DATA: items: 6 × { expr, value }, takeaway: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worked examples of selection, as I do (model it) then WE DO (boards up before each click). mode sets the chip and icon.
One step per click: what is in the box → each condition checked → which lines run → what is printed. The strip names the steps, the same every time.
Conditions after the first True one show "not checked" (elif). Code lines ≤ 24 characters at size 24; use size: 22, lh: 0.55 for 7 lines.
DATA: code, memory?, conds: [{ line, expr, result }], runs, skipped, always, output,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DO after an I do + We do pair: three short programs, silent, on boards.
reveal: true gives the answers slide: each output under its code, plus a one-line why (e.g. "50 &gt;= 50 is True").
Code lines ≤ 23 characters. DATA: items: 3 × { code, output, why?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last slide. The same lesson question as slide 4, then 2 exit tasks: one to write, one to fix.
Optional one-line cliffhanger in green, to lead into the next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the decks show the state of the station, so the story builds week to week and peaks at its beats, without adding words to read.
Cognitive load comes first. The damage is drawn underneath everything, only in the frame, at low contrast. If it ever competes with the content, the content wins: turn the layer off.
It is made-up damage, not real corruption: every deck still validates and opens normally.
HOW: createDeck({ station: "L3" }) sets the chapter state for the whole deck. K.station("L5") switches it for the slides after it. K.beat("L2") does the same as a story beat (see the last two slides).
States: none, L1, L1b, L2, L3, L4, L5, L6, L7. L1b is Life Support (the O2 reading drops slide by slide). L6 is the assessment, so it stays clean apart from the status line.
Overrides change single layers, e.g. K.station("L7", { static: false }) once a system is repaired in Last Stand.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L1: Ch 1 Wake Up: frost in the corners.
Set it for a whole deck with createDeck({ station: 'L1' }), or from this slide on with K.station('L1').
Check: is every line of code, output and memory still as easy to read as on a clean slide? If not, turn the layer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L1b: Ch 1 Life Support: frost, O2 falling (light slides skip frost).
Set it for a whole deck with createDeck({ station: 'L1b' }), or from this slide on with K.station('L1b').
Check: is every line of code, output and memory still as easy to read as on a clean slide? If not, turn the layer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L2: Ch 2 Proximity: amber alarm at the edges.
Set it for a whole deck with createDeck({ station: 'L2' }), or from this slide on with K.station('L2').
Check: is every line of code, output and memory still as easy to read as on a clean slide? If not, turn the layer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L3: Ch 3 Locked In: red alarm + hazard stripes.
Set it for a whole deck with createDeck({ station: 'L3' }), or from this slide on with K.station('L3').
Check: is every line of code, output and memory still as easy to read as on a clean slide? If not, turn the layer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L4: Ch 4 Distress Signal: static at the edges.
Set it for a whole deck with createDeck({ station: 'L4' }), or from this slide on with K.station('L4').
Check: is every line of code, output and memory still as easy to read as on a clean slide? If not, turn the layer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L5: Ch 5 The Drone: hull cracks, claw marks, red alarm.
Set it for a whole deck with createDeck({ station: 'L5' }), or from this slide on with K.station('L5').
Check: is every line of code, output and memory still as easy to read as on a clean slide? If not, turn the layer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L6: Ch 6 Systems Check: clean (assessment), status line only.
Set it for a whole deck with createDeck({ station: 'L6' }), or from this slide on with K.station('L6').
Check: is every line of code, output and memory still as easy to read as on a clean slide? If not, turn the layer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L7: Ch 7 Last Stand: everything at once; switch layers off as systems are repaired.
Set it for a whole deck with createDeck({ station: 'L7' }), or from this slide on with K.station('L7').
Check: is every line of code, output and memory still as easy to read as on a clean slide? If not, turn the layer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BEAT DEMO, part 1 of 2: before the beat. State L1b: frost, with O2 falling on the status line.
Present the next slide in Slide Show to see the beat.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BEAT DEMO, part 2 of 2: K.beat("L2") before this slide.
In Slide Show the slide fades in through black (the lights go out), then the amber alarm fades in by itself over 2 seconds. No click needed, and it never hides content.
Use a beat at most once or twice a lesson, on the story moment itself (here the cliffhanger), so it stays a shock.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Z_DARK">
    <p:bg>
      <p:bgPr>
        <a:solidFill>
          <a:srgbClr val="1E1E24"/>
        </a:solidFill>
      </p:bgPr>
    </p:bg>
    <p:spTree>
      <p:nvGrpSpPr>
        <p:cNvPr id="1" name=""/>
        <p:cNvGrpSpPr/>
        <p:nvPr/>
      </p:nvGrpSpPr>
      <p:grpSpPr>
        <a:xfrm>
          <a:off x="0" y="0"/>
          <a:ext cx="0" cy="0"/>
          <a:chOff x="0" y="0"/>
          <a:chExt cx="0" cy="0"/>
        </a:xfrm>
      </p:grpSpPr>
      <p:sp>
        <p:nvSpPr>
          <p:cNvPr id="2" name="Text 0"/>
          <p:cNvSpPr/>
          <p:nvPr/>
        </p:nvSpPr>
        <p:spPr>
          <a:xfrm>
            <a:off x="548640" y="6382512"/>
            <a:ext cx="5486400" cy="274320"/>
          </a:xfrm>
          <a:prstGeom prst="rect">
            <a:avLst/>
          </a:prstGeom>
          <a:noFill/>
          <a:ln/>
        </p:spPr>
        <p:txBody>
          <a:bodyPr wrap="square" lIns="0" tIns="0" rIns="0" bIns="0" rtlCol="0" anchor="ctr"/>
          <a:lstStyle/>
          <a:p>
            <a:pPr indent="0" marL="0">
              <a:buNone/>
            </a:pPr>
            <a:r>
              <a:rPr lang="en-US" sz="1200" spc="200" kern="0" dirty="0">
                <a:solidFill>
                  <a:srgbClr val="6E6E7A"/>
                </a:solidFill>
                <a:latin typeface="Calibri" pitchFamily="34" charset="0"/>
                <a:ea typeface="Calibri" pitchFamily="34" charset="-122"/>
                <a:cs typeface="Calibri" pitchFamily="34" charset="-120"/>
              </a:rPr>
              <a:t>STATION ZERO  ·  Y9 PYTHON  ·  DECK TEMPLATE</a:t>
            </a:r>
            <a:endParaRPr lang="en-US" sz="1200" dirty="0"/>
          </a:p>
        </p:txBody>
      </p:sp>
      <p:sp>
        <p:nvSpPr>
          <p:cNvPr id="3" name="Text 1"/>
          <p:cNvSpPr/>
          <p:nvPr>
            <p:ph idx="101" type="title" hasCustomPrompt="1"/>
          </p:nvPr>
        </p:nvSpPr>
        <p:spPr>
          <a:xfrm>
            <a:off x="548640" y="411480"/>
            <a:ext cx="9418320" cy="777240"/>
          </a:xfrm>
          <a:prstGeom prst="rect">
            <a:avLst/>
          </a:prstGeom>
          <a:noFill/>
          <a:ln/>
        </p:spPr>
        <p:txBody>
          <a:bodyPr wrap="square" rtlCol="0"/>
          <a:lstStyle>
            <a:lvl1pPr algn="l" indent="0" marL="0">
              <a:buNone/>
              <a:defRPr lang="en-US" sz="3600" b="1" dirty="0">
                <a:solidFill>
                  <a:srgbClr val="F5F5F3"/>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Z_LIGHT">
    <p:bg>
      <p:bgPr>
        <a:solidFill>
          <a:srgbClr val="F5F5F3"/>
        </a:solidFill>
      </p:bgPr>
    </p:bg>
    <p:spTree>
      <p:nvGrpSpPr>
        <p:cNvPr id="1" name=""/>
        <p:cNvGrpSpPr/>
        <p:nvPr/>
      </p:nvGrpSpPr>
      <p:grpSpPr>
        <a:xfrm>
          <a:off x="0" y="0"/>
          <a:ext cx="0" cy="0"/>
          <a:chOff x="0" y="0"/>
          <a:chExt cx="0" cy="0"/>
        </a:xfrm>
      </p:grpSpPr>
      <p:sp>
        <p:nvSpPr>
          <p:cNvPr id="2" name="Text 0"/>
          <p:cNvSpPr/>
          <p:nvPr/>
        </p:nvSpPr>
        <p:spPr>
          <a:xfrm>
            <a:off x="548640" y="6382512"/>
            <a:ext cx="5486400" cy="274320"/>
          </a:xfrm>
          <a:prstGeom prst="rect">
            <a:avLst/>
          </a:prstGeom>
          <a:noFill/>
          <a:ln/>
        </p:spPr>
        <p:txBody>
          <a:bodyPr wrap="square" lIns="0" tIns="0" rIns="0" bIns="0" rtlCol="0" anchor="ctr"/>
          <a:lstStyle/>
          <a:p>
            <a:pPr indent="0" marL="0">
              <a:buNone/>
            </a:pPr>
            <a:r>
              <a:rPr lang="en-US" sz="1200" spc="200" kern="0" dirty="0">
                <a:solidFill>
                  <a:srgbClr val="8A8A93"/>
                </a:solidFill>
                <a:latin typeface="Calibri" pitchFamily="34" charset="0"/>
                <a:ea typeface="Calibri" pitchFamily="34" charset="-122"/>
                <a:cs typeface="Calibri" pitchFamily="34" charset="-120"/>
              </a:rPr>
              <a:t>STATION ZERO  ·  Y9 PYTHON  ·  DECK TEMPLATE</a:t>
            </a:r>
            <a:endParaRPr lang="en-US" sz="1200" dirty="0"/>
          </a:p>
        </p:txBody>
      </p:sp>
      <p:sp>
        <p:nvSpPr>
          <p:cNvPr id="3" name="Text 1"/>
          <p:cNvSpPr/>
          <p:nvPr>
            <p:ph idx="101" type="title" hasCustomPrompt="1"/>
          </p:nvPr>
        </p:nvSpPr>
        <p:spPr>
          <a:xfrm>
            <a:off x="548640" y="411480"/>
            <a:ext cx="9418320" cy="777240"/>
          </a:xfrm>
          <a:prstGeom prst="rect">
            <a:avLst/>
          </a:prstGeom>
          <a:noFill/>
          <a:ln/>
        </p:spPr>
        <p:txBody>
          <a:bodyPr wrap="square" rtlCol="0"/>
          <a:lstStyle>
            <a:lvl1pPr algn="l" indent="0" marL="0">
              <a:buNone/>
              <a:defRPr lang="en-US" sz="3600" b="1" dirty="0">
                <a:solidFill>
                  <a:srgbClr val="1E1E24"/>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8A8A9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Z_COVER">
    <p:bg>
      <p:bgPr>
        <a:solidFill>
          <a:srgbClr val="141418"/>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1.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1.png"/><Relationship Id="rId8" Type="http://schemas.openxmlformats.org/officeDocument/2006/relationships/image" Target="../media/image-3-1.png"/><Relationship Id="rId9" Type="http://schemas.openxmlformats.org/officeDocument/2006/relationships/image" Target="../media/image-3-3.png"/><Relationship Id="rId10" Type="http://schemas.openxmlformats.org/officeDocument/2006/relationships/image" Target="../media/image-3-4.png"/><Relationship Id="rId11" Type="http://schemas.openxmlformats.org/officeDocument/2006/relationships/image" Target="../media/image-3-5.png"/><Relationship Id="rId12" Type="http://schemas.openxmlformats.org/officeDocument/2006/relationships/image" Target="../media/image-3-6.png"/><Relationship Id="rId13" Type="http://schemas.openxmlformats.org/officeDocument/2006/relationships/slideLayout" Target="../slideLayouts/slideLayout2.xml"/><Relationship Id="rId1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2.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2.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2.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2.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slideLayout" Target="../slideLayouts/slideLayout4.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4.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2.xml"/><Relationship Id="rId4"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874520"/>
            <a:ext cx="6035040" cy="365760"/>
          </a:xfrm>
          <a:prstGeom prst="rect">
            <a:avLst/>
          </a:prstGeom>
          <a:noFill/>
          <a:ln/>
        </p:spPr>
        <p:txBody>
          <a:bodyPr wrap="square" lIns="0" tIns="0" rIns="0" bIns="0" rtlCol="0" anchor="ctr"/>
          <a:lstStyle/>
          <a:p>
            <a:pPr indent="0" marL="0">
              <a:buNone/>
            </a:pPr>
            <a:r>
              <a:rPr lang="en-US" sz="1400" b="1" spc="300" kern="0" dirty="0">
                <a:solidFill>
                  <a:srgbClr val="D8A73D"/>
                </a:solidFill>
                <a:latin typeface="Calibri" pitchFamily="34" charset="0"/>
                <a:ea typeface="Calibri" pitchFamily="34" charset="-122"/>
                <a:cs typeface="Calibri" pitchFamily="34" charset="-120"/>
              </a:rPr>
              <a:t>Y9 PYTHON  ·  LESSON DECKS</a:t>
            </a:r>
            <a:endParaRPr lang="en-US" sz="1400" dirty="0"/>
          </a:p>
        </p:txBody>
      </p:sp>
      <p:sp>
        <p:nvSpPr>
          <p:cNvPr id="3" name="Text 1"/>
          <p:cNvSpPr txBox="1"/>
          <p:nvPr/>
        </p:nvSpPr>
        <p:spPr>
          <a:xfrm>
            <a:off x="640080" y="2286000"/>
            <a:ext cx="6035040" cy="1097280"/>
          </a:xfrm>
          <a:prstGeom prst="rect">
            <a:avLst/>
          </a:prstGeom>
          <a:noFill/>
          <a:ln/>
        </p:spPr>
        <p:txBody>
          <a:bodyPr wrap="square" lIns="0" tIns="0" rIns="0" bIns="0" rtlCol="0" anchor="ctr"/>
          <a:lstStyle/>
          <a:p>
            <a:pPr indent="0" marL="0">
              <a:buNone/>
            </a:pPr>
            <a:r>
              <a:rPr lang="en-US" sz="6400" b="1" dirty="0">
                <a:solidFill>
                  <a:srgbClr val="F5F5F3"/>
                </a:solidFill>
                <a:latin typeface="Cambria" pitchFamily="34" charset="0"/>
                <a:ea typeface="Cambria" pitchFamily="34" charset="-122"/>
                <a:cs typeface="Cambria" pitchFamily="34" charset="-120"/>
              </a:rPr>
              <a:t>Deck template</a:t>
            </a:r>
            <a:endParaRPr lang="en-US" sz="6400" dirty="0"/>
          </a:p>
        </p:txBody>
      </p:sp>
      <p:sp>
        <p:nvSpPr>
          <p:cNvPr id="4" name="Text 2"/>
          <p:cNvSpPr txBox="1"/>
          <p:nvPr/>
        </p:nvSpPr>
        <p:spPr>
          <a:xfrm>
            <a:off x="640080" y="3429000"/>
            <a:ext cx="6035040" cy="548640"/>
          </a:xfrm>
          <a:prstGeom prst="rect">
            <a:avLst/>
          </a:prstGeom>
          <a:noFill/>
          <a:ln/>
        </p:spPr>
        <p:txBody>
          <a:bodyPr wrap="square" lIns="0" tIns="0" rIns="0" bIns="0" rtlCol="0" anchor="ctr"/>
          <a:lstStyle/>
          <a:p>
            <a:pPr indent="0" marL="0">
              <a:buNone/>
            </a:pPr>
            <a:r>
              <a:rPr lang="en-US" sz="2800" dirty="0">
                <a:solidFill>
                  <a:srgbClr val="A9A9B4"/>
                </a:solidFill>
                <a:latin typeface="Cambria" pitchFamily="34" charset="0"/>
                <a:ea typeface="Cambria" pitchFamily="34" charset="-122"/>
                <a:cs typeface="Cambria" pitchFamily="34" charset="-120"/>
              </a:rPr>
              <a:t>One example of every slide type</a:t>
            </a:r>
            <a:endParaRPr lang="en-US" sz="2800" dirty="0"/>
          </a:p>
        </p:txBody>
      </p:sp>
      <p:sp>
        <p:nvSpPr>
          <p:cNvPr id="5" name="terminal"/>
          <p:cNvSpPr/>
          <p:nvPr/>
        </p:nvSpPr>
        <p:spPr>
          <a:xfrm>
            <a:off x="6903720" y="1600200"/>
            <a:ext cx="4663440" cy="2402840"/>
          </a:xfrm>
          <a:prstGeom prst="roundRect">
            <a:avLst>
              <a:gd name="adj" fmla="val 3044"/>
            </a:avLst>
          </a:prstGeom>
          <a:solidFill>
            <a:srgbClr val="0D1310"/>
          </a:solidFill>
          <a:ln w="15875">
            <a:solidFill>
              <a:srgbClr val="2C4434"/>
            </a:solidFill>
            <a:prstDash val="solid"/>
          </a:ln>
        </p:spPr>
      </p:sp>
      <p:sp>
        <p:nvSpPr>
          <p:cNvPr id="6" name="Text 4"/>
          <p:cNvSpPr txBox="1"/>
          <p:nvPr/>
        </p:nvSpPr>
        <p:spPr>
          <a:xfrm>
            <a:off x="7132320" y="1783080"/>
            <a:ext cx="4206240" cy="274320"/>
          </a:xfrm>
          <a:prstGeom prst="rect">
            <a:avLst/>
          </a:prstGeom>
          <a:noFill/>
          <a:ln/>
        </p:spPr>
        <p:txBody>
          <a:bodyPr wrap="square" lIns="0" tIns="0" rIns="0" bIns="0" rtlCol="0" anchor="ctr"/>
          <a:lstStyle/>
          <a:p>
            <a:pPr indent="0" marL="0">
              <a:buNone/>
            </a:pPr>
            <a:r>
              <a:rPr lang="en-US" sz="1200" b="1" spc="200" kern="0" dirty="0">
                <a:solidFill>
                  <a:srgbClr val="7FD99A"/>
                </a:solidFill>
                <a:latin typeface="Calibri" pitchFamily="34" charset="0"/>
                <a:ea typeface="Calibri" pitchFamily="34" charset="-122"/>
                <a:cs typeface="Calibri" pitchFamily="34" charset="-120"/>
              </a:rPr>
              <a:t>TEMPLATE</a:t>
            </a:r>
            <a:endParaRPr lang="en-US" sz="1200" dirty="0"/>
          </a:p>
        </p:txBody>
      </p:sp>
      <p:sp>
        <p:nvSpPr>
          <p:cNvPr id="7" name="Text 5"/>
          <p:cNvSpPr txBox="1"/>
          <p:nvPr/>
        </p:nvSpPr>
        <p:spPr>
          <a:xfrm>
            <a:off x="7132320" y="2148840"/>
            <a:ext cx="4206240" cy="406400"/>
          </a:xfrm>
          <a:prstGeom prst="rect">
            <a:avLst/>
          </a:prstGeom>
          <a:noFill/>
          <a:ln/>
        </p:spPr>
        <p:txBody>
          <a:bodyPr wrap="square" lIns="0" tIns="0" rIns="0" bIns="0" rtlCol="0" anchor="ctr"/>
          <a:lstStyle/>
          <a:p>
            <a:pPr indent="0" marL="0">
              <a:buNone/>
            </a:pPr>
            <a:r>
              <a:rPr lang="en-US" sz="2000" dirty="0">
                <a:solidFill>
                  <a:srgbClr val="7FD99A"/>
                </a:solidFill>
                <a:latin typeface="Consolas" pitchFamily="34" charset="0"/>
                <a:ea typeface="Consolas" pitchFamily="34" charset="-122"/>
                <a:cs typeface="Consolas" pitchFamily="34" charset="-120"/>
              </a:rPr>
              <a:t>SLIDE TYPES ...... 16</a:t>
            </a:r>
            <a:endParaRPr lang="en-US" sz="2000" dirty="0"/>
          </a:p>
        </p:txBody>
      </p:sp>
      <p:sp>
        <p:nvSpPr>
          <p:cNvPr id="8" name="Text 6"/>
          <p:cNvSpPr txBox="1"/>
          <p:nvPr/>
        </p:nvSpPr>
        <p:spPr>
          <a:xfrm>
            <a:off x="7132320" y="2555240"/>
            <a:ext cx="4206240" cy="406400"/>
          </a:xfrm>
          <a:prstGeom prst="rect">
            <a:avLst/>
          </a:prstGeom>
          <a:noFill/>
          <a:ln/>
        </p:spPr>
        <p:txBody>
          <a:bodyPr wrap="square" lIns="0" tIns="0" rIns="0" bIns="0" rtlCol="0" anchor="ctr"/>
          <a:lstStyle/>
          <a:p>
            <a:pPr indent="0" marL="0">
              <a:buNone/>
            </a:pPr>
            <a:r>
              <a:rPr lang="en-US" sz="2000" dirty="0">
                <a:solidFill>
                  <a:srgbClr val="7FD99A"/>
                </a:solidFill>
                <a:latin typeface="Consolas" pitchFamily="34" charset="0"/>
                <a:ea typeface="Consolas" pitchFamily="34" charset="-122"/>
                <a:cs typeface="Consolas" pitchFamily="34" charset="-120"/>
              </a:rPr>
              <a:t>RULES ............ 14</a:t>
            </a:r>
            <a:endParaRPr lang="en-US" sz="2000" dirty="0"/>
          </a:p>
        </p:txBody>
      </p:sp>
      <p:sp>
        <p:nvSpPr>
          <p:cNvPr id="9" name="Text 7"/>
          <p:cNvSpPr txBox="1"/>
          <p:nvPr/>
        </p:nvSpPr>
        <p:spPr>
          <a:xfrm>
            <a:off x="7132320" y="2961640"/>
            <a:ext cx="4206240" cy="406400"/>
          </a:xfrm>
          <a:prstGeom prst="rect">
            <a:avLst/>
          </a:prstGeom>
          <a:noFill/>
          <a:ln/>
        </p:spPr>
        <p:txBody>
          <a:bodyPr wrap="square" lIns="0" tIns="0" rIns="0" bIns="0" rtlCol="0" anchor="ctr"/>
          <a:lstStyle/>
          <a:p>
            <a:pPr indent="0" marL="0">
              <a:buNone/>
            </a:pPr>
            <a:r>
              <a:rPr lang="en-US" sz="2000" dirty="0">
                <a:solidFill>
                  <a:srgbClr val="7FD99A"/>
                </a:solidFill>
                <a:latin typeface="Consolas" pitchFamily="34" charset="0"/>
                <a:ea typeface="Consolas" pitchFamily="34" charset="-122"/>
                <a:cs typeface="Consolas" pitchFamily="34" charset="-120"/>
              </a:rPr>
              <a:t>SOURCE ........... README.md</a:t>
            </a:r>
            <a:endParaRPr lang="en-US" sz="2000" dirty="0"/>
          </a:p>
        </p:txBody>
      </p:sp>
      <p:sp>
        <p:nvSpPr>
          <p:cNvPr id="10" name="Text 8"/>
          <p:cNvSpPr txBox="1"/>
          <p:nvPr/>
        </p:nvSpPr>
        <p:spPr>
          <a:xfrm>
            <a:off x="7132320" y="3368040"/>
            <a:ext cx="4206240" cy="406400"/>
          </a:xfrm>
          <a:prstGeom prst="rect">
            <a:avLst/>
          </a:prstGeom>
          <a:noFill/>
          <a:ln/>
        </p:spPr>
        <p:txBody>
          <a:bodyPr wrap="square" lIns="0" tIns="0" rIns="0" bIns="0" rtlCol="0" anchor="ctr"/>
          <a:lstStyle/>
          <a:p>
            <a:pPr indent="0" marL="0">
              <a:buNone/>
            </a:pPr>
            <a:r>
              <a:rPr lang="en-US" sz="2000" dirty="0">
                <a:solidFill>
                  <a:srgbClr val="7FD99A"/>
                </a:solidFill>
                <a:latin typeface="Consolas" pitchFamily="34" charset="0"/>
                <a:ea typeface="Consolas" pitchFamily="34" charset="-122"/>
                <a:cs typeface="Consolas" pitchFamily="34" charset="-120"/>
              </a:rPr>
              <a:t>&gt; _</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How to use this template</a:t>
            </a:r>
            <a:endParaRPr lang="en-US" sz="3600" dirty="0"/>
          </a:p>
        </p:txBody>
      </p:sp>
      <p:sp>
        <p:nvSpPr>
          <p:cNvPr id="3" name="Shape 1"/>
          <p:cNvSpPr/>
          <p:nvPr/>
        </p:nvSpPr>
        <p:spPr>
          <a:xfrm>
            <a:off x="548640" y="1600200"/>
            <a:ext cx="3538728" cy="4023360"/>
          </a:xfrm>
          <a:prstGeom prst="roundRect">
            <a:avLst>
              <a:gd name="adj" fmla="val 2067"/>
            </a:avLst>
          </a:prstGeom>
          <a:solidFill>
            <a:srgbClr val="2A2A32"/>
          </a:solidFill>
          <a:ln/>
        </p:spPr>
      </p:sp>
      <p:sp>
        <p:nvSpPr>
          <p:cNvPr id="4" name="Shape 2"/>
          <p:cNvSpPr/>
          <p:nvPr/>
        </p:nvSpPr>
        <p:spPr>
          <a:xfrm>
            <a:off x="822960" y="1874520"/>
            <a:ext cx="548640" cy="548640"/>
          </a:xfrm>
          <a:prstGeom prst="ellipse">
            <a:avLst/>
          </a:prstGeom>
          <a:solidFill>
            <a:srgbClr val="D8A73D"/>
          </a:solidFill>
          <a:ln/>
        </p:spPr>
      </p:sp>
      <p:sp>
        <p:nvSpPr>
          <p:cNvPr id="5" name="Text 3"/>
          <p:cNvSpPr txBox="1"/>
          <p:nvPr/>
        </p:nvSpPr>
        <p:spPr>
          <a:xfrm>
            <a:off x="822960" y="1874520"/>
            <a:ext cx="548640" cy="548640"/>
          </a:xfrm>
          <a:prstGeom prst="rect">
            <a:avLst/>
          </a:prstGeom>
          <a:noFill/>
          <a:ln/>
        </p:spPr>
        <p:txBody>
          <a:bodyPr wrap="square" lIns="0" tIns="0" rIns="0" bIns="0" rtlCol="0" anchor="ctr"/>
          <a:lstStyle/>
          <a:p>
            <a:pPr algn="ctr" indent="0" marL="0">
              <a:buNone/>
            </a:pPr>
            <a:r>
              <a:rPr lang="en-US" sz="2000" b="1" dirty="0">
                <a:solidFill>
                  <a:srgbClr val="1E1E24"/>
                </a:solidFill>
                <a:latin typeface="Cambria" pitchFamily="34" charset="0"/>
                <a:ea typeface="Cambria" pitchFamily="34" charset="-122"/>
                <a:cs typeface="Cambria" pitchFamily="34" charset="-120"/>
              </a:rPr>
              <a:t>1</a:t>
            </a:r>
            <a:endParaRPr lang="en-US" sz="2000" dirty="0"/>
          </a:p>
        </p:txBody>
      </p:sp>
      <p:sp>
        <p:nvSpPr>
          <p:cNvPr id="6" name="Text 4"/>
          <p:cNvSpPr txBox="1"/>
          <p:nvPr/>
        </p:nvSpPr>
        <p:spPr>
          <a:xfrm>
            <a:off x="822960" y="2606040"/>
            <a:ext cx="2990088" cy="548640"/>
          </a:xfrm>
          <a:prstGeom prst="rect">
            <a:avLst/>
          </a:prstGeom>
          <a:noFill/>
          <a:ln/>
        </p:spPr>
        <p:txBody>
          <a:bodyPr wrap="square" lIns="0" tIns="0" rIns="0" bIns="0" rtlCol="0" anchor="ctr"/>
          <a:lstStyle/>
          <a:p>
            <a:pPr indent="0" marL="0">
              <a:buNone/>
            </a:pPr>
            <a:r>
              <a:rPr lang="en-US" sz="2800" b="1" dirty="0">
                <a:solidFill>
                  <a:srgbClr val="D8A73D"/>
                </a:solidFill>
                <a:latin typeface="Cambria" pitchFamily="34" charset="0"/>
                <a:ea typeface="Cambria" pitchFamily="34" charset="-122"/>
                <a:cs typeface="Cambria" pitchFamily="34" charset="-120"/>
              </a:rPr>
              <a:t>Look</a:t>
            </a:r>
            <a:endParaRPr lang="en-US" sz="2800" dirty="0"/>
          </a:p>
        </p:txBody>
      </p:sp>
      <p:sp>
        <p:nvSpPr>
          <p:cNvPr id="7" name="Text 5"/>
          <p:cNvSpPr txBox="1"/>
          <p:nvPr/>
        </p:nvSpPr>
        <p:spPr>
          <a:xfrm>
            <a:off x="822960" y="3246120"/>
            <a:ext cx="2990088" cy="2103120"/>
          </a:xfrm>
          <a:prstGeom prst="rect">
            <a:avLst/>
          </a:prstGeom>
          <a:noFill/>
          <a:ln/>
        </p:spPr>
        <p:txBody>
          <a:bodyPr wrap="square" lIns="0" tIns="0" rIns="0" bIns="0" rtlCol="0" anchor="t"/>
          <a:lstStyle/>
          <a:p>
            <a:pPr indent="0" marL="0">
              <a:buNone/>
            </a:pPr>
            <a:r>
              <a:rPr lang="en-US" sz="2000" dirty="0">
                <a:solidFill>
                  <a:srgbClr val="F5F5F3"/>
                </a:solidFill>
                <a:latin typeface="Calibri" pitchFamily="34" charset="0"/>
                <a:ea typeface="Calibri" pitchFamily="34" charset="-122"/>
                <a:cs typeface="Calibri" pitchFamily="34" charset="-120"/>
              </a:rPr>
              <a:t>Each example is labelled in its footer with the slide type. Its speaker notes say when to use it.</a:t>
            </a:r>
            <a:endParaRPr lang="en-US" sz="2000" dirty="0"/>
          </a:p>
        </p:txBody>
      </p:sp>
      <p:sp>
        <p:nvSpPr>
          <p:cNvPr id="8" name="Shape 6"/>
          <p:cNvSpPr/>
          <p:nvPr/>
        </p:nvSpPr>
        <p:spPr>
          <a:xfrm>
            <a:off x="4325112" y="1600200"/>
            <a:ext cx="3538728" cy="4023360"/>
          </a:xfrm>
          <a:prstGeom prst="roundRect">
            <a:avLst>
              <a:gd name="adj" fmla="val 2067"/>
            </a:avLst>
          </a:prstGeom>
          <a:solidFill>
            <a:srgbClr val="2A2A32"/>
          </a:solidFill>
          <a:ln/>
        </p:spPr>
      </p:sp>
      <p:sp>
        <p:nvSpPr>
          <p:cNvPr id="9" name="Shape 7"/>
          <p:cNvSpPr/>
          <p:nvPr/>
        </p:nvSpPr>
        <p:spPr>
          <a:xfrm>
            <a:off x="4599432" y="1874520"/>
            <a:ext cx="548640" cy="548640"/>
          </a:xfrm>
          <a:prstGeom prst="ellipse">
            <a:avLst/>
          </a:prstGeom>
          <a:solidFill>
            <a:srgbClr val="D8A73D"/>
          </a:solidFill>
          <a:ln/>
        </p:spPr>
      </p:sp>
      <p:sp>
        <p:nvSpPr>
          <p:cNvPr id="10" name="Text 8"/>
          <p:cNvSpPr txBox="1"/>
          <p:nvPr/>
        </p:nvSpPr>
        <p:spPr>
          <a:xfrm>
            <a:off x="4599432" y="1874520"/>
            <a:ext cx="548640" cy="548640"/>
          </a:xfrm>
          <a:prstGeom prst="rect">
            <a:avLst/>
          </a:prstGeom>
          <a:noFill/>
          <a:ln/>
        </p:spPr>
        <p:txBody>
          <a:bodyPr wrap="square" lIns="0" tIns="0" rIns="0" bIns="0" rtlCol="0" anchor="ctr"/>
          <a:lstStyle/>
          <a:p>
            <a:pPr algn="ctr" indent="0" marL="0">
              <a:buNone/>
            </a:pPr>
            <a:r>
              <a:rPr lang="en-US" sz="2000" b="1" dirty="0">
                <a:solidFill>
                  <a:srgbClr val="1E1E24"/>
                </a:solidFill>
                <a:latin typeface="Cambria" pitchFamily="34" charset="0"/>
                <a:ea typeface="Cambria" pitchFamily="34" charset="-122"/>
                <a:cs typeface="Cambria" pitchFamily="34" charset="-120"/>
              </a:rPr>
              <a:t>2</a:t>
            </a:r>
            <a:endParaRPr lang="en-US" sz="2000" dirty="0"/>
          </a:p>
        </p:txBody>
      </p:sp>
      <p:sp>
        <p:nvSpPr>
          <p:cNvPr id="11" name="Text 9"/>
          <p:cNvSpPr txBox="1"/>
          <p:nvPr/>
        </p:nvSpPr>
        <p:spPr>
          <a:xfrm>
            <a:off x="4599432" y="2606040"/>
            <a:ext cx="2990088" cy="548640"/>
          </a:xfrm>
          <a:prstGeom prst="rect">
            <a:avLst/>
          </a:prstGeom>
          <a:noFill/>
          <a:ln/>
        </p:spPr>
        <p:txBody>
          <a:bodyPr wrap="square" lIns="0" tIns="0" rIns="0" bIns="0" rtlCol="0" anchor="ctr"/>
          <a:lstStyle/>
          <a:p>
            <a:pPr indent="0" marL="0">
              <a:buNone/>
            </a:pPr>
            <a:r>
              <a:rPr lang="en-US" sz="2800" b="1" dirty="0">
                <a:solidFill>
                  <a:srgbClr val="D8A73D"/>
                </a:solidFill>
                <a:latin typeface="Cambria" pitchFamily="34" charset="0"/>
                <a:ea typeface="Cambria" pitchFamily="34" charset="-122"/>
                <a:cs typeface="Cambria" pitchFamily="34" charset="-120"/>
              </a:rPr>
              <a:t>Build</a:t>
            </a:r>
            <a:endParaRPr lang="en-US" sz="2800" dirty="0"/>
          </a:p>
        </p:txBody>
      </p:sp>
      <p:sp>
        <p:nvSpPr>
          <p:cNvPr id="12" name="Text 10"/>
          <p:cNvSpPr txBox="1"/>
          <p:nvPr/>
        </p:nvSpPr>
        <p:spPr>
          <a:xfrm>
            <a:off x="4599432" y="3246120"/>
            <a:ext cx="2990088" cy="2103120"/>
          </a:xfrm>
          <a:prstGeom prst="rect">
            <a:avLst/>
          </a:prstGeom>
          <a:noFill/>
          <a:ln/>
        </p:spPr>
        <p:txBody>
          <a:bodyPr wrap="square" lIns="0" tIns="0" rIns="0" bIns="0" rtlCol="0" anchor="t"/>
          <a:lstStyle/>
          <a:p>
            <a:pPr indent="0" marL="0">
              <a:buNone/>
            </a:pPr>
            <a:r>
              <a:rPr lang="en-US" sz="2000" dirty="0">
                <a:solidFill>
                  <a:srgbClr val="F5F5F3"/>
                </a:solidFill>
                <a:latin typeface="Calibri" pitchFamily="34" charset="0"/>
                <a:ea typeface="Calibri" pitchFamily="34" charset="-122"/>
                <a:cs typeface="Calibri" pitchFamily="34" charset="-120"/>
              </a:rPr>
              <a:t>Copy build_deck.cjs, change only the content, then run node to make the .pptx.</a:t>
            </a:r>
            <a:endParaRPr lang="en-US" sz="2000" dirty="0"/>
          </a:p>
        </p:txBody>
      </p:sp>
      <p:sp>
        <p:nvSpPr>
          <p:cNvPr id="13" name="Shape 11"/>
          <p:cNvSpPr/>
          <p:nvPr/>
        </p:nvSpPr>
        <p:spPr>
          <a:xfrm>
            <a:off x="8101584" y="1600200"/>
            <a:ext cx="3538728" cy="4023360"/>
          </a:xfrm>
          <a:prstGeom prst="roundRect">
            <a:avLst>
              <a:gd name="adj" fmla="val 2067"/>
            </a:avLst>
          </a:prstGeom>
          <a:solidFill>
            <a:srgbClr val="2A2A32"/>
          </a:solidFill>
          <a:ln/>
        </p:spPr>
      </p:sp>
      <p:sp>
        <p:nvSpPr>
          <p:cNvPr id="14" name="Shape 12"/>
          <p:cNvSpPr/>
          <p:nvPr/>
        </p:nvSpPr>
        <p:spPr>
          <a:xfrm>
            <a:off x="8375904" y="1874520"/>
            <a:ext cx="548640" cy="548640"/>
          </a:xfrm>
          <a:prstGeom prst="ellipse">
            <a:avLst/>
          </a:prstGeom>
          <a:solidFill>
            <a:srgbClr val="D8A73D"/>
          </a:solidFill>
          <a:ln/>
        </p:spPr>
      </p:sp>
      <p:sp>
        <p:nvSpPr>
          <p:cNvPr id="15" name="Text 13"/>
          <p:cNvSpPr txBox="1"/>
          <p:nvPr/>
        </p:nvSpPr>
        <p:spPr>
          <a:xfrm>
            <a:off x="8375904" y="1874520"/>
            <a:ext cx="548640" cy="548640"/>
          </a:xfrm>
          <a:prstGeom prst="rect">
            <a:avLst/>
          </a:prstGeom>
          <a:noFill/>
          <a:ln/>
        </p:spPr>
        <p:txBody>
          <a:bodyPr wrap="square" lIns="0" tIns="0" rIns="0" bIns="0" rtlCol="0" anchor="ctr"/>
          <a:lstStyle/>
          <a:p>
            <a:pPr algn="ctr" indent="0" marL="0">
              <a:buNone/>
            </a:pPr>
            <a:r>
              <a:rPr lang="en-US" sz="2000" b="1" dirty="0">
                <a:solidFill>
                  <a:srgbClr val="1E1E24"/>
                </a:solidFill>
                <a:latin typeface="Cambria" pitchFamily="34" charset="0"/>
                <a:ea typeface="Cambria" pitchFamily="34" charset="-122"/>
                <a:cs typeface="Cambria" pitchFamily="34" charset="-120"/>
              </a:rPr>
              <a:t>3</a:t>
            </a:r>
            <a:endParaRPr lang="en-US" sz="2000" dirty="0"/>
          </a:p>
        </p:txBody>
      </p:sp>
      <p:sp>
        <p:nvSpPr>
          <p:cNvPr id="16" name="Text 14"/>
          <p:cNvSpPr txBox="1"/>
          <p:nvPr/>
        </p:nvSpPr>
        <p:spPr>
          <a:xfrm>
            <a:off x="8375904" y="2606040"/>
            <a:ext cx="2990088" cy="548640"/>
          </a:xfrm>
          <a:prstGeom prst="rect">
            <a:avLst/>
          </a:prstGeom>
          <a:noFill/>
          <a:ln/>
        </p:spPr>
        <p:txBody>
          <a:bodyPr wrap="square" lIns="0" tIns="0" rIns="0" bIns="0" rtlCol="0" anchor="ctr"/>
          <a:lstStyle/>
          <a:p>
            <a:pPr indent="0" marL="0">
              <a:buNone/>
            </a:pPr>
            <a:r>
              <a:rPr lang="en-US" sz="2800" b="1" dirty="0">
                <a:solidFill>
                  <a:srgbClr val="D8A73D"/>
                </a:solidFill>
                <a:latin typeface="Cambria" pitchFamily="34" charset="0"/>
                <a:ea typeface="Cambria" pitchFamily="34" charset="-122"/>
                <a:cs typeface="Cambria" pitchFamily="34" charset="-120"/>
              </a:rPr>
              <a:t>Feed back</a:t>
            </a:r>
            <a:endParaRPr lang="en-US" sz="2800" dirty="0"/>
          </a:p>
        </p:txBody>
      </p:sp>
      <p:sp>
        <p:nvSpPr>
          <p:cNvPr id="17" name="Text 15"/>
          <p:cNvSpPr txBox="1"/>
          <p:nvPr/>
        </p:nvSpPr>
        <p:spPr>
          <a:xfrm>
            <a:off x="8375904" y="3246120"/>
            <a:ext cx="2990088" cy="2103120"/>
          </a:xfrm>
          <a:prstGeom prst="rect">
            <a:avLst/>
          </a:prstGeom>
          <a:noFill/>
          <a:ln/>
        </p:spPr>
        <p:txBody>
          <a:bodyPr wrap="square" lIns="0" tIns="0" rIns="0" bIns="0" rtlCol="0" anchor="t"/>
          <a:lstStyle/>
          <a:p>
            <a:pPr indent="0" marL="0">
              <a:buNone/>
            </a:pPr>
            <a:r>
              <a:rPr lang="en-US" sz="2000" dirty="0">
                <a:solidFill>
                  <a:srgbClr val="F5F5F3"/>
                </a:solidFill>
                <a:latin typeface="Calibri" pitchFamily="34" charset="0"/>
                <a:ea typeface="Calibri" pitchFamily="34" charset="-122"/>
                <a:cs typeface="Calibri" pitchFamily="34" charset="-120"/>
              </a:rPr>
              <a:t>Add feedback to the log in README.md. Rebuild this template and it appears on the rules slides.</a:t>
            </a:r>
            <a:endParaRPr lang="en-US" sz="2000" dirty="0"/>
          </a:p>
        </p:txBody>
      </p:sp>
      <p:sp>
        <p:nvSpPr>
          <p:cNvPr id="18" name="Text 16"/>
          <p:cNvSpPr txBox="1"/>
          <p:nvPr/>
        </p:nvSpPr>
        <p:spPr>
          <a:xfrm>
            <a:off x="4206240" y="6355080"/>
            <a:ext cx="6812280" cy="320040"/>
          </a:xfrm>
          <a:prstGeom prst="rect">
            <a:avLst/>
          </a:prstGeom>
          <a:noFill/>
          <a:ln/>
        </p:spPr>
        <p:txBody>
          <a:bodyPr wrap="square" lIns="0" tIns="0" rIns="0" bIns="0" rtlCol="0" anchor="ctr"/>
          <a:lstStyle/>
          <a:p>
            <a:pPr algn="r" indent="0" marL="0">
              <a:buNone/>
            </a:pPr>
            <a:r>
              <a:rPr lang="en-US" sz="1300" b="1" i="1" dirty="0">
                <a:solidFill>
                  <a:srgbClr val="D8A73D"/>
                </a:solidFill>
                <a:latin typeface="Calibri" pitchFamily="34" charset="0"/>
                <a:ea typeface="Calibri" pitchFamily="34" charset="-122"/>
                <a:cs typeface="Calibri" pitchFamily="34" charset="-120"/>
              </a:rPr>
              <a:t>GUIDE</a:t>
            </a:r>
            <a:endParaRPr lang="en-US" sz="13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Slide order</a:t>
            </a:r>
            <a:endParaRPr lang="en-US" sz="3600" dirty="0"/>
          </a:p>
        </p:txBody>
      </p:sp>
      <p:sp>
        <p:nvSpPr>
          <p:cNvPr id="3" name="Shape 1"/>
          <p:cNvSpPr/>
          <p:nvPr/>
        </p:nvSpPr>
        <p:spPr>
          <a:xfrm>
            <a:off x="548640" y="1737360"/>
            <a:ext cx="1700784" cy="2743200"/>
          </a:xfrm>
          <a:prstGeom prst="roundRect">
            <a:avLst>
              <a:gd name="adj" fmla="val 4301"/>
            </a:avLst>
          </a:prstGeom>
          <a:solidFill>
            <a:srgbClr val="2A2A32"/>
          </a:solidFill>
          <a:ln/>
        </p:spPr>
      </p:sp>
      <p:pic>
        <p:nvPicPr>
          <p:cNvPr id="4" name="Image 0" descr="Recap and recall">    </p:cNvPr>
          <p:cNvPicPr>
            <a:picLocks noChangeAspect="1"/>
          </p:cNvPicPr>
          <p:nvPr/>
        </p:nvPicPr>
        <p:blipFill>
          <a:blip r:embed="rId1"/>
          <a:stretch>
            <a:fillRect/>
          </a:stretch>
        </p:blipFill>
        <p:spPr>
          <a:xfrm>
            <a:off x="1033272" y="1965960"/>
            <a:ext cx="731520" cy="731520"/>
          </a:xfrm>
          <a:prstGeom prst="rect">
            <a:avLst/>
          </a:prstGeom>
        </p:spPr>
      </p:pic>
      <p:sp>
        <p:nvSpPr>
          <p:cNvPr id="5" name="Text 2"/>
          <p:cNvSpPr txBox="1"/>
          <p:nvPr/>
        </p:nvSpPr>
        <p:spPr>
          <a:xfrm>
            <a:off x="685800" y="2880360"/>
            <a:ext cx="457200" cy="365760"/>
          </a:xfrm>
          <a:prstGeom prst="rect">
            <a:avLst/>
          </a:prstGeom>
          <a:noFill/>
          <a:ln/>
        </p:spPr>
        <p:txBody>
          <a:bodyPr wrap="square" lIns="0" tIns="0" rIns="0" bIns="0" rtlCol="0" anchor="ctr"/>
          <a:lstStyle/>
          <a:p>
            <a:pPr indent="0" marL="0">
              <a:buNone/>
            </a:pPr>
            <a:r>
              <a:rPr lang="en-US" sz="1400" b="1" dirty="0">
                <a:solidFill>
                  <a:srgbClr val="6E6E7A"/>
                </a:solidFill>
                <a:latin typeface="Calibri" pitchFamily="34" charset="0"/>
                <a:ea typeface="Calibri" pitchFamily="34" charset="-122"/>
                <a:cs typeface="Calibri" pitchFamily="34" charset="-120"/>
              </a:rPr>
              <a:t>1</a:t>
            </a:r>
            <a:endParaRPr lang="en-US" sz="1400" dirty="0"/>
          </a:p>
        </p:txBody>
      </p:sp>
      <p:sp>
        <p:nvSpPr>
          <p:cNvPr id="6" name="Text 3"/>
          <p:cNvSpPr txBox="1"/>
          <p:nvPr/>
        </p:nvSpPr>
        <p:spPr>
          <a:xfrm>
            <a:off x="685800" y="3200400"/>
            <a:ext cx="1426464" cy="731520"/>
          </a:xfrm>
          <a:prstGeom prst="rect">
            <a:avLst/>
          </a:prstGeom>
          <a:noFill/>
          <a:ln/>
        </p:spPr>
        <p:txBody>
          <a:bodyPr wrap="square" lIns="0" tIns="0" rIns="0" bIns="0" rtlCol="0" anchor="t"/>
          <a:lstStyle/>
          <a:p>
            <a:pPr indent="0" marL="0">
              <a:buNone/>
            </a:pPr>
            <a:r>
              <a:rPr lang="en-US" sz="1900" b="1" dirty="0">
                <a:solidFill>
                  <a:srgbClr val="F5F5F3"/>
                </a:solidFill>
                <a:latin typeface="Calibri" pitchFamily="34" charset="0"/>
                <a:ea typeface="Calibri" pitchFamily="34" charset="-122"/>
                <a:cs typeface="Calibri" pitchFamily="34" charset="-120"/>
              </a:rPr>
              <a:t>Recap &amp; Recall</a:t>
            </a:r>
            <a:endParaRPr lang="en-US" sz="1900" dirty="0"/>
          </a:p>
        </p:txBody>
      </p:sp>
      <p:sp>
        <p:nvSpPr>
          <p:cNvPr id="7" name="Text 4"/>
          <p:cNvSpPr txBox="1"/>
          <p:nvPr/>
        </p:nvSpPr>
        <p:spPr>
          <a:xfrm>
            <a:off x="685800" y="3977640"/>
            <a:ext cx="1426464" cy="320040"/>
          </a:xfrm>
          <a:prstGeom prst="rect">
            <a:avLst/>
          </a:prstGeom>
          <a:noFill/>
          <a:ln/>
        </p:spPr>
        <p:txBody>
          <a:bodyPr wrap="square" lIns="0" tIns="0" rIns="0" bIns="0" rtlCol="0" anchor="ctr"/>
          <a:lstStyle/>
          <a:p>
            <a:pPr indent="0" marL="0">
              <a:buNone/>
            </a:pPr>
            <a:r>
              <a:rPr lang="en-US" sz="1400" i="1" dirty="0">
                <a:solidFill>
                  <a:srgbClr val="A9A9B4"/>
                </a:solidFill>
                <a:latin typeface="Calibri" pitchFamily="34" charset="0"/>
                <a:ea typeface="Calibri" pitchFamily="34" charset="-122"/>
                <a:cs typeface="Calibri" pitchFamily="34" charset="-120"/>
              </a:rPr>
              <a:t>light</a:t>
            </a:r>
            <a:endParaRPr lang="en-US" sz="1400" dirty="0"/>
          </a:p>
        </p:txBody>
      </p:sp>
      <p:sp>
        <p:nvSpPr>
          <p:cNvPr id="8" name="Shape 5"/>
          <p:cNvSpPr/>
          <p:nvPr/>
        </p:nvSpPr>
        <p:spPr>
          <a:xfrm>
            <a:off x="2258568" y="3108960"/>
            <a:ext cx="155448" cy="0"/>
          </a:xfrm>
          <a:prstGeom prst="line">
            <a:avLst/>
          </a:prstGeom>
          <a:noFill/>
          <a:ln w="28575">
            <a:solidFill>
              <a:srgbClr val="D8A73D"/>
            </a:solidFill>
            <a:prstDash val="solid"/>
            <a:tailEnd type="triangle"/>
          </a:ln>
        </p:spPr>
      </p:sp>
      <p:sp>
        <p:nvSpPr>
          <p:cNvPr id="9" name="Shape 6"/>
          <p:cNvSpPr/>
          <p:nvPr/>
        </p:nvSpPr>
        <p:spPr>
          <a:xfrm>
            <a:off x="2423160" y="1737360"/>
            <a:ext cx="1700784" cy="2743200"/>
          </a:xfrm>
          <a:prstGeom prst="roundRect">
            <a:avLst>
              <a:gd name="adj" fmla="val 4301"/>
            </a:avLst>
          </a:prstGeom>
          <a:solidFill>
            <a:srgbClr val="2A2A32"/>
          </a:solidFill>
          <a:ln/>
        </p:spPr>
      </p:sp>
      <p:pic>
        <p:nvPicPr>
          <p:cNvPr id="10" name="Image 1" descr="Recap and recall">    </p:cNvPr>
          <p:cNvPicPr>
            <a:picLocks noChangeAspect="1"/>
          </p:cNvPicPr>
          <p:nvPr/>
        </p:nvPicPr>
        <p:blipFill>
          <a:blip r:embed="rId2"/>
          <a:stretch>
            <a:fillRect/>
          </a:stretch>
        </p:blipFill>
        <p:spPr>
          <a:xfrm>
            <a:off x="2907792" y="1965960"/>
            <a:ext cx="731520" cy="731520"/>
          </a:xfrm>
          <a:prstGeom prst="rect">
            <a:avLst/>
          </a:prstGeom>
        </p:spPr>
      </p:pic>
      <p:sp>
        <p:nvSpPr>
          <p:cNvPr id="11" name="Text 7"/>
          <p:cNvSpPr txBox="1"/>
          <p:nvPr/>
        </p:nvSpPr>
        <p:spPr>
          <a:xfrm>
            <a:off x="2560320" y="2880360"/>
            <a:ext cx="457200" cy="365760"/>
          </a:xfrm>
          <a:prstGeom prst="rect">
            <a:avLst/>
          </a:prstGeom>
          <a:noFill/>
          <a:ln/>
        </p:spPr>
        <p:txBody>
          <a:bodyPr wrap="square" lIns="0" tIns="0" rIns="0" bIns="0" rtlCol="0" anchor="ctr"/>
          <a:lstStyle/>
          <a:p>
            <a:pPr indent="0" marL="0">
              <a:buNone/>
            </a:pPr>
            <a:r>
              <a:rPr lang="en-US" sz="1400" b="1" dirty="0">
                <a:solidFill>
                  <a:srgbClr val="6E6E7A"/>
                </a:solidFill>
                <a:latin typeface="Calibri" pitchFamily="34" charset="0"/>
                <a:ea typeface="Calibri" pitchFamily="34" charset="-122"/>
                <a:cs typeface="Calibri" pitchFamily="34" charset="-120"/>
              </a:rPr>
              <a:t>2</a:t>
            </a:r>
            <a:endParaRPr lang="en-US" sz="1400" dirty="0"/>
          </a:p>
        </p:txBody>
      </p:sp>
      <p:sp>
        <p:nvSpPr>
          <p:cNvPr id="12" name="Text 8"/>
          <p:cNvSpPr txBox="1"/>
          <p:nvPr/>
        </p:nvSpPr>
        <p:spPr>
          <a:xfrm>
            <a:off x="2560320" y="3200400"/>
            <a:ext cx="1426464" cy="731520"/>
          </a:xfrm>
          <a:prstGeom prst="rect">
            <a:avLst/>
          </a:prstGeom>
          <a:noFill/>
          <a:ln/>
        </p:spPr>
        <p:txBody>
          <a:bodyPr wrap="square" lIns="0" tIns="0" rIns="0" bIns="0" rtlCol="0" anchor="t"/>
          <a:lstStyle/>
          <a:p>
            <a:pPr indent="0" marL="0">
              <a:buNone/>
            </a:pPr>
            <a:r>
              <a:rPr lang="en-US" sz="1900" b="1" dirty="0">
                <a:solidFill>
                  <a:srgbClr val="F5F5F3"/>
                </a:solidFill>
                <a:latin typeface="Calibri" pitchFamily="34" charset="0"/>
                <a:ea typeface="Calibri" pitchFamily="34" charset="-122"/>
                <a:cs typeface="Calibri" pitchFamily="34" charset="-120"/>
              </a:rPr>
              <a:t>Answers</a:t>
            </a:r>
            <a:endParaRPr lang="en-US" sz="1900" dirty="0"/>
          </a:p>
        </p:txBody>
      </p:sp>
      <p:sp>
        <p:nvSpPr>
          <p:cNvPr id="13" name="Text 9"/>
          <p:cNvSpPr txBox="1"/>
          <p:nvPr/>
        </p:nvSpPr>
        <p:spPr>
          <a:xfrm>
            <a:off x="2560320" y="3977640"/>
            <a:ext cx="1426464" cy="320040"/>
          </a:xfrm>
          <a:prstGeom prst="rect">
            <a:avLst/>
          </a:prstGeom>
          <a:noFill/>
          <a:ln/>
        </p:spPr>
        <p:txBody>
          <a:bodyPr wrap="square" lIns="0" tIns="0" rIns="0" bIns="0" rtlCol="0" anchor="ctr"/>
          <a:lstStyle/>
          <a:p>
            <a:pPr indent="0" marL="0">
              <a:buNone/>
            </a:pPr>
            <a:r>
              <a:rPr lang="en-US" sz="1400" i="1" dirty="0">
                <a:solidFill>
                  <a:srgbClr val="A9A9B4"/>
                </a:solidFill>
                <a:latin typeface="Calibri" pitchFamily="34" charset="0"/>
                <a:ea typeface="Calibri" pitchFamily="34" charset="-122"/>
                <a:cs typeface="Calibri" pitchFamily="34" charset="-120"/>
              </a:rPr>
              <a:t>dark</a:t>
            </a:r>
            <a:endParaRPr lang="en-US" sz="1400" dirty="0"/>
          </a:p>
        </p:txBody>
      </p:sp>
      <p:sp>
        <p:nvSpPr>
          <p:cNvPr id="14" name="Shape 10"/>
          <p:cNvSpPr/>
          <p:nvPr/>
        </p:nvSpPr>
        <p:spPr>
          <a:xfrm>
            <a:off x="4133088" y="3108960"/>
            <a:ext cx="155448" cy="0"/>
          </a:xfrm>
          <a:prstGeom prst="line">
            <a:avLst/>
          </a:prstGeom>
          <a:noFill/>
          <a:ln w="28575">
            <a:solidFill>
              <a:srgbClr val="D8A73D"/>
            </a:solidFill>
            <a:prstDash val="solid"/>
            <a:tailEnd type="triangle"/>
          </a:ln>
        </p:spPr>
      </p:sp>
      <p:sp>
        <p:nvSpPr>
          <p:cNvPr id="15" name="Shape 11"/>
          <p:cNvSpPr/>
          <p:nvPr/>
        </p:nvSpPr>
        <p:spPr>
          <a:xfrm>
            <a:off x="4297680" y="1737360"/>
            <a:ext cx="1700784" cy="2743200"/>
          </a:xfrm>
          <a:prstGeom prst="roundRect">
            <a:avLst>
              <a:gd name="adj" fmla="val 4301"/>
            </a:avLst>
          </a:prstGeom>
          <a:solidFill>
            <a:srgbClr val="2A2A32"/>
          </a:solidFill>
          <a:ln/>
        </p:spPr>
      </p:sp>
      <p:sp>
        <p:nvSpPr>
          <p:cNvPr id="16" name="Shape 12"/>
          <p:cNvSpPr/>
          <p:nvPr/>
        </p:nvSpPr>
        <p:spPr>
          <a:xfrm>
            <a:off x="4782312" y="1965960"/>
            <a:ext cx="731520" cy="731520"/>
          </a:xfrm>
          <a:prstGeom prst="ellipse">
            <a:avLst/>
          </a:prstGeom>
          <a:solidFill>
            <a:srgbClr val="1E1E24"/>
          </a:solidFill>
          <a:ln/>
        </p:spPr>
      </p:sp>
      <p:sp>
        <p:nvSpPr>
          <p:cNvPr id="17" name="Text 13"/>
          <p:cNvSpPr txBox="1"/>
          <p:nvPr/>
        </p:nvSpPr>
        <p:spPr>
          <a:xfrm>
            <a:off x="4782312" y="1965960"/>
            <a:ext cx="731520" cy="731520"/>
          </a:xfrm>
          <a:prstGeom prst="rect">
            <a:avLst/>
          </a:prstGeom>
          <a:noFill/>
          <a:ln/>
        </p:spPr>
        <p:txBody>
          <a:bodyPr wrap="square" lIns="0" tIns="0" rIns="0" bIns="0" rtlCol="0" anchor="ctr"/>
          <a:lstStyle/>
          <a:p>
            <a:pPr algn="ctr" indent="0" marL="0">
              <a:buNone/>
            </a:pPr>
            <a:r>
              <a:rPr lang="en-US" sz="2000" b="1" dirty="0">
                <a:solidFill>
                  <a:srgbClr val="D8A73D"/>
                </a:solidFill>
                <a:latin typeface="Cambria" pitchFamily="34" charset="0"/>
                <a:ea typeface="Cambria" pitchFamily="34" charset="-122"/>
                <a:cs typeface="Cambria" pitchFamily="34" charset="-120"/>
              </a:rPr>
              <a:t>T</a:t>
            </a:r>
            <a:endParaRPr lang="en-US" sz="2000" dirty="0"/>
          </a:p>
        </p:txBody>
      </p:sp>
      <p:sp>
        <p:nvSpPr>
          <p:cNvPr id="18" name="Text 14"/>
          <p:cNvSpPr txBox="1"/>
          <p:nvPr/>
        </p:nvSpPr>
        <p:spPr>
          <a:xfrm>
            <a:off x="4434840" y="2880360"/>
            <a:ext cx="457200" cy="365760"/>
          </a:xfrm>
          <a:prstGeom prst="rect">
            <a:avLst/>
          </a:prstGeom>
          <a:noFill/>
          <a:ln/>
        </p:spPr>
        <p:txBody>
          <a:bodyPr wrap="square" lIns="0" tIns="0" rIns="0" bIns="0" rtlCol="0" anchor="ctr"/>
          <a:lstStyle/>
          <a:p>
            <a:pPr indent="0" marL="0">
              <a:buNone/>
            </a:pPr>
            <a:r>
              <a:rPr lang="en-US" sz="1400" b="1" dirty="0">
                <a:solidFill>
                  <a:srgbClr val="6E6E7A"/>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4434840" y="3200400"/>
            <a:ext cx="1426464" cy="731520"/>
          </a:xfrm>
          <a:prstGeom prst="rect">
            <a:avLst/>
          </a:prstGeom>
          <a:noFill/>
          <a:ln/>
        </p:spPr>
        <p:txBody>
          <a:bodyPr wrap="square" lIns="0" tIns="0" rIns="0" bIns="0" rtlCol="0" anchor="t"/>
          <a:lstStyle/>
          <a:p>
            <a:pPr indent="0" marL="0">
              <a:buNone/>
            </a:pPr>
            <a:r>
              <a:rPr lang="en-US" sz="1900" b="1" dirty="0">
                <a:solidFill>
                  <a:srgbClr val="F5F5F3"/>
                </a:solidFill>
                <a:latin typeface="Calibri" pitchFamily="34" charset="0"/>
                <a:ea typeface="Calibri" pitchFamily="34" charset="-122"/>
                <a:cs typeface="Calibri" pitchFamily="34" charset="-120"/>
              </a:rPr>
              <a:t>Title</a:t>
            </a:r>
            <a:endParaRPr lang="en-US" sz="1900" dirty="0"/>
          </a:p>
        </p:txBody>
      </p:sp>
      <p:sp>
        <p:nvSpPr>
          <p:cNvPr id="20" name="Text 16"/>
          <p:cNvSpPr txBox="1"/>
          <p:nvPr/>
        </p:nvSpPr>
        <p:spPr>
          <a:xfrm>
            <a:off x="4434840" y="3977640"/>
            <a:ext cx="1426464" cy="320040"/>
          </a:xfrm>
          <a:prstGeom prst="rect">
            <a:avLst/>
          </a:prstGeom>
          <a:noFill/>
          <a:ln/>
        </p:spPr>
        <p:txBody>
          <a:bodyPr wrap="square" lIns="0" tIns="0" rIns="0" bIns="0" rtlCol="0" anchor="ctr"/>
          <a:lstStyle/>
          <a:p>
            <a:pPr indent="0" marL="0">
              <a:buNone/>
            </a:pPr>
            <a:r>
              <a:rPr lang="en-US" sz="1400" i="1" dirty="0">
                <a:solidFill>
                  <a:srgbClr val="A9A9B4"/>
                </a:solidFill>
                <a:latin typeface="Calibri" pitchFamily="34" charset="0"/>
                <a:ea typeface="Calibri" pitchFamily="34" charset="-122"/>
                <a:cs typeface="Calibri" pitchFamily="34" charset="-120"/>
              </a:rPr>
              <a:t>story</a:t>
            </a:r>
            <a:endParaRPr lang="en-US" sz="1400" dirty="0"/>
          </a:p>
        </p:txBody>
      </p:sp>
      <p:sp>
        <p:nvSpPr>
          <p:cNvPr id="21" name="Shape 17"/>
          <p:cNvSpPr/>
          <p:nvPr/>
        </p:nvSpPr>
        <p:spPr>
          <a:xfrm>
            <a:off x="6007608" y="3108960"/>
            <a:ext cx="155448" cy="0"/>
          </a:xfrm>
          <a:prstGeom prst="line">
            <a:avLst/>
          </a:prstGeom>
          <a:noFill/>
          <a:ln w="28575">
            <a:solidFill>
              <a:srgbClr val="D8A73D"/>
            </a:solidFill>
            <a:prstDash val="solid"/>
            <a:tailEnd type="triangle"/>
          </a:ln>
        </p:spPr>
      </p:sp>
      <p:sp>
        <p:nvSpPr>
          <p:cNvPr id="22" name="Shape 18"/>
          <p:cNvSpPr/>
          <p:nvPr/>
        </p:nvSpPr>
        <p:spPr>
          <a:xfrm>
            <a:off x="6172200" y="1737360"/>
            <a:ext cx="1700784" cy="2743200"/>
          </a:xfrm>
          <a:prstGeom prst="roundRect">
            <a:avLst>
              <a:gd name="adj" fmla="val 4301"/>
            </a:avLst>
          </a:prstGeom>
          <a:solidFill>
            <a:srgbClr val="2A2A32"/>
          </a:solidFill>
          <a:ln/>
        </p:spPr>
      </p:sp>
      <p:pic>
        <p:nvPicPr>
          <p:cNvPr id="23" name="Image 2" descr="Clarity of learning intentions">    </p:cNvPr>
          <p:cNvPicPr>
            <a:picLocks noChangeAspect="1"/>
          </p:cNvPicPr>
          <p:nvPr/>
        </p:nvPicPr>
        <p:blipFill>
          <a:blip r:embed="rId3"/>
          <a:stretch>
            <a:fillRect/>
          </a:stretch>
        </p:blipFill>
        <p:spPr>
          <a:xfrm>
            <a:off x="6656832" y="1965960"/>
            <a:ext cx="731520" cy="731520"/>
          </a:xfrm>
          <a:prstGeom prst="rect">
            <a:avLst/>
          </a:prstGeom>
        </p:spPr>
      </p:pic>
      <p:sp>
        <p:nvSpPr>
          <p:cNvPr id="24" name="Text 19"/>
          <p:cNvSpPr txBox="1"/>
          <p:nvPr/>
        </p:nvSpPr>
        <p:spPr>
          <a:xfrm>
            <a:off x="6309360" y="2880360"/>
            <a:ext cx="457200" cy="365760"/>
          </a:xfrm>
          <a:prstGeom prst="rect">
            <a:avLst/>
          </a:prstGeom>
          <a:noFill/>
          <a:ln/>
        </p:spPr>
        <p:txBody>
          <a:bodyPr wrap="square" lIns="0" tIns="0" rIns="0" bIns="0" rtlCol="0" anchor="ctr"/>
          <a:lstStyle/>
          <a:p>
            <a:pPr indent="0" marL="0">
              <a:buNone/>
            </a:pPr>
            <a:r>
              <a:rPr lang="en-US" sz="1400" b="1" dirty="0">
                <a:solidFill>
                  <a:srgbClr val="6E6E7A"/>
                </a:solidFill>
                <a:latin typeface="Calibri" pitchFamily="34" charset="0"/>
                <a:ea typeface="Calibri" pitchFamily="34" charset="-122"/>
                <a:cs typeface="Calibri" pitchFamily="34" charset="-120"/>
              </a:rPr>
              <a:t>4</a:t>
            </a:r>
            <a:endParaRPr lang="en-US" sz="1400" dirty="0"/>
          </a:p>
        </p:txBody>
      </p:sp>
      <p:sp>
        <p:nvSpPr>
          <p:cNvPr id="25" name="Text 20"/>
          <p:cNvSpPr txBox="1"/>
          <p:nvPr/>
        </p:nvSpPr>
        <p:spPr>
          <a:xfrm>
            <a:off x="6309360" y="3200400"/>
            <a:ext cx="1426464" cy="731520"/>
          </a:xfrm>
          <a:prstGeom prst="rect">
            <a:avLst/>
          </a:prstGeom>
          <a:noFill/>
          <a:ln/>
        </p:spPr>
        <p:txBody>
          <a:bodyPr wrap="square" lIns="0" tIns="0" rIns="0" bIns="0" rtlCol="0" anchor="t"/>
          <a:lstStyle/>
          <a:p>
            <a:pPr indent="0" marL="0">
              <a:buNone/>
            </a:pPr>
            <a:r>
              <a:rPr lang="en-US" sz="1900" b="1" dirty="0">
                <a:solidFill>
                  <a:srgbClr val="F5F5F3"/>
                </a:solidFill>
                <a:latin typeface="Calibri" pitchFamily="34" charset="0"/>
                <a:ea typeface="Calibri" pitchFamily="34" charset="-122"/>
                <a:cs typeface="Calibri" pitchFamily="34" charset="-120"/>
              </a:rPr>
              <a:t>Topic + lesson question</a:t>
            </a:r>
            <a:endParaRPr lang="en-US" sz="1900" dirty="0"/>
          </a:p>
        </p:txBody>
      </p:sp>
      <p:sp>
        <p:nvSpPr>
          <p:cNvPr id="26" name="Shape 21"/>
          <p:cNvSpPr/>
          <p:nvPr/>
        </p:nvSpPr>
        <p:spPr>
          <a:xfrm>
            <a:off x="7882128" y="3108960"/>
            <a:ext cx="155448" cy="0"/>
          </a:xfrm>
          <a:prstGeom prst="line">
            <a:avLst/>
          </a:prstGeom>
          <a:noFill/>
          <a:ln w="28575">
            <a:solidFill>
              <a:srgbClr val="D8A73D"/>
            </a:solidFill>
            <a:prstDash val="solid"/>
            <a:tailEnd type="triangle"/>
          </a:ln>
        </p:spPr>
      </p:sp>
      <p:sp>
        <p:nvSpPr>
          <p:cNvPr id="27" name="Shape 22"/>
          <p:cNvSpPr/>
          <p:nvPr/>
        </p:nvSpPr>
        <p:spPr>
          <a:xfrm>
            <a:off x="8046720" y="1737360"/>
            <a:ext cx="1700784" cy="2743200"/>
          </a:xfrm>
          <a:prstGeom prst="roundRect">
            <a:avLst>
              <a:gd name="adj" fmla="val 4301"/>
            </a:avLst>
          </a:prstGeom>
          <a:solidFill>
            <a:srgbClr val="2A2A32"/>
          </a:solidFill>
          <a:ln/>
        </p:spPr>
      </p:sp>
      <p:pic>
        <p:nvPicPr>
          <p:cNvPr id="28" name="Image 3" descr="New information">    </p:cNvPr>
          <p:cNvPicPr>
            <a:picLocks noChangeAspect="1"/>
          </p:cNvPicPr>
          <p:nvPr/>
        </p:nvPicPr>
        <p:blipFill>
          <a:blip r:embed="rId4"/>
          <a:stretch>
            <a:fillRect/>
          </a:stretch>
        </p:blipFill>
        <p:spPr>
          <a:xfrm>
            <a:off x="8165592" y="2011680"/>
            <a:ext cx="457200" cy="457200"/>
          </a:xfrm>
          <a:prstGeom prst="rect">
            <a:avLst/>
          </a:prstGeom>
        </p:spPr>
      </p:pic>
      <p:pic>
        <p:nvPicPr>
          <p:cNvPr id="29" name="Image 4" descr="Deliberate practice">    </p:cNvPr>
          <p:cNvPicPr>
            <a:picLocks noChangeAspect="1"/>
          </p:cNvPicPr>
          <p:nvPr/>
        </p:nvPicPr>
        <p:blipFill>
          <a:blip r:embed="rId5"/>
          <a:stretch>
            <a:fillRect/>
          </a:stretch>
        </p:blipFill>
        <p:spPr>
          <a:xfrm>
            <a:off x="8668512" y="2011680"/>
            <a:ext cx="457200" cy="457200"/>
          </a:xfrm>
          <a:prstGeom prst="rect">
            <a:avLst/>
          </a:prstGeom>
        </p:spPr>
      </p:pic>
      <p:pic>
        <p:nvPicPr>
          <p:cNvPr id="30" name="Image 5" descr="Feedback">    </p:cNvPr>
          <p:cNvPicPr>
            <a:picLocks noChangeAspect="1"/>
          </p:cNvPicPr>
          <p:nvPr/>
        </p:nvPicPr>
        <p:blipFill>
          <a:blip r:embed="rId6"/>
          <a:stretch>
            <a:fillRect/>
          </a:stretch>
        </p:blipFill>
        <p:spPr>
          <a:xfrm>
            <a:off x="9171432" y="2011680"/>
            <a:ext cx="457200" cy="457200"/>
          </a:xfrm>
          <a:prstGeom prst="rect">
            <a:avLst/>
          </a:prstGeom>
        </p:spPr>
      </p:pic>
      <p:sp>
        <p:nvSpPr>
          <p:cNvPr id="31" name="Text 23"/>
          <p:cNvSpPr txBox="1"/>
          <p:nvPr/>
        </p:nvSpPr>
        <p:spPr>
          <a:xfrm>
            <a:off x="8183880" y="2880360"/>
            <a:ext cx="457200" cy="365760"/>
          </a:xfrm>
          <a:prstGeom prst="rect">
            <a:avLst/>
          </a:prstGeom>
          <a:noFill/>
          <a:ln/>
        </p:spPr>
        <p:txBody>
          <a:bodyPr wrap="square" lIns="0" tIns="0" rIns="0" bIns="0" rtlCol="0" anchor="ctr"/>
          <a:lstStyle/>
          <a:p>
            <a:pPr indent="0" marL="0">
              <a:buNone/>
            </a:pPr>
            <a:r>
              <a:rPr lang="en-US" sz="1400" b="1" dirty="0">
                <a:solidFill>
                  <a:srgbClr val="6E6E7A"/>
                </a:solidFill>
                <a:latin typeface="Calibri" pitchFamily="34" charset="0"/>
                <a:ea typeface="Calibri" pitchFamily="34" charset="-122"/>
                <a:cs typeface="Calibri" pitchFamily="34" charset="-120"/>
              </a:rPr>
              <a:t>5</a:t>
            </a:r>
            <a:endParaRPr lang="en-US" sz="1400" dirty="0"/>
          </a:p>
        </p:txBody>
      </p:sp>
      <p:sp>
        <p:nvSpPr>
          <p:cNvPr id="32" name="Text 24"/>
          <p:cNvSpPr txBox="1"/>
          <p:nvPr/>
        </p:nvSpPr>
        <p:spPr>
          <a:xfrm>
            <a:off x="8183880" y="3200400"/>
            <a:ext cx="1426464" cy="731520"/>
          </a:xfrm>
          <a:prstGeom prst="rect">
            <a:avLst/>
          </a:prstGeom>
          <a:noFill/>
          <a:ln/>
        </p:spPr>
        <p:txBody>
          <a:bodyPr wrap="square" lIns="0" tIns="0" rIns="0" bIns="0" rtlCol="0" anchor="t"/>
          <a:lstStyle/>
          <a:p>
            <a:pPr indent="0" marL="0">
              <a:buNone/>
            </a:pPr>
            <a:r>
              <a:rPr lang="en-US" sz="1900" b="1" dirty="0">
                <a:solidFill>
                  <a:srgbClr val="F5F5F3"/>
                </a:solidFill>
                <a:latin typeface="Calibri" pitchFamily="34" charset="0"/>
                <a:ea typeface="Calibri" pitchFamily="34" charset="-122"/>
                <a:cs typeface="Calibri" pitchFamily="34" charset="-120"/>
              </a:rPr>
              <a:t>Lesson content</a:t>
            </a:r>
            <a:endParaRPr lang="en-US" sz="1900" dirty="0"/>
          </a:p>
        </p:txBody>
      </p:sp>
      <p:sp>
        <p:nvSpPr>
          <p:cNvPr id="33" name="Text 25"/>
          <p:cNvSpPr txBox="1"/>
          <p:nvPr/>
        </p:nvSpPr>
        <p:spPr>
          <a:xfrm>
            <a:off x="8183880" y="3977640"/>
            <a:ext cx="1426464" cy="320040"/>
          </a:xfrm>
          <a:prstGeom prst="rect">
            <a:avLst/>
          </a:prstGeom>
          <a:noFill/>
          <a:ln/>
        </p:spPr>
        <p:txBody>
          <a:bodyPr wrap="square" lIns="0" tIns="0" rIns="0" bIns="0" rtlCol="0" anchor="ctr"/>
          <a:lstStyle/>
          <a:p>
            <a:pPr indent="0" marL="0">
              <a:buNone/>
            </a:pPr>
            <a:r>
              <a:rPr lang="en-US" sz="1400" i="1" dirty="0">
                <a:solidFill>
                  <a:srgbClr val="A9A9B4"/>
                </a:solidFill>
                <a:latin typeface="Calibri" pitchFamily="34" charset="0"/>
                <a:ea typeface="Calibri" pitchFamily="34" charset="-122"/>
                <a:cs typeface="Calibri" pitchFamily="34" charset="-120"/>
              </a:rPr>
              <a:t>repeat</a:t>
            </a:r>
            <a:endParaRPr lang="en-US" sz="1400" dirty="0"/>
          </a:p>
        </p:txBody>
      </p:sp>
      <p:sp>
        <p:nvSpPr>
          <p:cNvPr id="34" name="Shape 26"/>
          <p:cNvSpPr/>
          <p:nvPr/>
        </p:nvSpPr>
        <p:spPr>
          <a:xfrm>
            <a:off x="9756648" y="3108960"/>
            <a:ext cx="155448" cy="0"/>
          </a:xfrm>
          <a:prstGeom prst="line">
            <a:avLst/>
          </a:prstGeom>
          <a:noFill/>
          <a:ln w="28575">
            <a:solidFill>
              <a:srgbClr val="D8A73D"/>
            </a:solidFill>
            <a:prstDash val="solid"/>
            <a:tailEnd type="triangle"/>
          </a:ln>
        </p:spPr>
      </p:sp>
      <p:sp>
        <p:nvSpPr>
          <p:cNvPr id="35" name="Shape 27"/>
          <p:cNvSpPr/>
          <p:nvPr/>
        </p:nvSpPr>
        <p:spPr>
          <a:xfrm>
            <a:off x="9921240" y="1737360"/>
            <a:ext cx="1700784" cy="2743200"/>
          </a:xfrm>
          <a:prstGeom prst="roundRect">
            <a:avLst>
              <a:gd name="adj" fmla="val 4301"/>
            </a:avLst>
          </a:prstGeom>
          <a:solidFill>
            <a:srgbClr val="2A2A32"/>
          </a:solidFill>
          <a:ln/>
        </p:spPr>
      </p:sp>
      <p:pic>
        <p:nvPicPr>
          <p:cNvPr id="36" name="Image 6" descr="Recap and recall">    </p:cNvPr>
          <p:cNvPicPr>
            <a:picLocks noChangeAspect="1"/>
          </p:cNvPicPr>
          <p:nvPr/>
        </p:nvPicPr>
        <p:blipFill>
          <a:blip r:embed="rId7"/>
          <a:stretch>
            <a:fillRect/>
          </a:stretch>
        </p:blipFill>
        <p:spPr>
          <a:xfrm>
            <a:off x="10405872" y="1965960"/>
            <a:ext cx="731520" cy="731520"/>
          </a:xfrm>
          <a:prstGeom prst="rect">
            <a:avLst/>
          </a:prstGeom>
        </p:spPr>
      </p:pic>
      <p:sp>
        <p:nvSpPr>
          <p:cNvPr id="37" name="Text 28"/>
          <p:cNvSpPr txBox="1"/>
          <p:nvPr/>
        </p:nvSpPr>
        <p:spPr>
          <a:xfrm>
            <a:off x="10058400" y="2880360"/>
            <a:ext cx="457200" cy="365760"/>
          </a:xfrm>
          <a:prstGeom prst="rect">
            <a:avLst/>
          </a:prstGeom>
          <a:noFill/>
          <a:ln/>
        </p:spPr>
        <p:txBody>
          <a:bodyPr wrap="square" lIns="0" tIns="0" rIns="0" bIns="0" rtlCol="0" anchor="ctr"/>
          <a:lstStyle/>
          <a:p>
            <a:pPr indent="0" marL="0">
              <a:buNone/>
            </a:pPr>
            <a:r>
              <a:rPr lang="en-US" sz="1400" b="1" dirty="0">
                <a:solidFill>
                  <a:srgbClr val="6E6E7A"/>
                </a:solidFill>
                <a:latin typeface="Calibri" pitchFamily="34" charset="0"/>
                <a:ea typeface="Calibri" pitchFamily="34" charset="-122"/>
                <a:cs typeface="Calibri" pitchFamily="34" charset="-120"/>
              </a:rPr>
              <a:t>6</a:t>
            </a:r>
            <a:endParaRPr lang="en-US" sz="1400" dirty="0"/>
          </a:p>
        </p:txBody>
      </p:sp>
      <p:sp>
        <p:nvSpPr>
          <p:cNvPr id="38" name="Text 29"/>
          <p:cNvSpPr txBox="1"/>
          <p:nvPr/>
        </p:nvSpPr>
        <p:spPr>
          <a:xfrm>
            <a:off x="10058400" y="3200400"/>
            <a:ext cx="1426464" cy="731520"/>
          </a:xfrm>
          <a:prstGeom prst="rect">
            <a:avLst/>
          </a:prstGeom>
          <a:noFill/>
          <a:ln/>
        </p:spPr>
        <p:txBody>
          <a:bodyPr wrap="square" lIns="0" tIns="0" rIns="0" bIns="0" rtlCol="0" anchor="t"/>
          <a:lstStyle/>
          <a:p>
            <a:pPr indent="0" marL="0">
              <a:buNone/>
            </a:pPr>
            <a:r>
              <a:rPr lang="en-US" sz="1900" b="1" dirty="0">
                <a:solidFill>
                  <a:srgbClr val="F5F5F3"/>
                </a:solidFill>
                <a:latin typeface="Calibri" pitchFamily="34" charset="0"/>
                <a:ea typeface="Calibri" pitchFamily="34" charset="-122"/>
                <a:cs typeface="Calibri" pitchFamily="34" charset="-120"/>
              </a:rPr>
              <a:t>Plenary</a:t>
            </a:r>
            <a:endParaRPr lang="en-US" sz="1900" dirty="0"/>
          </a:p>
        </p:txBody>
      </p:sp>
      <p:sp>
        <p:nvSpPr>
          <p:cNvPr id="39" name="Text 30"/>
          <p:cNvSpPr txBox="1"/>
          <p:nvPr/>
        </p:nvSpPr>
        <p:spPr>
          <a:xfrm>
            <a:off x="10058400" y="3977640"/>
            <a:ext cx="1426464" cy="320040"/>
          </a:xfrm>
          <a:prstGeom prst="rect">
            <a:avLst/>
          </a:prstGeom>
          <a:noFill/>
          <a:ln/>
        </p:spPr>
        <p:txBody>
          <a:bodyPr wrap="square" lIns="0" tIns="0" rIns="0" bIns="0" rtlCol="0" anchor="ctr"/>
          <a:lstStyle/>
          <a:p>
            <a:pPr indent="0" marL="0">
              <a:buNone/>
            </a:pPr>
            <a:r>
              <a:rPr lang="en-US" sz="1400" i="1" dirty="0">
                <a:solidFill>
                  <a:srgbClr val="A9A9B4"/>
                </a:solidFill>
                <a:latin typeface="Calibri" pitchFamily="34" charset="0"/>
                <a:ea typeface="Calibri" pitchFamily="34" charset="-122"/>
                <a:cs typeface="Calibri" pitchFamily="34" charset="-120"/>
              </a:rPr>
              <a:t>exit task</a:t>
            </a:r>
            <a:endParaRPr lang="en-US" sz="1400" dirty="0"/>
          </a:p>
        </p:txBody>
      </p:sp>
      <p:pic>
        <p:nvPicPr>
          <p:cNvPr id="40" name="Image 7" descr="Recap and recall">    </p:cNvPr>
          <p:cNvPicPr>
            <a:picLocks noChangeAspect="1"/>
          </p:cNvPicPr>
          <p:nvPr/>
        </p:nvPicPr>
        <p:blipFill>
          <a:blip r:embed="rId8"/>
          <a:stretch>
            <a:fillRect/>
          </a:stretch>
        </p:blipFill>
        <p:spPr>
          <a:xfrm>
            <a:off x="548640" y="4937760"/>
            <a:ext cx="457200" cy="457200"/>
          </a:xfrm>
          <a:prstGeom prst="rect">
            <a:avLst/>
          </a:prstGeom>
        </p:spPr>
      </p:pic>
      <p:sp>
        <p:nvSpPr>
          <p:cNvPr id="41" name="Text 31"/>
          <p:cNvSpPr txBox="1"/>
          <p:nvPr/>
        </p:nvSpPr>
        <p:spPr>
          <a:xfrm>
            <a:off x="1097280" y="4937760"/>
            <a:ext cx="1645920" cy="457200"/>
          </a:xfrm>
          <a:prstGeom prst="rect">
            <a:avLst/>
          </a:prstGeom>
          <a:noFill/>
          <a:ln/>
        </p:spPr>
        <p:txBody>
          <a:bodyPr wrap="square" lIns="0" tIns="0" rIns="0" bIns="0" rtlCol="0" anchor="ctr"/>
          <a:lstStyle/>
          <a:p>
            <a:pPr indent="0" marL="0">
              <a:buNone/>
            </a:pPr>
            <a:r>
              <a:rPr lang="en-US" sz="1600" dirty="0">
                <a:solidFill>
                  <a:srgbClr val="A9A9B4"/>
                </a:solidFill>
                <a:latin typeface="Calibri" pitchFamily="34" charset="0"/>
                <a:ea typeface="Calibri" pitchFamily="34" charset="-122"/>
                <a:cs typeface="Calibri" pitchFamily="34" charset="-120"/>
              </a:rPr>
              <a:t>Recap &amp; Recall</a:t>
            </a:r>
            <a:endParaRPr lang="en-US" sz="1600" dirty="0"/>
          </a:p>
        </p:txBody>
      </p:sp>
      <p:pic>
        <p:nvPicPr>
          <p:cNvPr id="42" name="Image 8" descr="Clarity of learning intentions">    </p:cNvPr>
          <p:cNvPicPr>
            <a:picLocks noChangeAspect="1"/>
          </p:cNvPicPr>
          <p:nvPr/>
        </p:nvPicPr>
        <p:blipFill>
          <a:blip r:embed="rId9"/>
          <a:stretch>
            <a:fillRect/>
          </a:stretch>
        </p:blipFill>
        <p:spPr>
          <a:xfrm>
            <a:off x="2788920" y="4937760"/>
            <a:ext cx="457200" cy="457200"/>
          </a:xfrm>
          <a:prstGeom prst="rect">
            <a:avLst/>
          </a:prstGeom>
        </p:spPr>
      </p:pic>
      <p:sp>
        <p:nvSpPr>
          <p:cNvPr id="43" name="Text 32"/>
          <p:cNvSpPr txBox="1"/>
          <p:nvPr/>
        </p:nvSpPr>
        <p:spPr>
          <a:xfrm>
            <a:off x="3337560" y="4937760"/>
            <a:ext cx="1645920" cy="457200"/>
          </a:xfrm>
          <a:prstGeom prst="rect">
            <a:avLst/>
          </a:prstGeom>
          <a:noFill/>
          <a:ln/>
        </p:spPr>
        <p:txBody>
          <a:bodyPr wrap="square" lIns="0" tIns="0" rIns="0" bIns="0" rtlCol="0" anchor="ctr"/>
          <a:lstStyle/>
          <a:p>
            <a:pPr indent="0" marL="0">
              <a:buNone/>
            </a:pPr>
            <a:r>
              <a:rPr lang="en-US" sz="1600" dirty="0">
                <a:solidFill>
                  <a:srgbClr val="A9A9B4"/>
                </a:solidFill>
                <a:latin typeface="Calibri" pitchFamily="34" charset="0"/>
                <a:ea typeface="Calibri" pitchFamily="34" charset="-122"/>
                <a:cs typeface="Calibri" pitchFamily="34" charset="-120"/>
              </a:rPr>
              <a:t>Clarity</a:t>
            </a:r>
            <a:endParaRPr lang="en-US" sz="1600" dirty="0"/>
          </a:p>
        </p:txBody>
      </p:sp>
      <p:pic>
        <p:nvPicPr>
          <p:cNvPr id="44" name="Image 9" descr="New information">    </p:cNvPr>
          <p:cNvPicPr>
            <a:picLocks noChangeAspect="1"/>
          </p:cNvPicPr>
          <p:nvPr/>
        </p:nvPicPr>
        <p:blipFill>
          <a:blip r:embed="rId10"/>
          <a:stretch>
            <a:fillRect/>
          </a:stretch>
        </p:blipFill>
        <p:spPr>
          <a:xfrm>
            <a:off x="5029200" y="4937760"/>
            <a:ext cx="457200" cy="457200"/>
          </a:xfrm>
          <a:prstGeom prst="rect">
            <a:avLst/>
          </a:prstGeom>
        </p:spPr>
      </p:pic>
      <p:sp>
        <p:nvSpPr>
          <p:cNvPr id="45" name="Text 33"/>
          <p:cNvSpPr txBox="1"/>
          <p:nvPr/>
        </p:nvSpPr>
        <p:spPr>
          <a:xfrm>
            <a:off x="5577840" y="4937760"/>
            <a:ext cx="1645920" cy="457200"/>
          </a:xfrm>
          <a:prstGeom prst="rect">
            <a:avLst/>
          </a:prstGeom>
          <a:noFill/>
          <a:ln/>
        </p:spPr>
        <p:txBody>
          <a:bodyPr wrap="square" lIns="0" tIns="0" rIns="0" bIns="0" rtlCol="0" anchor="ctr"/>
          <a:lstStyle/>
          <a:p>
            <a:pPr indent="0" marL="0">
              <a:buNone/>
            </a:pPr>
            <a:r>
              <a:rPr lang="en-US" sz="1600" dirty="0">
                <a:solidFill>
                  <a:srgbClr val="A9A9B4"/>
                </a:solidFill>
                <a:latin typeface="Calibri" pitchFamily="34" charset="0"/>
                <a:ea typeface="Calibri" pitchFamily="34" charset="-122"/>
                <a:cs typeface="Calibri" pitchFamily="34" charset="-120"/>
              </a:rPr>
              <a:t>New information</a:t>
            </a:r>
            <a:endParaRPr lang="en-US" sz="1600" dirty="0"/>
          </a:p>
        </p:txBody>
      </p:sp>
      <p:pic>
        <p:nvPicPr>
          <p:cNvPr id="46" name="Image 10" descr="Deliberate practice">    </p:cNvPr>
          <p:cNvPicPr>
            <a:picLocks noChangeAspect="1"/>
          </p:cNvPicPr>
          <p:nvPr/>
        </p:nvPicPr>
        <p:blipFill>
          <a:blip r:embed="rId11"/>
          <a:stretch>
            <a:fillRect/>
          </a:stretch>
        </p:blipFill>
        <p:spPr>
          <a:xfrm>
            <a:off x="7269480" y="4937760"/>
            <a:ext cx="457200" cy="457200"/>
          </a:xfrm>
          <a:prstGeom prst="rect">
            <a:avLst/>
          </a:prstGeom>
        </p:spPr>
      </p:pic>
      <p:sp>
        <p:nvSpPr>
          <p:cNvPr id="47" name="Text 34"/>
          <p:cNvSpPr txBox="1"/>
          <p:nvPr/>
        </p:nvSpPr>
        <p:spPr>
          <a:xfrm>
            <a:off x="7818120" y="4937760"/>
            <a:ext cx="1645920" cy="457200"/>
          </a:xfrm>
          <a:prstGeom prst="rect">
            <a:avLst/>
          </a:prstGeom>
          <a:noFill/>
          <a:ln/>
        </p:spPr>
        <p:txBody>
          <a:bodyPr wrap="square" lIns="0" tIns="0" rIns="0" bIns="0" rtlCol="0" anchor="ctr"/>
          <a:lstStyle/>
          <a:p>
            <a:pPr indent="0" marL="0">
              <a:buNone/>
            </a:pPr>
            <a:r>
              <a:rPr lang="en-US" sz="1600" dirty="0">
                <a:solidFill>
                  <a:srgbClr val="A9A9B4"/>
                </a:solidFill>
                <a:latin typeface="Calibri" pitchFamily="34" charset="0"/>
                <a:ea typeface="Calibri" pitchFamily="34" charset="-122"/>
                <a:cs typeface="Calibri" pitchFamily="34" charset="-120"/>
              </a:rPr>
              <a:t>Deliberate practice</a:t>
            </a:r>
            <a:endParaRPr lang="en-US" sz="1600" dirty="0"/>
          </a:p>
        </p:txBody>
      </p:sp>
      <p:pic>
        <p:nvPicPr>
          <p:cNvPr id="48" name="Image 11" descr="Feedback">    </p:cNvPr>
          <p:cNvPicPr>
            <a:picLocks noChangeAspect="1"/>
          </p:cNvPicPr>
          <p:nvPr/>
        </p:nvPicPr>
        <p:blipFill>
          <a:blip r:embed="rId12"/>
          <a:stretch>
            <a:fillRect/>
          </a:stretch>
        </p:blipFill>
        <p:spPr>
          <a:xfrm>
            <a:off x="9509760" y="4937760"/>
            <a:ext cx="457200" cy="457200"/>
          </a:xfrm>
          <a:prstGeom prst="rect">
            <a:avLst/>
          </a:prstGeom>
        </p:spPr>
      </p:pic>
      <p:sp>
        <p:nvSpPr>
          <p:cNvPr id="49" name="Text 35"/>
          <p:cNvSpPr txBox="1"/>
          <p:nvPr/>
        </p:nvSpPr>
        <p:spPr>
          <a:xfrm>
            <a:off x="10058400" y="4937760"/>
            <a:ext cx="1645920" cy="457200"/>
          </a:xfrm>
          <a:prstGeom prst="rect">
            <a:avLst/>
          </a:prstGeom>
          <a:noFill/>
          <a:ln/>
        </p:spPr>
        <p:txBody>
          <a:bodyPr wrap="square" lIns="0" tIns="0" rIns="0" bIns="0" rtlCol="0" anchor="ctr"/>
          <a:lstStyle/>
          <a:p>
            <a:pPr indent="0" marL="0">
              <a:buNone/>
            </a:pPr>
            <a:r>
              <a:rPr lang="en-US" sz="1600" dirty="0">
                <a:solidFill>
                  <a:srgbClr val="A9A9B4"/>
                </a:solidFill>
                <a:latin typeface="Calibri" pitchFamily="34" charset="0"/>
                <a:ea typeface="Calibri" pitchFamily="34" charset="-122"/>
                <a:cs typeface="Calibri" pitchFamily="34" charset="-120"/>
              </a:rPr>
              <a:t>Feedback</a:t>
            </a:r>
            <a:endParaRPr lang="en-US" sz="1600" dirty="0"/>
          </a:p>
        </p:txBody>
      </p:sp>
      <p:sp>
        <p:nvSpPr>
          <p:cNvPr id="50" name="Text 36"/>
          <p:cNvSpPr txBox="1"/>
          <p:nvPr/>
        </p:nvSpPr>
        <p:spPr>
          <a:xfrm>
            <a:off x="4206240" y="6355080"/>
            <a:ext cx="6812280" cy="320040"/>
          </a:xfrm>
          <a:prstGeom prst="rect">
            <a:avLst/>
          </a:prstGeom>
          <a:noFill/>
          <a:ln/>
        </p:spPr>
        <p:txBody>
          <a:bodyPr wrap="square" lIns="0" tIns="0" rIns="0" bIns="0" rtlCol="0" anchor="ctr"/>
          <a:lstStyle/>
          <a:p>
            <a:pPr algn="r" indent="0" marL="0">
              <a:buNone/>
            </a:pPr>
            <a:r>
              <a:rPr lang="en-US" sz="1300" b="1" i="1" dirty="0">
                <a:solidFill>
                  <a:srgbClr val="D8A73D"/>
                </a:solidFill>
                <a:latin typeface="Calibri" pitchFamily="34" charset="0"/>
                <a:ea typeface="Calibri" pitchFamily="34" charset="-122"/>
                <a:cs typeface="Calibri" pitchFamily="34" charset="-120"/>
              </a:rPr>
              <a:t>GUIDE</a:t>
            </a:r>
            <a:endParaRPr lang="en-US" sz="1300" dirty="0"/>
          </a:p>
        </p:txBody>
      </p:sp>
      <p:sp>
        <p:nvSpPr>
          <p:cNvPr id="51"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Rules and feedback (1 of 3)</a:t>
            </a:r>
            <a:endParaRPr lang="en-US" sz="3600" dirty="0"/>
          </a:p>
        </p:txBody>
      </p:sp>
      <p:sp>
        <p:nvSpPr>
          <p:cNvPr id="3" name="Shape 1"/>
          <p:cNvSpPr/>
          <p:nvPr/>
        </p:nvSpPr>
        <p:spPr>
          <a:xfrm>
            <a:off x="548640" y="1463040"/>
            <a:ext cx="11091672" cy="804672"/>
          </a:xfrm>
          <a:prstGeom prst="roundRect">
            <a:avLst>
              <a:gd name="adj" fmla="val 6818"/>
            </a:avLst>
          </a:prstGeom>
          <a:solidFill>
            <a:srgbClr val="2A2A32"/>
          </a:solidFill>
          <a:ln/>
        </p:spPr>
      </p:sp>
      <p:sp>
        <p:nvSpPr>
          <p:cNvPr id="4" name="Text 2"/>
          <p:cNvSpPr txBox="1"/>
          <p:nvPr/>
        </p:nvSpPr>
        <p:spPr>
          <a:xfrm>
            <a:off x="777240" y="1536192"/>
            <a:ext cx="2377440" cy="411480"/>
          </a:xfrm>
          <a:prstGeom prst="rect">
            <a:avLst/>
          </a:prstGeom>
          <a:noFill/>
          <a:ln/>
        </p:spPr>
        <p:txBody>
          <a:bodyPr wrap="square" lIns="0" tIns="0" rIns="0" bIns="0" rtlCol="0" anchor="ctr"/>
          <a:lstStyle/>
          <a:p>
            <a:pPr indent="0" marL="0">
              <a:buNone/>
            </a:pPr>
            <a:r>
              <a:rPr lang="en-US" sz="1800" b="1" dirty="0">
                <a:solidFill>
                  <a:srgbClr val="D8A73D"/>
                </a:solidFill>
                <a:latin typeface="Calibri" pitchFamily="34" charset="0"/>
                <a:ea typeface="Calibri" pitchFamily="34" charset="-122"/>
                <a:cs typeface="Calibri" pitchFamily="34" charset="-120"/>
              </a:rPr>
              <a:t>Format</a:t>
            </a:r>
            <a:endParaRPr lang="en-US" sz="1800" dirty="0"/>
          </a:p>
        </p:txBody>
      </p:sp>
      <p:sp>
        <p:nvSpPr>
          <p:cNvPr id="5" name="Text 3"/>
          <p:cNvSpPr txBox="1"/>
          <p:nvPr/>
        </p:nvSpPr>
        <p:spPr>
          <a:xfrm>
            <a:off x="777240" y="1920240"/>
            <a:ext cx="2377440" cy="274320"/>
          </a:xfrm>
          <a:prstGeom prst="rect">
            <a:avLst/>
          </a:prstGeom>
          <a:noFill/>
          <a:ln/>
        </p:spPr>
        <p:txBody>
          <a:bodyPr wrap="square" lIns="0" tIns="0" rIns="0" bIns="0" rtlCol="0" anchor="ctr"/>
          <a:lstStyle/>
          <a:p>
            <a:pPr indent="0" marL="0">
              <a:buNone/>
            </a:pPr>
            <a:r>
              <a:rPr lang="en-US" sz="1200" dirty="0">
                <a:solidFill>
                  <a:srgbClr val="6E6E7A"/>
                </a:solidFill>
                <a:latin typeface="Calibri" pitchFamily="34" charset="0"/>
                <a:ea typeface="Calibri" pitchFamily="34" charset="-122"/>
                <a:cs typeface="Calibri" pitchFamily="34" charset="-120"/>
              </a:rPr>
              <a:t>2026-10-08</a:t>
            </a:r>
            <a:endParaRPr lang="en-US" sz="1200" dirty="0"/>
          </a:p>
        </p:txBody>
      </p:sp>
      <p:sp>
        <p:nvSpPr>
          <p:cNvPr id="6" name="Text 4"/>
          <p:cNvSpPr txBox="1"/>
          <p:nvPr/>
        </p:nvSpPr>
        <p:spPr>
          <a:xfrm>
            <a:off x="3291840" y="1499616"/>
            <a:ext cx="8183880" cy="731520"/>
          </a:xfrm>
          <a:prstGeom prst="rect">
            <a:avLst/>
          </a:prstGeom>
          <a:noFill/>
          <a:ln/>
        </p:spPr>
        <p:txBody>
          <a:bodyPr wrap="square" lIns="0" tIns="0" rIns="0" bIns="0" rtlCol="0" anchor="ctr"/>
          <a:lstStyle/>
          <a:p>
            <a:pPr indent="0" marL="0">
              <a:buNone/>
            </a:pPr>
            <a:r>
              <a:rPr lang="en-US" sz="1800" dirty="0">
                <a:solidFill>
                  <a:srgbClr val="F5F5F3"/>
                </a:solidFill>
                <a:latin typeface="Calibri" pitchFamily="34" charset="0"/>
                <a:ea typeface="Calibri" pitchFamily="34" charset="-122"/>
                <a:cs typeface="Calibri" pitchFamily="34" charset="-120"/>
              </a:rPr>
              <a:t>Lesson decks are PowerPoint (.pptx), built with pptxgenjs from these scripts so every deck matches.</a:t>
            </a:r>
            <a:endParaRPr lang="en-US" sz="1800" dirty="0"/>
          </a:p>
        </p:txBody>
      </p:sp>
      <p:sp>
        <p:nvSpPr>
          <p:cNvPr id="7" name="Shape 5"/>
          <p:cNvSpPr/>
          <p:nvPr/>
        </p:nvSpPr>
        <p:spPr>
          <a:xfrm>
            <a:off x="548640" y="2377440"/>
            <a:ext cx="11091672" cy="804672"/>
          </a:xfrm>
          <a:prstGeom prst="roundRect">
            <a:avLst>
              <a:gd name="adj" fmla="val 6818"/>
            </a:avLst>
          </a:prstGeom>
          <a:solidFill>
            <a:srgbClr val="2A2A32"/>
          </a:solidFill>
          <a:ln/>
        </p:spPr>
      </p:sp>
      <p:sp>
        <p:nvSpPr>
          <p:cNvPr id="8" name="Text 6"/>
          <p:cNvSpPr txBox="1"/>
          <p:nvPr/>
        </p:nvSpPr>
        <p:spPr>
          <a:xfrm>
            <a:off x="777240" y="2450592"/>
            <a:ext cx="2377440" cy="411480"/>
          </a:xfrm>
          <a:prstGeom prst="rect">
            <a:avLst/>
          </a:prstGeom>
          <a:noFill/>
          <a:ln/>
        </p:spPr>
        <p:txBody>
          <a:bodyPr wrap="square" lIns="0" tIns="0" rIns="0" bIns="0" rtlCol="0" anchor="ctr"/>
          <a:lstStyle/>
          <a:p>
            <a:pPr indent="0" marL="0">
              <a:buNone/>
            </a:pPr>
            <a:r>
              <a:rPr lang="en-US" sz="1800" b="1" dirty="0">
                <a:solidFill>
                  <a:srgbClr val="D8A73D"/>
                </a:solidFill>
                <a:latin typeface="Calibri" pitchFamily="34" charset="0"/>
                <a:ea typeface="Calibri" pitchFamily="34" charset="-122"/>
                <a:cs typeface="Calibri" pitchFamily="34" charset="-120"/>
              </a:rPr>
              <a:t>Recap &amp; Recall</a:t>
            </a:r>
            <a:endParaRPr lang="en-US" sz="1800" dirty="0"/>
          </a:p>
        </p:txBody>
      </p:sp>
      <p:sp>
        <p:nvSpPr>
          <p:cNvPr id="9" name="Text 7"/>
          <p:cNvSpPr txBox="1"/>
          <p:nvPr/>
        </p:nvSpPr>
        <p:spPr>
          <a:xfrm>
            <a:off x="777240" y="2834640"/>
            <a:ext cx="2377440" cy="274320"/>
          </a:xfrm>
          <a:prstGeom prst="rect">
            <a:avLst/>
          </a:prstGeom>
          <a:noFill/>
          <a:ln/>
        </p:spPr>
        <p:txBody>
          <a:bodyPr wrap="square" lIns="0" tIns="0" rIns="0" bIns="0" rtlCol="0" anchor="ctr"/>
          <a:lstStyle/>
          <a:p>
            <a:pPr indent="0" marL="0">
              <a:buNone/>
            </a:pPr>
            <a:r>
              <a:rPr lang="en-US" sz="1200" dirty="0">
                <a:solidFill>
                  <a:srgbClr val="6E6E7A"/>
                </a:solidFill>
                <a:latin typeface="Calibri" pitchFamily="34" charset="0"/>
                <a:ea typeface="Calibri" pitchFamily="34" charset="-122"/>
                <a:cs typeface="Calibri" pitchFamily="34" charset="-120"/>
              </a:rPr>
              <a:t>2026-10-08</a:t>
            </a:r>
            <a:endParaRPr lang="en-US" sz="1200" dirty="0"/>
          </a:p>
        </p:txBody>
      </p:sp>
      <p:sp>
        <p:nvSpPr>
          <p:cNvPr id="10" name="Text 8"/>
          <p:cNvSpPr txBox="1"/>
          <p:nvPr/>
        </p:nvSpPr>
        <p:spPr>
          <a:xfrm>
            <a:off x="3291840" y="2414016"/>
            <a:ext cx="8183880" cy="731520"/>
          </a:xfrm>
          <a:prstGeom prst="rect">
            <a:avLst/>
          </a:prstGeom>
          <a:noFill/>
          <a:ln/>
        </p:spPr>
        <p:txBody>
          <a:bodyPr wrap="square" lIns="0" tIns="0" rIns="0" bIns="0" rtlCol="0" anchor="ctr"/>
          <a:lstStyle/>
          <a:p>
            <a:pPr indent="0" marL="0">
              <a:buNone/>
            </a:pPr>
            <a:r>
              <a:rPr lang="en-US" sz="1800" dirty="0">
                <a:solidFill>
                  <a:srgbClr val="F5F5F3"/>
                </a:solidFill>
                <a:latin typeface="Calibri" pitchFamily="34" charset="0"/>
                <a:ea typeface="Calibri" pitchFamily="34" charset="-122"/>
                <a:cs typeface="Calibri" pitchFamily="34" charset="-120"/>
              </a:rPr>
              <a:t>Slide 1 is always Recap &amp; Recall on the previous lesson (in Lesson 1: basic Y8 Python facts), with 4 questions.</a:t>
            </a:r>
            <a:endParaRPr lang="en-US" sz="1800" dirty="0"/>
          </a:p>
        </p:txBody>
      </p:sp>
      <p:sp>
        <p:nvSpPr>
          <p:cNvPr id="11" name="Shape 9"/>
          <p:cNvSpPr/>
          <p:nvPr/>
        </p:nvSpPr>
        <p:spPr>
          <a:xfrm>
            <a:off x="548640" y="3291840"/>
            <a:ext cx="11091672" cy="804672"/>
          </a:xfrm>
          <a:prstGeom prst="roundRect">
            <a:avLst>
              <a:gd name="adj" fmla="val 6818"/>
            </a:avLst>
          </a:prstGeom>
          <a:solidFill>
            <a:srgbClr val="2A2A32"/>
          </a:solidFill>
          <a:ln/>
        </p:spPr>
      </p:sp>
      <p:sp>
        <p:nvSpPr>
          <p:cNvPr id="12" name="Text 10"/>
          <p:cNvSpPr txBox="1"/>
          <p:nvPr/>
        </p:nvSpPr>
        <p:spPr>
          <a:xfrm>
            <a:off x="777240" y="3364992"/>
            <a:ext cx="2377440" cy="411480"/>
          </a:xfrm>
          <a:prstGeom prst="rect">
            <a:avLst/>
          </a:prstGeom>
          <a:noFill/>
          <a:ln/>
        </p:spPr>
        <p:txBody>
          <a:bodyPr wrap="square" lIns="0" tIns="0" rIns="0" bIns="0" rtlCol="0" anchor="ctr"/>
          <a:lstStyle/>
          <a:p>
            <a:pPr indent="0" marL="0">
              <a:buNone/>
            </a:pPr>
            <a:r>
              <a:rPr lang="en-US" sz="1800" b="1" dirty="0">
                <a:solidFill>
                  <a:srgbClr val="D8A73D"/>
                </a:solidFill>
                <a:latin typeface="Calibri" pitchFamily="34" charset="0"/>
                <a:ea typeface="Calibri" pitchFamily="34" charset="-122"/>
                <a:cs typeface="Calibri" pitchFamily="34" charset="-120"/>
              </a:rPr>
              <a:t>Recap &amp; Recall</a:t>
            </a:r>
            <a:endParaRPr lang="en-US" sz="1800" dirty="0"/>
          </a:p>
        </p:txBody>
      </p:sp>
      <p:sp>
        <p:nvSpPr>
          <p:cNvPr id="13" name="Text 11"/>
          <p:cNvSpPr txBox="1"/>
          <p:nvPr/>
        </p:nvSpPr>
        <p:spPr>
          <a:xfrm>
            <a:off x="777240" y="3749040"/>
            <a:ext cx="2377440" cy="274320"/>
          </a:xfrm>
          <a:prstGeom prst="rect">
            <a:avLst/>
          </a:prstGeom>
          <a:noFill/>
          <a:ln/>
        </p:spPr>
        <p:txBody>
          <a:bodyPr wrap="square" lIns="0" tIns="0" rIns="0" bIns="0" rtlCol="0" anchor="ctr"/>
          <a:lstStyle/>
          <a:p>
            <a:pPr indent="0" marL="0">
              <a:buNone/>
            </a:pPr>
            <a:r>
              <a:rPr lang="en-US" sz="1200" dirty="0">
                <a:solidFill>
                  <a:srgbClr val="6E6E7A"/>
                </a:solidFill>
                <a:latin typeface="Calibri" pitchFamily="34" charset="0"/>
                <a:ea typeface="Calibri" pitchFamily="34" charset="-122"/>
                <a:cs typeface="Calibri" pitchFamily="34" charset="-120"/>
              </a:rPr>
              <a:t>2026-10-08</a:t>
            </a:r>
            <a:endParaRPr lang="en-US" sz="1200" dirty="0"/>
          </a:p>
        </p:txBody>
      </p:sp>
      <p:sp>
        <p:nvSpPr>
          <p:cNvPr id="14" name="Text 12"/>
          <p:cNvSpPr txBox="1"/>
          <p:nvPr/>
        </p:nvSpPr>
        <p:spPr>
          <a:xfrm>
            <a:off x="3291840" y="3328416"/>
            <a:ext cx="8183880" cy="731520"/>
          </a:xfrm>
          <a:prstGeom prst="rect">
            <a:avLst/>
          </a:prstGeom>
          <a:noFill/>
          <a:ln/>
        </p:spPr>
        <p:txBody>
          <a:bodyPr wrap="square" lIns="0" tIns="0" rIns="0" bIns="0" rtlCol="0" anchor="ctr"/>
          <a:lstStyle/>
          <a:p>
            <a:pPr indent="0" marL="0">
              <a:buNone/>
            </a:pPr>
            <a:r>
              <a:rPr lang="en-US" sz="1800" dirty="0">
                <a:solidFill>
                  <a:srgbClr val="F5F5F3"/>
                </a:solidFill>
                <a:latin typeface="Calibri" pitchFamily="34" charset="0"/>
                <a:ea typeface="Calibri" pitchFamily="34" charset="-122"/>
                <a:cs typeface="Calibri" pitchFamily="34" charset="-120"/>
              </a:rPr>
              <a:t>Q1–2 are multiple choice; Q3–4 need a written word or sentence. At least 3 of the 4 are built on code snippets students have already met.</a:t>
            </a:r>
            <a:endParaRPr lang="en-US" sz="1800" dirty="0"/>
          </a:p>
        </p:txBody>
      </p:sp>
      <p:sp>
        <p:nvSpPr>
          <p:cNvPr id="15" name="Shape 13"/>
          <p:cNvSpPr/>
          <p:nvPr/>
        </p:nvSpPr>
        <p:spPr>
          <a:xfrm>
            <a:off x="548640" y="4206240"/>
            <a:ext cx="11091672" cy="804672"/>
          </a:xfrm>
          <a:prstGeom prst="roundRect">
            <a:avLst>
              <a:gd name="adj" fmla="val 6818"/>
            </a:avLst>
          </a:prstGeom>
          <a:solidFill>
            <a:srgbClr val="2A2A32"/>
          </a:solidFill>
          <a:ln/>
        </p:spPr>
      </p:sp>
      <p:sp>
        <p:nvSpPr>
          <p:cNvPr id="16" name="Text 14"/>
          <p:cNvSpPr txBox="1"/>
          <p:nvPr/>
        </p:nvSpPr>
        <p:spPr>
          <a:xfrm>
            <a:off x="777240" y="4279392"/>
            <a:ext cx="2377440" cy="411480"/>
          </a:xfrm>
          <a:prstGeom prst="rect">
            <a:avLst/>
          </a:prstGeom>
          <a:noFill/>
          <a:ln/>
        </p:spPr>
        <p:txBody>
          <a:bodyPr wrap="square" lIns="0" tIns="0" rIns="0" bIns="0" rtlCol="0" anchor="ctr"/>
          <a:lstStyle/>
          <a:p>
            <a:pPr indent="0" marL="0">
              <a:buNone/>
            </a:pPr>
            <a:r>
              <a:rPr lang="en-US" sz="1800" b="1" dirty="0">
                <a:solidFill>
                  <a:srgbClr val="D8A73D"/>
                </a:solidFill>
                <a:latin typeface="Calibri" pitchFamily="34" charset="0"/>
                <a:ea typeface="Calibri" pitchFamily="34" charset="-122"/>
                <a:cs typeface="Calibri" pitchFamily="34" charset="-120"/>
              </a:rPr>
              <a:t>Code on slides</a:t>
            </a:r>
            <a:endParaRPr lang="en-US" sz="1800" dirty="0"/>
          </a:p>
        </p:txBody>
      </p:sp>
      <p:sp>
        <p:nvSpPr>
          <p:cNvPr id="17" name="Text 15"/>
          <p:cNvSpPr txBox="1"/>
          <p:nvPr/>
        </p:nvSpPr>
        <p:spPr>
          <a:xfrm>
            <a:off x="777240" y="4663440"/>
            <a:ext cx="2377440" cy="274320"/>
          </a:xfrm>
          <a:prstGeom prst="rect">
            <a:avLst/>
          </a:prstGeom>
          <a:noFill/>
          <a:ln/>
        </p:spPr>
        <p:txBody>
          <a:bodyPr wrap="square" lIns="0" tIns="0" rIns="0" bIns="0" rtlCol="0" anchor="ctr"/>
          <a:lstStyle/>
          <a:p>
            <a:pPr indent="0" marL="0">
              <a:buNone/>
            </a:pPr>
            <a:r>
              <a:rPr lang="en-US" sz="1200" dirty="0">
                <a:solidFill>
                  <a:srgbClr val="6E6E7A"/>
                </a:solidFill>
                <a:latin typeface="Calibri" pitchFamily="34" charset="0"/>
                <a:ea typeface="Calibri" pitchFamily="34" charset="-122"/>
                <a:cs typeface="Calibri" pitchFamily="34" charset="-120"/>
              </a:rPr>
              <a:t>2026-10-08</a:t>
            </a:r>
            <a:endParaRPr lang="en-US" sz="1200" dirty="0"/>
          </a:p>
        </p:txBody>
      </p:sp>
      <p:sp>
        <p:nvSpPr>
          <p:cNvPr id="18" name="Text 16"/>
          <p:cNvSpPr txBox="1"/>
          <p:nvPr/>
        </p:nvSpPr>
        <p:spPr>
          <a:xfrm>
            <a:off x="3291840" y="4242816"/>
            <a:ext cx="8183880" cy="731520"/>
          </a:xfrm>
          <a:prstGeom prst="rect">
            <a:avLst/>
          </a:prstGeom>
          <a:noFill/>
          <a:ln/>
        </p:spPr>
        <p:txBody>
          <a:bodyPr wrap="square" lIns="0" tIns="0" rIns="0" bIns="0" rtlCol="0" anchor="ctr"/>
          <a:lstStyle/>
          <a:p>
            <a:pPr indent="0" marL="0">
              <a:buNone/>
            </a:pPr>
            <a:r>
              <a:rPr lang="en-US" sz="1800" dirty="0">
                <a:solidFill>
                  <a:srgbClr val="F5F5F3"/>
                </a:solidFill>
                <a:latin typeface="Calibri" pitchFamily="34" charset="0"/>
                <a:ea typeface="Calibri" pitchFamily="34" charset="-122"/>
                <a:cs typeface="Calibri" pitchFamily="34" charset="-120"/>
              </a:rPr>
              <a:t>Always show the whole line of code, never fragments like input(…). Show what each whole line does instead (runLinesSlide).</a:t>
            </a:r>
            <a:endParaRPr lang="en-US" sz="1800" dirty="0"/>
          </a:p>
        </p:txBody>
      </p:sp>
      <p:sp>
        <p:nvSpPr>
          <p:cNvPr id="19" name="Shape 17"/>
          <p:cNvSpPr/>
          <p:nvPr/>
        </p:nvSpPr>
        <p:spPr>
          <a:xfrm>
            <a:off x="548640" y="5120640"/>
            <a:ext cx="11091672" cy="804672"/>
          </a:xfrm>
          <a:prstGeom prst="roundRect">
            <a:avLst>
              <a:gd name="adj" fmla="val 6818"/>
            </a:avLst>
          </a:prstGeom>
          <a:solidFill>
            <a:srgbClr val="2A2A32"/>
          </a:solidFill>
          <a:ln/>
        </p:spPr>
      </p:sp>
      <p:sp>
        <p:nvSpPr>
          <p:cNvPr id="20" name="Text 18"/>
          <p:cNvSpPr txBox="1"/>
          <p:nvPr/>
        </p:nvSpPr>
        <p:spPr>
          <a:xfrm>
            <a:off x="777240" y="5193792"/>
            <a:ext cx="2377440" cy="411480"/>
          </a:xfrm>
          <a:prstGeom prst="rect">
            <a:avLst/>
          </a:prstGeom>
          <a:noFill/>
          <a:ln/>
        </p:spPr>
        <p:txBody>
          <a:bodyPr wrap="square" lIns="0" tIns="0" rIns="0" bIns="0" rtlCol="0" anchor="ctr"/>
          <a:lstStyle/>
          <a:p>
            <a:pPr indent="0" marL="0">
              <a:buNone/>
            </a:pPr>
            <a:r>
              <a:rPr lang="en-US" sz="1800" b="1" dirty="0">
                <a:solidFill>
                  <a:srgbClr val="D8A73D"/>
                </a:solidFill>
                <a:latin typeface="Calibri" pitchFamily="34" charset="0"/>
                <a:ea typeface="Calibri" pitchFamily="34" charset="-122"/>
                <a:cs typeface="Calibri" pitchFamily="34" charset="-120"/>
              </a:rPr>
              <a:t>Theme</a:t>
            </a:r>
            <a:endParaRPr lang="en-US" sz="1800" dirty="0"/>
          </a:p>
        </p:txBody>
      </p:sp>
      <p:sp>
        <p:nvSpPr>
          <p:cNvPr id="21" name="Text 19"/>
          <p:cNvSpPr txBox="1"/>
          <p:nvPr/>
        </p:nvSpPr>
        <p:spPr>
          <a:xfrm>
            <a:off x="777240" y="5577840"/>
            <a:ext cx="2377440" cy="274320"/>
          </a:xfrm>
          <a:prstGeom prst="rect">
            <a:avLst/>
          </a:prstGeom>
          <a:noFill/>
          <a:ln/>
        </p:spPr>
        <p:txBody>
          <a:bodyPr wrap="square" lIns="0" tIns="0" rIns="0" bIns="0" rtlCol="0" anchor="ctr"/>
          <a:lstStyle/>
          <a:p>
            <a:pPr indent="0" marL="0">
              <a:buNone/>
            </a:pPr>
            <a:r>
              <a:rPr lang="en-US" sz="1200" dirty="0">
                <a:solidFill>
                  <a:srgbClr val="6E6E7A"/>
                </a:solidFill>
                <a:latin typeface="Calibri" pitchFamily="34" charset="0"/>
                <a:ea typeface="Calibri" pitchFamily="34" charset="-122"/>
                <a:cs typeface="Calibri" pitchFamily="34" charset="-120"/>
              </a:rPr>
              <a:t>2026-10-08</a:t>
            </a:r>
            <a:endParaRPr lang="en-US" sz="1200" dirty="0"/>
          </a:p>
        </p:txBody>
      </p:sp>
      <p:sp>
        <p:nvSpPr>
          <p:cNvPr id="22" name="Text 20"/>
          <p:cNvSpPr txBox="1"/>
          <p:nvPr/>
        </p:nvSpPr>
        <p:spPr>
          <a:xfrm>
            <a:off x="3291840" y="5157216"/>
            <a:ext cx="8183880" cy="731520"/>
          </a:xfrm>
          <a:prstGeom prst="rect">
            <a:avLst/>
          </a:prstGeom>
          <a:noFill/>
          <a:ln/>
        </p:spPr>
        <p:txBody>
          <a:bodyPr wrap="square" lIns="0" tIns="0" rIns="0" bIns="0" rtlCol="0" anchor="ctr"/>
          <a:lstStyle/>
          <a:p>
            <a:pPr indent="0" marL="0">
              <a:buNone/>
            </a:pPr>
            <a:r>
              <a:rPr lang="en-US" sz="1800" dirty="0">
                <a:solidFill>
                  <a:srgbClr val="F5F5F3"/>
                </a:solidFill>
                <a:latin typeface="Calibri" pitchFamily="34" charset="0"/>
                <a:ea typeface="Calibri" pitchFamily="34" charset="-122"/>
                <a:cs typeface="Calibri" pitchFamily="34" charset="-120"/>
              </a:rPr>
              <a:t>Survival horror, but readable first: charcoal background, gold for warnings, green "terminal" text for story only, red for error messages only. Body text 18pt or more.</a:t>
            </a:r>
            <a:endParaRPr lang="en-US" sz="1800" dirty="0"/>
          </a:p>
        </p:txBody>
      </p:sp>
      <p:sp>
        <p:nvSpPr>
          <p:cNvPr id="23" name="Text 21"/>
          <p:cNvSpPr txBox="1"/>
          <p:nvPr/>
        </p:nvSpPr>
        <p:spPr>
          <a:xfrm>
            <a:off x="4206240" y="6355080"/>
            <a:ext cx="6812280" cy="320040"/>
          </a:xfrm>
          <a:prstGeom prst="rect">
            <a:avLst/>
          </a:prstGeom>
          <a:noFill/>
          <a:ln/>
        </p:spPr>
        <p:txBody>
          <a:bodyPr wrap="square" lIns="0" tIns="0" rIns="0" bIns="0" rtlCol="0" anchor="ctr"/>
          <a:lstStyle/>
          <a:p>
            <a:pPr algn="r" indent="0" marL="0">
              <a:buNone/>
            </a:pPr>
            <a:r>
              <a:rPr lang="en-US" sz="1300" b="1" i="1" dirty="0">
                <a:solidFill>
                  <a:srgbClr val="D8A73D"/>
                </a:solidFill>
                <a:latin typeface="Calibri" pitchFamily="34" charset="0"/>
                <a:ea typeface="Calibri" pitchFamily="34" charset="-122"/>
                <a:cs typeface="Calibri" pitchFamily="34" charset="-120"/>
              </a:rPr>
              <a:t>FROM README.md — ADD NEW FEEDBACK THERE</a:t>
            </a:r>
            <a:endParaRPr lang="en-US" sz="13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Rules and feedback (2 of 3)</a:t>
            </a:r>
            <a:endParaRPr lang="en-US" sz="3600" dirty="0"/>
          </a:p>
        </p:txBody>
      </p:sp>
      <p:sp>
        <p:nvSpPr>
          <p:cNvPr id="3" name="Shape 1"/>
          <p:cNvSpPr/>
          <p:nvPr/>
        </p:nvSpPr>
        <p:spPr>
          <a:xfrm>
            <a:off x="548640" y="1463040"/>
            <a:ext cx="11091672" cy="804672"/>
          </a:xfrm>
          <a:prstGeom prst="roundRect">
            <a:avLst>
              <a:gd name="adj" fmla="val 6818"/>
            </a:avLst>
          </a:prstGeom>
          <a:solidFill>
            <a:srgbClr val="2A2A32"/>
          </a:solidFill>
          <a:ln/>
        </p:spPr>
      </p:sp>
      <p:sp>
        <p:nvSpPr>
          <p:cNvPr id="4" name="Text 2"/>
          <p:cNvSpPr txBox="1"/>
          <p:nvPr/>
        </p:nvSpPr>
        <p:spPr>
          <a:xfrm>
            <a:off x="777240" y="1536192"/>
            <a:ext cx="2377440" cy="411480"/>
          </a:xfrm>
          <a:prstGeom prst="rect">
            <a:avLst/>
          </a:prstGeom>
          <a:noFill/>
          <a:ln/>
        </p:spPr>
        <p:txBody>
          <a:bodyPr wrap="square" lIns="0" tIns="0" rIns="0" bIns="0" rtlCol="0" anchor="ctr"/>
          <a:lstStyle/>
          <a:p>
            <a:pPr indent="0" marL="0">
              <a:buNone/>
            </a:pPr>
            <a:r>
              <a:rPr lang="en-US" sz="1800" b="1" dirty="0">
                <a:solidFill>
                  <a:srgbClr val="D8A73D"/>
                </a:solidFill>
                <a:latin typeface="Calibri" pitchFamily="34" charset="0"/>
                <a:ea typeface="Calibri" pitchFamily="34" charset="-122"/>
                <a:cs typeface="Calibri" pitchFamily="34" charset="-120"/>
              </a:rPr>
              <a:t>Story</a:t>
            </a:r>
            <a:endParaRPr lang="en-US" sz="1800" dirty="0"/>
          </a:p>
        </p:txBody>
      </p:sp>
      <p:sp>
        <p:nvSpPr>
          <p:cNvPr id="5" name="Text 3"/>
          <p:cNvSpPr txBox="1"/>
          <p:nvPr/>
        </p:nvSpPr>
        <p:spPr>
          <a:xfrm>
            <a:off x="777240" y="1920240"/>
            <a:ext cx="2377440" cy="274320"/>
          </a:xfrm>
          <a:prstGeom prst="rect">
            <a:avLst/>
          </a:prstGeom>
          <a:noFill/>
          <a:ln/>
        </p:spPr>
        <p:txBody>
          <a:bodyPr wrap="square" lIns="0" tIns="0" rIns="0" bIns="0" rtlCol="0" anchor="ctr"/>
          <a:lstStyle/>
          <a:p>
            <a:pPr indent="0" marL="0">
              <a:buNone/>
            </a:pPr>
            <a:r>
              <a:rPr lang="en-US" sz="1200" dirty="0">
                <a:solidFill>
                  <a:srgbClr val="6E6E7A"/>
                </a:solidFill>
                <a:latin typeface="Calibri" pitchFamily="34" charset="0"/>
                <a:ea typeface="Calibri" pitchFamily="34" charset="-122"/>
                <a:cs typeface="Calibri" pitchFamily="34" charset="-120"/>
              </a:rPr>
              <a:t>2026-10-08</a:t>
            </a:r>
            <a:endParaRPr lang="en-US" sz="1200" dirty="0"/>
          </a:p>
        </p:txBody>
      </p:sp>
      <p:sp>
        <p:nvSpPr>
          <p:cNvPr id="6" name="Text 4"/>
          <p:cNvSpPr txBox="1"/>
          <p:nvPr/>
        </p:nvSpPr>
        <p:spPr>
          <a:xfrm>
            <a:off x="3291840" y="1499616"/>
            <a:ext cx="8183880" cy="731520"/>
          </a:xfrm>
          <a:prstGeom prst="rect">
            <a:avLst/>
          </a:prstGeom>
          <a:noFill/>
          <a:ln/>
        </p:spPr>
        <p:txBody>
          <a:bodyPr wrap="square" lIns="0" tIns="0" rIns="0" bIns="0" rtlCol="0" anchor="ctr"/>
          <a:lstStyle/>
          <a:p>
            <a:pPr indent="0" marL="0">
              <a:buNone/>
            </a:pPr>
            <a:r>
              <a:rPr lang="en-US" sz="1800" dirty="0">
                <a:solidFill>
                  <a:srgbClr val="F5F5F3"/>
                </a:solidFill>
                <a:latin typeface="Calibri" pitchFamily="34" charset="0"/>
                <a:ea typeface="Calibri" pitchFamily="34" charset="-122"/>
                <a:cs typeface="Calibri" pitchFamily="34" charset="-120"/>
              </a:rPr>
              <a:t>The story appears only on the title, chapter cards and the plenary cliffhanger. The premise is spoken from the notes, not written on the slide.</a:t>
            </a:r>
            <a:endParaRPr lang="en-US" sz="1800" dirty="0"/>
          </a:p>
        </p:txBody>
      </p:sp>
      <p:sp>
        <p:nvSpPr>
          <p:cNvPr id="7" name="Shape 5"/>
          <p:cNvSpPr/>
          <p:nvPr/>
        </p:nvSpPr>
        <p:spPr>
          <a:xfrm>
            <a:off x="548640" y="2377440"/>
            <a:ext cx="11091672" cy="804672"/>
          </a:xfrm>
          <a:prstGeom prst="roundRect">
            <a:avLst>
              <a:gd name="adj" fmla="val 6818"/>
            </a:avLst>
          </a:prstGeom>
          <a:solidFill>
            <a:srgbClr val="2A2A32"/>
          </a:solidFill>
          <a:ln/>
        </p:spPr>
      </p:sp>
      <p:sp>
        <p:nvSpPr>
          <p:cNvPr id="8" name="Text 6"/>
          <p:cNvSpPr txBox="1"/>
          <p:nvPr/>
        </p:nvSpPr>
        <p:spPr>
          <a:xfrm>
            <a:off x="777240" y="2450592"/>
            <a:ext cx="2377440" cy="411480"/>
          </a:xfrm>
          <a:prstGeom prst="rect">
            <a:avLst/>
          </a:prstGeom>
          <a:noFill/>
          <a:ln/>
        </p:spPr>
        <p:txBody>
          <a:bodyPr wrap="square" lIns="0" tIns="0" rIns="0" bIns="0" rtlCol="0" anchor="ctr"/>
          <a:lstStyle/>
          <a:p>
            <a:pPr indent="0" marL="0">
              <a:buNone/>
            </a:pPr>
            <a:r>
              <a:rPr lang="en-US" sz="1800" b="1" dirty="0">
                <a:solidFill>
                  <a:srgbClr val="D8A73D"/>
                </a:solidFill>
                <a:latin typeface="Calibri" pitchFamily="34" charset="0"/>
                <a:ea typeface="Calibri" pitchFamily="34" charset="-122"/>
                <a:cs typeface="Calibri" pitchFamily="34" charset="-120"/>
              </a:rPr>
              <a:t>Cognitive load</a:t>
            </a:r>
            <a:endParaRPr lang="en-US" sz="1800" dirty="0"/>
          </a:p>
        </p:txBody>
      </p:sp>
      <p:sp>
        <p:nvSpPr>
          <p:cNvPr id="9" name="Text 7"/>
          <p:cNvSpPr txBox="1"/>
          <p:nvPr/>
        </p:nvSpPr>
        <p:spPr>
          <a:xfrm>
            <a:off x="777240" y="2834640"/>
            <a:ext cx="2377440" cy="274320"/>
          </a:xfrm>
          <a:prstGeom prst="rect">
            <a:avLst/>
          </a:prstGeom>
          <a:noFill/>
          <a:ln/>
        </p:spPr>
        <p:txBody>
          <a:bodyPr wrap="square" lIns="0" tIns="0" rIns="0" bIns="0" rtlCol="0" anchor="ctr"/>
          <a:lstStyle/>
          <a:p>
            <a:pPr indent="0" marL="0">
              <a:buNone/>
            </a:pPr>
            <a:r>
              <a:rPr lang="en-US" sz="1200" dirty="0">
                <a:solidFill>
                  <a:srgbClr val="6E6E7A"/>
                </a:solidFill>
                <a:latin typeface="Calibri" pitchFamily="34" charset="0"/>
                <a:ea typeface="Calibri" pitchFamily="34" charset="-122"/>
                <a:cs typeface="Calibri" pitchFamily="34" charset="-120"/>
              </a:rPr>
              <a:t>2026-10-08</a:t>
            </a:r>
            <a:endParaRPr lang="en-US" sz="1200" dirty="0"/>
          </a:p>
        </p:txBody>
      </p:sp>
      <p:sp>
        <p:nvSpPr>
          <p:cNvPr id="10" name="Text 8"/>
          <p:cNvSpPr txBox="1"/>
          <p:nvPr/>
        </p:nvSpPr>
        <p:spPr>
          <a:xfrm>
            <a:off x="3291840" y="2414016"/>
            <a:ext cx="8183880" cy="731520"/>
          </a:xfrm>
          <a:prstGeom prst="rect">
            <a:avLst/>
          </a:prstGeom>
          <a:noFill/>
          <a:ln/>
        </p:spPr>
        <p:txBody>
          <a:bodyPr wrap="square" lIns="0" tIns="0" rIns="0" bIns="0" rtlCol="0" anchor="ctr"/>
          <a:lstStyle/>
          <a:p>
            <a:pPr indent="0" marL="0">
              <a:buNone/>
            </a:pPr>
            <a:r>
              <a:rPr lang="en-US" sz="1800" dirty="0">
                <a:solidFill>
                  <a:srgbClr val="F5F5F3"/>
                </a:solidFill>
                <a:latin typeface="Calibri" pitchFamily="34" charset="0"/>
                <a:ea typeface="Calibri" pitchFamily="34" charset="-122"/>
                <a:cs typeface="Calibri" pitchFamily="34" charset="-120"/>
              </a:rPr>
              <a:t>No split attention (labels sit on or beside what they label) and no redundancy (say it or show it, not both). At most 3 text areas per slide.</a:t>
            </a:r>
            <a:endParaRPr lang="en-US" sz="1800" dirty="0"/>
          </a:p>
        </p:txBody>
      </p:sp>
      <p:sp>
        <p:nvSpPr>
          <p:cNvPr id="11" name="Shape 9"/>
          <p:cNvSpPr/>
          <p:nvPr/>
        </p:nvSpPr>
        <p:spPr>
          <a:xfrm>
            <a:off x="548640" y="3291840"/>
            <a:ext cx="11091672" cy="804672"/>
          </a:xfrm>
          <a:prstGeom prst="roundRect">
            <a:avLst>
              <a:gd name="adj" fmla="val 6818"/>
            </a:avLst>
          </a:prstGeom>
          <a:solidFill>
            <a:srgbClr val="2A2A32"/>
          </a:solidFill>
          <a:ln/>
        </p:spPr>
      </p:sp>
      <p:sp>
        <p:nvSpPr>
          <p:cNvPr id="12" name="Text 10"/>
          <p:cNvSpPr txBox="1"/>
          <p:nvPr/>
        </p:nvSpPr>
        <p:spPr>
          <a:xfrm>
            <a:off x="777240" y="3364992"/>
            <a:ext cx="2377440" cy="411480"/>
          </a:xfrm>
          <a:prstGeom prst="rect">
            <a:avLst/>
          </a:prstGeom>
          <a:noFill/>
          <a:ln/>
        </p:spPr>
        <p:txBody>
          <a:bodyPr wrap="square" lIns="0" tIns="0" rIns="0" bIns="0" rtlCol="0" anchor="ctr"/>
          <a:lstStyle/>
          <a:p>
            <a:pPr indent="0" marL="0">
              <a:buNone/>
            </a:pPr>
            <a:r>
              <a:rPr lang="en-US" sz="1800" b="1" dirty="0">
                <a:solidFill>
                  <a:srgbClr val="D8A73D"/>
                </a:solidFill>
                <a:latin typeface="Calibri" pitchFamily="34" charset="0"/>
                <a:ea typeface="Calibri" pitchFamily="34" charset="-122"/>
                <a:cs typeface="Calibri" pitchFamily="34" charset="-120"/>
              </a:rPr>
              <a:t>Code on slides</a:t>
            </a:r>
            <a:endParaRPr lang="en-US" sz="1800" dirty="0"/>
          </a:p>
        </p:txBody>
      </p:sp>
      <p:sp>
        <p:nvSpPr>
          <p:cNvPr id="13" name="Text 11"/>
          <p:cNvSpPr txBox="1"/>
          <p:nvPr/>
        </p:nvSpPr>
        <p:spPr>
          <a:xfrm>
            <a:off x="777240" y="3749040"/>
            <a:ext cx="2377440" cy="274320"/>
          </a:xfrm>
          <a:prstGeom prst="rect">
            <a:avLst/>
          </a:prstGeom>
          <a:noFill/>
          <a:ln/>
        </p:spPr>
        <p:txBody>
          <a:bodyPr wrap="square" lIns="0" tIns="0" rIns="0" bIns="0" rtlCol="0" anchor="ctr"/>
          <a:lstStyle/>
          <a:p>
            <a:pPr indent="0" marL="0">
              <a:buNone/>
            </a:pPr>
            <a:r>
              <a:rPr lang="en-US" sz="1200" dirty="0">
                <a:solidFill>
                  <a:srgbClr val="6E6E7A"/>
                </a:solidFill>
                <a:latin typeface="Calibri" pitchFamily="34" charset="0"/>
                <a:ea typeface="Calibri" pitchFamily="34" charset="-122"/>
                <a:cs typeface="Calibri" pitchFamily="34" charset="-120"/>
              </a:rPr>
              <a:t>2026-10-08</a:t>
            </a:r>
            <a:endParaRPr lang="en-US" sz="1200" dirty="0"/>
          </a:p>
        </p:txBody>
      </p:sp>
      <p:sp>
        <p:nvSpPr>
          <p:cNvPr id="14" name="Text 12"/>
          <p:cNvSpPr txBox="1"/>
          <p:nvPr/>
        </p:nvSpPr>
        <p:spPr>
          <a:xfrm>
            <a:off x="3291840" y="3328416"/>
            <a:ext cx="8183880" cy="731520"/>
          </a:xfrm>
          <a:prstGeom prst="rect">
            <a:avLst/>
          </a:prstGeom>
          <a:noFill/>
          <a:ln/>
        </p:spPr>
        <p:txBody>
          <a:bodyPr wrap="square" lIns="0" tIns="0" rIns="0" bIns="0" rtlCol="0" anchor="ctr"/>
          <a:lstStyle/>
          <a:p>
            <a:pPr indent="0" marL="0">
              <a:buNone/>
            </a:pPr>
            <a:r>
              <a:rPr lang="en-US" sz="1800" dirty="0">
                <a:solidFill>
                  <a:srgbClr val="F5F5F3"/>
                </a:solidFill>
                <a:latin typeface="Calibri" pitchFamily="34" charset="0"/>
                <a:ea typeface="Calibri" pitchFamily="34" charset="-122"/>
                <a:cs typeface="Calibri" pitchFamily="34" charset="-120"/>
              </a:rPr>
              <a:t>A slide must make sense without the teacher. No brackets, badges or numbers to decode: show each line, then what it puts on screen and in memory, read left to right.</a:t>
            </a:r>
            <a:endParaRPr lang="en-US" sz="1800" dirty="0"/>
          </a:p>
        </p:txBody>
      </p:sp>
      <p:sp>
        <p:nvSpPr>
          <p:cNvPr id="15" name="Shape 13"/>
          <p:cNvSpPr/>
          <p:nvPr/>
        </p:nvSpPr>
        <p:spPr>
          <a:xfrm>
            <a:off x="548640" y="4206240"/>
            <a:ext cx="11091672" cy="804672"/>
          </a:xfrm>
          <a:prstGeom prst="roundRect">
            <a:avLst>
              <a:gd name="adj" fmla="val 6818"/>
            </a:avLst>
          </a:prstGeom>
          <a:solidFill>
            <a:srgbClr val="2A2A32"/>
          </a:solidFill>
          <a:ln/>
        </p:spPr>
      </p:sp>
      <p:sp>
        <p:nvSpPr>
          <p:cNvPr id="16" name="Text 14"/>
          <p:cNvSpPr txBox="1"/>
          <p:nvPr/>
        </p:nvSpPr>
        <p:spPr>
          <a:xfrm>
            <a:off x="777240" y="4279392"/>
            <a:ext cx="2377440" cy="411480"/>
          </a:xfrm>
          <a:prstGeom prst="rect">
            <a:avLst/>
          </a:prstGeom>
          <a:noFill/>
          <a:ln/>
        </p:spPr>
        <p:txBody>
          <a:bodyPr wrap="square" lIns="0" tIns="0" rIns="0" bIns="0" rtlCol="0" anchor="ctr"/>
          <a:lstStyle/>
          <a:p>
            <a:pPr indent="0" marL="0">
              <a:buNone/>
            </a:pPr>
            <a:r>
              <a:rPr lang="en-US" sz="1800" b="1" dirty="0">
                <a:solidFill>
                  <a:srgbClr val="D8A73D"/>
                </a:solidFill>
                <a:latin typeface="Calibri" pitchFamily="34" charset="0"/>
                <a:ea typeface="Calibri" pitchFamily="34" charset="-122"/>
                <a:cs typeface="Calibri" pitchFamily="34" charset="-120"/>
              </a:rPr>
              <a:t>Animation</a:t>
            </a:r>
            <a:endParaRPr lang="en-US" sz="1800" dirty="0"/>
          </a:p>
        </p:txBody>
      </p:sp>
      <p:sp>
        <p:nvSpPr>
          <p:cNvPr id="17" name="Text 15"/>
          <p:cNvSpPr txBox="1"/>
          <p:nvPr/>
        </p:nvSpPr>
        <p:spPr>
          <a:xfrm>
            <a:off x="777240" y="4663440"/>
            <a:ext cx="2377440" cy="274320"/>
          </a:xfrm>
          <a:prstGeom prst="rect">
            <a:avLst/>
          </a:prstGeom>
          <a:noFill/>
          <a:ln/>
        </p:spPr>
        <p:txBody>
          <a:bodyPr wrap="square" lIns="0" tIns="0" rIns="0" bIns="0" rtlCol="0" anchor="ctr"/>
          <a:lstStyle/>
          <a:p>
            <a:pPr indent="0" marL="0">
              <a:buNone/>
            </a:pPr>
            <a:r>
              <a:rPr lang="en-US" sz="1200" dirty="0">
                <a:solidFill>
                  <a:srgbClr val="6E6E7A"/>
                </a:solidFill>
                <a:latin typeface="Calibri" pitchFamily="34" charset="0"/>
                <a:ea typeface="Calibri" pitchFamily="34" charset="-122"/>
                <a:cs typeface="Calibri" pitchFamily="34" charset="-120"/>
              </a:rPr>
              <a:t>2026-10-08</a:t>
            </a:r>
            <a:endParaRPr lang="en-US" sz="1200" dirty="0"/>
          </a:p>
        </p:txBody>
      </p:sp>
      <p:sp>
        <p:nvSpPr>
          <p:cNvPr id="18" name="Text 16"/>
          <p:cNvSpPr txBox="1"/>
          <p:nvPr/>
        </p:nvSpPr>
        <p:spPr>
          <a:xfrm>
            <a:off x="3291840" y="4242816"/>
            <a:ext cx="8183880" cy="731520"/>
          </a:xfrm>
          <a:prstGeom prst="rect">
            <a:avLst/>
          </a:prstGeom>
          <a:noFill/>
          <a:ln/>
        </p:spPr>
        <p:txBody>
          <a:bodyPr wrap="square" lIns="0" tIns="0" rIns="0" bIns="0" rtlCol="0" anchor="ctr"/>
          <a:lstStyle/>
          <a:p>
            <a:pPr indent="0" marL="0">
              <a:buNone/>
            </a:pPr>
            <a:r>
              <a:rPr lang="en-US" sz="1800" dirty="0">
                <a:solidFill>
                  <a:srgbClr val="F5F5F3"/>
                </a:solidFill>
                <a:latin typeface="Calibri" pitchFamily="34" charset="0"/>
                <a:ea typeface="Calibri" pitchFamily="34" charset="-122"/>
                <a:cs typeface="Calibri" pitchFamily="34" charset="-120"/>
              </a:rPr>
              <a:t>Build worked examples up on click, one part at a time (code → screen → memory), so students only see the step being explained. Use K.onClick in any slide type.</a:t>
            </a:r>
            <a:endParaRPr lang="en-US" sz="1800" dirty="0"/>
          </a:p>
        </p:txBody>
      </p:sp>
      <p:sp>
        <p:nvSpPr>
          <p:cNvPr id="19" name="Shape 17"/>
          <p:cNvSpPr/>
          <p:nvPr/>
        </p:nvSpPr>
        <p:spPr>
          <a:xfrm>
            <a:off x="548640" y="5120640"/>
            <a:ext cx="11091672" cy="804672"/>
          </a:xfrm>
          <a:prstGeom prst="roundRect">
            <a:avLst>
              <a:gd name="adj" fmla="val 6818"/>
            </a:avLst>
          </a:prstGeom>
          <a:solidFill>
            <a:srgbClr val="2A2A32"/>
          </a:solidFill>
          <a:ln/>
        </p:spPr>
      </p:sp>
      <p:sp>
        <p:nvSpPr>
          <p:cNvPr id="20" name="Text 18"/>
          <p:cNvSpPr txBox="1"/>
          <p:nvPr/>
        </p:nvSpPr>
        <p:spPr>
          <a:xfrm>
            <a:off x="777240" y="5193792"/>
            <a:ext cx="2377440" cy="411480"/>
          </a:xfrm>
          <a:prstGeom prst="rect">
            <a:avLst/>
          </a:prstGeom>
          <a:noFill/>
          <a:ln/>
        </p:spPr>
        <p:txBody>
          <a:bodyPr wrap="square" lIns="0" tIns="0" rIns="0" bIns="0" rtlCol="0" anchor="ctr"/>
          <a:lstStyle/>
          <a:p>
            <a:pPr indent="0" marL="0">
              <a:buNone/>
            </a:pPr>
            <a:r>
              <a:rPr lang="en-US" sz="1800" b="1" dirty="0">
                <a:solidFill>
                  <a:srgbClr val="D8A73D"/>
                </a:solidFill>
                <a:latin typeface="Calibri" pitchFamily="34" charset="0"/>
                <a:ea typeface="Calibri" pitchFamily="34" charset="-122"/>
                <a:cs typeface="Calibri" pitchFamily="34" charset="-120"/>
              </a:rPr>
              <a:t>Sequencing</a:t>
            </a:r>
            <a:endParaRPr lang="en-US" sz="1800" dirty="0"/>
          </a:p>
        </p:txBody>
      </p:sp>
      <p:sp>
        <p:nvSpPr>
          <p:cNvPr id="21" name="Text 19"/>
          <p:cNvSpPr txBox="1"/>
          <p:nvPr/>
        </p:nvSpPr>
        <p:spPr>
          <a:xfrm>
            <a:off x="777240" y="5577840"/>
            <a:ext cx="2377440" cy="274320"/>
          </a:xfrm>
          <a:prstGeom prst="rect">
            <a:avLst/>
          </a:prstGeom>
          <a:noFill/>
          <a:ln/>
        </p:spPr>
        <p:txBody>
          <a:bodyPr wrap="square" lIns="0" tIns="0" rIns="0" bIns="0" rtlCol="0" anchor="ctr"/>
          <a:lstStyle/>
          <a:p>
            <a:pPr indent="0" marL="0">
              <a:buNone/>
            </a:pPr>
            <a:r>
              <a:rPr lang="en-US" sz="1200" dirty="0">
                <a:solidFill>
                  <a:srgbClr val="6E6E7A"/>
                </a:solidFill>
                <a:latin typeface="Calibri" pitchFamily="34" charset="0"/>
                <a:ea typeface="Calibri" pitchFamily="34" charset="-122"/>
                <a:cs typeface="Calibri" pitchFamily="34" charset="-120"/>
              </a:rPr>
              <a:t>2026-10-08</a:t>
            </a:r>
            <a:endParaRPr lang="en-US" sz="1200" dirty="0"/>
          </a:p>
        </p:txBody>
      </p:sp>
      <p:sp>
        <p:nvSpPr>
          <p:cNvPr id="22" name="Text 20"/>
          <p:cNvSpPr txBox="1"/>
          <p:nvPr/>
        </p:nvSpPr>
        <p:spPr>
          <a:xfrm>
            <a:off x="3291840" y="5157216"/>
            <a:ext cx="8183880" cy="731520"/>
          </a:xfrm>
          <a:prstGeom prst="rect">
            <a:avLst/>
          </a:prstGeom>
          <a:noFill/>
          <a:ln/>
        </p:spPr>
        <p:txBody>
          <a:bodyPr wrap="square" lIns="0" tIns="0" rIns="0" bIns="0" rtlCol="0" anchor="ctr"/>
          <a:lstStyle/>
          <a:p>
            <a:pPr indent="0" marL="0">
              <a:buNone/>
            </a:pPr>
            <a:r>
              <a:rPr lang="en-US" sz="1800" dirty="0">
                <a:solidFill>
                  <a:srgbClr val="F5F5F3"/>
                </a:solidFill>
                <a:latin typeface="Calibri" pitchFamily="34" charset="0"/>
                <a:ea typeface="Calibri" pitchFamily="34" charset="-122"/>
                <a:cs typeface="Calibri" pitchFamily="34" charset="-120"/>
              </a:rPr>
              <a:t>Reintroduce each idea on its own slide before a slide builds on it (e.g. a variable is a named box, *then* input() fills the box). Reuse the same layout so only the new part changes.</a:t>
            </a:r>
            <a:endParaRPr lang="en-US" sz="1800" dirty="0"/>
          </a:p>
        </p:txBody>
      </p:sp>
      <p:sp>
        <p:nvSpPr>
          <p:cNvPr id="23" name="Text 21"/>
          <p:cNvSpPr txBox="1"/>
          <p:nvPr/>
        </p:nvSpPr>
        <p:spPr>
          <a:xfrm>
            <a:off x="4206240" y="6355080"/>
            <a:ext cx="6812280" cy="320040"/>
          </a:xfrm>
          <a:prstGeom prst="rect">
            <a:avLst/>
          </a:prstGeom>
          <a:noFill/>
          <a:ln/>
        </p:spPr>
        <p:txBody>
          <a:bodyPr wrap="square" lIns="0" tIns="0" rIns="0" bIns="0" rtlCol="0" anchor="ctr"/>
          <a:lstStyle/>
          <a:p>
            <a:pPr algn="r" indent="0" marL="0">
              <a:buNone/>
            </a:pPr>
            <a:r>
              <a:rPr lang="en-US" sz="1300" b="1" i="1" dirty="0">
                <a:solidFill>
                  <a:srgbClr val="D8A73D"/>
                </a:solidFill>
                <a:latin typeface="Calibri" pitchFamily="34" charset="0"/>
                <a:ea typeface="Calibri" pitchFamily="34" charset="-122"/>
                <a:cs typeface="Calibri" pitchFamily="34" charset="-120"/>
              </a:rPr>
              <a:t>FROM README.md — ADD NEW FEEDBACK THERE</a:t>
            </a:r>
            <a:endParaRPr lang="en-US" sz="13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Rules and feedback (3 of 3)</a:t>
            </a:r>
            <a:endParaRPr lang="en-US" sz="3600" dirty="0"/>
          </a:p>
        </p:txBody>
      </p:sp>
      <p:sp>
        <p:nvSpPr>
          <p:cNvPr id="3" name="Shape 1"/>
          <p:cNvSpPr/>
          <p:nvPr/>
        </p:nvSpPr>
        <p:spPr>
          <a:xfrm>
            <a:off x="548640" y="1463040"/>
            <a:ext cx="11091672" cy="804672"/>
          </a:xfrm>
          <a:prstGeom prst="roundRect">
            <a:avLst>
              <a:gd name="adj" fmla="val 6818"/>
            </a:avLst>
          </a:prstGeom>
          <a:solidFill>
            <a:srgbClr val="2A2A32"/>
          </a:solidFill>
          <a:ln/>
        </p:spPr>
      </p:sp>
      <p:sp>
        <p:nvSpPr>
          <p:cNvPr id="4" name="Text 2"/>
          <p:cNvSpPr txBox="1"/>
          <p:nvPr/>
        </p:nvSpPr>
        <p:spPr>
          <a:xfrm>
            <a:off x="777240" y="1536192"/>
            <a:ext cx="2377440" cy="411480"/>
          </a:xfrm>
          <a:prstGeom prst="rect">
            <a:avLst/>
          </a:prstGeom>
          <a:noFill/>
          <a:ln/>
        </p:spPr>
        <p:txBody>
          <a:bodyPr wrap="square" lIns="0" tIns="0" rIns="0" bIns="0" rtlCol="0" anchor="ctr"/>
          <a:lstStyle/>
          <a:p>
            <a:pPr indent="0" marL="0">
              <a:buNone/>
            </a:pPr>
            <a:r>
              <a:rPr lang="en-US" sz="1800" b="1" dirty="0">
                <a:solidFill>
                  <a:srgbClr val="D8A73D"/>
                </a:solidFill>
                <a:latin typeface="Calibri" pitchFamily="34" charset="0"/>
                <a:ea typeface="Calibri" pitchFamily="34" charset="-122"/>
                <a:cs typeface="Calibri" pitchFamily="34" charset="-120"/>
              </a:rPr>
              <a:t>Station state</a:t>
            </a:r>
            <a:endParaRPr lang="en-US" sz="1800" dirty="0"/>
          </a:p>
        </p:txBody>
      </p:sp>
      <p:sp>
        <p:nvSpPr>
          <p:cNvPr id="5" name="Text 3"/>
          <p:cNvSpPr txBox="1"/>
          <p:nvPr/>
        </p:nvSpPr>
        <p:spPr>
          <a:xfrm>
            <a:off x="777240" y="1920240"/>
            <a:ext cx="2377440" cy="274320"/>
          </a:xfrm>
          <a:prstGeom prst="rect">
            <a:avLst/>
          </a:prstGeom>
          <a:noFill/>
          <a:ln/>
        </p:spPr>
        <p:txBody>
          <a:bodyPr wrap="square" lIns="0" tIns="0" rIns="0" bIns="0" rtlCol="0" anchor="ctr"/>
          <a:lstStyle/>
          <a:p>
            <a:pPr indent="0" marL="0">
              <a:buNone/>
            </a:pPr>
            <a:r>
              <a:rPr lang="en-US" sz="1200" dirty="0">
                <a:solidFill>
                  <a:srgbClr val="6E6E7A"/>
                </a:solidFill>
                <a:latin typeface="Calibri" pitchFamily="34" charset="0"/>
                <a:ea typeface="Calibri" pitchFamily="34" charset="-122"/>
                <a:cs typeface="Calibri" pitchFamily="34" charset="-120"/>
              </a:rPr>
              <a:t>2026-10-08</a:t>
            </a:r>
            <a:endParaRPr lang="en-US" sz="1200" dirty="0"/>
          </a:p>
        </p:txBody>
      </p:sp>
      <p:sp>
        <p:nvSpPr>
          <p:cNvPr id="6" name="Text 4"/>
          <p:cNvSpPr txBox="1"/>
          <p:nvPr/>
        </p:nvSpPr>
        <p:spPr>
          <a:xfrm>
            <a:off x="3291840" y="1499616"/>
            <a:ext cx="8183880" cy="731520"/>
          </a:xfrm>
          <a:prstGeom prst="rect">
            <a:avLst/>
          </a:prstGeom>
          <a:noFill/>
          <a:ln/>
        </p:spPr>
        <p:txBody>
          <a:bodyPr wrap="square" lIns="0" tIns="0" rIns="0" bIns="0" rtlCol="0" anchor="ctr"/>
          <a:lstStyle/>
          <a:p>
            <a:pPr indent="0" marL="0">
              <a:buNone/>
            </a:pPr>
            <a:r>
              <a:rPr lang="en-US" sz="1800" dirty="0">
                <a:solidFill>
                  <a:srgbClr val="F5F5F3"/>
                </a:solidFill>
                <a:latin typeface="Calibri" pitchFamily="34" charset="0"/>
                <a:ea typeface="Calibri" pitchFamily="34" charset="-122"/>
                <a:cs typeface="Calibri" pitchFamily="34" charset="-120"/>
              </a:rPr>
              <a:t>The slides decay with the story: chapter by chapter, and on screen at a story beat. Damage only ever goes in the frame, under the content, so code, output and memory stay clean (createDeck({ station }), K.station, K.beat).</a:t>
            </a:r>
            <a:endParaRPr lang="en-US" sz="1800" dirty="0"/>
          </a:p>
        </p:txBody>
      </p:sp>
      <p:sp>
        <p:nvSpPr>
          <p:cNvPr id="7" name="Shape 5"/>
          <p:cNvSpPr/>
          <p:nvPr/>
        </p:nvSpPr>
        <p:spPr>
          <a:xfrm>
            <a:off x="548640" y="2377440"/>
            <a:ext cx="11091672" cy="804672"/>
          </a:xfrm>
          <a:prstGeom prst="roundRect">
            <a:avLst>
              <a:gd name="adj" fmla="val 6818"/>
            </a:avLst>
          </a:prstGeom>
          <a:solidFill>
            <a:srgbClr val="2A2A32"/>
          </a:solidFill>
          <a:ln/>
        </p:spPr>
      </p:sp>
      <p:sp>
        <p:nvSpPr>
          <p:cNvPr id="8" name="Text 6"/>
          <p:cNvSpPr txBox="1"/>
          <p:nvPr/>
        </p:nvSpPr>
        <p:spPr>
          <a:xfrm>
            <a:off x="777240" y="2450592"/>
            <a:ext cx="2377440" cy="411480"/>
          </a:xfrm>
          <a:prstGeom prst="rect">
            <a:avLst/>
          </a:prstGeom>
          <a:noFill/>
          <a:ln/>
        </p:spPr>
        <p:txBody>
          <a:bodyPr wrap="square" lIns="0" tIns="0" rIns="0" bIns="0" rtlCol="0" anchor="ctr"/>
          <a:lstStyle/>
          <a:p>
            <a:pPr indent="0" marL="0">
              <a:buNone/>
            </a:pPr>
            <a:r>
              <a:rPr lang="en-US" sz="1800" b="1" dirty="0">
                <a:solidFill>
                  <a:srgbClr val="D8A73D"/>
                </a:solidFill>
                <a:latin typeface="Calibri" pitchFamily="34" charset="0"/>
                <a:ea typeface="Calibri" pitchFamily="34" charset="-122"/>
                <a:cs typeface="Calibri" pitchFamily="34" charset="-120"/>
              </a:rPr>
              <a:t>Station state</a:t>
            </a:r>
            <a:endParaRPr lang="en-US" sz="1800" dirty="0"/>
          </a:p>
        </p:txBody>
      </p:sp>
      <p:sp>
        <p:nvSpPr>
          <p:cNvPr id="9" name="Text 7"/>
          <p:cNvSpPr txBox="1"/>
          <p:nvPr/>
        </p:nvSpPr>
        <p:spPr>
          <a:xfrm>
            <a:off x="777240" y="2834640"/>
            <a:ext cx="2377440" cy="274320"/>
          </a:xfrm>
          <a:prstGeom prst="rect">
            <a:avLst/>
          </a:prstGeom>
          <a:noFill/>
          <a:ln/>
        </p:spPr>
        <p:txBody>
          <a:bodyPr wrap="square" lIns="0" tIns="0" rIns="0" bIns="0" rtlCol="0" anchor="ctr"/>
          <a:lstStyle/>
          <a:p>
            <a:pPr indent="0" marL="0">
              <a:buNone/>
            </a:pPr>
            <a:r>
              <a:rPr lang="en-US" sz="1200" dirty="0">
                <a:solidFill>
                  <a:srgbClr val="6E6E7A"/>
                </a:solidFill>
                <a:latin typeface="Calibri" pitchFamily="34" charset="0"/>
                <a:ea typeface="Calibri" pitchFamily="34" charset="-122"/>
                <a:cs typeface="Calibri" pitchFamily="34" charset="-120"/>
              </a:rPr>
              <a:t>2026-10-08</a:t>
            </a:r>
            <a:endParaRPr lang="en-US" sz="1200" dirty="0"/>
          </a:p>
        </p:txBody>
      </p:sp>
      <p:sp>
        <p:nvSpPr>
          <p:cNvPr id="10" name="Text 8"/>
          <p:cNvSpPr txBox="1"/>
          <p:nvPr/>
        </p:nvSpPr>
        <p:spPr>
          <a:xfrm>
            <a:off x="3291840" y="2414016"/>
            <a:ext cx="8183880" cy="731520"/>
          </a:xfrm>
          <a:prstGeom prst="rect">
            <a:avLst/>
          </a:prstGeom>
          <a:noFill/>
          <a:ln/>
        </p:spPr>
        <p:txBody>
          <a:bodyPr wrap="square" lIns="0" tIns="0" rIns="0" bIns="0" rtlCol="0" anchor="ctr"/>
          <a:lstStyle/>
          <a:p>
            <a:pPr indent="0" marL="0">
              <a:buNone/>
            </a:pPr>
            <a:r>
              <a:rPr lang="en-US" sz="1800" dirty="0">
                <a:solidFill>
                  <a:srgbClr val="F5F5F3"/>
                </a:solidFill>
                <a:latin typeface="Calibri" pitchFamily="34" charset="0"/>
                <a:ea typeface="Calibri" pitchFamily="34" charset="-122"/>
                <a:cs typeface="Calibri" pitchFamily="34" charset="-120"/>
              </a:rPr>
              <a:t>Make the damage clearly visible (first version was too subtle): stronger frost, wider alarm glow, solid hazard stripes, heavier static and cracks. Still frame only.</a:t>
            </a:r>
            <a:endParaRPr lang="en-US" sz="1800" dirty="0"/>
          </a:p>
        </p:txBody>
      </p:sp>
      <p:sp>
        <p:nvSpPr>
          <p:cNvPr id="11" name="Shape 9"/>
          <p:cNvSpPr/>
          <p:nvPr/>
        </p:nvSpPr>
        <p:spPr>
          <a:xfrm>
            <a:off x="548640" y="3291840"/>
            <a:ext cx="11091672" cy="804672"/>
          </a:xfrm>
          <a:prstGeom prst="roundRect">
            <a:avLst>
              <a:gd name="adj" fmla="val 6818"/>
            </a:avLst>
          </a:prstGeom>
          <a:solidFill>
            <a:srgbClr val="2A2A32"/>
          </a:solidFill>
          <a:ln/>
        </p:spPr>
      </p:sp>
      <p:sp>
        <p:nvSpPr>
          <p:cNvPr id="12" name="Text 10"/>
          <p:cNvSpPr txBox="1"/>
          <p:nvPr/>
        </p:nvSpPr>
        <p:spPr>
          <a:xfrm>
            <a:off x="777240" y="3364992"/>
            <a:ext cx="2377440" cy="411480"/>
          </a:xfrm>
          <a:prstGeom prst="rect">
            <a:avLst/>
          </a:prstGeom>
          <a:noFill/>
          <a:ln/>
        </p:spPr>
        <p:txBody>
          <a:bodyPr wrap="square" lIns="0" tIns="0" rIns="0" bIns="0" rtlCol="0" anchor="ctr"/>
          <a:lstStyle/>
          <a:p>
            <a:pPr indent="0" marL="0">
              <a:buNone/>
            </a:pPr>
            <a:r>
              <a:rPr lang="en-US" sz="1800" b="1" dirty="0">
                <a:solidFill>
                  <a:srgbClr val="D8A73D"/>
                </a:solidFill>
                <a:latin typeface="Calibri" pitchFamily="34" charset="0"/>
                <a:ea typeface="Calibri" pitchFamily="34" charset="-122"/>
                <a:cs typeface="Calibri" pitchFamily="34" charset="-120"/>
              </a:rPr>
              <a:t>Worked examples</a:t>
            </a:r>
            <a:endParaRPr lang="en-US" sz="1800" dirty="0"/>
          </a:p>
        </p:txBody>
      </p:sp>
      <p:sp>
        <p:nvSpPr>
          <p:cNvPr id="13" name="Text 11"/>
          <p:cNvSpPr txBox="1"/>
          <p:nvPr/>
        </p:nvSpPr>
        <p:spPr>
          <a:xfrm>
            <a:off x="777240" y="3749040"/>
            <a:ext cx="2377440" cy="274320"/>
          </a:xfrm>
          <a:prstGeom prst="rect">
            <a:avLst/>
          </a:prstGeom>
          <a:noFill/>
          <a:ln/>
        </p:spPr>
        <p:txBody>
          <a:bodyPr wrap="square" lIns="0" tIns="0" rIns="0" bIns="0" rtlCol="0" anchor="ctr"/>
          <a:lstStyle/>
          <a:p>
            <a:pPr indent="0" marL="0">
              <a:buNone/>
            </a:pPr>
            <a:r>
              <a:rPr lang="en-US" sz="1200" dirty="0">
                <a:solidFill>
                  <a:srgbClr val="6E6E7A"/>
                </a:solidFill>
                <a:latin typeface="Calibri" pitchFamily="34" charset="0"/>
                <a:ea typeface="Calibri" pitchFamily="34" charset="-122"/>
                <a:cs typeface="Calibri" pitchFamily="34" charset="-120"/>
              </a:rPr>
              <a:t>2026-10-14</a:t>
            </a:r>
            <a:endParaRPr lang="en-US" sz="1200" dirty="0"/>
          </a:p>
        </p:txBody>
      </p:sp>
      <p:sp>
        <p:nvSpPr>
          <p:cNvPr id="14" name="Text 12"/>
          <p:cNvSpPr txBox="1"/>
          <p:nvPr/>
        </p:nvSpPr>
        <p:spPr>
          <a:xfrm>
            <a:off x="3291840" y="3328416"/>
            <a:ext cx="8183880" cy="731520"/>
          </a:xfrm>
          <a:prstGeom prst="rect">
            <a:avLst/>
          </a:prstGeom>
          <a:noFill/>
          <a:ln/>
        </p:spPr>
        <p:txBody>
          <a:bodyPr wrap="square" lIns="0" tIns="0" rIns="0" bIns="0" rtlCol="0" anchor="ctr"/>
          <a:lstStyle/>
          <a:p>
            <a:pPr indent="0" marL="0">
              <a:buNone/>
            </a:pPr>
            <a:r>
              <a:rPr lang="en-US" sz="1800" dirty="0">
                <a:solidFill>
                  <a:srgbClr val="F5F5F3"/>
                </a:solidFill>
                <a:latin typeface="Calibri" pitchFamily="34" charset="0"/>
                <a:ea typeface="Calibri" pitchFamily="34" charset="-122"/>
                <a:cs typeface="Calibri" pitchFamily="34" charset="-120"/>
              </a:rPr>
              <a:t>Teach selection conditions first (True or False on their own), then "what is printed?" in two rounds: numbers in the condition, then one variable. Each round is I do (1 example) → We do (1) → You do (3) → answers (whatPrintedSlide, whatPrintedGridSlide).</a:t>
            </a:r>
            <a:endParaRPr lang="en-US" sz="1800" dirty="0"/>
          </a:p>
        </p:txBody>
      </p:sp>
      <p:sp>
        <p:nvSpPr>
          <p:cNvPr id="15" name="Shape 13"/>
          <p:cNvSpPr/>
          <p:nvPr/>
        </p:nvSpPr>
        <p:spPr>
          <a:xfrm>
            <a:off x="548640" y="4206240"/>
            <a:ext cx="11091672" cy="804672"/>
          </a:xfrm>
          <a:prstGeom prst="roundRect">
            <a:avLst>
              <a:gd name="adj" fmla="val 6818"/>
            </a:avLst>
          </a:prstGeom>
          <a:solidFill>
            <a:srgbClr val="2A2A32"/>
          </a:solidFill>
          <a:ln/>
        </p:spPr>
      </p:sp>
      <p:sp>
        <p:nvSpPr>
          <p:cNvPr id="16" name="Text 14"/>
          <p:cNvSpPr txBox="1"/>
          <p:nvPr/>
        </p:nvSpPr>
        <p:spPr>
          <a:xfrm>
            <a:off x="777240" y="4279392"/>
            <a:ext cx="2377440" cy="411480"/>
          </a:xfrm>
          <a:prstGeom prst="rect">
            <a:avLst/>
          </a:prstGeom>
          <a:noFill/>
          <a:ln/>
        </p:spPr>
        <p:txBody>
          <a:bodyPr wrap="square" lIns="0" tIns="0" rIns="0" bIns="0" rtlCol="0" anchor="ctr"/>
          <a:lstStyle/>
          <a:p>
            <a:pPr indent="0" marL="0">
              <a:buNone/>
            </a:pPr>
            <a:r>
              <a:rPr lang="en-US" sz="1800" b="1" dirty="0">
                <a:solidFill>
                  <a:srgbClr val="D8A73D"/>
                </a:solidFill>
                <a:latin typeface="Calibri" pitchFamily="34" charset="0"/>
                <a:ea typeface="Calibri" pitchFamily="34" charset="-122"/>
                <a:cs typeface="Calibri" pitchFamily="34" charset="-120"/>
              </a:rPr>
              <a:t>Story</a:t>
            </a:r>
            <a:endParaRPr lang="en-US" sz="1800" dirty="0"/>
          </a:p>
        </p:txBody>
      </p:sp>
      <p:sp>
        <p:nvSpPr>
          <p:cNvPr id="17" name="Text 15"/>
          <p:cNvSpPr txBox="1"/>
          <p:nvPr/>
        </p:nvSpPr>
        <p:spPr>
          <a:xfrm>
            <a:off x="777240" y="4663440"/>
            <a:ext cx="2377440" cy="274320"/>
          </a:xfrm>
          <a:prstGeom prst="rect">
            <a:avLst/>
          </a:prstGeom>
          <a:noFill/>
          <a:ln/>
        </p:spPr>
        <p:txBody>
          <a:bodyPr wrap="square" lIns="0" tIns="0" rIns="0" bIns="0" rtlCol="0" anchor="ctr"/>
          <a:lstStyle/>
          <a:p>
            <a:pPr indent="0" marL="0">
              <a:buNone/>
            </a:pPr>
            <a:r>
              <a:rPr lang="en-US" sz="1200" dirty="0">
                <a:solidFill>
                  <a:srgbClr val="6E6E7A"/>
                </a:solidFill>
                <a:latin typeface="Calibri" pitchFamily="34" charset="0"/>
                <a:ea typeface="Calibri" pitchFamily="34" charset="-122"/>
                <a:cs typeface="Calibri" pitchFamily="34" charset="-120"/>
              </a:rPr>
              <a:t>2026-10-15</a:t>
            </a:r>
            <a:endParaRPr lang="en-US" sz="1200" dirty="0"/>
          </a:p>
        </p:txBody>
      </p:sp>
      <p:sp>
        <p:nvSpPr>
          <p:cNvPr id="18" name="Text 16"/>
          <p:cNvSpPr txBox="1"/>
          <p:nvPr/>
        </p:nvSpPr>
        <p:spPr>
          <a:xfrm>
            <a:off x="3291840" y="4242816"/>
            <a:ext cx="8183880" cy="731520"/>
          </a:xfrm>
          <a:prstGeom prst="rect">
            <a:avLst/>
          </a:prstGeom>
          <a:noFill/>
          <a:ln/>
        </p:spPr>
        <p:txBody>
          <a:bodyPr wrap="square" lIns="0" tIns="0" rIns="0" bIns="0" rtlCol="0" anchor="ctr"/>
          <a:lstStyle/>
          <a:p>
            <a:pPr indent="0" marL="0">
              <a:buNone/>
            </a:pPr>
            <a:r>
              <a:rPr lang="en-US" sz="1800" dirty="0">
                <a:solidFill>
                  <a:srgbClr val="F5F5F3"/>
                </a:solidFill>
                <a:latin typeface="Calibri" pitchFamily="34" charset="0"/>
                <a:ea typeface="Calibri" pitchFamily="34" charset="-122"/>
                <a:cs typeface="Calibri" pitchFamily="34" charset="-120"/>
              </a:rPr>
              <a:t>Before each Predict stage (after the New Information), add a very brief "Story so far" slide: at most 3 short sentences, true for every student whatever their choices (storySoFarSlide). Story slides are now the title, these, the chapter cards and the plenary cliffhanger.</a:t>
            </a:r>
            <a:endParaRPr lang="en-US" sz="1800" dirty="0"/>
          </a:p>
        </p:txBody>
      </p:sp>
      <p:sp>
        <p:nvSpPr>
          <p:cNvPr id="19" name="Text 17"/>
          <p:cNvSpPr txBox="1"/>
          <p:nvPr/>
        </p:nvSpPr>
        <p:spPr>
          <a:xfrm>
            <a:off x="4206240" y="6355080"/>
            <a:ext cx="6812280" cy="320040"/>
          </a:xfrm>
          <a:prstGeom prst="rect">
            <a:avLst/>
          </a:prstGeom>
          <a:noFill/>
          <a:ln/>
        </p:spPr>
        <p:txBody>
          <a:bodyPr wrap="square" lIns="0" tIns="0" rIns="0" bIns="0" rtlCol="0" anchor="ctr"/>
          <a:lstStyle/>
          <a:p>
            <a:pPr algn="r" indent="0" marL="0">
              <a:buNone/>
            </a:pPr>
            <a:r>
              <a:rPr lang="en-US" sz="1300" b="1" i="1" dirty="0">
                <a:solidFill>
                  <a:srgbClr val="D8A73D"/>
                </a:solidFill>
                <a:latin typeface="Calibri" pitchFamily="34" charset="0"/>
                <a:ea typeface="Calibri" pitchFamily="34" charset="-122"/>
                <a:cs typeface="Calibri" pitchFamily="34" charset="-120"/>
              </a:rPr>
              <a:t>FROM README.md — ADD NEW FEEDBACK THERE</a:t>
            </a:r>
            <a:endParaRPr lang="en-US" sz="13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1E1E24"/>
                </a:solidFill>
                <a:latin typeface="Cambria" pitchFamily="34" charset="0"/>
                <a:ea typeface="Cambria" pitchFamily="34" charset="-122"/>
                <a:cs typeface="Cambria" pitchFamily="34" charset="-120"/>
              </a:rPr>
              <a:t>Recap &amp; Recall</a:t>
            </a:r>
            <a:endParaRPr lang="en-US" sz="3600" dirty="0"/>
          </a:p>
        </p:txBody>
      </p:sp>
      <p:sp>
        <p:nvSpPr>
          <p:cNvPr id="3" name="Text 1"/>
          <p:cNvSpPr txBox="1"/>
          <p:nvPr/>
        </p:nvSpPr>
        <p:spPr>
          <a:xfrm>
            <a:off x="548640" y="1170432"/>
            <a:ext cx="10241280" cy="365760"/>
          </a:xfrm>
          <a:prstGeom prst="rect">
            <a:avLst/>
          </a:prstGeom>
          <a:noFill/>
          <a:ln/>
        </p:spPr>
        <p:txBody>
          <a:bodyPr wrap="square" lIns="0" tIns="0" rIns="0" bIns="0" rtlCol="0" anchor="ctr"/>
          <a:lstStyle/>
          <a:p>
            <a:pPr indent="0" marL="0">
              <a:buNone/>
            </a:pPr>
            <a:r>
              <a:rPr lang="en-US" sz="1800" dirty="0">
                <a:solidFill>
                  <a:srgbClr val="55555F"/>
                </a:solidFill>
                <a:latin typeface="Calibri" pitchFamily="34" charset="0"/>
                <a:ea typeface="Calibri" pitchFamily="34" charset="-122"/>
                <a:cs typeface="Calibri" pitchFamily="34" charset="-120"/>
              </a:rPr>
              <a:t>No notes. Answer every question — a guess beats a blank. Then rate your confidence: 1, 2 or 3.</a:t>
            </a:r>
            <a:endParaRPr lang="en-US" sz="1800" dirty="0"/>
          </a:p>
        </p:txBody>
      </p:sp>
      <p:sp>
        <p:nvSpPr>
          <p:cNvPr id="4" name="q1"/>
          <p:cNvSpPr/>
          <p:nvPr/>
        </p:nvSpPr>
        <p:spPr>
          <a:xfrm>
            <a:off x="548640" y="1600200"/>
            <a:ext cx="5413248" cy="2286000"/>
          </a:xfrm>
          <a:prstGeom prst="roundRect">
            <a:avLst>
              <a:gd name="adj" fmla="val 3200"/>
            </a:avLst>
          </a:prstGeom>
          <a:solidFill>
            <a:srgbClr val="FFFFFF"/>
          </a:solidFill>
          <a:ln w="15875">
            <a:solidFill>
              <a:srgbClr val="D6D5D0"/>
            </a:solidFill>
            <a:prstDash val="solid"/>
          </a:ln>
        </p:spPr>
      </p:sp>
      <p:sp>
        <p:nvSpPr>
          <p:cNvPr id="5" name="Shape 3"/>
          <p:cNvSpPr/>
          <p:nvPr/>
        </p:nvSpPr>
        <p:spPr>
          <a:xfrm>
            <a:off x="777240" y="1801368"/>
            <a:ext cx="384048" cy="384048"/>
          </a:xfrm>
          <a:prstGeom prst="ellipse">
            <a:avLst/>
          </a:prstGeom>
          <a:solidFill>
            <a:srgbClr val="1E1E24"/>
          </a:solidFill>
          <a:ln/>
        </p:spPr>
      </p:sp>
      <p:sp>
        <p:nvSpPr>
          <p:cNvPr id="6" name="Text 4"/>
          <p:cNvSpPr txBox="1"/>
          <p:nvPr/>
        </p:nvSpPr>
        <p:spPr>
          <a:xfrm>
            <a:off x="777240" y="1801368"/>
            <a:ext cx="384048" cy="384048"/>
          </a:xfrm>
          <a:prstGeom prst="rect">
            <a:avLst/>
          </a:prstGeom>
          <a:noFill/>
          <a:ln/>
        </p:spPr>
        <p:txBody>
          <a:bodyPr wrap="square" lIns="0" tIns="0" rIns="0" bIns="0" rtlCol="0" anchor="ctr"/>
          <a:lstStyle/>
          <a:p>
            <a:pPr algn="ctr" indent="0" marL="0">
              <a:buNone/>
            </a:pPr>
            <a:r>
              <a:rPr lang="en-US" sz="1600" b="1" dirty="0">
                <a:solidFill>
                  <a:srgbClr val="F5F5F3"/>
                </a:solidFill>
                <a:latin typeface="Cambria" pitchFamily="34" charset="0"/>
                <a:ea typeface="Cambria" pitchFamily="34" charset="-122"/>
                <a:cs typeface="Cambria" pitchFamily="34" charset="-120"/>
              </a:rPr>
              <a:t>1</a:t>
            </a:r>
            <a:endParaRPr lang="en-US" sz="1600" dirty="0"/>
          </a:p>
        </p:txBody>
      </p:sp>
      <p:sp>
        <p:nvSpPr>
          <p:cNvPr id="7" name="Shape 5"/>
          <p:cNvSpPr/>
          <p:nvPr/>
        </p:nvSpPr>
        <p:spPr>
          <a:xfrm>
            <a:off x="1280160" y="1828800"/>
            <a:ext cx="1600200" cy="310896"/>
          </a:xfrm>
          <a:prstGeom prst="roundRect">
            <a:avLst>
              <a:gd name="adj" fmla="val 52941"/>
            </a:avLst>
          </a:prstGeom>
          <a:solidFill>
            <a:srgbClr val="EDE6D3"/>
          </a:solidFill>
          <a:ln/>
        </p:spPr>
      </p:sp>
      <p:sp>
        <p:nvSpPr>
          <p:cNvPr id="8" name="Text 6"/>
          <p:cNvSpPr txBox="1"/>
          <p:nvPr/>
        </p:nvSpPr>
        <p:spPr>
          <a:xfrm>
            <a:off x="1280160" y="1828800"/>
            <a:ext cx="1600200" cy="310896"/>
          </a:xfrm>
          <a:prstGeom prst="rect">
            <a:avLst/>
          </a:prstGeom>
          <a:noFill/>
          <a:ln/>
        </p:spPr>
        <p:txBody>
          <a:bodyPr wrap="square" lIns="0" tIns="0" rIns="0" bIns="0" rtlCol="0" anchor="ctr"/>
          <a:lstStyle/>
          <a:p>
            <a:pPr algn="ctr" indent="0" marL="0">
              <a:buNone/>
            </a:pPr>
            <a:r>
              <a:rPr lang="en-US" sz="1200" b="1" spc="100" kern="0" dirty="0">
                <a:solidFill>
                  <a:srgbClr val="7A5A12"/>
                </a:solidFill>
                <a:latin typeface="Calibri" pitchFamily="34" charset="0"/>
                <a:ea typeface="Calibri" pitchFamily="34" charset="-122"/>
                <a:cs typeface="Calibri" pitchFamily="34" charset="-120"/>
              </a:rPr>
              <a:t>Y8 · LESSON 1</a:t>
            </a:r>
            <a:endParaRPr lang="en-US" sz="1200" dirty="0"/>
          </a:p>
        </p:txBody>
      </p:sp>
      <p:sp>
        <p:nvSpPr>
          <p:cNvPr id="9" name="Shape 7"/>
          <p:cNvSpPr/>
          <p:nvPr/>
        </p:nvSpPr>
        <p:spPr>
          <a:xfrm>
            <a:off x="2971800" y="1828800"/>
            <a:ext cx="1783080" cy="310896"/>
          </a:xfrm>
          <a:prstGeom prst="roundRect">
            <a:avLst>
              <a:gd name="adj" fmla="val 52941"/>
            </a:avLst>
          </a:prstGeom>
          <a:solidFill>
            <a:srgbClr val="F5F5F3"/>
          </a:solidFill>
          <a:ln w="15875">
            <a:solidFill>
              <a:srgbClr val="D6D5D0"/>
            </a:solidFill>
            <a:prstDash val="solid"/>
          </a:ln>
        </p:spPr>
      </p:sp>
      <p:sp>
        <p:nvSpPr>
          <p:cNvPr id="10" name="Text 8"/>
          <p:cNvSpPr txBox="1"/>
          <p:nvPr/>
        </p:nvSpPr>
        <p:spPr>
          <a:xfrm>
            <a:off x="2971800" y="1828800"/>
            <a:ext cx="1783080" cy="310896"/>
          </a:xfrm>
          <a:prstGeom prst="rect">
            <a:avLst/>
          </a:prstGeom>
          <a:noFill/>
          <a:ln/>
        </p:spPr>
        <p:txBody>
          <a:bodyPr wrap="square" lIns="0" tIns="0" rIns="0" bIns="0" rtlCol="0" anchor="ctr"/>
          <a:lstStyle/>
          <a:p>
            <a:pPr algn="ctr" indent="0" marL="0">
              <a:buNone/>
            </a:pPr>
            <a:r>
              <a:rPr lang="en-US" sz="1200" b="1" spc="100" kern="0" dirty="0">
                <a:solidFill>
                  <a:srgbClr val="55555F"/>
                </a:solidFill>
                <a:latin typeface="Calibri" pitchFamily="34" charset="0"/>
                <a:ea typeface="Calibri" pitchFamily="34" charset="-122"/>
                <a:cs typeface="Calibri" pitchFamily="34" charset="-120"/>
              </a:rPr>
              <a:t>CHOOSE A, B OR C</a:t>
            </a:r>
            <a:endParaRPr lang="en-US" sz="1200" dirty="0"/>
          </a:p>
        </p:txBody>
      </p:sp>
      <p:sp>
        <p:nvSpPr>
          <p:cNvPr id="11" name="Text 9"/>
          <p:cNvSpPr txBox="1"/>
          <p:nvPr/>
        </p:nvSpPr>
        <p:spPr>
          <a:xfrm>
            <a:off x="777240" y="2240280"/>
            <a:ext cx="4956048" cy="411480"/>
          </a:xfrm>
          <a:prstGeom prst="rect">
            <a:avLst/>
          </a:prstGeom>
          <a:noFill/>
          <a:ln/>
        </p:spPr>
        <p:txBody>
          <a:bodyPr wrap="square" lIns="0" tIns="0" rIns="0" bIns="0" rtlCol="0" anchor="ctr"/>
          <a:lstStyle/>
          <a:p>
            <a:pPr indent="0" marL="0">
              <a:buNone/>
            </a:pPr>
            <a:r>
              <a:rPr lang="en-US" sz="2000" b="1" dirty="0">
                <a:solidFill>
                  <a:srgbClr val="1E1E24"/>
                </a:solidFill>
                <a:latin typeface="Calibri" pitchFamily="34" charset="0"/>
                <a:ea typeface="Calibri" pitchFamily="34" charset="-122"/>
                <a:cs typeface="Calibri" pitchFamily="34" charset="-120"/>
              </a:rPr>
              <a:t>What does print() do?</a:t>
            </a:r>
            <a:endParaRPr lang="en-US" sz="2000" dirty="0"/>
          </a:p>
        </p:txBody>
      </p:sp>
      <p:sp>
        <p:nvSpPr>
          <p:cNvPr id="12" name="Text 10"/>
          <p:cNvSpPr txBox="1"/>
          <p:nvPr/>
        </p:nvSpPr>
        <p:spPr>
          <a:xfrm>
            <a:off x="777240" y="2651760"/>
            <a:ext cx="3017520" cy="329184"/>
          </a:xfrm>
          <a:prstGeom prst="rect">
            <a:avLst/>
          </a:prstGeom>
          <a:noFill/>
          <a:ln/>
        </p:spPr>
        <p:txBody>
          <a:bodyPr wrap="square" lIns="0" tIns="0" rIns="0" bIns="0" rtlCol="0" anchor="ctr"/>
          <a:lstStyle/>
          <a:p>
            <a:pPr indent="0" marL="0">
              <a:buNone/>
            </a:pPr>
            <a:r>
              <a:rPr lang="en-US" sz="1800" b="1" dirty="0">
                <a:solidFill>
                  <a:srgbClr val="7A5A12"/>
                </a:solidFill>
                <a:latin typeface="Calibri" pitchFamily="34" charset="0"/>
                <a:ea typeface="Calibri" pitchFamily="34" charset="-122"/>
                <a:cs typeface="Calibri" pitchFamily="34" charset="-120"/>
              </a:rPr>
              <a:t>A   </a:t>
            </a:r>
            <a:pPr indent="0" marL="0">
              <a:buNone/>
            </a:pPr>
            <a:r>
              <a:rPr lang="en-US" sz="1800" dirty="0">
                <a:solidFill>
                  <a:srgbClr val="1E1E24"/>
                </a:solidFill>
                <a:latin typeface="Calibri" pitchFamily="34" charset="0"/>
                <a:ea typeface="Calibri" pitchFamily="34" charset="-122"/>
                <a:cs typeface="Calibri" pitchFamily="34" charset="-120"/>
              </a:rPr>
              <a:t>Shows text on the screen</a:t>
            </a:r>
            <a:endParaRPr lang="en-US" sz="1800" dirty="0"/>
          </a:p>
        </p:txBody>
      </p:sp>
      <p:sp>
        <p:nvSpPr>
          <p:cNvPr id="13" name="Text 11"/>
          <p:cNvSpPr txBox="1"/>
          <p:nvPr/>
        </p:nvSpPr>
        <p:spPr>
          <a:xfrm>
            <a:off x="777240" y="2980944"/>
            <a:ext cx="3017520" cy="329184"/>
          </a:xfrm>
          <a:prstGeom prst="rect">
            <a:avLst/>
          </a:prstGeom>
          <a:noFill/>
          <a:ln/>
        </p:spPr>
        <p:txBody>
          <a:bodyPr wrap="square" lIns="0" tIns="0" rIns="0" bIns="0" rtlCol="0" anchor="ctr"/>
          <a:lstStyle/>
          <a:p>
            <a:pPr indent="0" marL="0">
              <a:buNone/>
            </a:pPr>
            <a:r>
              <a:rPr lang="en-US" sz="1800" b="1" dirty="0">
                <a:solidFill>
                  <a:srgbClr val="7A5A12"/>
                </a:solidFill>
                <a:latin typeface="Calibri" pitchFamily="34" charset="0"/>
                <a:ea typeface="Calibri" pitchFamily="34" charset="-122"/>
                <a:cs typeface="Calibri" pitchFamily="34" charset="-120"/>
              </a:rPr>
              <a:t>B   </a:t>
            </a:r>
            <a:pPr indent="0" marL="0">
              <a:buNone/>
            </a:pPr>
            <a:r>
              <a:rPr lang="en-US" sz="1800" dirty="0">
                <a:solidFill>
                  <a:srgbClr val="1E1E24"/>
                </a:solidFill>
                <a:latin typeface="Calibri" pitchFamily="34" charset="0"/>
                <a:ea typeface="Calibri" pitchFamily="34" charset="-122"/>
                <a:cs typeface="Calibri" pitchFamily="34" charset="-120"/>
              </a:rPr>
              <a:t>Asks the user to type</a:t>
            </a:r>
            <a:endParaRPr lang="en-US" sz="1800" dirty="0"/>
          </a:p>
        </p:txBody>
      </p:sp>
      <p:sp>
        <p:nvSpPr>
          <p:cNvPr id="14" name="Text 12"/>
          <p:cNvSpPr txBox="1"/>
          <p:nvPr/>
        </p:nvSpPr>
        <p:spPr>
          <a:xfrm>
            <a:off x="777240" y="3310128"/>
            <a:ext cx="3017520" cy="329184"/>
          </a:xfrm>
          <a:prstGeom prst="rect">
            <a:avLst/>
          </a:prstGeom>
          <a:noFill/>
          <a:ln/>
        </p:spPr>
        <p:txBody>
          <a:bodyPr wrap="square" lIns="0" tIns="0" rIns="0" bIns="0" rtlCol="0" anchor="ctr"/>
          <a:lstStyle/>
          <a:p>
            <a:pPr indent="0" marL="0">
              <a:buNone/>
            </a:pPr>
            <a:r>
              <a:rPr lang="en-US" sz="1800" b="1" dirty="0">
                <a:solidFill>
                  <a:srgbClr val="7A5A12"/>
                </a:solidFill>
                <a:latin typeface="Calibri" pitchFamily="34" charset="0"/>
                <a:ea typeface="Calibri" pitchFamily="34" charset="-122"/>
                <a:cs typeface="Calibri" pitchFamily="34" charset="-120"/>
              </a:rPr>
              <a:t>C   </a:t>
            </a:r>
            <a:pPr indent="0" marL="0">
              <a:buNone/>
            </a:pPr>
            <a:r>
              <a:rPr lang="en-US" sz="1800" dirty="0">
                <a:solidFill>
                  <a:srgbClr val="1E1E24"/>
                </a:solidFill>
                <a:latin typeface="Calibri" pitchFamily="34" charset="0"/>
                <a:ea typeface="Calibri" pitchFamily="34" charset="-122"/>
                <a:cs typeface="Calibri" pitchFamily="34" charset="-120"/>
              </a:rPr>
              <a:t>Saves text into a file</a:t>
            </a:r>
            <a:endParaRPr lang="en-US" sz="1800" dirty="0"/>
          </a:p>
        </p:txBody>
      </p:sp>
      <p:sp>
        <p:nvSpPr>
          <p:cNvPr id="15" name="q2"/>
          <p:cNvSpPr/>
          <p:nvPr/>
        </p:nvSpPr>
        <p:spPr>
          <a:xfrm>
            <a:off x="6236208" y="1600200"/>
            <a:ext cx="5413248" cy="2286000"/>
          </a:xfrm>
          <a:prstGeom prst="roundRect">
            <a:avLst>
              <a:gd name="adj" fmla="val 3200"/>
            </a:avLst>
          </a:prstGeom>
          <a:solidFill>
            <a:srgbClr val="FFFFFF"/>
          </a:solidFill>
          <a:ln w="15875">
            <a:solidFill>
              <a:srgbClr val="D6D5D0"/>
            </a:solidFill>
            <a:prstDash val="solid"/>
          </a:ln>
        </p:spPr>
      </p:sp>
      <p:sp>
        <p:nvSpPr>
          <p:cNvPr id="16" name="Shape 14"/>
          <p:cNvSpPr/>
          <p:nvPr/>
        </p:nvSpPr>
        <p:spPr>
          <a:xfrm>
            <a:off x="6464808" y="1801368"/>
            <a:ext cx="384048" cy="384048"/>
          </a:xfrm>
          <a:prstGeom prst="ellipse">
            <a:avLst/>
          </a:prstGeom>
          <a:solidFill>
            <a:srgbClr val="1E1E24"/>
          </a:solidFill>
          <a:ln/>
        </p:spPr>
      </p:sp>
      <p:sp>
        <p:nvSpPr>
          <p:cNvPr id="17" name="Text 15"/>
          <p:cNvSpPr txBox="1"/>
          <p:nvPr/>
        </p:nvSpPr>
        <p:spPr>
          <a:xfrm>
            <a:off x="6464808" y="1801368"/>
            <a:ext cx="384048" cy="384048"/>
          </a:xfrm>
          <a:prstGeom prst="rect">
            <a:avLst/>
          </a:prstGeom>
          <a:noFill/>
          <a:ln/>
        </p:spPr>
        <p:txBody>
          <a:bodyPr wrap="square" lIns="0" tIns="0" rIns="0" bIns="0" rtlCol="0" anchor="ctr"/>
          <a:lstStyle/>
          <a:p>
            <a:pPr algn="ctr" indent="0" marL="0">
              <a:buNone/>
            </a:pPr>
            <a:r>
              <a:rPr lang="en-US" sz="1600" b="1" dirty="0">
                <a:solidFill>
                  <a:srgbClr val="F5F5F3"/>
                </a:solidFill>
                <a:latin typeface="Cambria" pitchFamily="34" charset="0"/>
                <a:ea typeface="Cambria" pitchFamily="34" charset="-122"/>
                <a:cs typeface="Cambria" pitchFamily="34" charset="-120"/>
              </a:rPr>
              <a:t>2</a:t>
            </a:r>
            <a:endParaRPr lang="en-US" sz="1600" dirty="0"/>
          </a:p>
        </p:txBody>
      </p:sp>
      <p:sp>
        <p:nvSpPr>
          <p:cNvPr id="18" name="Shape 16"/>
          <p:cNvSpPr/>
          <p:nvPr/>
        </p:nvSpPr>
        <p:spPr>
          <a:xfrm>
            <a:off x="6967728" y="1828800"/>
            <a:ext cx="1600200" cy="310896"/>
          </a:xfrm>
          <a:prstGeom prst="roundRect">
            <a:avLst>
              <a:gd name="adj" fmla="val 52941"/>
            </a:avLst>
          </a:prstGeom>
          <a:solidFill>
            <a:srgbClr val="EDE6D3"/>
          </a:solidFill>
          <a:ln/>
        </p:spPr>
      </p:sp>
      <p:sp>
        <p:nvSpPr>
          <p:cNvPr id="19" name="Text 17"/>
          <p:cNvSpPr txBox="1"/>
          <p:nvPr/>
        </p:nvSpPr>
        <p:spPr>
          <a:xfrm>
            <a:off x="6967728" y="1828800"/>
            <a:ext cx="1600200" cy="310896"/>
          </a:xfrm>
          <a:prstGeom prst="rect">
            <a:avLst/>
          </a:prstGeom>
          <a:noFill/>
          <a:ln/>
        </p:spPr>
        <p:txBody>
          <a:bodyPr wrap="square" lIns="0" tIns="0" rIns="0" bIns="0" rtlCol="0" anchor="ctr"/>
          <a:lstStyle/>
          <a:p>
            <a:pPr algn="ctr" indent="0" marL="0">
              <a:buNone/>
            </a:pPr>
            <a:r>
              <a:rPr lang="en-US" sz="1200" b="1" spc="100" kern="0" dirty="0">
                <a:solidFill>
                  <a:srgbClr val="7A5A12"/>
                </a:solidFill>
                <a:latin typeface="Calibri" pitchFamily="34" charset="0"/>
                <a:ea typeface="Calibri" pitchFamily="34" charset="-122"/>
                <a:cs typeface="Calibri" pitchFamily="34" charset="-120"/>
              </a:rPr>
              <a:t>Y8 · LESSON 2</a:t>
            </a:r>
            <a:endParaRPr lang="en-US" sz="1200" dirty="0"/>
          </a:p>
        </p:txBody>
      </p:sp>
      <p:sp>
        <p:nvSpPr>
          <p:cNvPr id="20" name="Shape 18"/>
          <p:cNvSpPr/>
          <p:nvPr/>
        </p:nvSpPr>
        <p:spPr>
          <a:xfrm>
            <a:off x="8659368" y="1828800"/>
            <a:ext cx="1783080" cy="310896"/>
          </a:xfrm>
          <a:prstGeom prst="roundRect">
            <a:avLst>
              <a:gd name="adj" fmla="val 52941"/>
            </a:avLst>
          </a:prstGeom>
          <a:solidFill>
            <a:srgbClr val="F5F5F3"/>
          </a:solidFill>
          <a:ln w="15875">
            <a:solidFill>
              <a:srgbClr val="D6D5D0"/>
            </a:solidFill>
            <a:prstDash val="solid"/>
          </a:ln>
        </p:spPr>
      </p:sp>
      <p:sp>
        <p:nvSpPr>
          <p:cNvPr id="21" name="Text 19"/>
          <p:cNvSpPr txBox="1"/>
          <p:nvPr/>
        </p:nvSpPr>
        <p:spPr>
          <a:xfrm>
            <a:off x="8659368" y="1828800"/>
            <a:ext cx="1783080" cy="310896"/>
          </a:xfrm>
          <a:prstGeom prst="rect">
            <a:avLst/>
          </a:prstGeom>
          <a:noFill/>
          <a:ln/>
        </p:spPr>
        <p:txBody>
          <a:bodyPr wrap="square" lIns="0" tIns="0" rIns="0" bIns="0" rtlCol="0" anchor="ctr"/>
          <a:lstStyle/>
          <a:p>
            <a:pPr algn="ctr" indent="0" marL="0">
              <a:buNone/>
            </a:pPr>
            <a:r>
              <a:rPr lang="en-US" sz="1200" b="1" spc="100" kern="0" dirty="0">
                <a:solidFill>
                  <a:srgbClr val="55555F"/>
                </a:solidFill>
                <a:latin typeface="Calibri" pitchFamily="34" charset="0"/>
                <a:ea typeface="Calibri" pitchFamily="34" charset="-122"/>
                <a:cs typeface="Calibri" pitchFamily="34" charset="-120"/>
              </a:rPr>
              <a:t>CHOOSE A, B OR C</a:t>
            </a:r>
            <a:endParaRPr lang="en-US" sz="1200" dirty="0"/>
          </a:p>
        </p:txBody>
      </p:sp>
      <p:sp>
        <p:nvSpPr>
          <p:cNvPr id="22" name="Text 20"/>
          <p:cNvSpPr txBox="1"/>
          <p:nvPr/>
        </p:nvSpPr>
        <p:spPr>
          <a:xfrm>
            <a:off x="6464808" y="2240280"/>
            <a:ext cx="4956048" cy="411480"/>
          </a:xfrm>
          <a:prstGeom prst="rect">
            <a:avLst/>
          </a:prstGeom>
          <a:noFill/>
          <a:ln/>
        </p:spPr>
        <p:txBody>
          <a:bodyPr wrap="square" lIns="0" tIns="0" rIns="0" bIns="0" rtlCol="0" anchor="ctr"/>
          <a:lstStyle/>
          <a:p>
            <a:pPr indent="0" marL="0">
              <a:buNone/>
            </a:pPr>
            <a:r>
              <a:rPr lang="en-US" sz="2000" b="1" dirty="0">
                <a:solidFill>
                  <a:srgbClr val="1E1E24"/>
                </a:solidFill>
                <a:latin typeface="Calibri" pitchFamily="34" charset="0"/>
                <a:ea typeface="Calibri" pitchFamily="34" charset="-122"/>
                <a:cs typeface="Calibri" pitchFamily="34" charset="-120"/>
              </a:rPr>
              <a:t>What does this print?</a:t>
            </a:r>
            <a:endParaRPr lang="en-US" sz="2000" dirty="0"/>
          </a:p>
        </p:txBody>
      </p:sp>
      <p:sp>
        <p:nvSpPr>
          <p:cNvPr id="23" name="Shape 21"/>
          <p:cNvSpPr/>
          <p:nvPr/>
        </p:nvSpPr>
        <p:spPr>
          <a:xfrm>
            <a:off x="6464808" y="2651760"/>
            <a:ext cx="2286000" cy="1088136"/>
          </a:xfrm>
          <a:prstGeom prst="roundRect">
            <a:avLst>
              <a:gd name="adj" fmla="val 5042"/>
            </a:avLst>
          </a:prstGeom>
          <a:solidFill>
            <a:srgbClr val="111115"/>
          </a:solidFill>
          <a:ln/>
        </p:spPr>
      </p:sp>
      <p:sp>
        <p:nvSpPr>
          <p:cNvPr id="24" name="Text 22"/>
          <p:cNvSpPr txBox="1"/>
          <p:nvPr/>
        </p:nvSpPr>
        <p:spPr>
          <a:xfrm>
            <a:off x="6601968" y="2743200"/>
            <a:ext cx="2011680" cy="301752"/>
          </a:xfrm>
          <a:prstGeom prst="rect">
            <a:avLst/>
          </a:prstGeom>
          <a:noFill/>
          <a:ln/>
        </p:spPr>
        <p:txBody>
          <a:bodyPr wrap="square" lIns="0" tIns="0" rIns="0" bIns="0" rtlCol="0" anchor="ctr"/>
          <a:lstStyle/>
          <a:p>
            <a:pPr indent="0" marL="0">
              <a:buNone/>
            </a:pPr>
            <a:r>
              <a:rPr lang="en-US" sz="1800" dirty="0">
                <a:solidFill>
                  <a:srgbClr val="F5F5F3"/>
                </a:solidFill>
                <a:latin typeface="Consolas" pitchFamily="34" charset="0"/>
                <a:ea typeface="Consolas" pitchFamily="34" charset="-122"/>
                <a:cs typeface="Consolas" pitchFamily="34" charset="-120"/>
              </a:rPr>
              <a:t>score</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56B4E9"/>
                </a:solidFill>
                <a:latin typeface="Consolas" pitchFamily="34" charset="0"/>
                <a:ea typeface="Consolas" pitchFamily="34" charset="-122"/>
                <a:cs typeface="Consolas" pitchFamily="34" charset="-120"/>
              </a:rPr>
              <a:t>5</a:t>
            </a:r>
            <a:endParaRPr lang="en-US" sz="1800" dirty="0"/>
          </a:p>
        </p:txBody>
      </p:sp>
      <p:sp>
        <p:nvSpPr>
          <p:cNvPr id="25" name="Text 23"/>
          <p:cNvSpPr txBox="1"/>
          <p:nvPr/>
        </p:nvSpPr>
        <p:spPr>
          <a:xfrm>
            <a:off x="6601968" y="3044952"/>
            <a:ext cx="2011680" cy="301752"/>
          </a:xfrm>
          <a:prstGeom prst="rect">
            <a:avLst/>
          </a:prstGeom>
          <a:noFill/>
          <a:ln/>
        </p:spPr>
        <p:txBody>
          <a:bodyPr wrap="square" lIns="0" tIns="0" rIns="0" bIns="0" rtlCol="0" anchor="ctr"/>
          <a:lstStyle/>
          <a:p>
            <a:pPr indent="0" marL="0">
              <a:buNone/>
            </a:pPr>
            <a:r>
              <a:rPr lang="en-US" sz="1800" dirty="0">
                <a:solidFill>
                  <a:srgbClr val="F5F5F3"/>
                </a:solidFill>
                <a:latin typeface="Consolas" pitchFamily="34" charset="0"/>
                <a:ea typeface="Consolas" pitchFamily="34" charset="-122"/>
                <a:cs typeface="Consolas" pitchFamily="34" charset="-120"/>
              </a:rPr>
              <a:t>score</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56B4E9"/>
                </a:solidFill>
                <a:latin typeface="Consolas" pitchFamily="34" charset="0"/>
                <a:ea typeface="Consolas" pitchFamily="34" charset="-122"/>
                <a:cs typeface="Consolas" pitchFamily="34" charset="-120"/>
              </a:rPr>
              <a:t>9</a:t>
            </a:r>
            <a:endParaRPr lang="en-US" sz="1800" dirty="0"/>
          </a:p>
        </p:txBody>
      </p:sp>
      <p:sp>
        <p:nvSpPr>
          <p:cNvPr id="26" name="Text 24"/>
          <p:cNvSpPr txBox="1"/>
          <p:nvPr/>
        </p:nvSpPr>
        <p:spPr>
          <a:xfrm>
            <a:off x="6601968" y="3346704"/>
            <a:ext cx="2011680" cy="301752"/>
          </a:xfrm>
          <a:prstGeom prst="rect">
            <a:avLst/>
          </a:prstGeom>
          <a:noFill/>
          <a:ln/>
        </p:spPr>
        <p:txBody>
          <a:bodyPr wrap="square" lIns="0" tIns="0" rIns="0" bIns="0" rtlCol="0" anchor="ctr"/>
          <a:lstStyle/>
          <a:p>
            <a:pPr indent="0" marL="0">
              <a:buNone/>
            </a:pPr>
            <a:r>
              <a:rPr lang="en-US" sz="1800" dirty="0">
                <a:solidFill>
                  <a:srgbClr val="E8C878"/>
                </a:solidFill>
                <a:latin typeface="Consolas" pitchFamily="34" charset="0"/>
                <a:ea typeface="Consolas" pitchFamily="34" charset="-122"/>
                <a:cs typeface="Consolas" pitchFamily="34" charset="-120"/>
              </a:rPr>
              <a:t>print</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F5F5F3"/>
                </a:solidFill>
                <a:latin typeface="Consolas" pitchFamily="34" charset="0"/>
                <a:ea typeface="Consolas" pitchFamily="34" charset="-122"/>
                <a:cs typeface="Consolas" pitchFamily="34" charset="-120"/>
              </a:rPr>
              <a:t>score</a:t>
            </a:r>
            <a:pPr indent="0" marL="0">
              <a:buNone/>
            </a:pPr>
            <a:r>
              <a:rPr lang="en-US" sz="1800" dirty="0">
                <a:solidFill>
                  <a:srgbClr val="A9A9B4"/>
                </a:solidFill>
                <a:latin typeface="Consolas" pitchFamily="34" charset="0"/>
                <a:ea typeface="Consolas" pitchFamily="34" charset="-122"/>
                <a:cs typeface="Consolas" pitchFamily="34" charset="-120"/>
              </a:rPr>
              <a:t>)</a:t>
            </a:r>
            <a:endParaRPr lang="en-US" sz="1800" dirty="0"/>
          </a:p>
        </p:txBody>
      </p:sp>
      <p:sp>
        <p:nvSpPr>
          <p:cNvPr id="27" name="Text 25"/>
          <p:cNvSpPr txBox="1"/>
          <p:nvPr/>
        </p:nvSpPr>
        <p:spPr>
          <a:xfrm>
            <a:off x="8979408" y="2651760"/>
            <a:ext cx="685800" cy="329184"/>
          </a:xfrm>
          <a:prstGeom prst="rect">
            <a:avLst/>
          </a:prstGeom>
          <a:noFill/>
          <a:ln/>
        </p:spPr>
        <p:txBody>
          <a:bodyPr wrap="square" lIns="0" tIns="0" rIns="0" bIns="0" rtlCol="0" anchor="ctr"/>
          <a:lstStyle/>
          <a:p>
            <a:pPr indent="0" marL="0">
              <a:buNone/>
            </a:pPr>
            <a:r>
              <a:rPr lang="en-US" sz="1800" b="1" dirty="0">
                <a:solidFill>
                  <a:srgbClr val="7A5A12"/>
                </a:solidFill>
                <a:latin typeface="Calibri" pitchFamily="34" charset="0"/>
                <a:ea typeface="Calibri" pitchFamily="34" charset="-122"/>
                <a:cs typeface="Calibri" pitchFamily="34" charset="-120"/>
              </a:rPr>
              <a:t>A   </a:t>
            </a:r>
            <a:pPr indent="0" marL="0">
              <a:buNone/>
            </a:pPr>
            <a:r>
              <a:rPr lang="en-US" sz="1800" dirty="0">
                <a:solidFill>
                  <a:srgbClr val="1E1E24"/>
                </a:solidFill>
                <a:latin typeface="Calibri" pitchFamily="34" charset="0"/>
                <a:ea typeface="Calibri" pitchFamily="34" charset="-122"/>
                <a:cs typeface="Calibri" pitchFamily="34" charset="-120"/>
              </a:rPr>
              <a:t>5</a:t>
            </a:r>
            <a:endParaRPr lang="en-US" sz="1800" dirty="0"/>
          </a:p>
        </p:txBody>
      </p:sp>
      <p:sp>
        <p:nvSpPr>
          <p:cNvPr id="28" name="Text 26"/>
          <p:cNvSpPr txBox="1"/>
          <p:nvPr/>
        </p:nvSpPr>
        <p:spPr>
          <a:xfrm>
            <a:off x="8979408" y="2980944"/>
            <a:ext cx="685800" cy="329184"/>
          </a:xfrm>
          <a:prstGeom prst="rect">
            <a:avLst/>
          </a:prstGeom>
          <a:noFill/>
          <a:ln/>
        </p:spPr>
        <p:txBody>
          <a:bodyPr wrap="square" lIns="0" tIns="0" rIns="0" bIns="0" rtlCol="0" anchor="ctr"/>
          <a:lstStyle/>
          <a:p>
            <a:pPr indent="0" marL="0">
              <a:buNone/>
            </a:pPr>
            <a:r>
              <a:rPr lang="en-US" sz="1800" b="1" dirty="0">
                <a:solidFill>
                  <a:srgbClr val="7A5A12"/>
                </a:solidFill>
                <a:latin typeface="Calibri" pitchFamily="34" charset="0"/>
                <a:ea typeface="Calibri" pitchFamily="34" charset="-122"/>
                <a:cs typeface="Calibri" pitchFamily="34" charset="-120"/>
              </a:rPr>
              <a:t>B   </a:t>
            </a:r>
            <a:pPr indent="0" marL="0">
              <a:buNone/>
            </a:pPr>
            <a:r>
              <a:rPr lang="en-US" sz="1800" dirty="0">
                <a:solidFill>
                  <a:srgbClr val="1E1E24"/>
                </a:solidFill>
                <a:latin typeface="Calibri" pitchFamily="34" charset="0"/>
                <a:ea typeface="Calibri" pitchFamily="34" charset="-122"/>
                <a:cs typeface="Calibri" pitchFamily="34" charset="-120"/>
              </a:rPr>
              <a:t>9</a:t>
            </a:r>
            <a:endParaRPr lang="en-US" sz="1800" dirty="0"/>
          </a:p>
        </p:txBody>
      </p:sp>
      <p:sp>
        <p:nvSpPr>
          <p:cNvPr id="29" name="Text 27"/>
          <p:cNvSpPr txBox="1"/>
          <p:nvPr/>
        </p:nvSpPr>
        <p:spPr>
          <a:xfrm>
            <a:off x="8979408" y="3310128"/>
            <a:ext cx="685800" cy="329184"/>
          </a:xfrm>
          <a:prstGeom prst="rect">
            <a:avLst/>
          </a:prstGeom>
          <a:noFill/>
          <a:ln/>
        </p:spPr>
        <p:txBody>
          <a:bodyPr wrap="square" lIns="0" tIns="0" rIns="0" bIns="0" rtlCol="0" anchor="ctr"/>
          <a:lstStyle/>
          <a:p>
            <a:pPr indent="0" marL="0">
              <a:buNone/>
            </a:pPr>
            <a:r>
              <a:rPr lang="en-US" sz="1800" b="1" dirty="0">
                <a:solidFill>
                  <a:srgbClr val="7A5A12"/>
                </a:solidFill>
                <a:latin typeface="Calibri" pitchFamily="34" charset="0"/>
                <a:ea typeface="Calibri" pitchFamily="34" charset="-122"/>
                <a:cs typeface="Calibri" pitchFamily="34" charset="-120"/>
              </a:rPr>
              <a:t>C   </a:t>
            </a:r>
            <a:pPr indent="0" marL="0">
              <a:buNone/>
            </a:pPr>
            <a:r>
              <a:rPr lang="en-US" sz="1800" dirty="0">
                <a:solidFill>
                  <a:srgbClr val="1E1E24"/>
                </a:solidFill>
                <a:latin typeface="Calibri" pitchFamily="34" charset="0"/>
                <a:ea typeface="Calibri" pitchFamily="34" charset="-122"/>
                <a:cs typeface="Calibri" pitchFamily="34" charset="-120"/>
              </a:rPr>
              <a:t>14</a:t>
            </a:r>
            <a:endParaRPr lang="en-US" sz="1800" dirty="0"/>
          </a:p>
        </p:txBody>
      </p:sp>
      <p:sp>
        <p:nvSpPr>
          <p:cNvPr id="30" name="q3"/>
          <p:cNvSpPr/>
          <p:nvPr/>
        </p:nvSpPr>
        <p:spPr>
          <a:xfrm>
            <a:off x="548640" y="4023360"/>
            <a:ext cx="5413248" cy="2286000"/>
          </a:xfrm>
          <a:prstGeom prst="roundRect">
            <a:avLst>
              <a:gd name="adj" fmla="val 3200"/>
            </a:avLst>
          </a:prstGeom>
          <a:solidFill>
            <a:srgbClr val="FFFFFF"/>
          </a:solidFill>
          <a:ln w="15875">
            <a:solidFill>
              <a:srgbClr val="D6D5D0"/>
            </a:solidFill>
            <a:prstDash val="solid"/>
          </a:ln>
        </p:spPr>
      </p:sp>
      <p:sp>
        <p:nvSpPr>
          <p:cNvPr id="31" name="Shape 29"/>
          <p:cNvSpPr/>
          <p:nvPr/>
        </p:nvSpPr>
        <p:spPr>
          <a:xfrm>
            <a:off x="777240" y="4224528"/>
            <a:ext cx="384048" cy="384048"/>
          </a:xfrm>
          <a:prstGeom prst="ellipse">
            <a:avLst/>
          </a:prstGeom>
          <a:solidFill>
            <a:srgbClr val="1E1E24"/>
          </a:solidFill>
          <a:ln/>
        </p:spPr>
      </p:sp>
      <p:sp>
        <p:nvSpPr>
          <p:cNvPr id="32" name="Text 30"/>
          <p:cNvSpPr txBox="1"/>
          <p:nvPr/>
        </p:nvSpPr>
        <p:spPr>
          <a:xfrm>
            <a:off x="777240" y="4224528"/>
            <a:ext cx="384048" cy="384048"/>
          </a:xfrm>
          <a:prstGeom prst="rect">
            <a:avLst/>
          </a:prstGeom>
          <a:noFill/>
          <a:ln/>
        </p:spPr>
        <p:txBody>
          <a:bodyPr wrap="square" lIns="0" tIns="0" rIns="0" bIns="0" rtlCol="0" anchor="ctr"/>
          <a:lstStyle/>
          <a:p>
            <a:pPr algn="ctr" indent="0" marL="0">
              <a:buNone/>
            </a:pPr>
            <a:r>
              <a:rPr lang="en-US" sz="1600" b="1" dirty="0">
                <a:solidFill>
                  <a:srgbClr val="F5F5F3"/>
                </a:solidFill>
                <a:latin typeface="Cambria" pitchFamily="34" charset="0"/>
                <a:ea typeface="Cambria" pitchFamily="34" charset="-122"/>
                <a:cs typeface="Cambria" pitchFamily="34" charset="-120"/>
              </a:rPr>
              <a:t>3</a:t>
            </a:r>
            <a:endParaRPr lang="en-US" sz="1600" dirty="0"/>
          </a:p>
        </p:txBody>
      </p:sp>
      <p:sp>
        <p:nvSpPr>
          <p:cNvPr id="33" name="Shape 31"/>
          <p:cNvSpPr/>
          <p:nvPr/>
        </p:nvSpPr>
        <p:spPr>
          <a:xfrm>
            <a:off x="1280160" y="4251960"/>
            <a:ext cx="1600200" cy="310896"/>
          </a:xfrm>
          <a:prstGeom prst="roundRect">
            <a:avLst>
              <a:gd name="adj" fmla="val 52941"/>
            </a:avLst>
          </a:prstGeom>
          <a:solidFill>
            <a:srgbClr val="EDE6D3"/>
          </a:solidFill>
          <a:ln/>
        </p:spPr>
      </p:sp>
      <p:sp>
        <p:nvSpPr>
          <p:cNvPr id="34" name="Text 32"/>
          <p:cNvSpPr txBox="1"/>
          <p:nvPr/>
        </p:nvSpPr>
        <p:spPr>
          <a:xfrm>
            <a:off x="1280160" y="4251960"/>
            <a:ext cx="1600200" cy="310896"/>
          </a:xfrm>
          <a:prstGeom prst="rect">
            <a:avLst/>
          </a:prstGeom>
          <a:noFill/>
          <a:ln/>
        </p:spPr>
        <p:txBody>
          <a:bodyPr wrap="square" lIns="0" tIns="0" rIns="0" bIns="0" rtlCol="0" anchor="ctr"/>
          <a:lstStyle/>
          <a:p>
            <a:pPr algn="ctr" indent="0" marL="0">
              <a:buNone/>
            </a:pPr>
            <a:r>
              <a:rPr lang="en-US" sz="1200" b="1" spc="100" kern="0" dirty="0">
                <a:solidFill>
                  <a:srgbClr val="7A5A12"/>
                </a:solidFill>
                <a:latin typeface="Calibri" pitchFamily="34" charset="0"/>
                <a:ea typeface="Calibri" pitchFamily="34" charset="-122"/>
                <a:cs typeface="Calibri" pitchFamily="34" charset="-120"/>
              </a:rPr>
              <a:t>Y8 · LESSON 1</a:t>
            </a:r>
            <a:endParaRPr lang="en-US" sz="1200" dirty="0"/>
          </a:p>
        </p:txBody>
      </p:sp>
      <p:sp>
        <p:nvSpPr>
          <p:cNvPr id="35" name="Shape 33"/>
          <p:cNvSpPr/>
          <p:nvPr/>
        </p:nvSpPr>
        <p:spPr>
          <a:xfrm>
            <a:off x="2971800" y="4251960"/>
            <a:ext cx="1783080" cy="310896"/>
          </a:xfrm>
          <a:prstGeom prst="roundRect">
            <a:avLst>
              <a:gd name="adj" fmla="val 52941"/>
            </a:avLst>
          </a:prstGeom>
          <a:solidFill>
            <a:srgbClr val="F5F5F3"/>
          </a:solidFill>
          <a:ln w="15875">
            <a:solidFill>
              <a:srgbClr val="D6D5D0"/>
            </a:solidFill>
            <a:prstDash val="solid"/>
          </a:ln>
        </p:spPr>
      </p:sp>
      <p:sp>
        <p:nvSpPr>
          <p:cNvPr id="36" name="Text 34"/>
          <p:cNvSpPr txBox="1"/>
          <p:nvPr/>
        </p:nvSpPr>
        <p:spPr>
          <a:xfrm>
            <a:off x="2971800" y="4251960"/>
            <a:ext cx="1783080" cy="310896"/>
          </a:xfrm>
          <a:prstGeom prst="rect">
            <a:avLst/>
          </a:prstGeom>
          <a:noFill/>
          <a:ln/>
        </p:spPr>
        <p:txBody>
          <a:bodyPr wrap="square" lIns="0" tIns="0" rIns="0" bIns="0" rtlCol="0" anchor="ctr"/>
          <a:lstStyle/>
          <a:p>
            <a:pPr algn="ctr" indent="0" marL="0">
              <a:buNone/>
            </a:pPr>
            <a:r>
              <a:rPr lang="en-US" sz="1200" b="1" spc="100" kern="0" dirty="0">
                <a:solidFill>
                  <a:srgbClr val="55555F"/>
                </a:solidFill>
                <a:latin typeface="Calibri" pitchFamily="34" charset="0"/>
                <a:ea typeface="Calibri" pitchFamily="34" charset="-122"/>
                <a:cs typeface="Calibri" pitchFamily="34" charset="-120"/>
              </a:rPr>
              <a:t>WRITE IT</a:t>
            </a:r>
            <a:endParaRPr lang="en-US" sz="1200" dirty="0"/>
          </a:p>
        </p:txBody>
      </p:sp>
      <p:sp>
        <p:nvSpPr>
          <p:cNvPr id="37" name="Text 35"/>
          <p:cNvSpPr txBox="1"/>
          <p:nvPr/>
        </p:nvSpPr>
        <p:spPr>
          <a:xfrm>
            <a:off x="777240" y="4663440"/>
            <a:ext cx="4956048" cy="411480"/>
          </a:xfrm>
          <a:prstGeom prst="rect">
            <a:avLst/>
          </a:prstGeom>
          <a:noFill/>
          <a:ln/>
        </p:spPr>
        <p:txBody>
          <a:bodyPr wrap="square" lIns="0" tIns="0" rIns="0" bIns="0" rtlCol="0" anchor="ctr"/>
          <a:lstStyle/>
          <a:p>
            <a:pPr indent="0" marL="0">
              <a:buNone/>
            </a:pPr>
            <a:r>
              <a:rPr lang="en-US" sz="2000" b="1" dirty="0">
                <a:solidFill>
                  <a:srgbClr val="1E1E24"/>
                </a:solidFill>
                <a:latin typeface="Calibri" pitchFamily="34" charset="0"/>
                <a:ea typeface="Calibri" pitchFamily="34" charset="-122"/>
                <a:cs typeface="Calibri" pitchFamily="34" charset="-120"/>
              </a:rPr>
              <a:t>This line crashes. What is missing?</a:t>
            </a:r>
            <a:endParaRPr lang="en-US" sz="2000" dirty="0"/>
          </a:p>
        </p:txBody>
      </p:sp>
      <p:sp>
        <p:nvSpPr>
          <p:cNvPr id="38" name="Shape 36"/>
          <p:cNvSpPr/>
          <p:nvPr/>
        </p:nvSpPr>
        <p:spPr>
          <a:xfrm>
            <a:off x="777240" y="5074920"/>
            <a:ext cx="4956048" cy="484632"/>
          </a:xfrm>
          <a:prstGeom prst="roundRect">
            <a:avLst>
              <a:gd name="adj" fmla="val 11321"/>
            </a:avLst>
          </a:prstGeom>
          <a:solidFill>
            <a:srgbClr val="111115"/>
          </a:solidFill>
          <a:ln/>
        </p:spPr>
      </p:sp>
      <p:sp>
        <p:nvSpPr>
          <p:cNvPr id="39" name="Text 37"/>
          <p:cNvSpPr txBox="1"/>
          <p:nvPr/>
        </p:nvSpPr>
        <p:spPr>
          <a:xfrm>
            <a:off x="914400" y="5166360"/>
            <a:ext cx="4681728" cy="301752"/>
          </a:xfrm>
          <a:prstGeom prst="rect">
            <a:avLst/>
          </a:prstGeom>
          <a:noFill/>
          <a:ln/>
        </p:spPr>
        <p:txBody>
          <a:bodyPr wrap="square" lIns="0" tIns="0" rIns="0" bIns="0" rtlCol="0" anchor="ctr"/>
          <a:lstStyle/>
          <a:p>
            <a:pPr indent="0" marL="0">
              <a:buNone/>
            </a:pPr>
            <a:r>
              <a:rPr lang="en-US" sz="1800" dirty="0">
                <a:solidFill>
                  <a:srgbClr val="E8C878"/>
                </a:solidFill>
                <a:latin typeface="Consolas" pitchFamily="34" charset="0"/>
                <a:ea typeface="Consolas" pitchFamily="34" charset="-122"/>
                <a:cs typeface="Consolas" pitchFamily="34" charset="-120"/>
              </a:rPr>
              <a:t>print</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E69F00"/>
                </a:solidFill>
                <a:latin typeface="Consolas" pitchFamily="34" charset="0"/>
                <a:ea typeface="Consolas" pitchFamily="34" charset="-122"/>
                <a:cs typeface="Consolas" pitchFamily="34" charset="-120"/>
              </a:rPr>
              <a:t>"Hello)</a:t>
            </a:r>
            <a:endParaRPr lang="en-US" sz="1800" dirty="0"/>
          </a:p>
        </p:txBody>
      </p:sp>
      <p:sp>
        <p:nvSpPr>
          <p:cNvPr id="40" name="q4"/>
          <p:cNvSpPr/>
          <p:nvPr/>
        </p:nvSpPr>
        <p:spPr>
          <a:xfrm>
            <a:off x="6236208" y="4023360"/>
            <a:ext cx="5413248" cy="2286000"/>
          </a:xfrm>
          <a:prstGeom prst="roundRect">
            <a:avLst>
              <a:gd name="adj" fmla="val 3200"/>
            </a:avLst>
          </a:prstGeom>
          <a:solidFill>
            <a:srgbClr val="FFFFFF"/>
          </a:solidFill>
          <a:ln w="15875">
            <a:solidFill>
              <a:srgbClr val="D6D5D0"/>
            </a:solidFill>
            <a:prstDash val="solid"/>
          </a:ln>
        </p:spPr>
      </p:sp>
      <p:sp>
        <p:nvSpPr>
          <p:cNvPr id="41" name="Shape 39"/>
          <p:cNvSpPr/>
          <p:nvPr/>
        </p:nvSpPr>
        <p:spPr>
          <a:xfrm>
            <a:off x="6464808" y="4224528"/>
            <a:ext cx="384048" cy="384048"/>
          </a:xfrm>
          <a:prstGeom prst="ellipse">
            <a:avLst/>
          </a:prstGeom>
          <a:solidFill>
            <a:srgbClr val="1E1E24"/>
          </a:solidFill>
          <a:ln/>
        </p:spPr>
      </p:sp>
      <p:sp>
        <p:nvSpPr>
          <p:cNvPr id="42" name="Text 40"/>
          <p:cNvSpPr txBox="1"/>
          <p:nvPr/>
        </p:nvSpPr>
        <p:spPr>
          <a:xfrm>
            <a:off x="6464808" y="4224528"/>
            <a:ext cx="384048" cy="384048"/>
          </a:xfrm>
          <a:prstGeom prst="rect">
            <a:avLst/>
          </a:prstGeom>
          <a:noFill/>
          <a:ln/>
        </p:spPr>
        <p:txBody>
          <a:bodyPr wrap="square" lIns="0" tIns="0" rIns="0" bIns="0" rtlCol="0" anchor="ctr"/>
          <a:lstStyle/>
          <a:p>
            <a:pPr algn="ctr" indent="0" marL="0">
              <a:buNone/>
            </a:pPr>
            <a:r>
              <a:rPr lang="en-US" sz="1600" b="1" dirty="0">
                <a:solidFill>
                  <a:srgbClr val="F5F5F3"/>
                </a:solidFill>
                <a:latin typeface="Cambria" pitchFamily="34" charset="0"/>
                <a:ea typeface="Cambria" pitchFamily="34" charset="-122"/>
                <a:cs typeface="Cambria" pitchFamily="34" charset="-120"/>
              </a:rPr>
              <a:t>4</a:t>
            </a:r>
            <a:endParaRPr lang="en-US" sz="1600" dirty="0"/>
          </a:p>
        </p:txBody>
      </p:sp>
      <p:sp>
        <p:nvSpPr>
          <p:cNvPr id="43" name="Shape 41"/>
          <p:cNvSpPr/>
          <p:nvPr/>
        </p:nvSpPr>
        <p:spPr>
          <a:xfrm>
            <a:off x="6967728" y="4251960"/>
            <a:ext cx="1600200" cy="310896"/>
          </a:xfrm>
          <a:prstGeom prst="roundRect">
            <a:avLst>
              <a:gd name="adj" fmla="val 52941"/>
            </a:avLst>
          </a:prstGeom>
          <a:solidFill>
            <a:srgbClr val="EDE6D3"/>
          </a:solidFill>
          <a:ln/>
        </p:spPr>
      </p:sp>
      <p:sp>
        <p:nvSpPr>
          <p:cNvPr id="44" name="Text 42"/>
          <p:cNvSpPr txBox="1"/>
          <p:nvPr/>
        </p:nvSpPr>
        <p:spPr>
          <a:xfrm>
            <a:off x="6967728" y="4251960"/>
            <a:ext cx="1600200" cy="310896"/>
          </a:xfrm>
          <a:prstGeom prst="rect">
            <a:avLst/>
          </a:prstGeom>
          <a:noFill/>
          <a:ln/>
        </p:spPr>
        <p:txBody>
          <a:bodyPr wrap="square" lIns="0" tIns="0" rIns="0" bIns="0" rtlCol="0" anchor="ctr"/>
          <a:lstStyle/>
          <a:p>
            <a:pPr algn="ctr" indent="0" marL="0">
              <a:buNone/>
            </a:pPr>
            <a:r>
              <a:rPr lang="en-US" sz="1200" b="1" spc="100" kern="0" dirty="0">
                <a:solidFill>
                  <a:srgbClr val="7A5A12"/>
                </a:solidFill>
                <a:latin typeface="Calibri" pitchFamily="34" charset="0"/>
                <a:ea typeface="Calibri" pitchFamily="34" charset="-122"/>
                <a:cs typeface="Calibri" pitchFamily="34" charset="-120"/>
              </a:rPr>
              <a:t>Y8 · LESSON 2</a:t>
            </a:r>
            <a:endParaRPr lang="en-US" sz="1200" dirty="0"/>
          </a:p>
        </p:txBody>
      </p:sp>
      <p:sp>
        <p:nvSpPr>
          <p:cNvPr id="45" name="Shape 43"/>
          <p:cNvSpPr/>
          <p:nvPr/>
        </p:nvSpPr>
        <p:spPr>
          <a:xfrm>
            <a:off x="8659368" y="4251960"/>
            <a:ext cx="1783080" cy="310896"/>
          </a:xfrm>
          <a:prstGeom prst="roundRect">
            <a:avLst>
              <a:gd name="adj" fmla="val 52941"/>
            </a:avLst>
          </a:prstGeom>
          <a:solidFill>
            <a:srgbClr val="F5F5F3"/>
          </a:solidFill>
          <a:ln w="15875">
            <a:solidFill>
              <a:srgbClr val="D6D5D0"/>
            </a:solidFill>
            <a:prstDash val="solid"/>
          </a:ln>
        </p:spPr>
      </p:sp>
      <p:sp>
        <p:nvSpPr>
          <p:cNvPr id="46" name="Text 44"/>
          <p:cNvSpPr txBox="1"/>
          <p:nvPr/>
        </p:nvSpPr>
        <p:spPr>
          <a:xfrm>
            <a:off x="8659368" y="4251960"/>
            <a:ext cx="1783080" cy="310896"/>
          </a:xfrm>
          <a:prstGeom prst="rect">
            <a:avLst/>
          </a:prstGeom>
          <a:noFill/>
          <a:ln/>
        </p:spPr>
        <p:txBody>
          <a:bodyPr wrap="square" lIns="0" tIns="0" rIns="0" bIns="0" rtlCol="0" anchor="ctr"/>
          <a:lstStyle/>
          <a:p>
            <a:pPr algn="ctr" indent="0" marL="0">
              <a:buNone/>
            </a:pPr>
            <a:r>
              <a:rPr lang="en-US" sz="1200" b="1" spc="100" kern="0" dirty="0">
                <a:solidFill>
                  <a:srgbClr val="55555F"/>
                </a:solidFill>
                <a:latin typeface="Calibri" pitchFamily="34" charset="0"/>
                <a:ea typeface="Calibri" pitchFamily="34" charset="-122"/>
                <a:cs typeface="Calibri" pitchFamily="34" charset="-120"/>
              </a:rPr>
              <a:t>WRITE IT</a:t>
            </a:r>
            <a:endParaRPr lang="en-US" sz="1200" dirty="0"/>
          </a:p>
        </p:txBody>
      </p:sp>
      <p:sp>
        <p:nvSpPr>
          <p:cNvPr id="47" name="Text 45"/>
          <p:cNvSpPr txBox="1"/>
          <p:nvPr/>
        </p:nvSpPr>
        <p:spPr>
          <a:xfrm>
            <a:off x="6464808" y="4663440"/>
            <a:ext cx="4956048" cy="411480"/>
          </a:xfrm>
          <a:prstGeom prst="rect">
            <a:avLst/>
          </a:prstGeom>
          <a:noFill/>
          <a:ln/>
        </p:spPr>
        <p:txBody>
          <a:bodyPr wrap="square" lIns="0" tIns="0" rIns="0" bIns="0" rtlCol="0" anchor="ctr"/>
          <a:lstStyle/>
          <a:p>
            <a:pPr indent="0" marL="0">
              <a:buNone/>
            </a:pPr>
            <a:r>
              <a:rPr lang="en-US" sz="2000" b="1" dirty="0">
                <a:solidFill>
                  <a:srgbClr val="1E1E24"/>
                </a:solidFill>
                <a:latin typeface="Calibri" pitchFamily="34" charset="0"/>
                <a:ea typeface="Calibri" pitchFamily="34" charset="-122"/>
                <a:cs typeface="Calibri" pitchFamily="34" charset="-120"/>
              </a:rPr>
              <a:t>Write exactly what this prints.</a:t>
            </a:r>
            <a:endParaRPr lang="en-US" sz="2000" dirty="0"/>
          </a:p>
        </p:txBody>
      </p:sp>
      <p:sp>
        <p:nvSpPr>
          <p:cNvPr id="48" name="Shape 46"/>
          <p:cNvSpPr/>
          <p:nvPr/>
        </p:nvSpPr>
        <p:spPr>
          <a:xfrm>
            <a:off x="6464808" y="5074920"/>
            <a:ext cx="4956048" cy="786384"/>
          </a:xfrm>
          <a:prstGeom prst="roundRect">
            <a:avLst>
              <a:gd name="adj" fmla="val 6977"/>
            </a:avLst>
          </a:prstGeom>
          <a:solidFill>
            <a:srgbClr val="111115"/>
          </a:solidFill>
          <a:ln/>
        </p:spPr>
      </p:sp>
      <p:sp>
        <p:nvSpPr>
          <p:cNvPr id="49" name="Text 47"/>
          <p:cNvSpPr txBox="1"/>
          <p:nvPr/>
        </p:nvSpPr>
        <p:spPr>
          <a:xfrm>
            <a:off x="6601968" y="5166360"/>
            <a:ext cx="4681728" cy="301752"/>
          </a:xfrm>
          <a:prstGeom prst="rect">
            <a:avLst/>
          </a:prstGeom>
          <a:noFill/>
          <a:ln/>
        </p:spPr>
        <p:txBody>
          <a:bodyPr wrap="square" lIns="0" tIns="0" rIns="0" bIns="0" rtlCol="0" anchor="ctr"/>
          <a:lstStyle/>
          <a:p>
            <a:pPr indent="0" marL="0">
              <a:buNone/>
            </a:pPr>
            <a:r>
              <a:rPr lang="en-US" sz="1800" dirty="0">
                <a:solidFill>
                  <a:srgbClr val="F5F5F3"/>
                </a:solidFill>
                <a:latin typeface="Consolas" pitchFamily="34" charset="0"/>
                <a:ea typeface="Consolas" pitchFamily="34" charset="-122"/>
                <a:cs typeface="Consolas" pitchFamily="34" charset="-120"/>
              </a:rPr>
              <a:t>name</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E69F00"/>
                </a:solidFill>
                <a:latin typeface="Consolas" pitchFamily="34" charset="0"/>
                <a:ea typeface="Consolas" pitchFamily="34" charset="-122"/>
                <a:cs typeface="Consolas" pitchFamily="34" charset="-120"/>
              </a:rPr>
              <a:t>"Sam"</a:t>
            </a:r>
            <a:endParaRPr lang="en-US" sz="1800" dirty="0"/>
          </a:p>
        </p:txBody>
      </p:sp>
      <p:sp>
        <p:nvSpPr>
          <p:cNvPr id="50" name="Text 48"/>
          <p:cNvSpPr txBox="1"/>
          <p:nvPr/>
        </p:nvSpPr>
        <p:spPr>
          <a:xfrm>
            <a:off x="6601968" y="5468112"/>
            <a:ext cx="4681728" cy="301752"/>
          </a:xfrm>
          <a:prstGeom prst="rect">
            <a:avLst/>
          </a:prstGeom>
          <a:noFill/>
          <a:ln/>
        </p:spPr>
        <p:txBody>
          <a:bodyPr wrap="square" lIns="0" tIns="0" rIns="0" bIns="0" rtlCol="0" anchor="ctr"/>
          <a:lstStyle/>
          <a:p>
            <a:pPr indent="0" marL="0">
              <a:buNone/>
            </a:pPr>
            <a:r>
              <a:rPr lang="en-US" sz="1800" dirty="0">
                <a:solidFill>
                  <a:srgbClr val="E8C878"/>
                </a:solidFill>
                <a:latin typeface="Consolas" pitchFamily="34" charset="0"/>
                <a:ea typeface="Consolas" pitchFamily="34" charset="-122"/>
                <a:cs typeface="Consolas" pitchFamily="34" charset="-120"/>
              </a:rPr>
              <a:t>print</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E69F00"/>
                </a:solidFill>
                <a:latin typeface="Consolas" pitchFamily="34" charset="0"/>
                <a:ea typeface="Consolas" pitchFamily="34" charset="-122"/>
                <a:cs typeface="Consolas" pitchFamily="34" charset="-120"/>
              </a:rPr>
              <a:t>"Hi "</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F5F5F3"/>
                </a:solidFill>
                <a:latin typeface="Consolas" pitchFamily="34" charset="0"/>
                <a:ea typeface="Consolas" pitchFamily="34" charset="-122"/>
                <a:cs typeface="Consolas" pitchFamily="34" charset="-120"/>
              </a:rPr>
              <a:t>name</a:t>
            </a:r>
            <a:pPr indent="0" marL="0">
              <a:buNone/>
            </a:pPr>
            <a:r>
              <a:rPr lang="en-US" sz="1800" dirty="0">
                <a:solidFill>
                  <a:srgbClr val="A9A9B4"/>
                </a:solidFill>
                <a:latin typeface="Consolas" pitchFamily="34" charset="0"/>
                <a:ea typeface="Consolas" pitchFamily="34" charset="-122"/>
                <a:cs typeface="Consolas" pitchFamily="34" charset="-120"/>
              </a:rPr>
              <a:t>)</a:t>
            </a:r>
            <a:endParaRPr lang="en-US" sz="1800" dirty="0"/>
          </a:p>
        </p:txBody>
      </p:sp>
      <p:sp>
        <p:nvSpPr>
          <p:cNvPr id="51" name="Shape 49"/>
          <p:cNvSpPr/>
          <p:nvPr/>
        </p:nvSpPr>
        <p:spPr>
          <a:xfrm>
            <a:off x="9464040" y="566928"/>
            <a:ext cx="1280160" cy="329184"/>
          </a:xfrm>
          <a:prstGeom prst="roundRect">
            <a:avLst>
              <a:gd name="adj" fmla="val 50000"/>
            </a:avLst>
          </a:prstGeom>
          <a:solidFill>
            <a:srgbClr val="F5F5F3"/>
          </a:solidFill>
          <a:ln w="15875">
            <a:solidFill>
              <a:srgbClr val="1E1E24"/>
            </a:solidFill>
            <a:prstDash val="solid"/>
          </a:ln>
        </p:spPr>
      </p:sp>
      <p:sp>
        <p:nvSpPr>
          <p:cNvPr id="52" name="Text 50"/>
          <p:cNvSpPr txBox="1"/>
          <p:nvPr/>
        </p:nvSpPr>
        <p:spPr>
          <a:xfrm>
            <a:off x="9464040" y="566928"/>
            <a:ext cx="1280160" cy="329184"/>
          </a:xfrm>
          <a:prstGeom prst="rect">
            <a:avLst/>
          </a:prstGeom>
          <a:noFill/>
          <a:ln/>
        </p:spPr>
        <p:txBody>
          <a:bodyPr wrap="square" lIns="0" tIns="0" rIns="0" bIns="0" rtlCol="0" anchor="ctr"/>
          <a:lstStyle/>
          <a:p>
            <a:pPr algn="ctr" indent="0" marL="0">
              <a:buNone/>
            </a:pPr>
            <a:r>
              <a:rPr lang="en-US" sz="1400" b="1" spc="100" kern="0" dirty="0">
                <a:solidFill>
                  <a:srgbClr val="1E1E24"/>
                </a:solidFill>
                <a:latin typeface="Calibri" pitchFamily="34" charset="0"/>
                <a:ea typeface="Calibri" pitchFamily="34" charset="-122"/>
                <a:cs typeface="Calibri" pitchFamily="34" charset="-120"/>
              </a:rPr>
              <a:t>⏱  5 MIN</a:t>
            </a:r>
            <a:endParaRPr lang="en-US" sz="1400" dirty="0"/>
          </a:p>
        </p:txBody>
      </p:sp>
      <p:pic>
        <p:nvPicPr>
          <p:cNvPr id="53" name="Image 0" descr="Recap and recall">    </p:cNvPr>
          <p:cNvPicPr>
            <a:picLocks noChangeAspect="1"/>
          </p:cNvPicPr>
          <p:nvPr/>
        </p:nvPicPr>
        <p:blipFill>
          <a:blip r:embed="rId1"/>
          <a:stretch>
            <a:fillRect/>
          </a:stretch>
        </p:blipFill>
        <p:spPr>
          <a:xfrm>
            <a:off x="10972800" y="384048"/>
            <a:ext cx="731520" cy="731520"/>
          </a:xfrm>
          <a:prstGeom prst="rect">
            <a:avLst/>
          </a:prstGeom>
        </p:spPr>
      </p:pic>
      <p:sp>
        <p:nvSpPr>
          <p:cNvPr id="55" name="Text 51"/>
          <p:cNvSpPr txBox="1"/>
          <p:nvPr/>
        </p:nvSpPr>
        <p:spPr>
          <a:xfrm>
            <a:off x="4206240" y="6355080"/>
            <a:ext cx="6812280" cy="320040"/>
          </a:xfrm>
          <a:prstGeom prst="rect">
            <a:avLst/>
          </a:prstGeom>
          <a:noFill/>
          <a:ln/>
        </p:spPr>
        <p:txBody>
          <a:bodyPr wrap="square" lIns="0" tIns="0" rIns="0" bIns="0" rtlCol="0" anchor="ctr"/>
          <a:lstStyle/>
          <a:p>
            <a:pPr algn="r" indent="0" marL="0">
              <a:buNone/>
            </a:pPr>
            <a:r>
              <a:rPr lang="en-US" sz="1300" b="1" i="1" dirty="0">
                <a:solidFill>
                  <a:srgbClr val="7A5A12"/>
                </a:solidFill>
                <a:latin typeface="Calibri" pitchFamily="34" charset="0"/>
                <a:ea typeface="Calibri" pitchFamily="34" charset="-122"/>
                <a:cs typeface="Calibri" pitchFamily="34" charset="-120"/>
              </a:rPr>
              <a:t>recallStarter()  ·  Recap &amp; Recall starter</a:t>
            </a:r>
            <a:endParaRPr lang="en-US" sz="1300" dirty="0"/>
          </a:p>
        </p:txBody>
      </p:sp>
      <p:sp>
        <p:nvSpPr>
          <p:cNvPr id="56"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8A8A9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Recap &amp; Recall — answers</a:t>
            </a:r>
            <a:endParaRPr lang="en-US" sz="3600" dirty="0"/>
          </a:p>
        </p:txBody>
      </p:sp>
      <p:sp>
        <p:nvSpPr>
          <p:cNvPr id="3" name="Text 1"/>
          <p:cNvSpPr txBox="1"/>
          <p:nvPr/>
        </p:nvSpPr>
        <p:spPr>
          <a:xfrm>
            <a:off x="548640" y="1170432"/>
            <a:ext cx="10241280" cy="365760"/>
          </a:xfrm>
          <a:prstGeom prst="rect">
            <a:avLst/>
          </a:prstGeom>
          <a:noFill/>
          <a:ln/>
        </p:spPr>
        <p:txBody>
          <a:bodyPr wrap="square" lIns="0" tIns="0" rIns="0" bIns="0" rtlCol="0" anchor="ctr"/>
          <a:lstStyle/>
          <a:p>
            <a:pPr indent="0" marL="0">
              <a:buNone/>
            </a:pPr>
            <a:r>
              <a:rPr lang="en-US" sz="1800" dirty="0">
                <a:solidFill>
                  <a:srgbClr val="A9A9B4"/>
                </a:solidFill>
                <a:latin typeface="Calibri" pitchFamily="34" charset="0"/>
                <a:ea typeface="Calibri" pitchFamily="34" charset="-122"/>
                <a:cs typeface="Calibri" pitchFamily="34" charset="-120"/>
              </a:rPr>
              <a:t>Mark your own. Confident but wrong? Those are the ones to fix.</a:t>
            </a:r>
            <a:endParaRPr lang="en-US" sz="1800" dirty="0"/>
          </a:p>
        </p:txBody>
      </p:sp>
      <p:sp>
        <p:nvSpPr>
          <p:cNvPr id="4" name="q1"/>
          <p:cNvSpPr/>
          <p:nvPr/>
        </p:nvSpPr>
        <p:spPr>
          <a:xfrm>
            <a:off x="548640" y="1600200"/>
            <a:ext cx="5413248" cy="2286000"/>
          </a:xfrm>
          <a:prstGeom prst="roundRect">
            <a:avLst>
              <a:gd name="adj" fmla="val 3200"/>
            </a:avLst>
          </a:prstGeom>
          <a:solidFill>
            <a:srgbClr val="2A2A32"/>
          </a:solidFill>
          <a:ln w="15875">
            <a:solidFill>
              <a:srgbClr val="3A3A44"/>
            </a:solidFill>
            <a:prstDash val="solid"/>
          </a:ln>
        </p:spPr>
      </p:sp>
      <p:sp>
        <p:nvSpPr>
          <p:cNvPr id="5" name="Shape 3"/>
          <p:cNvSpPr/>
          <p:nvPr/>
        </p:nvSpPr>
        <p:spPr>
          <a:xfrm>
            <a:off x="777240" y="1801368"/>
            <a:ext cx="384048" cy="384048"/>
          </a:xfrm>
          <a:prstGeom prst="ellipse">
            <a:avLst/>
          </a:prstGeom>
          <a:solidFill>
            <a:srgbClr val="D8A73D"/>
          </a:solidFill>
          <a:ln/>
        </p:spPr>
      </p:sp>
      <p:sp>
        <p:nvSpPr>
          <p:cNvPr id="6" name="Text 4"/>
          <p:cNvSpPr txBox="1"/>
          <p:nvPr/>
        </p:nvSpPr>
        <p:spPr>
          <a:xfrm>
            <a:off x="777240" y="1801368"/>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1</a:t>
            </a:r>
            <a:endParaRPr lang="en-US" sz="1600" dirty="0"/>
          </a:p>
        </p:txBody>
      </p:sp>
      <p:sp>
        <p:nvSpPr>
          <p:cNvPr id="7" name="Shape 5"/>
          <p:cNvSpPr/>
          <p:nvPr/>
        </p:nvSpPr>
        <p:spPr>
          <a:xfrm>
            <a:off x="1280160" y="1828800"/>
            <a:ext cx="1600200" cy="310896"/>
          </a:xfrm>
          <a:prstGeom prst="roundRect">
            <a:avLst>
              <a:gd name="adj" fmla="val 52941"/>
            </a:avLst>
          </a:prstGeom>
          <a:solidFill>
            <a:srgbClr val="1E1E24"/>
          </a:solidFill>
          <a:ln w="15875">
            <a:solidFill>
              <a:srgbClr val="D8A73D"/>
            </a:solidFill>
            <a:prstDash val="solid"/>
          </a:ln>
        </p:spPr>
      </p:sp>
      <p:sp>
        <p:nvSpPr>
          <p:cNvPr id="8" name="Text 6"/>
          <p:cNvSpPr txBox="1"/>
          <p:nvPr/>
        </p:nvSpPr>
        <p:spPr>
          <a:xfrm>
            <a:off x="1280160" y="1828800"/>
            <a:ext cx="1600200" cy="310896"/>
          </a:xfrm>
          <a:prstGeom prst="rect">
            <a:avLst/>
          </a:prstGeom>
          <a:noFill/>
          <a:ln/>
        </p:spPr>
        <p:txBody>
          <a:bodyPr wrap="square" lIns="0" tIns="0" rIns="0" bIns="0" rtlCol="0" anchor="ctr"/>
          <a:lstStyle/>
          <a:p>
            <a:pPr algn="ctr" indent="0" marL="0">
              <a:buNone/>
            </a:pPr>
            <a:r>
              <a:rPr lang="en-US" sz="1200" b="1" spc="100" kern="0" dirty="0">
                <a:solidFill>
                  <a:srgbClr val="D8A73D"/>
                </a:solidFill>
                <a:latin typeface="Calibri" pitchFamily="34" charset="0"/>
                <a:ea typeface="Calibri" pitchFamily="34" charset="-122"/>
                <a:cs typeface="Calibri" pitchFamily="34" charset="-120"/>
              </a:rPr>
              <a:t>Y8 · LESSON 1</a:t>
            </a:r>
            <a:endParaRPr lang="en-US" sz="1200" dirty="0"/>
          </a:p>
        </p:txBody>
      </p:sp>
      <p:sp>
        <p:nvSpPr>
          <p:cNvPr id="9" name="Shape 7"/>
          <p:cNvSpPr/>
          <p:nvPr/>
        </p:nvSpPr>
        <p:spPr>
          <a:xfrm>
            <a:off x="2971800" y="1828800"/>
            <a:ext cx="1783080" cy="310896"/>
          </a:xfrm>
          <a:prstGeom prst="roundRect">
            <a:avLst>
              <a:gd name="adj" fmla="val 52941"/>
            </a:avLst>
          </a:prstGeom>
          <a:solidFill>
            <a:srgbClr val="1E1E24"/>
          </a:solidFill>
          <a:ln w="15875">
            <a:solidFill>
              <a:srgbClr val="3A3A44"/>
            </a:solidFill>
            <a:prstDash val="solid"/>
          </a:ln>
        </p:spPr>
      </p:sp>
      <p:sp>
        <p:nvSpPr>
          <p:cNvPr id="10" name="Text 8"/>
          <p:cNvSpPr txBox="1"/>
          <p:nvPr/>
        </p:nvSpPr>
        <p:spPr>
          <a:xfrm>
            <a:off x="2971800" y="1828800"/>
            <a:ext cx="1783080" cy="310896"/>
          </a:xfrm>
          <a:prstGeom prst="rect">
            <a:avLst/>
          </a:prstGeom>
          <a:noFill/>
          <a:ln/>
        </p:spPr>
        <p:txBody>
          <a:bodyPr wrap="square" lIns="0" tIns="0" rIns="0" bIns="0" rtlCol="0" anchor="ctr"/>
          <a:lstStyle/>
          <a:p>
            <a:pPr algn="ctr" indent="0" marL="0">
              <a:buNone/>
            </a:pPr>
            <a:r>
              <a:rPr lang="en-US" sz="1200" b="1" spc="100" kern="0" dirty="0">
                <a:solidFill>
                  <a:srgbClr val="A9A9B4"/>
                </a:solidFill>
                <a:latin typeface="Calibri" pitchFamily="34" charset="0"/>
                <a:ea typeface="Calibri" pitchFamily="34" charset="-122"/>
                <a:cs typeface="Calibri" pitchFamily="34" charset="-120"/>
              </a:rPr>
              <a:t>CHOOSE A, B OR C</a:t>
            </a:r>
            <a:endParaRPr lang="en-US" sz="1200" dirty="0"/>
          </a:p>
        </p:txBody>
      </p:sp>
      <p:sp>
        <p:nvSpPr>
          <p:cNvPr id="11" name="Text 9"/>
          <p:cNvSpPr txBox="1"/>
          <p:nvPr/>
        </p:nvSpPr>
        <p:spPr>
          <a:xfrm>
            <a:off x="777240" y="2240280"/>
            <a:ext cx="4956048" cy="411480"/>
          </a:xfrm>
          <a:prstGeom prst="rect">
            <a:avLst/>
          </a:prstGeom>
          <a:noFill/>
          <a:ln/>
        </p:spPr>
        <p:txBody>
          <a:bodyPr wrap="square" lIns="0" tIns="0" rIns="0" bIns="0" rtlCol="0" anchor="ctr"/>
          <a:lstStyle/>
          <a:p>
            <a:pPr indent="0" marL="0">
              <a:buNone/>
            </a:pPr>
            <a:r>
              <a:rPr lang="en-US" sz="2000" b="1" dirty="0">
                <a:solidFill>
                  <a:srgbClr val="F5F5F3"/>
                </a:solidFill>
                <a:latin typeface="Calibri" pitchFamily="34" charset="0"/>
                <a:ea typeface="Calibri" pitchFamily="34" charset="-122"/>
                <a:cs typeface="Calibri" pitchFamily="34" charset="-120"/>
              </a:rPr>
              <a:t>What does print() do?</a:t>
            </a:r>
            <a:endParaRPr lang="en-US" sz="2000" dirty="0"/>
          </a:p>
        </p:txBody>
      </p:sp>
      <p:sp>
        <p:nvSpPr>
          <p:cNvPr id="12" name="Text 10"/>
          <p:cNvSpPr txBox="1"/>
          <p:nvPr/>
        </p:nvSpPr>
        <p:spPr>
          <a:xfrm>
            <a:off x="777240" y="2651760"/>
            <a:ext cx="3017520" cy="329184"/>
          </a:xfrm>
          <a:prstGeom prst="rect">
            <a:avLst/>
          </a:prstGeom>
          <a:noFill/>
          <a:ln/>
        </p:spPr>
        <p:txBody>
          <a:bodyPr wrap="square" lIns="0" tIns="0" rIns="0" bIns="0" rtlCol="0" anchor="ctr"/>
          <a:lstStyle/>
          <a:p>
            <a:pPr indent="0" marL="0">
              <a:buNone/>
            </a:pPr>
            <a:r>
              <a:rPr lang="en-US" sz="1800" b="1" dirty="0">
                <a:solidFill>
                  <a:srgbClr val="7FD99A"/>
                </a:solidFill>
                <a:latin typeface="Calibri" pitchFamily="34" charset="0"/>
                <a:ea typeface="Calibri" pitchFamily="34" charset="-122"/>
                <a:cs typeface="Calibri" pitchFamily="34" charset="-120"/>
              </a:rPr>
              <a:t>A   </a:t>
            </a:r>
            <a:pPr indent="0" marL="0">
              <a:buNone/>
            </a:pPr>
            <a:r>
              <a:rPr lang="en-US" sz="1800" b="1" dirty="0">
                <a:solidFill>
                  <a:srgbClr val="7FD99A"/>
                </a:solidFill>
                <a:latin typeface="Calibri" pitchFamily="34" charset="0"/>
                <a:ea typeface="Calibri" pitchFamily="34" charset="-122"/>
                <a:cs typeface="Calibri" pitchFamily="34" charset="-120"/>
              </a:rPr>
              <a:t>Shows text on the screen</a:t>
            </a:r>
            <a:endParaRPr lang="en-US" sz="1800" dirty="0"/>
          </a:p>
        </p:txBody>
      </p:sp>
      <p:sp>
        <p:nvSpPr>
          <p:cNvPr id="13" name="Text 11"/>
          <p:cNvSpPr txBox="1"/>
          <p:nvPr/>
        </p:nvSpPr>
        <p:spPr>
          <a:xfrm>
            <a:off x="777240" y="2980944"/>
            <a:ext cx="3017520" cy="329184"/>
          </a:xfrm>
          <a:prstGeom prst="rect">
            <a:avLst/>
          </a:prstGeom>
          <a:noFill/>
          <a:ln/>
        </p:spPr>
        <p:txBody>
          <a:bodyPr wrap="square" lIns="0" tIns="0" rIns="0" bIns="0" rtlCol="0" anchor="ctr"/>
          <a:lstStyle/>
          <a:p>
            <a:pPr indent="0" marL="0">
              <a:buNone/>
            </a:pPr>
            <a:r>
              <a:rPr lang="en-US" sz="1800" b="1" dirty="0">
                <a:solidFill>
                  <a:srgbClr val="D8A73D"/>
                </a:solidFill>
                <a:latin typeface="Calibri" pitchFamily="34" charset="0"/>
                <a:ea typeface="Calibri" pitchFamily="34" charset="-122"/>
                <a:cs typeface="Calibri" pitchFamily="34" charset="-120"/>
              </a:rPr>
              <a:t>B   </a:t>
            </a:r>
            <a:pPr indent="0" marL="0">
              <a:buNone/>
            </a:pPr>
            <a:r>
              <a:rPr lang="en-US" sz="1800" dirty="0">
                <a:solidFill>
                  <a:srgbClr val="A9A9B4"/>
                </a:solidFill>
                <a:latin typeface="Calibri" pitchFamily="34" charset="0"/>
                <a:ea typeface="Calibri" pitchFamily="34" charset="-122"/>
                <a:cs typeface="Calibri" pitchFamily="34" charset="-120"/>
              </a:rPr>
              <a:t>Asks the user to type</a:t>
            </a:r>
            <a:endParaRPr lang="en-US" sz="1800" dirty="0"/>
          </a:p>
        </p:txBody>
      </p:sp>
      <p:sp>
        <p:nvSpPr>
          <p:cNvPr id="14" name="Text 12"/>
          <p:cNvSpPr txBox="1"/>
          <p:nvPr/>
        </p:nvSpPr>
        <p:spPr>
          <a:xfrm>
            <a:off x="777240" y="3310128"/>
            <a:ext cx="3017520" cy="329184"/>
          </a:xfrm>
          <a:prstGeom prst="rect">
            <a:avLst/>
          </a:prstGeom>
          <a:noFill/>
          <a:ln/>
        </p:spPr>
        <p:txBody>
          <a:bodyPr wrap="square" lIns="0" tIns="0" rIns="0" bIns="0" rtlCol="0" anchor="ctr"/>
          <a:lstStyle/>
          <a:p>
            <a:pPr indent="0" marL="0">
              <a:buNone/>
            </a:pPr>
            <a:r>
              <a:rPr lang="en-US" sz="1800" b="1" dirty="0">
                <a:solidFill>
                  <a:srgbClr val="D8A73D"/>
                </a:solidFill>
                <a:latin typeface="Calibri" pitchFamily="34" charset="0"/>
                <a:ea typeface="Calibri" pitchFamily="34" charset="-122"/>
                <a:cs typeface="Calibri" pitchFamily="34" charset="-120"/>
              </a:rPr>
              <a:t>C   </a:t>
            </a:r>
            <a:pPr indent="0" marL="0">
              <a:buNone/>
            </a:pPr>
            <a:r>
              <a:rPr lang="en-US" sz="1800" dirty="0">
                <a:solidFill>
                  <a:srgbClr val="A9A9B4"/>
                </a:solidFill>
                <a:latin typeface="Calibri" pitchFamily="34" charset="0"/>
                <a:ea typeface="Calibri" pitchFamily="34" charset="-122"/>
                <a:cs typeface="Calibri" pitchFamily="34" charset="-120"/>
              </a:rPr>
              <a:t>Saves text into a file</a:t>
            </a:r>
            <a:endParaRPr lang="en-US" sz="1800" dirty="0"/>
          </a:p>
        </p:txBody>
      </p:sp>
      <p:sp>
        <p:nvSpPr>
          <p:cNvPr id="15" name="Text 13"/>
          <p:cNvSpPr txBox="1"/>
          <p:nvPr/>
        </p:nvSpPr>
        <p:spPr>
          <a:xfrm>
            <a:off x="3886200" y="2651760"/>
            <a:ext cx="1892808" cy="987552"/>
          </a:xfrm>
          <a:prstGeom prst="rect">
            <a:avLst/>
          </a:prstGeom>
          <a:noFill/>
          <a:ln/>
        </p:spPr>
        <p:txBody>
          <a:bodyPr wrap="square" lIns="0" tIns="0" rIns="0" bIns="0" rtlCol="0" anchor="ctr"/>
          <a:lstStyle/>
          <a:p>
            <a:pPr indent="0" marL="0">
              <a:buNone/>
            </a:pPr>
            <a:r>
              <a:rPr lang="en-US" sz="1800" i="1" dirty="0">
                <a:solidFill>
                  <a:srgbClr val="A9A9B4"/>
                </a:solidFill>
                <a:latin typeface="Calibri" pitchFamily="34" charset="0"/>
                <a:ea typeface="Calibri" pitchFamily="34" charset="-122"/>
                <a:cs typeface="Calibri" pitchFamily="34" charset="-120"/>
              </a:rPr>
              <a:t>input() is the one that asks the user</a:t>
            </a:r>
            <a:endParaRPr lang="en-US" sz="1800" dirty="0"/>
          </a:p>
        </p:txBody>
      </p:sp>
      <p:sp>
        <p:nvSpPr>
          <p:cNvPr id="16" name="q2"/>
          <p:cNvSpPr/>
          <p:nvPr/>
        </p:nvSpPr>
        <p:spPr>
          <a:xfrm>
            <a:off x="6236208" y="1600200"/>
            <a:ext cx="5413248" cy="2286000"/>
          </a:xfrm>
          <a:prstGeom prst="roundRect">
            <a:avLst>
              <a:gd name="adj" fmla="val 3200"/>
            </a:avLst>
          </a:prstGeom>
          <a:solidFill>
            <a:srgbClr val="2A2A32"/>
          </a:solidFill>
          <a:ln w="15875">
            <a:solidFill>
              <a:srgbClr val="3A3A44"/>
            </a:solidFill>
            <a:prstDash val="solid"/>
          </a:ln>
        </p:spPr>
      </p:sp>
      <p:sp>
        <p:nvSpPr>
          <p:cNvPr id="17" name="Shape 15"/>
          <p:cNvSpPr/>
          <p:nvPr/>
        </p:nvSpPr>
        <p:spPr>
          <a:xfrm>
            <a:off x="6464808" y="1801368"/>
            <a:ext cx="384048" cy="384048"/>
          </a:xfrm>
          <a:prstGeom prst="ellipse">
            <a:avLst/>
          </a:prstGeom>
          <a:solidFill>
            <a:srgbClr val="D8A73D"/>
          </a:solidFill>
          <a:ln/>
        </p:spPr>
      </p:sp>
      <p:sp>
        <p:nvSpPr>
          <p:cNvPr id="18" name="Text 16"/>
          <p:cNvSpPr txBox="1"/>
          <p:nvPr/>
        </p:nvSpPr>
        <p:spPr>
          <a:xfrm>
            <a:off x="6464808" y="1801368"/>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2</a:t>
            </a:r>
            <a:endParaRPr lang="en-US" sz="1600" dirty="0"/>
          </a:p>
        </p:txBody>
      </p:sp>
      <p:sp>
        <p:nvSpPr>
          <p:cNvPr id="19" name="Shape 17"/>
          <p:cNvSpPr/>
          <p:nvPr/>
        </p:nvSpPr>
        <p:spPr>
          <a:xfrm>
            <a:off x="6967728" y="1828800"/>
            <a:ext cx="1600200" cy="310896"/>
          </a:xfrm>
          <a:prstGeom prst="roundRect">
            <a:avLst>
              <a:gd name="adj" fmla="val 52941"/>
            </a:avLst>
          </a:prstGeom>
          <a:solidFill>
            <a:srgbClr val="1E1E24"/>
          </a:solidFill>
          <a:ln w="15875">
            <a:solidFill>
              <a:srgbClr val="D8A73D"/>
            </a:solidFill>
            <a:prstDash val="solid"/>
          </a:ln>
        </p:spPr>
      </p:sp>
      <p:sp>
        <p:nvSpPr>
          <p:cNvPr id="20" name="Text 18"/>
          <p:cNvSpPr txBox="1"/>
          <p:nvPr/>
        </p:nvSpPr>
        <p:spPr>
          <a:xfrm>
            <a:off x="6967728" y="1828800"/>
            <a:ext cx="1600200" cy="310896"/>
          </a:xfrm>
          <a:prstGeom prst="rect">
            <a:avLst/>
          </a:prstGeom>
          <a:noFill/>
          <a:ln/>
        </p:spPr>
        <p:txBody>
          <a:bodyPr wrap="square" lIns="0" tIns="0" rIns="0" bIns="0" rtlCol="0" anchor="ctr"/>
          <a:lstStyle/>
          <a:p>
            <a:pPr algn="ctr" indent="0" marL="0">
              <a:buNone/>
            </a:pPr>
            <a:r>
              <a:rPr lang="en-US" sz="1200" b="1" spc="100" kern="0" dirty="0">
                <a:solidFill>
                  <a:srgbClr val="D8A73D"/>
                </a:solidFill>
                <a:latin typeface="Calibri" pitchFamily="34" charset="0"/>
                <a:ea typeface="Calibri" pitchFamily="34" charset="-122"/>
                <a:cs typeface="Calibri" pitchFamily="34" charset="-120"/>
              </a:rPr>
              <a:t>Y8 · LESSON 2</a:t>
            </a:r>
            <a:endParaRPr lang="en-US" sz="1200" dirty="0"/>
          </a:p>
        </p:txBody>
      </p:sp>
      <p:sp>
        <p:nvSpPr>
          <p:cNvPr id="21" name="Shape 19"/>
          <p:cNvSpPr/>
          <p:nvPr/>
        </p:nvSpPr>
        <p:spPr>
          <a:xfrm>
            <a:off x="8659368" y="1828800"/>
            <a:ext cx="1783080" cy="310896"/>
          </a:xfrm>
          <a:prstGeom prst="roundRect">
            <a:avLst>
              <a:gd name="adj" fmla="val 52941"/>
            </a:avLst>
          </a:prstGeom>
          <a:solidFill>
            <a:srgbClr val="1E1E24"/>
          </a:solidFill>
          <a:ln w="15875">
            <a:solidFill>
              <a:srgbClr val="3A3A44"/>
            </a:solidFill>
            <a:prstDash val="solid"/>
          </a:ln>
        </p:spPr>
      </p:sp>
      <p:sp>
        <p:nvSpPr>
          <p:cNvPr id="22" name="Text 20"/>
          <p:cNvSpPr txBox="1"/>
          <p:nvPr/>
        </p:nvSpPr>
        <p:spPr>
          <a:xfrm>
            <a:off x="8659368" y="1828800"/>
            <a:ext cx="1783080" cy="310896"/>
          </a:xfrm>
          <a:prstGeom prst="rect">
            <a:avLst/>
          </a:prstGeom>
          <a:noFill/>
          <a:ln/>
        </p:spPr>
        <p:txBody>
          <a:bodyPr wrap="square" lIns="0" tIns="0" rIns="0" bIns="0" rtlCol="0" anchor="ctr"/>
          <a:lstStyle/>
          <a:p>
            <a:pPr algn="ctr" indent="0" marL="0">
              <a:buNone/>
            </a:pPr>
            <a:r>
              <a:rPr lang="en-US" sz="1200" b="1" spc="100" kern="0" dirty="0">
                <a:solidFill>
                  <a:srgbClr val="A9A9B4"/>
                </a:solidFill>
                <a:latin typeface="Calibri" pitchFamily="34" charset="0"/>
                <a:ea typeface="Calibri" pitchFamily="34" charset="-122"/>
                <a:cs typeface="Calibri" pitchFamily="34" charset="-120"/>
              </a:rPr>
              <a:t>CHOOSE A, B OR C</a:t>
            </a:r>
            <a:endParaRPr lang="en-US" sz="1200" dirty="0"/>
          </a:p>
        </p:txBody>
      </p:sp>
      <p:sp>
        <p:nvSpPr>
          <p:cNvPr id="23" name="Text 21"/>
          <p:cNvSpPr txBox="1"/>
          <p:nvPr/>
        </p:nvSpPr>
        <p:spPr>
          <a:xfrm>
            <a:off x="6464808" y="2240280"/>
            <a:ext cx="4956048" cy="411480"/>
          </a:xfrm>
          <a:prstGeom prst="rect">
            <a:avLst/>
          </a:prstGeom>
          <a:noFill/>
          <a:ln/>
        </p:spPr>
        <p:txBody>
          <a:bodyPr wrap="square" lIns="0" tIns="0" rIns="0" bIns="0" rtlCol="0" anchor="ctr"/>
          <a:lstStyle/>
          <a:p>
            <a:pPr indent="0" marL="0">
              <a:buNone/>
            </a:pPr>
            <a:r>
              <a:rPr lang="en-US" sz="2000" b="1" dirty="0">
                <a:solidFill>
                  <a:srgbClr val="F5F5F3"/>
                </a:solidFill>
                <a:latin typeface="Calibri" pitchFamily="34" charset="0"/>
                <a:ea typeface="Calibri" pitchFamily="34" charset="-122"/>
                <a:cs typeface="Calibri" pitchFamily="34" charset="-120"/>
              </a:rPr>
              <a:t>What does this print?</a:t>
            </a:r>
            <a:endParaRPr lang="en-US" sz="2000" dirty="0"/>
          </a:p>
        </p:txBody>
      </p:sp>
      <p:sp>
        <p:nvSpPr>
          <p:cNvPr id="24" name="Shape 22"/>
          <p:cNvSpPr/>
          <p:nvPr/>
        </p:nvSpPr>
        <p:spPr>
          <a:xfrm>
            <a:off x="6464808" y="2651760"/>
            <a:ext cx="2286000" cy="1088136"/>
          </a:xfrm>
          <a:prstGeom prst="roundRect">
            <a:avLst>
              <a:gd name="adj" fmla="val 5042"/>
            </a:avLst>
          </a:prstGeom>
          <a:solidFill>
            <a:srgbClr val="111115"/>
          </a:solidFill>
          <a:ln/>
        </p:spPr>
      </p:sp>
      <p:sp>
        <p:nvSpPr>
          <p:cNvPr id="25" name="Text 23"/>
          <p:cNvSpPr txBox="1"/>
          <p:nvPr/>
        </p:nvSpPr>
        <p:spPr>
          <a:xfrm>
            <a:off x="6601968" y="2743200"/>
            <a:ext cx="2011680" cy="301752"/>
          </a:xfrm>
          <a:prstGeom prst="rect">
            <a:avLst/>
          </a:prstGeom>
          <a:noFill/>
          <a:ln/>
        </p:spPr>
        <p:txBody>
          <a:bodyPr wrap="square" lIns="0" tIns="0" rIns="0" bIns="0" rtlCol="0" anchor="ctr"/>
          <a:lstStyle/>
          <a:p>
            <a:pPr indent="0" marL="0">
              <a:buNone/>
            </a:pPr>
            <a:r>
              <a:rPr lang="en-US" sz="1800" dirty="0">
                <a:solidFill>
                  <a:srgbClr val="F5F5F3"/>
                </a:solidFill>
                <a:latin typeface="Consolas" pitchFamily="34" charset="0"/>
                <a:ea typeface="Consolas" pitchFamily="34" charset="-122"/>
                <a:cs typeface="Consolas" pitchFamily="34" charset="-120"/>
              </a:rPr>
              <a:t>score</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56B4E9"/>
                </a:solidFill>
                <a:latin typeface="Consolas" pitchFamily="34" charset="0"/>
                <a:ea typeface="Consolas" pitchFamily="34" charset="-122"/>
                <a:cs typeface="Consolas" pitchFamily="34" charset="-120"/>
              </a:rPr>
              <a:t>5</a:t>
            </a:r>
            <a:endParaRPr lang="en-US" sz="1800" dirty="0"/>
          </a:p>
        </p:txBody>
      </p:sp>
      <p:sp>
        <p:nvSpPr>
          <p:cNvPr id="26" name="Text 24"/>
          <p:cNvSpPr txBox="1"/>
          <p:nvPr/>
        </p:nvSpPr>
        <p:spPr>
          <a:xfrm>
            <a:off x="6601968" y="3044952"/>
            <a:ext cx="2011680" cy="301752"/>
          </a:xfrm>
          <a:prstGeom prst="rect">
            <a:avLst/>
          </a:prstGeom>
          <a:noFill/>
          <a:ln/>
        </p:spPr>
        <p:txBody>
          <a:bodyPr wrap="square" lIns="0" tIns="0" rIns="0" bIns="0" rtlCol="0" anchor="ctr"/>
          <a:lstStyle/>
          <a:p>
            <a:pPr indent="0" marL="0">
              <a:buNone/>
            </a:pPr>
            <a:r>
              <a:rPr lang="en-US" sz="1800" dirty="0">
                <a:solidFill>
                  <a:srgbClr val="F5F5F3"/>
                </a:solidFill>
                <a:latin typeface="Consolas" pitchFamily="34" charset="0"/>
                <a:ea typeface="Consolas" pitchFamily="34" charset="-122"/>
                <a:cs typeface="Consolas" pitchFamily="34" charset="-120"/>
              </a:rPr>
              <a:t>score</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56B4E9"/>
                </a:solidFill>
                <a:latin typeface="Consolas" pitchFamily="34" charset="0"/>
                <a:ea typeface="Consolas" pitchFamily="34" charset="-122"/>
                <a:cs typeface="Consolas" pitchFamily="34" charset="-120"/>
              </a:rPr>
              <a:t>9</a:t>
            </a:r>
            <a:endParaRPr lang="en-US" sz="1800" dirty="0"/>
          </a:p>
        </p:txBody>
      </p:sp>
      <p:sp>
        <p:nvSpPr>
          <p:cNvPr id="27" name="Text 25"/>
          <p:cNvSpPr txBox="1"/>
          <p:nvPr/>
        </p:nvSpPr>
        <p:spPr>
          <a:xfrm>
            <a:off x="6601968" y="3346704"/>
            <a:ext cx="2011680" cy="301752"/>
          </a:xfrm>
          <a:prstGeom prst="rect">
            <a:avLst/>
          </a:prstGeom>
          <a:noFill/>
          <a:ln/>
        </p:spPr>
        <p:txBody>
          <a:bodyPr wrap="square" lIns="0" tIns="0" rIns="0" bIns="0" rtlCol="0" anchor="ctr"/>
          <a:lstStyle/>
          <a:p>
            <a:pPr indent="0" marL="0">
              <a:buNone/>
            </a:pPr>
            <a:r>
              <a:rPr lang="en-US" sz="1800" dirty="0">
                <a:solidFill>
                  <a:srgbClr val="E8C878"/>
                </a:solidFill>
                <a:latin typeface="Consolas" pitchFamily="34" charset="0"/>
                <a:ea typeface="Consolas" pitchFamily="34" charset="-122"/>
                <a:cs typeface="Consolas" pitchFamily="34" charset="-120"/>
              </a:rPr>
              <a:t>print</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F5F5F3"/>
                </a:solidFill>
                <a:latin typeface="Consolas" pitchFamily="34" charset="0"/>
                <a:ea typeface="Consolas" pitchFamily="34" charset="-122"/>
                <a:cs typeface="Consolas" pitchFamily="34" charset="-120"/>
              </a:rPr>
              <a:t>score</a:t>
            </a:r>
            <a:pPr indent="0" marL="0">
              <a:buNone/>
            </a:pPr>
            <a:r>
              <a:rPr lang="en-US" sz="1800" dirty="0">
                <a:solidFill>
                  <a:srgbClr val="A9A9B4"/>
                </a:solidFill>
                <a:latin typeface="Consolas" pitchFamily="34" charset="0"/>
                <a:ea typeface="Consolas" pitchFamily="34" charset="-122"/>
                <a:cs typeface="Consolas" pitchFamily="34" charset="-120"/>
              </a:rPr>
              <a:t>)</a:t>
            </a:r>
            <a:endParaRPr lang="en-US" sz="1800" dirty="0"/>
          </a:p>
        </p:txBody>
      </p:sp>
      <p:sp>
        <p:nvSpPr>
          <p:cNvPr id="28" name="Text 26"/>
          <p:cNvSpPr txBox="1"/>
          <p:nvPr/>
        </p:nvSpPr>
        <p:spPr>
          <a:xfrm>
            <a:off x="8979408" y="2651760"/>
            <a:ext cx="685800" cy="329184"/>
          </a:xfrm>
          <a:prstGeom prst="rect">
            <a:avLst/>
          </a:prstGeom>
          <a:noFill/>
          <a:ln/>
        </p:spPr>
        <p:txBody>
          <a:bodyPr wrap="square" lIns="0" tIns="0" rIns="0" bIns="0" rtlCol="0" anchor="ctr"/>
          <a:lstStyle/>
          <a:p>
            <a:pPr indent="0" marL="0">
              <a:buNone/>
            </a:pPr>
            <a:r>
              <a:rPr lang="en-US" sz="1800" b="1" dirty="0">
                <a:solidFill>
                  <a:srgbClr val="D8A73D"/>
                </a:solidFill>
                <a:latin typeface="Calibri" pitchFamily="34" charset="0"/>
                <a:ea typeface="Calibri" pitchFamily="34" charset="-122"/>
                <a:cs typeface="Calibri" pitchFamily="34" charset="-120"/>
              </a:rPr>
              <a:t>A   </a:t>
            </a:r>
            <a:pPr indent="0" marL="0">
              <a:buNone/>
            </a:pPr>
            <a:r>
              <a:rPr lang="en-US" sz="1800" dirty="0">
                <a:solidFill>
                  <a:srgbClr val="A9A9B4"/>
                </a:solidFill>
                <a:latin typeface="Calibri" pitchFamily="34" charset="0"/>
                <a:ea typeface="Calibri" pitchFamily="34" charset="-122"/>
                <a:cs typeface="Calibri" pitchFamily="34" charset="-120"/>
              </a:rPr>
              <a:t>5</a:t>
            </a:r>
            <a:endParaRPr lang="en-US" sz="1800" dirty="0"/>
          </a:p>
        </p:txBody>
      </p:sp>
      <p:sp>
        <p:nvSpPr>
          <p:cNvPr id="29" name="Text 27"/>
          <p:cNvSpPr txBox="1"/>
          <p:nvPr/>
        </p:nvSpPr>
        <p:spPr>
          <a:xfrm>
            <a:off x="8979408" y="2980944"/>
            <a:ext cx="685800" cy="329184"/>
          </a:xfrm>
          <a:prstGeom prst="rect">
            <a:avLst/>
          </a:prstGeom>
          <a:noFill/>
          <a:ln/>
        </p:spPr>
        <p:txBody>
          <a:bodyPr wrap="square" lIns="0" tIns="0" rIns="0" bIns="0" rtlCol="0" anchor="ctr"/>
          <a:lstStyle/>
          <a:p>
            <a:pPr indent="0" marL="0">
              <a:buNone/>
            </a:pPr>
            <a:r>
              <a:rPr lang="en-US" sz="1800" b="1" dirty="0">
                <a:solidFill>
                  <a:srgbClr val="7FD99A"/>
                </a:solidFill>
                <a:latin typeface="Calibri" pitchFamily="34" charset="0"/>
                <a:ea typeface="Calibri" pitchFamily="34" charset="-122"/>
                <a:cs typeface="Calibri" pitchFamily="34" charset="-120"/>
              </a:rPr>
              <a:t>B   </a:t>
            </a:r>
            <a:pPr indent="0" marL="0">
              <a:buNone/>
            </a:pPr>
            <a:r>
              <a:rPr lang="en-US" sz="1800" b="1" dirty="0">
                <a:solidFill>
                  <a:srgbClr val="7FD99A"/>
                </a:solidFill>
                <a:latin typeface="Calibri" pitchFamily="34" charset="0"/>
                <a:ea typeface="Calibri" pitchFamily="34" charset="-122"/>
                <a:cs typeface="Calibri" pitchFamily="34" charset="-120"/>
              </a:rPr>
              <a:t>9</a:t>
            </a:r>
            <a:endParaRPr lang="en-US" sz="1800" dirty="0"/>
          </a:p>
        </p:txBody>
      </p:sp>
      <p:sp>
        <p:nvSpPr>
          <p:cNvPr id="30" name="Text 28"/>
          <p:cNvSpPr txBox="1"/>
          <p:nvPr/>
        </p:nvSpPr>
        <p:spPr>
          <a:xfrm>
            <a:off x="8979408" y="3310128"/>
            <a:ext cx="685800" cy="329184"/>
          </a:xfrm>
          <a:prstGeom prst="rect">
            <a:avLst/>
          </a:prstGeom>
          <a:noFill/>
          <a:ln/>
        </p:spPr>
        <p:txBody>
          <a:bodyPr wrap="square" lIns="0" tIns="0" rIns="0" bIns="0" rtlCol="0" anchor="ctr"/>
          <a:lstStyle/>
          <a:p>
            <a:pPr indent="0" marL="0">
              <a:buNone/>
            </a:pPr>
            <a:r>
              <a:rPr lang="en-US" sz="1800" b="1" dirty="0">
                <a:solidFill>
                  <a:srgbClr val="D8A73D"/>
                </a:solidFill>
                <a:latin typeface="Calibri" pitchFamily="34" charset="0"/>
                <a:ea typeface="Calibri" pitchFamily="34" charset="-122"/>
                <a:cs typeface="Calibri" pitchFamily="34" charset="-120"/>
              </a:rPr>
              <a:t>C   </a:t>
            </a:r>
            <a:pPr indent="0" marL="0">
              <a:buNone/>
            </a:pPr>
            <a:r>
              <a:rPr lang="en-US" sz="1800" dirty="0">
                <a:solidFill>
                  <a:srgbClr val="A9A9B4"/>
                </a:solidFill>
                <a:latin typeface="Calibri" pitchFamily="34" charset="0"/>
                <a:ea typeface="Calibri" pitchFamily="34" charset="-122"/>
                <a:cs typeface="Calibri" pitchFamily="34" charset="-120"/>
              </a:rPr>
              <a:t>14</a:t>
            </a:r>
            <a:endParaRPr lang="en-US" sz="1800" dirty="0"/>
          </a:p>
        </p:txBody>
      </p:sp>
      <p:sp>
        <p:nvSpPr>
          <p:cNvPr id="31" name="Text 29"/>
          <p:cNvSpPr txBox="1"/>
          <p:nvPr/>
        </p:nvSpPr>
        <p:spPr>
          <a:xfrm>
            <a:off x="9756648" y="2651760"/>
            <a:ext cx="1709928" cy="987552"/>
          </a:xfrm>
          <a:prstGeom prst="rect">
            <a:avLst/>
          </a:prstGeom>
          <a:noFill/>
          <a:ln/>
        </p:spPr>
        <p:txBody>
          <a:bodyPr wrap="square" lIns="0" tIns="0" rIns="0" bIns="0" rtlCol="0" anchor="ctr"/>
          <a:lstStyle/>
          <a:p>
            <a:pPr indent="0" marL="0">
              <a:buNone/>
            </a:pPr>
            <a:r>
              <a:rPr lang="en-US" sz="1800" i="1" dirty="0">
                <a:solidFill>
                  <a:srgbClr val="A9A9B4"/>
                </a:solidFill>
                <a:latin typeface="Calibri" pitchFamily="34" charset="0"/>
                <a:ea typeface="Calibri" pitchFamily="34" charset="-122"/>
                <a:cs typeface="Calibri" pitchFamily="34" charset="-120"/>
              </a:rPr>
              <a:t>the new value replaces the old one</a:t>
            </a:r>
            <a:endParaRPr lang="en-US" sz="1800" dirty="0"/>
          </a:p>
        </p:txBody>
      </p:sp>
      <p:sp>
        <p:nvSpPr>
          <p:cNvPr id="32" name="q3"/>
          <p:cNvSpPr/>
          <p:nvPr/>
        </p:nvSpPr>
        <p:spPr>
          <a:xfrm>
            <a:off x="548640" y="4023360"/>
            <a:ext cx="5413248" cy="2286000"/>
          </a:xfrm>
          <a:prstGeom prst="roundRect">
            <a:avLst>
              <a:gd name="adj" fmla="val 3200"/>
            </a:avLst>
          </a:prstGeom>
          <a:solidFill>
            <a:srgbClr val="2A2A32"/>
          </a:solidFill>
          <a:ln w="15875">
            <a:solidFill>
              <a:srgbClr val="3A3A44"/>
            </a:solidFill>
            <a:prstDash val="solid"/>
          </a:ln>
        </p:spPr>
      </p:sp>
      <p:sp>
        <p:nvSpPr>
          <p:cNvPr id="33" name="Shape 31"/>
          <p:cNvSpPr/>
          <p:nvPr/>
        </p:nvSpPr>
        <p:spPr>
          <a:xfrm>
            <a:off x="777240" y="4224528"/>
            <a:ext cx="384048" cy="384048"/>
          </a:xfrm>
          <a:prstGeom prst="ellipse">
            <a:avLst/>
          </a:prstGeom>
          <a:solidFill>
            <a:srgbClr val="D8A73D"/>
          </a:solidFill>
          <a:ln/>
        </p:spPr>
      </p:sp>
      <p:sp>
        <p:nvSpPr>
          <p:cNvPr id="34" name="Text 32"/>
          <p:cNvSpPr txBox="1"/>
          <p:nvPr/>
        </p:nvSpPr>
        <p:spPr>
          <a:xfrm>
            <a:off x="777240" y="4224528"/>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3</a:t>
            </a:r>
            <a:endParaRPr lang="en-US" sz="1600" dirty="0"/>
          </a:p>
        </p:txBody>
      </p:sp>
      <p:sp>
        <p:nvSpPr>
          <p:cNvPr id="35" name="Shape 33"/>
          <p:cNvSpPr/>
          <p:nvPr/>
        </p:nvSpPr>
        <p:spPr>
          <a:xfrm>
            <a:off x="1280160" y="4251960"/>
            <a:ext cx="1600200" cy="310896"/>
          </a:xfrm>
          <a:prstGeom prst="roundRect">
            <a:avLst>
              <a:gd name="adj" fmla="val 52941"/>
            </a:avLst>
          </a:prstGeom>
          <a:solidFill>
            <a:srgbClr val="1E1E24"/>
          </a:solidFill>
          <a:ln w="15875">
            <a:solidFill>
              <a:srgbClr val="D8A73D"/>
            </a:solidFill>
            <a:prstDash val="solid"/>
          </a:ln>
        </p:spPr>
      </p:sp>
      <p:sp>
        <p:nvSpPr>
          <p:cNvPr id="36" name="Text 34"/>
          <p:cNvSpPr txBox="1"/>
          <p:nvPr/>
        </p:nvSpPr>
        <p:spPr>
          <a:xfrm>
            <a:off x="1280160" y="4251960"/>
            <a:ext cx="1600200" cy="310896"/>
          </a:xfrm>
          <a:prstGeom prst="rect">
            <a:avLst/>
          </a:prstGeom>
          <a:noFill/>
          <a:ln/>
        </p:spPr>
        <p:txBody>
          <a:bodyPr wrap="square" lIns="0" tIns="0" rIns="0" bIns="0" rtlCol="0" anchor="ctr"/>
          <a:lstStyle/>
          <a:p>
            <a:pPr algn="ctr" indent="0" marL="0">
              <a:buNone/>
            </a:pPr>
            <a:r>
              <a:rPr lang="en-US" sz="1200" b="1" spc="100" kern="0" dirty="0">
                <a:solidFill>
                  <a:srgbClr val="D8A73D"/>
                </a:solidFill>
                <a:latin typeface="Calibri" pitchFamily="34" charset="0"/>
                <a:ea typeface="Calibri" pitchFamily="34" charset="-122"/>
                <a:cs typeface="Calibri" pitchFamily="34" charset="-120"/>
              </a:rPr>
              <a:t>Y8 · LESSON 1</a:t>
            </a:r>
            <a:endParaRPr lang="en-US" sz="1200" dirty="0"/>
          </a:p>
        </p:txBody>
      </p:sp>
      <p:sp>
        <p:nvSpPr>
          <p:cNvPr id="37" name="Shape 35"/>
          <p:cNvSpPr/>
          <p:nvPr/>
        </p:nvSpPr>
        <p:spPr>
          <a:xfrm>
            <a:off x="2971800" y="4251960"/>
            <a:ext cx="1783080" cy="310896"/>
          </a:xfrm>
          <a:prstGeom prst="roundRect">
            <a:avLst>
              <a:gd name="adj" fmla="val 52941"/>
            </a:avLst>
          </a:prstGeom>
          <a:solidFill>
            <a:srgbClr val="1E1E24"/>
          </a:solidFill>
          <a:ln w="15875">
            <a:solidFill>
              <a:srgbClr val="3A3A44"/>
            </a:solidFill>
            <a:prstDash val="solid"/>
          </a:ln>
        </p:spPr>
      </p:sp>
      <p:sp>
        <p:nvSpPr>
          <p:cNvPr id="38" name="Text 36"/>
          <p:cNvSpPr txBox="1"/>
          <p:nvPr/>
        </p:nvSpPr>
        <p:spPr>
          <a:xfrm>
            <a:off x="2971800" y="4251960"/>
            <a:ext cx="1783080" cy="310896"/>
          </a:xfrm>
          <a:prstGeom prst="rect">
            <a:avLst/>
          </a:prstGeom>
          <a:noFill/>
          <a:ln/>
        </p:spPr>
        <p:txBody>
          <a:bodyPr wrap="square" lIns="0" tIns="0" rIns="0" bIns="0" rtlCol="0" anchor="ctr"/>
          <a:lstStyle/>
          <a:p>
            <a:pPr algn="ctr" indent="0" marL="0">
              <a:buNone/>
            </a:pPr>
            <a:r>
              <a:rPr lang="en-US" sz="1200" b="1" spc="100" kern="0" dirty="0">
                <a:solidFill>
                  <a:srgbClr val="A9A9B4"/>
                </a:solidFill>
                <a:latin typeface="Calibri" pitchFamily="34" charset="0"/>
                <a:ea typeface="Calibri" pitchFamily="34" charset="-122"/>
                <a:cs typeface="Calibri" pitchFamily="34" charset="-120"/>
              </a:rPr>
              <a:t>WRITE IT</a:t>
            </a:r>
            <a:endParaRPr lang="en-US" sz="1200" dirty="0"/>
          </a:p>
        </p:txBody>
      </p:sp>
      <p:sp>
        <p:nvSpPr>
          <p:cNvPr id="39" name="Text 37"/>
          <p:cNvSpPr txBox="1"/>
          <p:nvPr/>
        </p:nvSpPr>
        <p:spPr>
          <a:xfrm>
            <a:off x="777240" y="4663440"/>
            <a:ext cx="4956048" cy="411480"/>
          </a:xfrm>
          <a:prstGeom prst="rect">
            <a:avLst/>
          </a:prstGeom>
          <a:noFill/>
          <a:ln/>
        </p:spPr>
        <p:txBody>
          <a:bodyPr wrap="square" lIns="0" tIns="0" rIns="0" bIns="0" rtlCol="0" anchor="ctr"/>
          <a:lstStyle/>
          <a:p>
            <a:pPr indent="0" marL="0">
              <a:buNone/>
            </a:pPr>
            <a:r>
              <a:rPr lang="en-US" sz="2000" b="1" dirty="0">
                <a:solidFill>
                  <a:srgbClr val="F5F5F3"/>
                </a:solidFill>
                <a:latin typeface="Calibri" pitchFamily="34" charset="0"/>
                <a:ea typeface="Calibri" pitchFamily="34" charset="-122"/>
                <a:cs typeface="Calibri" pitchFamily="34" charset="-120"/>
              </a:rPr>
              <a:t>This line crashes. What is missing?</a:t>
            </a:r>
            <a:endParaRPr lang="en-US" sz="2000" dirty="0"/>
          </a:p>
        </p:txBody>
      </p:sp>
      <p:sp>
        <p:nvSpPr>
          <p:cNvPr id="40" name="Shape 38"/>
          <p:cNvSpPr/>
          <p:nvPr/>
        </p:nvSpPr>
        <p:spPr>
          <a:xfrm>
            <a:off x="777240" y="5074920"/>
            <a:ext cx="4956048" cy="484632"/>
          </a:xfrm>
          <a:prstGeom prst="roundRect">
            <a:avLst>
              <a:gd name="adj" fmla="val 11321"/>
            </a:avLst>
          </a:prstGeom>
          <a:solidFill>
            <a:srgbClr val="111115"/>
          </a:solidFill>
          <a:ln/>
        </p:spPr>
      </p:sp>
      <p:sp>
        <p:nvSpPr>
          <p:cNvPr id="41" name="Text 39"/>
          <p:cNvSpPr txBox="1"/>
          <p:nvPr/>
        </p:nvSpPr>
        <p:spPr>
          <a:xfrm>
            <a:off x="914400" y="5166360"/>
            <a:ext cx="4681728" cy="301752"/>
          </a:xfrm>
          <a:prstGeom prst="rect">
            <a:avLst/>
          </a:prstGeom>
          <a:noFill/>
          <a:ln/>
        </p:spPr>
        <p:txBody>
          <a:bodyPr wrap="square" lIns="0" tIns="0" rIns="0" bIns="0" rtlCol="0" anchor="ctr"/>
          <a:lstStyle/>
          <a:p>
            <a:pPr indent="0" marL="0">
              <a:buNone/>
            </a:pPr>
            <a:r>
              <a:rPr lang="en-US" sz="1800" dirty="0">
                <a:solidFill>
                  <a:srgbClr val="E8C878"/>
                </a:solidFill>
                <a:latin typeface="Consolas" pitchFamily="34" charset="0"/>
                <a:ea typeface="Consolas" pitchFamily="34" charset="-122"/>
                <a:cs typeface="Consolas" pitchFamily="34" charset="-120"/>
              </a:rPr>
              <a:t>print</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E69F00"/>
                </a:solidFill>
                <a:latin typeface="Consolas" pitchFamily="34" charset="0"/>
                <a:ea typeface="Consolas" pitchFamily="34" charset="-122"/>
                <a:cs typeface="Consolas" pitchFamily="34" charset="-120"/>
              </a:rPr>
              <a:t>"Hello)</a:t>
            </a:r>
            <a:endParaRPr lang="en-US" sz="1800" dirty="0"/>
          </a:p>
        </p:txBody>
      </p:sp>
      <p:sp>
        <p:nvSpPr>
          <p:cNvPr id="42" name="Text 40"/>
          <p:cNvSpPr txBox="1"/>
          <p:nvPr/>
        </p:nvSpPr>
        <p:spPr>
          <a:xfrm>
            <a:off x="777240" y="5632704"/>
            <a:ext cx="4956048" cy="365760"/>
          </a:xfrm>
          <a:prstGeom prst="rect">
            <a:avLst/>
          </a:prstGeom>
          <a:noFill/>
          <a:ln/>
        </p:spPr>
        <p:txBody>
          <a:bodyPr wrap="square" lIns="0" tIns="0" rIns="0" bIns="0" rtlCol="0" anchor="ctr"/>
          <a:lstStyle/>
          <a:p>
            <a:pPr indent="0" marL="0">
              <a:buNone/>
            </a:pPr>
            <a:r>
              <a:rPr lang="en-US" sz="2200" b="1" dirty="0">
                <a:solidFill>
                  <a:srgbClr val="7FD99A"/>
                </a:solidFill>
                <a:latin typeface="Calibri" pitchFamily="34" charset="0"/>
                <a:ea typeface="Calibri" pitchFamily="34" charset="-122"/>
                <a:cs typeface="Calibri" pitchFamily="34" charset="-120"/>
              </a:rPr>
              <a:t>A closing quote mark</a:t>
            </a:r>
            <a:pPr indent="0" marL="0">
              <a:buNone/>
            </a:pPr>
            <a:r>
              <a:rPr lang="en-US" sz="1800" dirty="0">
                <a:solidFill>
                  <a:srgbClr val="A9A9B4"/>
                </a:solidFill>
                <a:latin typeface="Consolas" pitchFamily="34" charset="0"/>
                <a:ea typeface="Consolas" pitchFamily="34" charset="-122"/>
                <a:cs typeface="Consolas" pitchFamily="34" charset="-120"/>
              </a:rPr>
              <a:t>   print("Hello")</a:t>
            </a:r>
            <a:endParaRPr lang="en-US" sz="2200" dirty="0"/>
          </a:p>
        </p:txBody>
      </p:sp>
      <p:sp>
        <p:nvSpPr>
          <p:cNvPr id="43" name="q4"/>
          <p:cNvSpPr/>
          <p:nvPr/>
        </p:nvSpPr>
        <p:spPr>
          <a:xfrm>
            <a:off x="6236208" y="4023360"/>
            <a:ext cx="5413248" cy="2286000"/>
          </a:xfrm>
          <a:prstGeom prst="roundRect">
            <a:avLst>
              <a:gd name="adj" fmla="val 3200"/>
            </a:avLst>
          </a:prstGeom>
          <a:solidFill>
            <a:srgbClr val="2A2A32"/>
          </a:solidFill>
          <a:ln w="15875">
            <a:solidFill>
              <a:srgbClr val="3A3A44"/>
            </a:solidFill>
            <a:prstDash val="solid"/>
          </a:ln>
        </p:spPr>
      </p:sp>
      <p:sp>
        <p:nvSpPr>
          <p:cNvPr id="44" name="Shape 42"/>
          <p:cNvSpPr/>
          <p:nvPr/>
        </p:nvSpPr>
        <p:spPr>
          <a:xfrm>
            <a:off x="6464808" y="4224528"/>
            <a:ext cx="384048" cy="384048"/>
          </a:xfrm>
          <a:prstGeom prst="ellipse">
            <a:avLst/>
          </a:prstGeom>
          <a:solidFill>
            <a:srgbClr val="D8A73D"/>
          </a:solidFill>
          <a:ln/>
        </p:spPr>
      </p:sp>
      <p:sp>
        <p:nvSpPr>
          <p:cNvPr id="45" name="Text 43"/>
          <p:cNvSpPr txBox="1"/>
          <p:nvPr/>
        </p:nvSpPr>
        <p:spPr>
          <a:xfrm>
            <a:off x="6464808" y="4224528"/>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4</a:t>
            </a:r>
            <a:endParaRPr lang="en-US" sz="1600" dirty="0"/>
          </a:p>
        </p:txBody>
      </p:sp>
      <p:sp>
        <p:nvSpPr>
          <p:cNvPr id="46" name="Shape 44"/>
          <p:cNvSpPr/>
          <p:nvPr/>
        </p:nvSpPr>
        <p:spPr>
          <a:xfrm>
            <a:off x="6967728" y="4251960"/>
            <a:ext cx="1600200" cy="310896"/>
          </a:xfrm>
          <a:prstGeom prst="roundRect">
            <a:avLst>
              <a:gd name="adj" fmla="val 52941"/>
            </a:avLst>
          </a:prstGeom>
          <a:solidFill>
            <a:srgbClr val="1E1E24"/>
          </a:solidFill>
          <a:ln w="15875">
            <a:solidFill>
              <a:srgbClr val="D8A73D"/>
            </a:solidFill>
            <a:prstDash val="solid"/>
          </a:ln>
        </p:spPr>
      </p:sp>
      <p:sp>
        <p:nvSpPr>
          <p:cNvPr id="47" name="Text 45"/>
          <p:cNvSpPr txBox="1"/>
          <p:nvPr/>
        </p:nvSpPr>
        <p:spPr>
          <a:xfrm>
            <a:off x="6967728" y="4251960"/>
            <a:ext cx="1600200" cy="310896"/>
          </a:xfrm>
          <a:prstGeom prst="rect">
            <a:avLst/>
          </a:prstGeom>
          <a:noFill/>
          <a:ln/>
        </p:spPr>
        <p:txBody>
          <a:bodyPr wrap="square" lIns="0" tIns="0" rIns="0" bIns="0" rtlCol="0" anchor="ctr"/>
          <a:lstStyle/>
          <a:p>
            <a:pPr algn="ctr" indent="0" marL="0">
              <a:buNone/>
            </a:pPr>
            <a:r>
              <a:rPr lang="en-US" sz="1200" b="1" spc="100" kern="0" dirty="0">
                <a:solidFill>
                  <a:srgbClr val="D8A73D"/>
                </a:solidFill>
                <a:latin typeface="Calibri" pitchFamily="34" charset="0"/>
                <a:ea typeface="Calibri" pitchFamily="34" charset="-122"/>
                <a:cs typeface="Calibri" pitchFamily="34" charset="-120"/>
              </a:rPr>
              <a:t>Y8 · LESSON 2</a:t>
            </a:r>
            <a:endParaRPr lang="en-US" sz="1200" dirty="0"/>
          </a:p>
        </p:txBody>
      </p:sp>
      <p:sp>
        <p:nvSpPr>
          <p:cNvPr id="48" name="Shape 46"/>
          <p:cNvSpPr/>
          <p:nvPr/>
        </p:nvSpPr>
        <p:spPr>
          <a:xfrm>
            <a:off x="8659368" y="4251960"/>
            <a:ext cx="1783080" cy="310896"/>
          </a:xfrm>
          <a:prstGeom prst="roundRect">
            <a:avLst>
              <a:gd name="adj" fmla="val 52941"/>
            </a:avLst>
          </a:prstGeom>
          <a:solidFill>
            <a:srgbClr val="1E1E24"/>
          </a:solidFill>
          <a:ln w="15875">
            <a:solidFill>
              <a:srgbClr val="3A3A44"/>
            </a:solidFill>
            <a:prstDash val="solid"/>
          </a:ln>
        </p:spPr>
      </p:sp>
      <p:sp>
        <p:nvSpPr>
          <p:cNvPr id="49" name="Text 47"/>
          <p:cNvSpPr txBox="1"/>
          <p:nvPr/>
        </p:nvSpPr>
        <p:spPr>
          <a:xfrm>
            <a:off x="8659368" y="4251960"/>
            <a:ext cx="1783080" cy="310896"/>
          </a:xfrm>
          <a:prstGeom prst="rect">
            <a:avLst/>
          </a:prstGeom>
          <a:noFill/>
          <a:ln/>
        </p:spPr>
        <p:txBody>
          <a:bodyPr wrap="square" lIns="0" tIns="0" rIns="0" bIns="0" rtlCol="0" anchor="ctr"/>
          <a:lstStyle/>
          <a:p>
            <a:pPr algn="ctr" indent="0" marL="0">
              <a:buNone/>
            </a:pPr>
            <a:r>
              <a:rPr lang="en-US" sz="1200" b="1" spc="100" kern="0" dirty="0">
                <a:solidFill>
                  <a:srgbClr val="A9A9B4"/>
                </a:solidFill>
                <a:latin typeface="Calibri" pitchFamily="34" charset="0"/>
                <a:ea typeface="Calibri" pitchFamily="34" charset="-122"/>
                <a:cs typeface="Calibri" pitchFamily="34" charset="-120"/>
              </a:rPr>
              <a:t>WRITE IT</a:t>
            </a:r>
            <a:endParaRPr lang="en-US" sz="1200" dirty="0"/>
          </a:p>
        </p:txBody>
      </p:sp>
      <p:sp>
        <p:nvSpPr>
          <p:cNvPr id="50" name="Text 48"/>
          <p:cNvSpPr txBox="1"/>
          <p:nvPr/>
        </p:nvSpPr>
        <p:spPr>
          <a:xfrm>
            <a:off x="6464808" y="4663440"/>
            <a:ext cx="4956048" cy="411480"/>
          </a:xfrm>
          <a:prstGeom prst="rect">
            <a:avLst/>
          </a:prstGeom>
          <a:noFill/>
          <a:ln/>
        </p:spPr>
        <p:txBody>
          <a:bodyPr wrap="square" lIns="0" tIns="0" rIns="0" bIns="0" rtlCol="0" anchor="ctr"/>
          <a:lstStyle/>
          <a:p>
            <a:pPr indent="0" marL="0">
              <a:buNone/>
            </a:pPr>
            <a:r>
              <a:rPr lang="en-US" sz="2000" b="1" dirty="0">
                <a:solidFill>
                  <a:srgbClr val="F5F5F3"/>
                </a:solidFill>
                <a:latin typeface="Calibri" pitchFamily="34" charset="0"/>
                <a:ea typeface="Calibri" pitchFamily="34" charset="-122"/>
                <a:cs typeface="Calibri" pitchFamily="34" charset="-120"/>
              </a:rPr>
              <a:t>Write exactly what this prints.</a:t>
            </a:r>
            <a:endParaRPr lang="en-US" sz="2000" dirty="0"/>
          </a:p>
        </p:txBody>
      </p:sp>
      <p:sp>
        <p:nvSpPr>
          <p:cNvPr id="51" name="Shape 49"/>
          <p:cNvSpPr/>
          <p:nvPr/>
        </p:nvSpPr>
        <p:spPr>
          <a:xfrm>
            <a:off x="6464808" y="5074920"/>
            <a:ext cx="4956048" cy="786384"/>
          </a:xfrm>
          <a:prstGeom prst="roundRect">
            <a:avLst>
              <a:gd name="adj" fmla="val 6977"/>
            </a:avLst>
          </a:prstGeom>
          <a:solidFill>
            <a:srgbClr val="111115"/>
          </a:solidFill>
          <a:ln/>
        </p:spPr>
      </p:sp>
      <p:sp>
        <p:nvSpPr>
          <p:cNvPr id="52" name="Text 50"/>
          <p:cNvSpPr txBox="1"/>
          <p:nvPr/>
        </p:nvSpPr>
        <p:spPr>
          <a:xfrm>
            <a:off x="6601968" y="5166360"/>
            <a:ext cx="4681728" cy="301752"/>
          </a:xfrm>
          <a:prstGeom prst="rect">
            <a:avLst/>
          </a:prstGeom>
          <a:noFill/>
          <a:ln/>
        </p:spPr>
        <p:txBody>
          <a:bodyPr wrap="square" lIns="0" tIns="0" rIns="0" bIns="0" rtlCol="0" anchor="ctr"/>
          <a:lstStyle/>
          <a:p>
            <a:pPr indent="0" marL="0">
              <a:buNone/>
            </a:pPr>
            <a:r>
              <a:rPr lang="en-US" sz="1800" dirty="0">
                <a:solidFill>
                  <a:srgbClr val="F5F5F3"/>
                </a:solidFill>
                <a:latin typeface="Consolas" pitchFamily="34" charset="0"/>
                <a:ea typeface="Consolas" pitchFamily="34" charset="-122"/>
                <a:cs typeface="Consolas" pitchFamily="34" charset="-120"/>
              </a:rPr>
              <a:t>name</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E69F00"/>
                </a:solidFill>
                <a:latin typeface="Consolas" pitchFamily="34" charset="0"/>
                <a:ea typeface="Consolas" pitchFamily="34" charset="-122"/>
                <a:cs typeface="Consolas" pitchFamily="34" charset="-120"/>
              </a:rPr>
              <a:t>"Sam"</a:t>
            </a:r>
            <a:endParaRPr lang="en-US" sz="1800" dirty="0"/>
          </a:p>
        </p:txBody>
      </p:sp>
      <p:sp>
        <p:nvSpPr>
          <p:cNvPr id="53" name="Text 51"/>
          <p:cNvSpPr txBox="1"/>
          <p:nvPr/>
        </p:nvSpPr>
        <p:spPr>
          <a:xfrm>
            <a:off x="6601968" y="5468112"/>
            <a:ext cx="4681728" cy="301752"/>
          </a:xfrm>
          <a:prstGeom prst="rect">
            <a:avLst/>
          </a:prstGeom>
          <a:noFill/>
          <a:ln/>
        </p:spPr>
        <p:txBody>
          <a:bodyPr wrap="square" lIns="0" tIns="0" rIns="0" bIns="0" rtlCol="0" anchor="ctr"/>
          <a:lstStyle/>
          <a:p>
            <a:pPr indent="0" marL="0">
              <a:buNone/>
            </a:pPr>
            <a:r>
              <a:rPr lang="en-US" sz="1800" dirty="0">
                <a:solidFill>
                  <a:srgbClr val="E8C878"/>
                </a:solidFill>
                <a:latin typeface="Consolas" pitchFamily="34" charset="0"/>
                <a:ea typeface="Consolas" pitchFamily="34" charset="-122"/>
                <a:cs typeface="Consolas" pitchFamily="34" charset="-120"/>
              </a:rPr>
              <a:t>print</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E69F00"/>
                </a:solidFill>
                <a:latin typeface="Consolas" pitchFamily="34" charset="0"/>
                <a:ea typeface="Consolas" pitchFamily="34" charset="-122"/>
                <a:cs typeface="Consolas" pitchFamily="34" charset="-120"/>
              </a:rPr>
              <a:t>"Hi "</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F5F5F3"/>
                </a:solidFill>
                <a:latin typeface="Consolas" pitchFamily="34" charset="0"/>
                <a:ea typeface="Consolas" pitchFamily="34" charset="-122"/>
                <a:cs typeface="Consolas" pitchFamily="34" charset="-120"/>
              </a:rPr>
              <a:t>name</a:t>
            </a:r>
            <a:pPr indent="0" marL="0">
              <a:buNone/>
            </a:pPr>
            <a:r>
              <a:rPr lang="en-US" sz="1800" dirty="0">
                <a:solidFill>
                  <a:srgbClr val="A9A9B4"/>
                </a:solidFill>
                <a:latin typeface="Consolas" pitchFamily="34" charset="0"/>
                <a:ea typeface="Consolas" pitchFamily="34" charset="-122"/>
                <a:cs typeface="Consolas" pitchFamily="34" charset="-120"/>
              </a:rPr>
              <a:t>)</a:t>
            </a:r>
            <a:endParaRPr lang="en-US" sz="1800" dirty="0"/>
          </a:p>
        </p:txBody>
      </p:sp>
      <p:sp>
        <p:nvSpPr>
          <p:cNvPr id="54" name="Text 52"/>
          <p:cNvSpPr txBox="1"/>
          <p:nvPr/>
        </p:nvSpPr>
        <p:spPr>
          <a:xfrm>
            <a:off x="6464808" y="5934456"/>
            <a:ext cx="4956048" cy="365760"/>
          </a:xfrm>
          <a:prstGeom prst="rect">
            <a:avLst/>
          </a:prstGeom>
          <a:noFill/>
          <a:ln/>
        </p:spPr>
        <p:txBody>
          <a:bodyPr wrap="square" lIns="0" tIns="0" rIns="0" bIns="0" rtlCol="0" anchor="ctr"/>
          <a:lstStyle/>
          <a:p>
            <a:pPr indent="0" marL="0">
              <a:buNone/>
            </a:pPr>
            <a:r>
              <a:rPr lang="en-US" sz="2200" b="1" dirty="0">
                <a:solidFill>
                  <a:srgbClr val="7FD99A"/>
                </a:solidFill>
                <a:latin typeface="Consolas" pitchFamily="34" charset="0"/>
                <a:ea typeface="Consolas" pitchFamily="34" charset="-122"/>
                <a:cs typeface="Consolas" pitchFamily="34" charset="-120"/>
              </a:rPr>
              <a:t>Hi Sam</a:t>
            </a:r>
            <a:pPr indent="0" marL="0">
              <a:buNone/>
            </a:pPr>
            <a:r>
              <a:rPr lang="en-US" sz="1800" dirty="0">
                <a:solidFill>
                  <a:srgbClr val="A9A9B4"/>
                </a:solidFill>
                <a:latin typeface="Calibri" pitchFamily="34" charset="0"/>
                <a:ea typeface="Calibri" pitchFamily="34" charset="-122"/>
                <a:cs typeface="Calibri" pitchFamily="34" charset="-120"/>
              </a:rPr>
              <a:t>   the space is inside the quotes</a:t>
            </a:r>
            <a:endParaRPr lang="en-US" sz="2200" dirty="0"/>
          </a:p>
        </p:txBody>
      </p:sp>
      <p:pic>
        <p:nvPicPr>
          <p:cNvPr id="55" name="Image 0" descr="Recap and recall">    </p:cNvPr>
          <p:cNvPicPr>
            <a:picLocks noChangeAspect="1"/>
          </p:cNvPicPr>
          <p:nvPr/>
        </p:nvPicPr>
        <p:blipFill>
          <a:blip r:embed="rId1"/>
          <a:stretch>
            <a:fillRect/>
          </a:stretch>
        </p:blipFill>
        <p:spPr>
          <a:xfrm>
            <a:off x="10972800" y="384048"/>
            <a:ext cx="731520" cy="731520"/>
          </a:xfrm>
          <a:prstGeom prst="rect">
            <a:avLst/>
          </a:prstGeom>
        </p:spPr>
      </p:pic>
      <p:sp>
        <p:nvSpPr>
          <p:cNvPr id="57" name="Text 53"/>
          <p:cNvSpPr txBox="1"/>
          <p:nvPr/>
        </p:nvSpPr>
        <p:spPr>
          <a:xfrm>
            <a:off x="4206240" y="6355080"/>
            <a:ext cx="6812280" cy="320040"/>
          </a:xfrm>
          <a:prstGeom prst="rect">
            <a:avLst/>
          </a:prstGeom>
          <a:noFill/>
          <a:ln/>
        </p:spPr>
        <p:txBody>
          <a:bodyPr wrap="square" lIns="0" tIns="0" rIns="0" bIns="0" rtlCol="0" anchor="ctr"/>
          <a:lstStyle/>
          <a:p>
            <a:pPr algn="r" indent="0" marL="0">
              <a:buNone/>
            </a:pPr>
            <a:r>
              <a:rPr lang="en-US" sz="1300" b="1" i="1" dirty="0">
                <a:solidFill>
                  <a:srgbClr val="D8A73D"/>
                </a:solidFill>
                <a:latin typeface="Calibri" pitchFamily="34" charset="0"/>
                <a:ea typeface="Calibri" pitchFamily="34" charset="-122"/>
                <a:cs typeface="Calibri" pitchFamily="34" charset="-120"/>
              </a:rPr>
              <a:t>recallAnswers()  ·  Recap &amp; Recall answers</a:t>
            </a:r>
            <a:endParaRPr lang="en-US" sz="1300" dirty="0"/>
          </a:p>
        </p:txBody>
      </p:sp>
      <p:sp>
        <p:nvSpPr>
          <p:cNvPr id="58"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40080" y="1874520"/>
            <a:ext cx="6035040" cy="365760"/>
          </a:xfrm>
          <a:prstGeom prst="rect">
            <a:avLst/>
          </a:prstGeom>
          <a:noFill/>
          <a:ln/>
        </p:spPr>
        <p:txBody>
          <a:bodyPr wrap="square" lIns="0" tIns="0" rIns="0" bIns="0" rtlCol="0" anchor="ctr"/>
          <a:lstStyle/>
          <a:p>
            <a:pPr indent="0" marL="0">
              <a:buNone/>
            </a:pPr>
            <a:r>
              <a:rPr lang="en-US" sz="1400" b="1" spc="300" kern="0" dirty="0">
                <a:solidFill>
                  <a:srgbClr val="D8A73D"/>
                </a:solidFill>
                <a:latin typeface="Calibri" pitchFamily="34" charset="0"/>
                <a:ea typeface="Calibri" pitchFamily="34" charset="-122"/>
                <a:cs typeface="Calibri" pitchFamily="34" charset="-120"/>
              </a:rPr>
              <a:t>Y9 PYTHON  ·  LESSON 1  ·  PYTHON REFRESH</a:t>
            </a:r>
            <a:endParaRPr lang="en-US" sz="1400" dirty="0"/>
          </a:p>
        </p:txBody>
      </p:sp>
      <p:sp>
        <p:nvSpPr>
          <p:cNvPr id="3" name="Text 1"/>
          <p:cNvSpPr txBox="1"/>
          <p:nvPr/>
        </p:nvSpPr>
        <p:spPr>
          <a:xfrm>
            <a:off x="640080" y="2286000"/>
            <a:ext cx="6035040" cy="1097280"/>
          </a:xfrm>
          <a:prstGeom prst="rect">
            <a:avLst/>
          </a:prstGeom>
          <a:noFill/>
          <a:ln/>
        </p:spPr>
        <p:txBody>
          <a:bodyPr wrap="square" lIns="0" tIns="0" rIns="0" bIns="0" rtlCol="0" anchor="ctr"/>
          <a:lstStyle/>
          <a:p>
            <a:pPr indent="0" marL="0">
              <a:buNone/>
            </a:pPr>
            <a:r>
              <a:rPr lang="en-US" sz="6400" b="1" dirty="0">
                <a:solidFill>
                  <a:srgbClr val="F5F5F3"/>
                </a:solidFill>
                <a:latin typeface="Cambria" pitchFamily="34" charset="0"/>
                <a:ea typeface="Cambria" pitchFamily="34" charset="-122"/>
                <a:cs typeface="Cambria" pitchFamily="34" charset="-120"/>
              </a:rPr>
              <a:t>Station Zero</a:t>
            </a:r>
            <a:endParaRPr lang="en-US" sz="6400" dirty="0"/>
          </a:p>
        </p:txBody>
      </p:sp>
      <p:sp>
        <p:nvSpPr>
          <p:cNvPr id="4" name="Text 2"/>
          <p:cNvSpPr txBox="1"/>
          <p:nvPr/>
        </p:nvSpPr>
        <p:spPr>
          <a:xfrm>
            <a:off x="640080" y="3429000"/>
            <a:ext cx="6035040" cy="548640"/>
          </a:xfrm>
          <a:prstGeom prst="rect">
            <a:avLst/>
          </a:prstGeom>
          <a:noFill/>
          <a:ln/>
        </p:spPr>
        <p:txBody>
          <a:bodyPr wrap="square" lIns="0" tIns="0" rIns="0" bIns="0" rtlCol="0" anchor="ctr"/>
          <a:lstStyle/>
          <a:p>
            <a:pPr indent="0" marL="0">
              <a:buNone/>
            </a:pPr>
            <a:r>
              <a:rPr lang="en-US" sz="2800" dirty="0">
                <a:solidFill>
                  <a:srgbClr val="A9A9B4"/>
                </a:solidFill>
                <a:latin typeface="Cambria" pitchFamily="34" charset="0"/>
                <a:ea typeface="Cambria" pitchFamily="34" charset="-122"/>
                <a:cs typeface="Cambria" pitchFamily="34" charset="-120"/>
              </a:rPr>
              <a:t>Chapter 1 — Wake Up</a:t>
            </a:r>
            <a:endParaRPr lang="en-US" sz="2800" dirty="0"/>
          </a:p>
        </p:txBody>
      </p:sp>
      <p:sp>
        <p:nvSpPr>
          <p:cNvPr id="5" name="terminal"/>
          <p:cNvSpPr/>
          <p:nvPr/>
        </p:nvSpPr>
        <p:spPr>
          <a:xfrm>
            <a:off x="6903720" y="1600200"/>
            <a:ext cx="4663440" cy="2809240"/>
          </a:xfrm>
          <a:prstGeom prst="roundRect">
            <a:avLst>
              <a:gd name="adj" fmla="val 2604"/>
            </a:avLst>
          </a:prstGeom>
          <a:solidFill>
            <a:srgbClr val="0D1310"/>
          </a:solidFill>
          <a:ln w="15875">
            <a:solidFill>
              <a:srgbClr val="2C4434"/>
            </a:solidFill>
            <a:prstDash val="solid"/>
          </a:ln>
        </p:spPr>
      </p:sp>
      <p:sp>
        <p:nvSpPr>
          <p:cNvPr id="6" name="Text 4"/>
          <p:cNvSpPr txBox="1"/>
          <p:nvPr/>
        </p:nvSpPr>
        <p:spPr>
          <a:xfrm>
            <a:off x="7132320" y="1783080"/>
            <a:ext cx="4206240" cy="274320"/>
          </a:xfrm>
          <a:prstGeom prst="rect">
            <a:avLst/>
          </a:prstGeom>
          <a:noFill/>
          <a:ln/>
        </p:spPr>
        <p:txBody>
          <a:bodyPr wrap="square" lIns="0" tIns="0" rIns="0" bIns="0" rtlCol="0" anchor="ctr"/>
          <a:lstStyle/>
          <a:p>
            <a:pPr indent="0" marL="0">
              <a:buNone/>
            </a:pPr>
            <a:r>
              <a:rPr lang="en-US" sz="1200" b="1" spc="200" kern="0" dirty="0">
                <a:solidFill>
                  <a:srgbClr val="7FD99A"/>
                </a:solidFill>
                <a:latin typeface="Calibri" pitchFamily="34" charset="0"/>
                <a:ea typeface="Calibri" pitchFamily="34" charset="-122"/>
                <a:cs typeface="Calibri" pitchFamily="34" charset="-120"/>
              </a:rPr>
              <a:t>STATION STATUS</a:t>
            </a:r>
            <a:endParaRPr lang="en-US" sz="1200" dirty="0"/>
          </a:p>
        </p:txBody>
      </p:sp>
      <p:sp>
        <p:nvSpPr>
          <p:cNvPr id="7" name="Text 5"/>
          <p:cNvSpPr txBox="1"/>
          <p:nvPr/>
        </p:nvSpPr>
        <p:spPr>
          <a:xfrm>
            <a:off x="7132320" y="2148840"/>
            <a:ext cx="4206240" cy="406400"/>
          </a:xfrm>
          <a:prstGeom prst="rect">
            <a:avLst/>
          </a:prstGeom>
          <a:noFill/>
          <a:ln/>
        </p:spPr>
        <p:txBody>
          <a:bodyPr wrap="square" lIns="0" tIns="0" rIns="0" bIns="0" rtlCol="0" anchor="ctr"/>
          <a:lstStyle/>
          <a:p>
            <a:pPr indent="0" marL="0">
              <a:buNone/>
            </a:pPr>
            <a:r>
              <a:rPr lang="en-US" sz="2000" dirty="0">
                <a:solidFill>
                  <a:srgbClr val="7FD99A"/>
                </a:solidFill>
                <a:latin typeface="Consolas" pitchFamily="34" charset="0"/>
                <a:ea typeface="Consolas" pitchFamily="34" charset="-122"/>
                <a:cs typeface="Consolas" pitchFamily="34" charset="-120"/>
              </a:rPr>
              <a:t>SOFTWARE ....... WIPED</a:t>
            </a:r>
            <a:endParaRPr lang="en-US" sz="2000" dirty="0"/>
          </a:p>
        </p:txBody>
      </p:sp>
      <p:sp>
        <p:nvSpPr>
          <p:cNvPr id="8" name="Text 6"/>
          <p:cNvSpPr txBox="1"/>
          <p:nvPr/>
        </p:nvSpPr>
        <p:spPr>
          <a:xfrm>
            <a:off x="7132320" y="2555240"/>
            <a:ext cx="4206240" cy="406400"/>
          </a:xfrm>
          <a:prstGeom prst="rect">
            <a:avLst/>
          </a:prstGeom>
          <a:noFill/>
          <a:ln/>
        </p:spPr>
        <p:txBody>
          <a:bodyPr wrap="square" lIns="0" tIns="0" rIns="0" bIns="0" rtlCol="0" anchor="ctr"/>
          <a:lstStyle/>
          <a:p>
            <a:pPr indent="0" marL="0">
              <a:buNone/>
            </a:pPr>
            <a:r>
              <a:rPr lang="en-US" sz="2000" dirty="0">
                <a:solidFill>
                  <a:srgbClr val="7FD99A"/>
                </a:solidFill>
                <a:latin typeface="Consolas" pitchFamily="34" charset="0"/>
                <a:ea typeface="Consolas" pitchFamily="34" charset="-122"/>
                <a:cs typeface="Consolas" pitchFamily="34" charset="-120"/>
              </a:rPr>
              <a:t>DOORS .......... SEALED</a:t>
            </a:r>
            <a:endParaRPr lang="en-US" sz="2000" dirty="0"/>
          </a:p>
        </p:txBody>
      </p:sp>
      <p:sp>
        <p:nvSpPr>
          <p:cNvPr id="9" name="Text 7"/>
          <p:cNvSpPr txBox="1"/>
          <p:nvPr/>
        </p:nvSpPr>
        <p:spPr>
          <a:xfrm>
            <a:off x="7132320" y="2961640"/>
            <a:ext cx="4206240" cy="406400"/>
          </a:xfrm>
          <a:prstGeom prst="rect">
            <a:avLst/>
          </a:prstGeom>
          <a:noFill/>
          <a:ln/>
        </p:spPr>
        <p:txBody>
          <a:bodyPr wrap="square" lIns="0" tIns="0" rIns="0" bIns="0" rtlCol="0" anchor="ctr"/>
          <a:lstStyle/>
          <a:p>
            <a:pPr indent="0" marL="0">
              <a:buNone/>
            </a:pPr>
            <a:r>
              <a:rPr lang="en-US" sz="2000" dirty="0">
                <a:solidFill>
                  <a:srgbClr val="7FD99A"/>
                </a:solidFill>
                <a:latin typeface="Consolas" pitchFamily="34" charset="0"/>
                <a:ea typeface="Consolas" pitchFamily="34" charset="-122"/>
                <a:cs typeface="Consolas" pitchFamily="34" charset="-120"/>
              </a:rPr>
              <a:t>CREW AWAKE ..... 1 OF 5</a:t>
            </a:r>
            <a:endParaRPr lang="en-US" sz="2000" dirty="0"/>
          </a:p>
        </p:txBody>
      </p:sp>
      <p:sp>
        <p:nvSpPr>
          <p:cNvPr id="10" name="Text 8"/>
          <p:cNvSpPr txBox="1"/>
          <p:nvPr/>
        </p:nvSpPr>
        <p:spPr>
          <a:xfrm>
            <a:off x="7132320" y="3368040"/>
            <a:ext cx="4206240" cy="406400"/>
          </a:xfrm>
          <a:prstGeom prst="rect">
            <a:avLst/>
          </a:prstGeom>
          <a:noFill/>
          <a:ln/>
        </p:spPr>
        <p:txBody>
          <a:bodyPr wrap="square" lIns="0" tIns="0" rIns="0" bIns="0" rtlCol="0" anchor="ctr"/>
          <a:lstStyle/>
          <a:p>
            <a:pPr indent="0" marL="0">
              <a:buNone/>
            </a:pPr>
            <a:r>
              <a:rPr lang="en-US" sz="2000" dirty="0">
                <a:solidFill>
                  <a:srgbClr val="7FD99A"/>
                </a:solidFill>
                <a:latin typeface="Consolas" pitchFamily="34" charset="0"/>
                <a:ea typeface="Consolas" pitchFamily="34" charset="-122"/>
                <a:cs typeface="Consolas" pitchFamily="34" charset="-120"/>
              </a:rPr>
              <a:t>POD 2 .......... </a:t>
            </a:r>
            <a:pPr indent="0" marL="0">
              <a:buNone/>
            </a:pPr>
            <a:r>
              <a:rPr lang="en-US" sz="2000" b="1" dirty="0">
                <a:solidFill>
                  <a:srgbClr val="D8A73D"/>
                </a:solidFill>
                <a:latin typeface="Consolas" pitchFamily="34" charset="0"/>
                <a:ea typeface="Consolas" pitchFamily="34" charset="-122"/>
                <a:cs typeface="Consolas" pitchFamily="34" charset="-120"/>
              </a:rPr>
              <a:t>OPEN</a:t>
            </a:r>
            <a:endParaRPr lang="en-US" sz="2000" dirty="0"/>
          </a:p>
        </p:txBody>
      </p:sp>
      <p:sp>
        <p:nvSpPr>
          <p:cNvPr id="11" name="Text 9"/>
          <p:cNvSpPr txBox="1"/>
          <p:nvPr/>
        </p:nvSpPr>
        <p:spPr>
          <a:xfrm>
            <a:off x="7132320" y="3774440"/>
            <a:ext cx="4206240" cy="406400"/>
          </a:xfrm>
          <a:prstGeom prst="rect">
            <a:avLst/>
          </a:prstGeom>
          <a:noFill/>
          <a:ln/>
        </p:spPr>
        <p:txBody>
          <a:bodyPr wrap="square" lIns="0" tIns="0" rIns="0" bIns="0" rtlCol="0" anchor="ctr"/>
          <a:lstStyle/>
          <a:p>
            <a:pPr indent="0" marL="0">
              <a:buNone/>
            </a:pPr>
            <a:r>
              <a:rPr lang="en-US" sz="2000" dirty="0">
                <a:solidFill>
                  <a:srgbClr val="7FD99A"/>
                </a:solidFill>
                <a:latin typeface="Consolas" pitchFamily="34" charset="0"/>
                <a:ea typeface="Consolas" pitchFamily="34" charset="-122"/>
                <a:cs typeface="Consolas" pitchFamily="34" charset="-120"/>
              </a:rPr>
              <a:t>&gt; _</a:t>
            </a:r>
            <a:endParaRPr lang="en-US" sz="2000" dirty="0"/>
          </a:p>
        </p:txBody>
      </p:sp>
      <p:sp>
        <p:nvSpPr>
          <p:cNvPr id="13" name="Text 10"/>
          <p:cNvSpPr txBox="1"/>
          <p:nvPr/>
        </p:nvSpPr>
        <p:spPr>
          <a:xfrm>
            <a:off x="4206240" y="6355080"/>
            <a:ext cx="6812280" cy="320040"/>
          </a:xfrm>
          <a:prstGeom prst="rect">
            <a:avLst/>
          </a:prstGeom>
          <a:noFill/>
          <a:ln/>
        </p:spPr>
        <p:txBody>
          <a:bodyPr wrap="square" lIns="0" tIns="0" rIns="0" bIns="0" rtlCol="0" anchor="ctr"/>
          <a:lstStyle/>
          <a:p>
            <a:pPr algn="r" indent="0" marL="0">
              <a:buNone/>
            </a:pPr>
            <a:r>
              <a:rPr lang="en-US" sz="1300" b="1" i="1" dirty="0">
                <a:solidFill>
                  <a:srgbClr val="D8A73D"/>
                </a:solidFill>
                <a:latin typeface="Calibri" pitchFamily="34" charset="0"/>
                <a:ea typeface="Calibri" pitchFamily="34" charset="-122"/>
                <a:cs typeface="Calibri" pitchFamily="34" charset="-120"/>
              </a:rPr>
              <a:t>titleSlide()  ·  Title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What are we learning?</a:t>
            </a:r>
            <a:endParaRPr lang="en-US" sz="3600" dirty="0"/>
          </a:p>
        </p:txBody>
      </p:sp>
      <p:sp>
        <p:nvSpPr>
          <p:cNvPr id="3" name="Shape 1"/>
          <p:cNvSpPr/>
          <p:nvPr/>
        </p:nvSpPr>
        <p:spPr>
          <a:xfrm>
            <a:off x="548640" y="1600200"/>
            <a:ext cx="11091672" cy="1417320"/>
          </a:xfrm>
          <a:prstGeom prst="roundRect">
            <a:avLst>
              <a:gd name="adj" fmla="val 5161"/>
            </a:avLst>
          </a:prstGeom>
          <a:solidFill>
            <a:srgbClr val="1E1E24"/>
          </a:solidFill>
          <a:ln w="15875">
            <a:solidFill>
              <a:srgbClr val="3A3A44"/>
            </a:solidFill>
            <a:prstDash val="solid"/>
          </a:ln>
        </p:spPr>
      </p:sp>
      <p:sp>
        <p:nvSpPr>
          <p:cNvPr id="4" name="Text 2"/>
          <p:cNvSpPr txBox="1"/>
          <p:nvPr/>
        </p:nvSpPr>
        <p:spPr>
          <a:xfrm>
            <a:off x="914400" y="1783080"/>
            <a:ext cx="5486400" cy="274320"/>
          </a:xfrm>
          <a:prstGeom prst="rect">
            <a:avLst/>
          </a:prstGeom>
          <a:noFill/>
          <a:ln/>
        </p:spPr>
        <p:txBody>
          <a:bodyPr wrap="square" lIns="0" tIns="0" rIns="0" bIns="0" rtlCol="0" anchor="ctr"/>
          <a:lstStyle/>
          <a:p>
            <a:pPr indent="0" marL="0">
              <a:buNone/>
            </a:pPr>
            <a:r>
              <a:rPr lang="en-US" sz="1300" b="1" spc="200" kern="0" dirty="0">
                <a:solidFill>
                  <a:srgbClr val="6E6E7A"/>
                </a:solidFill>
                <a:latin typeface="Calibri" pitchFamily="34" charset="0"/>
                <a:ea typeface="Calibri" pitchFamily="34" charset="-122"/>
                <a:cs typeface="Calibri" pitchFamily="34" charset="-120"/>
              </a:rPr>
              <a:t>TOPIC QUESTION</a:t>
            </a:r>
            <a:endParaRPr lang="en-US" sz="1300" dirty="0"/>
          </a:p>
        </p:txBody>
      </p:sp>
      <p:sp>
        <p:nvSpPr>
          <p:cNvPr id="5" name="Text 3"/>
          <p:cNvSpPr txBox="1"/>
          <p:nvPr/>
        </p:nvSpPr>
        <p:spPr>
          <a:xfrm>
            <a:off x="914400" y="2103120"/>
            <a:ext cx="10332720" cy="731520"/>
          </a:xfrm>
          <a:prstGeom prst="rect">
            <a:avLst/>
          </a:prstGeom>
          <a:noFill/>
          <a:ln/>
        </p:spPr>
        <p:txBody>
          <a:bodyPr wrap="square" lIns="0" tIns="0" rIns="0" bIns="0" rtlCol="0" anchor="ctr"/>
          <a:lstStyle/>
          <a:p>
            <a:pPr indent="0" marL="0">
              <a:buNone/>
            </a:pPr>
            <a:r>
              <a:rPr lang="en-US" sz="2400" dirty="0">
                <a:solidFill>
                  <a:srgbClr val="A9A9B4"/>
                </a:solidFill>
                <a:latin typeface="Calibri" pitchFamily="34" charset="0"/>
                <a:ea typeface="Calibri" pitchFamily="34" charset="-122"/>
                <a:cs typeface="Calibri" pitchFamily="34" charset="-120"/>
              </a:rPr>
              <a:t>How do we write programs that make decisions, repeat and reuse code?</a:t>
            </a:r>
            <a:endParaRPr lang="en-US" sz="2400" dirty="0"/>
          </a:p>
        </p:txBody>
      </p:sp>
      <p:sp>
        <p:nvSpPr>
          <p:cNvPr id="6" name="Shape 4"/>
          <p:cNvSpPr/>
          <p:nvPr/>
        </p:nvSpPr>
        <p:spPr>
          <a:xfrm>
            <a:off x="548640" y="3291840"/>
            <a:ext cx="11091672" cy="2331720"/>
          </a:xfrm>
          <a:prstGeom prst="roundRect">
            <a:avLst>
              <a:gd name="adj" fmla="val 3137"/>
            </a:avLst>
          </a:prstGeom>
          <a:solidFill>
            <a:srgbClr val="2A2A32"/>
          </a:solidFill>
          <a:ln w="31750">
            <a:solidFill>
              <a:srgbClr val="D8A73D"/>
            </a:solidFill>
            <a:prstDash val="solid"/>
          </a:ln>
        </p:spPr>
      </p:sp>
      <p:sp>
        <p:nvSpPr>
          <p:cNvPr id="7" name="Text 5"/>
          <p:cNvSpPr txBox="1"/>
          <p:nvPr/>
        </p:nvSpPr>
        <p:spPr>
          <a:xfrm>
            <a:off x="914400" y="3520440"/>
            <a:ext cx="5486400" cy="274320"/>
          </a:xfrm>
          <a:prstGeom prst="rect">
            <a:avLst/>
          </a:prstGeom>
          <a:noFill/>
          <a:ln/>
        </p:spPr>
        <p:txBody>
          <a:bodyPr wrap="square" lIns="0" tIns="0" rIns="0" bIns="0" rtlCol="0" anchor="ctr"/>
          <a:lstStyle/>
          <a:p>
            <a:pPr indent="0" marL="0">
              <a:buNone/>
            </a:pPr>
            <a:r>
              <a:rPr lang="en-US" sz="1300" b="1" spc="200" kern="0" dirty="0">
                <a:solidFill>
                  <a:srgbClr val="D8A73D"/>
                </a:solidFill>
                <a:latin typeface="Calibri" pitchFamily="34" charset="0"/>
                <a:ea typeface="Calibri" pitchFamily="34" charset="-122"/>
                <a:cs typeface="Calibri" pitchFamily="34" charset="-120"/>
              </a:rPr>
              <a:t>LESSON QUESTION</a:t>
            </a:r>
            <a:endParaRPr lang="en-US" sz="1300" dirty="0"/>
          </a:p>
        </p:txBody>
      </p:sp>
      <p:sp>
        <p:nvSpPr>
          <p:cNvPr id="8" name="Text 6"/>
          <p:cNvSpPr txBox="1"/>
          <p:nvPr/>
        </p:nvSpPr>
        <p:spPr>
          <a:xfrm>
            <a:off x="914400" y="3886200"/>
            <a:ext cx="10332720" cy="1463040"/>
          </a:xfrm>
          <a:prstGeom prst="rect">
            <a:avLst/>
          </a:prstGeom>
          <a:noFill/>
          <a:ln/>
        </p:spPr>
        <p:txBody>
          <a:bodyPr wrap="square" lIns="0" tIns="0" rIns="0" bIns="0" rtlCol="0" anchor="ctr"/>
          <a:lstStyle/>
          <a:p>
            <a:pPr indent="0" marL="0">
              <a:buNone/>
            </a:pPr>
            <a:r>
              <a:rPr lang="en-US" sz="3600" b="1" dirty="0">
                <a:solidFill>
                  <a:srgbClr val="F5F5F3"/>
                </a:solidFill>
                <a:latin typeface="Cambria" pitchFamily="34" charset="0"/>
                <a:ea typeface="Cambria" pitchFamily="34" charset="-122"/>
                <a:cs typeface="Cambria" pitchFamily="34" charset="-120"/>
              </a:rPr>
              <a:t>How do we ask for, store and calculate with what a user types?</a:t>
            </a:r>
            <a:endParaRPr lang="en-US" sz="3600" dirty="0"/>
          </a:p>
        </p:txBody>
      </p:sp>
      <p:pic>
        <p:nvPicPr>
          <p:cNvPr id="9" name="Image 0" descr="Clarity of learning intentions">    </p:cNvPr>
          <p:cNvPicPr>
            <a:picLocks noChangeAspect="1"/>
          </p:cNvPicPr>
          <p:nvPr/>
        </p:nvPicPr>
        <p:blipFill>
          <a:blip r:embed="rId1"/>
          <a:stretch>
            <a:fillRect/>
          </a:stretch>
        </p:blipFill>
        <p:spPr>
          <a:xfrm>
            <a:off x="10972800" y="384048"/>
            <a:ext cx="731520" cy="731520"/>
          </a:xfrm>
          <a:prstGeom prst="rect">
            <a:avLst/>
          </a:prstGeom>
        </p:spPr>
      </p:pic>
      <p:sp>
        <p:nvSpPr>
          <p:cNvPr id="11" name="Text 7"/>
          <p:cNvSpPr txBox="1"/>
          <p:nvPr/>
        </p:nvSpPr>
        <p:spPr>
          <a:xfrm>
            <a:off x="4206240" y="6355080"/>
            <a:ext cx="6812280" cy="320040"/>
          </a:xfrm>
          <a:prstGeom prst="rect">
            <a:avLst/>
          </a:prstGeom>
          <a:noFill/>
          <a:ln/>
        </p:spPr>
        <p:txBody>
          <a:bodyPr wrap="square" lIns="0" tIns="0" rIns="0" bIns="0" rtlCol="0" anchor="ctr"/>
          <a:lstStyle/>
          <a:p>
            <a:pPr algn="r" indent="0" marL="0">
              <a:buNone/>
            </a:pPr>
            <a:r>
              <a:rPr lang="en-US" sz="1300" b="1" i="1" dirty="0">
                <a:solidFill>
                  <a:srgbClr val="D8A73D"/>
                </a:solidFill>
                <a:latin typeface="Calibri" pitchFamily="34" charset="0"/>
                <a:ea typeface="Calibri" pitchFamily="34" charset="-122"/>
                <a:cs typeface="Calibri" pitchFamily="34" charset="-120"/>
              </a:rPr>
              <a:t>questionsSlide()  ·  Topic + lesson question</a:t>
            </a:r>
            <a:endParaRPr lang="en-US" sz="13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What happens when each line runs?</a:t>
            </a:r>
            <a:endParaRPr lang="en-US" sz="3600" dirty="0"/>
          </a:p>
        </p:txBody>
      </p:sp>
      <p:sp>
        <p:nvSpPr>
          <p:cNvPr id="3" name="Text 1"/>
          <p:cNvSpPr txBox="1"/>
          <p:nvPr/>
        </p:nvSpPr>
        <p:spPr>
          <a:xfrm>
            <a:off x="548640" y="1481328"/>
            <a:ext cx="2743200" cy="274320"/>
          </a:xfrm>
          <a:prstGeom prst="rect">
            <a:avLst/>
          </a:prstGeom>
          <a:noFill/>
          <a:ln/>
        </p:spPr>
        <p:txBody>
          <a:bodyPr wrap="square" lIns="0" tIns="0" rIns="0" bIns="0" rtlCol="0" anchor="ctr"/>
          <a:lstStyle/>
          <a:p>
            <a:pPr indent="0" marL="0">
              <a:buNone/>
            </a:pPr>
            <a:r>
              <a:rPr lang="en-US" sz="1300" b="1" spc="200" kern="0" dirty="0">
                <a:solidFill>
                  <a:srgbClr val="6E6E7A"/>
                </a:solidFill>
                <a:latin typeface="Calibri" pitchFamily="34" charset="0"/>
                <a:ea typeface="Calibri" pitchFamily="34" charset="-122"/>
                <a:cs typeface="Calibri" pitchFamily="34" charset="-120"/>
              </a:rPr>
              <a:t>THE CODE</a:t>
            </a:r>
            <a:endParaRPr lang="en-US" sz="1300" dirty="0"/>
          </a:p>
        </p:txBody>
      </p:sp>
      <p:sp>
        <p:nvSpPr>
          <p:cNvPr id="4" name="Text 2"/>
          <p:cNvSpPr txBox="1"/>
          <p:nvPr/>
        </p:nvSpPr>
        <p:spPr>
          <a:xfrm>
            <a:off x="6446520" y="1481328"/>
            <a:ext cx="2743200" cy="274320"/>
          </a:xfrm>
          <a:prstGeom prst="rect">
            <a:avLst/>
          </a:prstGeom>
          <a:noFill/>
          <a:ln/>
        </p:spPr>
        <p:txBody>
          <a:bodyPr wrap="square" lIns="0" tIns="0" rIns="0" bIns="0" rtlCol="0" anchor="ctr"/>
          <a:lstStyle/>
          <a:p>
            <a:pPr indent="0" marL="0">
              <a:buNone/>
            </a:pPr>
            <a:r>
              <a:rPr lang="en-US" sz="1300" b="1" spc="200" kern="0" dirty="0">
                <a:solidFill>
                  <a:srgbClr val="6E6E7A"/>
                </a:solidFill>
                <a:latin typeface="Calibri" pitchFamily="34" charset="0"/>
                <a:ea typeface="Calibri" pitchFamily="34" charset="-122"/>
                <a:cs typeface="Calibri" pitchFamily="34" charset="-120"/>
              </a:rPr>
              <a:t>ON SCREEN</a:t>
            </a:r>
            <a:endParaRPr lang="en-US" sz="1300" dirty="0"/>
          </a:p>
        </p:txBody>
      </p:sp>
      <p:sp>
        <p:nvSpPr>
          <p:cNvPr id="5" name="Text 3"/>
          <p:cNvSpPr txBox="1"/>
          <p:nvPr/>
        </p:nvSpPr>
        <p:spPr>
          <a:xfrm>
            <a:off x="9601200" y="1481328"/>
            <a:ext cx="2743200" cy="274320"/>
          </a:xfrm>
          <a:prstGeom prst="rect">
            <a:avLst/>
          </a:prstGeom>
          <a:noFill/>
          <a:ln/>
        </p:spPr>
        <p:txBody>
          <a:bodyPr wrap="square" lIns="0" tIns="0" rIns="0" bIns="0" rtlCol="0" anchor="ctr"/>
          <a:lstStyle/>
          <a:p>
            <a:pPr indent="0" marL="0">
              <a:buNone/>
            </a:pPr>
            <a:r>
              <a:rPr lang="en-US" sz="1300" b="1" spc="200" kern="0" dirty="0">
                <a:solidFill>
                  <a:srgbClr val="6E6E7A"/>
                </a:solidFill>
                <a:latin typeface="Calibri" pitchFamily="34" charset="0"/>
                <a:ea typeface="Calibri" pitchFamily="34" charset="-122"/>
                <a:cs typeface="Calibri" pitchFamily="34" charset="-120"/>
              </a:rPr>
              <a:t>IN MEMORY</a:t>
            </a:r>
            <a:endParaRPr lang="en-US" sz="1300" dirty="0"/>
          </a:p>
        </p:txBody>
      </p:sp>
      <p:sp>
        <p:nvSpPr>
          <p:cNvPr id="6" name="click1 · code"/>
          <p:cNvSpPr/>
          <p:nvPr/>
        </p:nvSpPr>
        <p:spPr>
          <a:xfrm>
            <a:off x="548640" y="1874520"/>
            <a:ext cx="5577840" cy="868680"/>
          </a:xfrm>
          <a:prstGeom prst="roundRect">
            <a:avLst>
              <a:gd name="adj" fmla="val 8421"/>
            </a:avLst>
          </a:prstGeom>
          <a:solidFill>
            <a:srgbClr val="111115"/>
          </a:solidFill>
          <a:ln w="15875">
            <a:solidFill>
              <a:srgbClr val="3A3A44"/>
            </a:solidFill>
            <a:prstDash val="solid"/>
          </a:ln>
        </p:spPr>
      </p:sp>
      <p:sp>
        <p:nvSpPr>
          <p:cNvPr id="7" name="click1"/>
          <p:cNvSpPr txBox="1"/>
          <p:nvPr/>
        </p:nvSpPr>
        <p:spPr>
          <a:xfrm>
            <a:off x="658368" y="2075688"/>
            <a:ext cx="274320" cy="544830"/>
          </a:xfrm>
          <a:prstGeom prst="rect">
            <a:avLst/>
          </a:prstGeom>
          <a:noFill/>
          <a:ln/>
        </p:spPr>
        <p:txBody>
          <a:bodyPr wrap="square" lIns="0" tIns="0" rIns="0" bIns="0" rtlCol="0" anchor="ctr"/>
          <a:lstStyle/>
          <a:p>
            <a:pPr algn="r" indent="0" marL="0">
              <a:buNone/>
            </a:pPr>
            <a:r>
              <a:rPr lang="en-US" sz="2200" dirty="0">
                <a:solidFill>
                  <a:srgbClr val="6E6E7A"/>
                </a:solidFill>
                <a:latin typeface="Consolas" pitchFamily="34" charset="0"/>
                <a:ea typeface="Consolas" pitchFamily="34" charset="-122"/>
                <a:cs typeface="Consolas" pitchFamily="34" charset="-120"/>
              </a:rPr>
              <a:t>1</a:t>
            </a:r>
            <a:endParaRPr lang="en-US" sz="2200" dirty="0"/>
          </a:p>
        </p:txBody>
      </p:sp>
      <p:sp>
        <p:nvSpPr>
          <p:cNvPr id="8" name="click1"/>
          <p:cNvSpPr txBox="1"/>
          <p:nvPr/>
        </p:nvSpPr>
        <p:spPr>
          <a:xfrm>
            <a:off x="1188720" y="2075688"/>
            <a:ext cx="4846320" cy="544830"/>
          </a:xfrm>
          <a:prstGeom prst="rect">
            <a:avLst/>
          </a:prstGeom>
          <a:noFill/>
          <a:ln/>
        </p:spPr>
        <p:txBody>
          <a:bodyPr wrap="square" lIns="0" tIns="0" rIns="0" bIns="0" rtlCol="0" anchor="ctr"/>
          <a:lstStyle/>
          <a:p>
            <a:pPr indent="0" marL="0">
              <a:buNone/>
            </a:pPr>
            <a:r>
              <a:rPr lang="en-US" sz="2600" dirty="0">
                <a:solidFill>
                  <a:srgbClr val="F5F5F3"/>
                </a:solidFill>
                <a:latin typeface="Consolas" pitchFamily="34" charset="0"/>
                <a:ea typeface="Consolas" pitchFamily="34" charset="-122"/>
                <a:cs typeface="Consolas" pitchFamily="34" charset="-120"/>
              </a:rPr>
              <a:t>name</a:t>
            </a:r>
            <a:pPr indent="0" marL="0">
              <a:buNone/>
            </a:pPr>
            <a:r>
              <a:rPr lang="en-US" sz="2600" dirty="0">
                <a:solidFill>
                  <a:srgbClr val="F5F5F3"/>
                </a:solidFill>
                <a:latin typeface="Consolas" pitchFamily="34" charset="0"/>
                <a:ea typeface="Consolas" pitchFamily="34" charset="-122"/>
                <a:cs typeface="Consolas" pitchFamily="34" charset="-120"/>
              </a:rPr>
              <a:t> </a:t>
            </a:r>
            <a:pPr indent="0" marL="0">
              <a:buNone/>
            </a:pPr>
            <a:r>
              <a:rPr lang="en-US" sz="2600" dirty="0">
                <a:solidFill>
                  <a:srgbClr val="A9A9B4"/>
                </a:solidFill>
                <a:latin typeface="Consolas" pitchFamily="34" charset="0"/>
                <a:ea typeface="Consolas" pitchFamily="34" charset="-122"/>
                <a:cs typeface="Consolas" pitchFamily="34" charset="-120"/>
              </a:rPr>
              <a:t>=</a:t>
            </a:r>
            <a:pPr indent="0" marL="0">
              <a:buNone/>
            </a:pPr>
            <a:r>
              <a:rPr lang="en-US" sz="2600" dirty="0">
                <a:solidFill>
                  <a:srgbClr val="F5F5F3"/>
                </a:solidFill>
                <a:latin typeface="Consolas" pitchFamily="34" charset="0"/>
                <a:ea typeface="Consolas" pitchFamily="34" charset="-122"/>
                <a:cs typeface="Consolas" pitchFamily="34" charset="-120"/>
              </a:rPr>
              <a:t> </a:t>
            </a:r>
            <a:pPr indent="0" marL="0">
              <a:buNone/>
            </a:pPr>
            <a:r>
              <a:rPr lang="en-US" sz="2600" dirty="0">
                <a:solidFill>
                  <a:srgbClr val="E8C878"/>
                </a:solidFill>
                <a:latin typeface="Consolas" pitchFamily="34" charset="0"/>
                <a:ea typeface="Consolas" pitchFamily="34" charset="-122"/>
                <a:cs typeface="Consolas" pitchFamily="34" charset="-120"/>
              </a:rPr>
              <a:t>input</a:t>
            </a:r>
            <a:pPr indent="0" marL="0">
              <a:buNone/>
            </a:pPr>
            <a:r>
              <a:rPr lang="en-US" sz="2600" dirty="0">
                <a:solidFill>
                  <a:srgbClr val="A9A9B4"/>
                </a:solidFill>
                <a:latin typeface="Consolas" pitchFamily="34" charset="0"/>
                <a:ea typeface="Consolas" pitchFamily="34" charset="-122"/>
                <a:cs typeface="Consolas" pitchFamily="34" charset="-120"/>
              </a:rPr>
              <a:t>(</a:t>
            </a:r>
            <a:pPr indent="0" marL="0">
              <a:buNone/>
            </a:pPr>
            <a:r>
              <a:rPr lang="en-US" sz="2600" dirty="0">
                <a:solidFill>
                  <a:srgbClr val="E69F00"/>
                </a:solidFill>
                <a:latin typeface="Consolas" pitchFamily="34" charset="0"/>
                <a:ea typeface="Consolas" pitchFamily="34" charset="-122"/>
                <a:cs typeface="Consolas" pitchFamily="34" charset="-120"/>
              </a:rPr>
              <a:t>"Name? "</a:t>
            </a:r>
            <a:pPr indent="0" marL="0">
              <a:buNone/>
            </a:pPr>
            <a:r>
              <a:rPr lang="en-US" sz="2600" dirty="0">
                <a:solidFill>
                  <a:srgbClr val="A9A9B4"/>
                </a:solidFill>
                <a:latin typeface="Consolas" pitchFamily="34" charset="0"/>
                <a:ea typeface="Consolas" pitchFamily="34" charset="-122"/>
                <a:cs typeface="Consolas" pitchFamily="34" charset="-120"/>
              </a:rPr>
              <a:t>)</a:t>
            </a:r>
            <a:endParaRPr lang="en-US" sz="2600" dirty="0"/>
          </a:p>
        </p:txBody>
      </p:sp>
      <p:sp>
        <p:nvSpPr>
          <p:cNvPr id="9" name="click1"/>
          <p:cNvSpPr txBox="1"/>
          <p:nvPr/>
        </p:nvSpPr>
        <p:spPr>
          <a:xfrm>
            <a:off x="640080" y="2880360"/>
            <a:ext cx="5394960" cy="868680"/>
          </a:xfrm>
          <a:prstGeom prst="rect">
            <a:avLst/>
          </a:prstGeom>
          <a:noFill/>
          <a:ln/>
        </p:spPr>
        <p:txBody>
          <a:bodyPr wrap="square" lIns="0" tIns="0" rIns="0" bIns="0" rtlCol="0" anchor="t"/>
          <a:lstStyle/>
          <a:p>
            <a:pPr indent="0" marL="0">
              <a:buNone/>
            </a:pPr>
            <a:r>
              <a:rPr lang="en-US" sz="2000" b="1" dirty="0">
                <a:solidFill>
                  <a:srgbClr val="D8A73D"/>
                </a:solidFill>
                <a:latin typeface="Calibri" pitchFamily="34" charset="0"/>
                <a:ea typeface="Calibri" pitchFamily="34" charset="-122"/>
                <a:cs typeface="Calibri" pitchFamily="34" charset="-120"/>
              </a:rPr>
              <a:t>Asks</a:t>
            </a:r>
            <a:pPr indent="0" marL="0">
              <a:buNone/>
            </a:pPr>
            <a:r>
              <a:rPr lang="en-US" sz="2000" dirty="0">
                <a:solidFill>
                  <a:srgbClr val="F5F5F3"/>
                </a:solidFill>
                <a:latin typeface="Calibri" pitchFamily="34" charset="0"/>
                <a:ea typeface="Calibri" pitchFamily="34" charset="-122"/>
                <a:cs typeface="Calibri" pitchFamily="34" charset="-120"/>
              </a:rPr>
              <a:t> the question and waits. Then </a:t>
            </a:r>
            <a:pPr indent="0" marL="0">
              <a:buNone/>
            </a:pPr>
            <a:r>
              <a:rPr lang="en-US" sz="2000" b="1" dirty="0">
                <a:solidFill>
                  <a:srgbClr val="D8A73D"/>
                </a:solidFill>
                <a:latin typeface="Calibri" pitchFamily="34" charset="0"/>
                <a:ea typeface="Calibri" pitchFamily="34" charset="-122"/>
                <a:cs typeface="Calibri" pitchFamily="34" charset="-120"/>
              </a:rPr>
              <a:t>stores</a:t>
            </a:r>
            <a:pPr indent="0" marL="0">
              <a:buNone/>
            </a:pPr>
            <a:r>
              <a:rPr lang="en-US" sz="2000" dirty="0">
                <a:solidFill>
                  <a:srgbClr val="F5F5F3"/>
                </a:solidFill>
                <a:latin typeface="Calibri" pitchFamily="34" charset="0"/>
                <a:ea typeface="Calibri" pitchFamily="34" charset="-122"/>
                <a:cs typeface="Calibri" pitchFamily="34" charset="-120"/>
              </a:rPr>
              <a:t> what the user typed in </a:t>
            </a:r>
            <a:pPr indent="0" marL="0">
              <a:buNone/>
            </a:pPr>
            <a:r>
              <a:rPr lang="en-US" sz="2000" dirty="0">
                <a:solidFill>
                  <a:srgbClr val="F5F5F3"/>
                </a:solidFill>
                <a:latin typeface="Consolas" pitchFamily="34" charset="0"/>
                <a:ea typeface="Consolas" pitchFamily="34" charset="-122"/>
                <a:cs typeface="Consolas" pitchFamily="34" charset="-120"/>
              </a:rPr>
              <a:t>name</a:t>
            </a:r>
            <a:endParaRPr lang="en-US" sz="2000" dirty="0"/>
          </a:p>
        </p:txBody>
      </p:sp>
      <p:sp>
        <p:nvSpPr>
          <p:cNvPr id="10" name="click2 · terminal"/>
          <p:cNvSpPr/>
          <p:nvPr/>
        </p:nvSpPr>
        <p:spPr>
          <a:xfrm>
            <a:off x="6446520" y="1874520"/>
            <a:ext cx="2926080" cy="1325880"/>
          </a:xfrm>
          <a:prstGeom prst="roundRect">
            <a:avLst>
              <a:gd name="adj" fmla="val 5517"/>
            </a:avLst>
          </a:prstGeom>
          <a:solidFill>
            <a:srgbClr val="0A0A0D"/>
          </a:solidFill>
          <a:ln w="15875">
            <a:solidFill>
              <a:srgbClr val="3A3A44"/>
            </a:solidFill>
            <a:prstDash val="solid"/>
          </a:ln>
        </p:spPr>
      </p:sp>
      <p:sp>
        <p:nvSpPr>
          <p:cNvPr id="11" name="click2"/>
          <p:cNvSpPr txBox="1"/>
          <p:nvPr/>
        </p:nvSpPr>
        <p:spPr>
          <a:xfrm>
            <a:off x="6675120" y="2103120"/>
            <a:ext cx="2468880" cy="447040"/>
          </a:xfrm>
          <a:prstGeom prst="rect">
            <a:avLst/>
          </a:prstGeom>
          <a:noFill/>
          <a:ln/>
        </p:spPr>
        <p:txBody>
          <a:bodyPr wrap="square" lIns="0" tIns="0" rIns="0" bIns="0" rtlCol="0" anchor="ctr"/>
          <a:lstStyle/>
          <a:p>
            <a:pPr indent="0" marL="0">
              <a:buNone/>
            </a:pPr>
            <a:r>
              <a:rPr lang="en-US" sz="2200" dirty="0">
                <a:solidFill>
                  <a:srgbClr val="F5F5F3"/>
                </a:solidFill>
                <a:latin typeface="Consolas" pitchFamily="34" charset="0"/>
                <a:ea typeface="Consolas" pitchFamily="34" charset="-122"/>
                <a:cs typeface="Consolas" pitchFamily="34" charset="-120"/>
              </a:rPr>
              <a:t>Name? </a:t>
            </a:r>
            <a:pPr indent="0" marL="0">
              <a:buNone/>
            </a:pPr>
            <a:r>
              <a:rPr lang="en-US" sz="2200" b="1" dirty="0">
                <a:solidFill>
                  <a:srgbClr val="E69F00"/>
                </a:solidFill>
                <a:latin typeface="Consolas" pitchFamily="34" charset="0"/>
                <a:ea typeface="Consolas" pitchFamily="34" charset="-122"/>
                <a:cs typeface="Consolas" pitchFamily="34" charset="-120"/>
              </a:rPr>
              <a:t>Riley</a:t>
            </a:r>
            <a:endParaRPr lang="en-US" sz="2200" dirty="0"/>
          </a:p>
        </p:txBody>
      </p:sp>
      <p:sp>
        <p:nvSpPr>
          <p:cNvPr id="12" name="click2"/>
          <p:cNvSpPr txBox="1"/>
          <p:nvPr/>
        </p:nvSpPr>
        <p:spPr>
          <a:xfrm>
            <a:off x="6446520" y="3291840"/>
            <a:ext cx="2926080" cy="320040"/>
          </a:xfrm>
          <a:prstGeom prst="rect">
            <a:avLst/>
          </a:prstGeom>
          <a:noFill/>
          <a:ln/>
        </p:spPr>
        <p:txBody>
          <a:bodyPr wrap="square" lIns="0" tIns="0" rIns="0" bIns="0" rtlCol="0" anchor="ctr"/>
          <a:lstStyle/>
          <a:p>
            <a:pPr indent="0" marL="0">
              <a:buNone/>
            </a:pPr>
            <a:r>
              <a:rPr lang="en-US" sz="1400" i="1" dirty="0">
                <a:solidFill>
                  <a:srgbClr val="A9A9B4"/>
                </a:solidFill>
                <a:latin typeface="Calibri" pitchFamily="34" charset="0"/>
                <a:ea typeface="Calibri" pitchFamily="34" charset="-122"/>
                <a:cs typeface="Calibri" pitchFamily="34" charset="-120"/>
              </a:rPr>
              <a:t>The user typed Riley</a:t>
            </a:r>
            <a:endParaRPr lang="en-US" sz="1400" dirty="0"/>
          </a:p>
        </p:txBody>
      </p:sp>
      <p:sp>
        <p:nvSpPr>
          <p:cNvPr id="13" name="click3"/>
          <p:cNvSpPr/>
          <p:nvPr/>
        </p:nvSpPr>
        <p:spPr>
          <a:xfrm>
            <a:off x="9601200" y="2148840"/>
            <a:ext cx="2039112" cy="868680"/>
          </a:xfrm>
          <a:prstGeom prst="roundRect">
            <a:avLst>
              <a:gd name="adj" fmla="val 6316"/>
            </a:avLst>
          </a:prstGeom>
          <a:solidFill>
            <a:srgbClr val="111115"/>
          </a:solidFill>
          <a:ln w="25400">
            <a:solidFill>
              <a:srgbClr val="E69F00"/>
            </a:solidFill>
            <a:prstDash val="solid"/>
          </a:ln>
        </p:spPr>
      </p:sp>
      <p:sp>
        <p:nvSpPr>
          <p:cNvPr id="14" name="click3"/>
          <p:cNvSpPr/>
          <p:nvPr/>
        </p:nvSpPr>
        <p:spPr>
          <a:xfrm>
            <a:off x="9738360" y="1965960"/>
            <a:ext cx="1481328" cy="347472"/>
          </a:xfrm>
          <a:prstGeom prst="roundRect">
            <a:avLst>
              <a:gd name="adj" fmla="val 13158"/>
            </a:avLst>
          </a:prstGeom>
          <a:solidFill>
            <a:srgbClr val="E69F00"/>
          </a:solidFill>
          <a:ln/>
        </p:spPr>
      </p:sp>
      <p:sp>
        <p:nvSpPr>
          <p:cNvPr id="15" name="click3"/>
          <p:cNvSpPr txBox="1"/>
          <p:nvPr/>
        </p:nvSpPr>
        <p:spPr>
          <a:xfrm>
            <a:off x="9738360" y="1965960"/>
            <a:ext cx="1481328" cy="347472"/>
          </a:xfrm>
          <a:prstGeom prst="rect">
            <a:avLst/>
          </a:prstGeom>
          <a:noFill/>
          <a:ln/>
        </p:spPr>
        <p:txBody>
          <a:bodyPr wrap="square" lIns="0" tIns="0" rIns="0" bIns="0" rtlCol="0" anchor="ctr"/>
          <a:lstStyle/>
          <a:p>
            <a:pPr algn="ctr" indent="0" marL="0">
              <a:buNone/>
            </a:pPr>
            <a:r>
              <a:rPr lang="en-US" sz="1400" b="1" dirty="0">
                <a:solidFill>
                  <a:srgbClr val="111115"/>
                </a:solidFill>
                <a:latin typeface="Consolas" pitchFamily="34" charset="0"/>
                <a:ea typeface="Consolas" pitchFamily="34" charset="-122"/>
                <a:cs typeface="Consolas" pitchFamily="34" charset="-120"/>
              </a:rPr>
              <a:t>name  ·  str</a:t>
            </a:r>
            <a:endParaRPr lang="en-US" sz="1400" dirty="0"/>
          </a:p>
        </p:txBody>
      </p:sp>
      <p:sp>
        <p:nvSpPr>
          <p:cNvPr id="16" name="click3"/>
          <p:cNvSpPr txBox="1"/>
          <p:nvPr/>
        </p:nvSpPr>
        <p:spPr>
          <a:xfrm>
            <a:off x="9692640" y="2331720"/>
            <a:ext cx="1856232" cy="640080"/>
          </a:xfrm>
          <a:prstGeom prst="rect">
            <a:avLst/>
          </a:prstGeom>
          <a:noFill/>
          <a:ln/>
        </p:spPr>
        <p:txBody>
          <a:bodyPr wrap="square" lIns="0" tIns="0" rIns="0" bIns="0" rtlCol="0" anchor="ctr"/>
          <a:lstStyle/>
          <a:p>
            <a:pPr algn="ctr" indent="0" marL="0">
              <a:buNone/>
            </a:pPr>
            <a:r>
              <a:rPr lang="en-US" sz="2400" dirty="0">
                <a:solidFill>
                  <a:srgbClr val="F5F5F3"/>
                </a:solidFill>
                <a:latin typeface="Consolas" pitchFamily="34" charset="0"/>
                <a:ea typeface="Consolas" pitchFamily="34" charset="-122"/>
                <a:cs typeface="Consolas" pitchFamily="34" charset="-120"/>
              </a:rPr>
              <a:t>"Riley"</a:t>
            </a:r>
            <a:endParaRPr lang="en-US" sz="2400" dirty="0"/>
          </a:p>
        </p:txBody>
      </p:sp>
      <p:sp>
        <p:nvSpPr>
          <p:cNvPr id="17" name="click4"/>
          <p:cNvSpPr/>
          <p:nvPr/>
        </p:nvSpPr>
        <p:spPr>
          <a:xfrm>
            <a:off x="548640" y="3977640"/>
            <a:ext cx="11091672" cy="0"/>
          </a:xfrm>
          <a:prstGeom prst="line">
            <a:avLst/>
          </a:prstGeom>
          <a:noFill/>
          <a:ln w="12700">
            <a:solidFill>
              <a:srgbClr val="3A3A44"/>
            </a:solidFill>
            <a:prstDash val="solid"/>
          </a:ln>
        </p:spPr>
      </p:sp>
      <p:sp>
        <p:nvSpPr>
          <p:cNvPr id="18" name="click4 · code"/>
          <p:cNvSpPr/>
          <p:nvPr/>
        </p:nvSpPr>
        <p:spPr>
          <a:xfrm>
            <a:off x="548640" y="4069080"/>
            <a:ext cx="5577840" cy="868680"/>
          </a:xfrm>
          <a:prstGeom prst="roundRect">
            <a:avLst>
              <a:gd name="adj" fmla="val 8421"/>
            </a:avLst>
          </a:prstGeom>
          <a:solidFill>
            <a:srgbClr val="111115"/>
          </a:solidFill>
          <a:ln w="15875">
            <a:solidFill>
              <a:srgbClr val="3A3A44"/>
            </a:solidFill>
            <a:prstDash val="solid"/>
          </a:ln>
        </p:spPr>
      </p:sp>
      <p:sp>
        <p:nvSpPr>
          <p:cNvPr id="19" name="click4"/>
          <p:cNvSpPr txBox="1"/>
          <p:nvPr/>
        </p:nvSpPr>
        <p:spPr>
          <a:xfrm>
            <a:off x="658368" y="4270248"/>
            <a:ext cx="274320" cy="544830"/>
          </a:xfrm>
          <a:prstGeom prst="rect">
            <a:avLst/>
          </a:prstGeom>
          <a:noFill/>
          <a:ln/>
        </p:spPr>
        <p:txBody>
          <a:bodyPr wrap="square" lIns="0" tIns="0" rIns="0" bIns="0" rtlCol="0" anchor="ctr"/>
          <a:lstStyle/>
          <a:p>
            <a:pPr algn="r" indent="0" marL="0">
              <a:buNone/>
            </a:pPr>
            <a:r>
              <a:rPr lang="en-US" sz="2200" dirty="0">
                <a:solidFill>
                  <a:srgbClr val="6E6E7A"/>
                </a:solidFill>
                <a:latin typeface="Consolas" pitchFamily="34" charset="0"/>
                <a:ea typeface="Consolas" pitchFamily="34" charset="-122"/>
                <a:cs typeface="Consolas" pitchFamily="34" charset="-120"/>
              </a:rPr>
              <a:t>2</a:t>
            </a:r>
            <a:endParaRPr lang="en-US" sz="2200" dirty="0"/>
          </a:p>
        </p:txBody>
      </p:sp>
      <p:sp>
        <p:nvSpPr>
          <p:cNvPr id="20" name="click4"/>
          <p:cNvSpPr txBox="1"/>
          <p:nvPr/>
        </p:nvSpPr>
        <p:spPr>
          <a:xfrm>
            <a:off x="1188720" y="4270248"/>
            <a:ext cx="4846320" cy="544830"/>
          </a:xfrm>
          <a:prstGeom prst="rect">
            <a:avLst/>
          </a:prstGeom>
          <a:noFill/>
          <a:ln/>
        </p:spPr>
        <p:txBody>
          <a:bodyPr wrap="square" lIns="0" tIns="0" rIns="0" bIns="0" rtlCol="0" anchor="ctr"/>
          <a:lstStyle/>
          <a:p>
            <a:pPr indent="0" marL="0">
              <a:buNone/>
            </a:pPr>
            <a:r>
              <a:rPr lang="en-US" sz="2600" dirty="0">
                <a:solidFill>
                  <a:srgbClr val="E8C878"/>
                </a:solidFill>
                <a:latin typeface="Consolas" pitchFamily="34" charset="0"/>
                <a:ea typeface="Consolas" pitchFamily="34" charset="-122"/>
                <a:cs typeface="Consolas" pitchFamily="34" charset="-120"/>
              </a:rPr>
              <a:t>print</a:t>
            </a:r>
            <a:pPr indent="0" marL="0">
              <a:buNone/>
            </a:pPr>
            <a:r>
              <a:rPr lang="en-US" sz="2600" dirty="0">
                <a:solidFill>
                  <a:srgbClr val="A9A9B4"/>
                </a:solidFill>
                <a:latin typeface="Consolas" pitchFamily="34" charset="0"/>
                <a:ea typeface="Consolas" pitchFamily="34" charset="-122"/>
                <a:cs typeface="Consolas" pitchFamily="34" charset="-120"/>
              </a:rPr>
              <a:t>(</a:t>
            </a:r>
            <a:pPr indent="0" marL="0">
              <a:buNone/>
            </a:pPr>
            <a:r>
              <a:rPr lang="en-US" sz="2600" dirty="0">
                <a:solidFill>
                  <a:srgbClr val="E69F00"/>
                </a:solidFill>
                <a:latin typeface="Consolas" pitchFamily="34" charset="0"/>
                <a:ea typeface="Consolas" pitchFamily="34" charset="-122"/>
                <a:cs typeface="Consolas" pitchFamily="34" charset="-120"/>
              </a:rPr>
              <a:t>"Hi "</a:t>
            </a:r>
            <a:pPr indent="0" marL="0">
              <a:buNone/>
            </a:pPr>
            <a:r>
              <a:rPr lang="en-US" sz="2600" dirty="0">
                <a:solidFill>
                  <a:srgbClr val="F5F5F3"/>
                </a:solidFill>
                <a:latin typeface="Consolas" pitchFamily="34" charset="0"/>
                <a:ea typeface="Consolas" pitchFamily="34" charset="-122"/>
                <a:cs typeface="Consolas" pitchFamily="34" charset="-120"/>
              </a:rPr>
              <a:t> </a:t>
            </a:r>
            <a:pPr indent="0" marL="0">
              <a:buNone/>
            </a:pPr>
            <a:r>
              <a:rPr lang="en-US" sz="2600" dirty="0">
                <a:solidFill>
                  <a:srgbClr val="A9A9B4"/>
                </a:solidFill>
                <a:latin typeface="Consolas" pitchFamily="34" charset="0"/>
                <a:ea typeface="Consolas" pitchFamily="34" charset="-122"/>
                <a:cs typeface="Consolas" pitchFamily="34" charset="-120"/>
              </a:rPr>
              <a:t>+</a:t>
            </a:r>
            <a:pPr indent="0" marL="0">
              <a:buNone/>
            </a:pPr>
            <a:r>
              <a:rPr lang="en-US" sz="2600" dirty="0">
                <a:solidFill>
                  <a:srgbClr val="F5F5F3"/>
                </a:solidFill>
                <a:latin typeface="Consolas" pitchFamily="34" charset="0"/>
                <a:ea typeface="Consolas" pitchFamily="34" charset="-122"/>
                <a:cs typeface="Consolas" pitchFamily="34" charset="-120"/>
              </a:rPr>
              <a:t> </a:t>
            </a:r>
            <a:pPr indent="0" marL="0">
              <a:buNone/>
            </a:pPr>
            <a:r>
              <a:rPr lang="en-US" sz="2600" dirty="0">
                <a:solidFill>
                  <a:srgbClr val="F5F5F3"/>
                </a:solidFill>
                <a:latin typeface="Consolas" pitchFamily="34" charset="0"/>
                <a:ea typeface="Consolas" pitchFamily="34" charset="-122"/>
                <a:cs typeface="Consolas" pitchFamily="34" charset="-120"/>
              </a:rPr>
              <a:t>name</a:t>
            </a:r>
            <a:pPr indent="0" marL="0">
              <a:buNone/>
            </a:pPr>
            <a:r>
              <a:rPr lang="en-US" sz="2600" dirty="0">
                <a:solidFill>
                  <a:srgbClr val="A9A9B4"/>
                </a:solidFill>
                <a:latin typeface="Consolas" pitchFamily="34" charset="0"/>
                <a:ea typeface="Consolas" pitchFamily="34" charset="-122"/>
                <a:cs typeface="Consolas" pitchFamily="34" charset="-120"/>
              </a:rPr>
              <a:t>)</a:t>
            </a:r>
            <a:endParaRPr lang="en-US" sz="2600" dirty="0"/>
          </a:p>
        </p:txBody>
      </p:sp>
      <p:sp>
        <p:nvSpPr>
          <p:cNvPr id="21" name="click4"/>
          <p:cNvSpPr txBox="1"/>
          <p:nvPr/>
        </p:nvSpPr>
        <p:spPr>
          <a:xfrm>
            <a:off x="640080" y="5074920"/>
            <a:ext cx="5394960" cy="868680"/>
          </a:xfrm>
          <a:prstGeom prst="rect">
            <a:avLst/>
          </a:prstGeom>
          <a:noFill/>
          <a:ln/>
        </p:spPr>
        <p:txBody>
          <a:bodyPr wrap="square" lIns="0" tIns="0" rIns="0" bIns="0" rtlCol="0" anchor="t"/>
          <a:lstStyle/>
          <a:p>
            <a:pPr indent="0" marL="0">
              <a:buNone/>
            </a:pPr>
            <a:r>
              <a:rPr lang="en-US" sz="2000" b="1" dirty="0">
                <a:solidFill>
                  <a:srgbClr val="D8A73D"/>
                </a:solidFill>
                <a:latin typeface="Calibri" pitchFamily="34" charset="0"/>
                <a:ea typeface="Calibri" pitchFamily="34" charset="-122"/>
                <a:cs typeface="Calibri" pitchFamily="34" charset="-120"/>
              </a:rPr>
              <a:t>Joins</a:t>
            </a:r>
            <a:pPr indent="0" marL="0">
              <a:buNone/>
            </a:pPr>
            <a:r>
              <a:rPr lang="en-US" sz="2000" dirty="0">
                <a:solidFill>
                  <a:srgbClr val="F5F5F3"/>
                </a:solidFill>
                <a:latin typeface="Calibri" pitchFamily="34" charset="0"/>
                <a:ea typeface="Calibri" pitchFamily="34" charset="-122"/>
                <a:cs typeface="Calibri" pitchFamily="34" charset="-120"/>
              </a:rPr>
              <a:t> "Hi " to what’s in </a:t>
            </a:r>
            <a:pPr indent="0" marL="0">
              <a:buNone/>
            </a:pPr>
            <a:r>
              <a:rPr lang="en-US" sz="2000" dirty="0">
                <a:solidFill>
                  <a:srgbClr val="F5F5F3"/>
                </a:solidFill>
                <a:latin typeface="Consolas" pitchFamily="34" charset="0"/>
                <a:ea typeface="Consolas" pitchFamily="34" charset="-122"/>
                <a:cs typeface="Consolas" pitchFamily="34" charset="-120"/>
              </a:rPr>
              <a:t>name</a:t>
            </a:r>
            <a:pPr indent="0" marL="0">
              <a:buNone/>
            </a:pPr>
            <a:r>
              <a:rPr lang="en-US" sz="2000" dirty="0">
                <a:solidFill>
                  <a:srgbClr val="F5F5F3"/>
                </a:solidFill>
                <a:latin typeface="Calibri" pitchFamily="34" charset="0"/>
                <a:ea typeface="Calibri" pitchFamily="34" charset="-122"/>
                <a:cs typeface="Calibri" pitchFamily="34" charset="-120"/>
              </a:rPr>
              <a:t>, then </a:t>
            </a:r>
            <a:pPr indent="0" marL="0">
              <a:buNone/>
            </a:pPr>
            <a:r>
              <a:rPr lang="en-US" sz="2000" b="1" dirty="0">
                <a:solidFill>
                  <a:srgbClr val="D8A73D"/>
                </a:solidFill>
                <a:latin typeface="Calibri" pitchFamily="34" charset="0"/>
                <a:ea typeface="Calibri" pitchFamily="34" charset="-122"/>
                <a:cs typeface="Calibri" pitchFamily="34" charset="-120"/>
              </a:rPr>
              <a:t>prints</a:t>
            </a:r>
            <a:pPr indent="0" marL="0">
              <a:buNone/>
            </a:pPr>
            <a:r>
              <a:rPr lang="en-US" sz="2000" dirty="0">
                <a:solidFill>
                  <a:srgbClr val="F5F5F3"/>
                </a:solidFill>
                <a:latin typeface="Calibri" pitchFamily="34" charset="0"/>
                <a:ea typeface="Calibri" pitchFamily="34" charset="-122"/>
                <a:cs typeface="Calibri" pitchFamily="34" charset="-120"/>
              </a:rPr>
              <a:t> it</a:t>
            </a:r>
            <a:endParaRPr lang="en-US" sz="2000" dirty="0"/>
          </a:p>
        </p:txBody>
      </p:sp>
      <p:sp>
        <p:nvSpPr>
          <p:cNvPr id="22" name="click5 · terminal"/>
          <p:cNvSpPr/>
          <p:nvPr/>
        </p:nvSpPr>
        <p:spPr>
          <a:xfrm>
            <a:off x="6446520" y="4069080"/>
            <a:ext cx="2926080" cy="1325880"/>
          </a:xfrm>
          <a:prstGeom prst="roundRect">
            <a:avLst>
              <a:gd name="adj" fmla="val 5517"/>
            </a:avLst>
          </a:prstGeom>
          <a:solidFill>
            <a:srgbClr val="0A0A0D"/>
          </a:solidFill>
          <a:ln w="15875">
            <a:solidFill>
              <a:srgbClr val="3A3A44"/>
            </a:solidFill>
            <a:prstDash val="solid"/>
          </a:ln>
        </p:spPr>
      </p:sp>
      <p:sp>
        <p:nvSpPr>
          <p:cNvPr id="23" name="click5"/>
          <p:cNvSpPr txBox="1"/>
          <p:nvPr/>
        </p:nvSpPr>
        <p:spPr>
          <a:xfrm>
            <a:off x="6675120" y="4297680"/>
            <a:ext cx="2468880" cy="447040"/>
          </a:xfrm>
          <a:prstGeom prst="rect">
            <a:avLst/>
          </a:prstGeom>
          <a:noFill/>
          <a:ln/>
        </p:spPr>
        <p:txBody>
          <a:bodyPr wrap="square" lIns="0" tIns="0" rIns="0" bIns="0" rtlCol="0" anchor="ctr"/>
          <a:lstStyle/>
          <a:p>
            <a:pPr indent="0" marL="0">
              <a:buNone/>
            </a:pPr>
            <a:r>
              <a:rPr lang="en-US" sz="2200" dirty="0">
                <a:solidFill>
                  <a:srgbClr val="6E6E7A"/>
                </a:solidFill>
                <a:latin typeface="Consolas" pitchFamily="34" charset="0"/>
                <a:ea typeface="Consolas" pitchFamily="34" charset="-122"/>
                <a:cs typeface="Consolas" pitchFamily="34" charset="-120"/>
              </a:rPr>
              <a:t>Name? Riley</a:t>
            </a:r>
            <a:endParaRPr lang="en-US" sz="2200" dirty="0"/>
          </a:p>
        </p:txBody>
      </p:sp>
      <p:sp>
        <p:nvSpPr>
          <p:cNvPr id="24" name="click5"/>
          <p:cNvSpPr txBox="1"/>
          <p:nvPr/>
        </p:nvSpPr>
        <p:spPr>
          <a:xfrm>
            <a:off x="6675120" y="4744720"/>
            <a:ext cx="2468880" cy="447040"/>
          </a:xfrm>
          <a:prstGeom prst="rect">
            <a:avLst/>
          </a:prstGeom>
          <a:noFill/>
          <a:ln/>
        </p:spPr>
        <p:txBody>
          <a:bodyPr wrap="square" lIns="0" tIns="0" rIns="0" bIns="0" rtlCol="0" anchor="ctr"/>
          <a:lstStyle/>
          <a:p>
            <a:pPr indent="0" marL="0">
              <a:buNone/>
            </a:pPr>
            <a:r>
              <a:rPr lang="en-US" sz="2200" b="1" dirty="0">
                <a:solidFill>
                  <a:srgbClr val="F5F5F3"/>
                </a:solidFill>
                <a:latin typeface="Consolas" pitchFamily="34" charset="0"/>
                <a:ea typeface="Consolas" pitchFamily="34" charset="-122"/>
                <a:cs typeface="Consolas" pitchFamily="34" charset="-120"/>
              </a:rPr>
              <a:t>Hi Riley</a:t>
            </a:r>
            <a:endParaRPr lang="en-US" sz="2200" dirty="0"/>
          </a:p>
        </p:txBody>
      </p:sp>
      <p:sp>
        <p:nvSpPr>
          <p:cNvPr id="25" name="click6"/>
          <p:cNvSpPr/>
          <p:nvPr/>
        </p:nvSpPr>
        <p:spPr>
          <a:xfrm>
            <a:off x="9601200" y="4343400"/>
            <a:ext cx="2039112" cy="868680"/>
          </a:xfrm>
          <a:prstGeom prst="roundRect">
            <a:avLst>
              <a:gd name="adj" fmla="val 6316"/>
            </a:avLst>
          </a:prstGeom>
          <a:solidFill>
            <a:srgbClr val="111115"/>
          </a:solidFill>
          <a:ln w="25400">
            <a:solidFill>
              <a:srgbClr val="E69F00"/>
            </a:solidFill>
            <a:prstDash val="solid"/>
          </a:ln>
        </p:spPr>
      </p:sp>
      <p:sp>
        <p:nvSpPr>
          <p:cNvPr id="26" name="click6"/>
          <p:cNvSpPr/>
          <p:nvPr/>
        </p:nvSpPr>
        <p:spPr>
          <a:xfrm>
            <a:off x="9738360" y="4160520"/>
            <a:ext cx="1481328" cy="347472"/>
          </a:xfrm>
          <a:prstGeom prst="roundRect">
            <a:avLst>
              <a:gd name="adj" fmla="val 13158"/>
            </a:avLst>
          </a:prstGeom>
          <a:solidFill>
            <a:srgbClr val="E69F00"/>
          </a:solidFill>
          <a:ln/>
        </p:spPr>
      </p:sp>
      <p:sp>
        <p:nvSpPr>
          <p:cNvPr id="27" name="click6"/>
          <p:cNvSpPr txBox="1"/>
          <p:nvPr/>
        </p:nvSpPr>
        <p:spPr>
          <a:xfrm>
            <a:off x="9738360" y="4160520"/>
            <a:ext cx="1481328" cy="347472"/>
          </a:xfrm>
          <a:prstGeom prst="rect">
            <a:avLst/>
          </a:prstGeom>
          <a:noFill/>
          <a:ln/>
        </p:spPr>
        <p:txBody>
          <a:bodyPr wrap="square" lIns="0" tIns="0" rIns="0" bIns="0" rtlCol="0" anchor="ctr"/>
          <a:lstStyle/>
          <a:p>
            <a:pPr algn="ctr" indent="0" marL="0">
              <a:buNone/>
            </a:pPr>
            <a:r>
              <a:rPr lang="en-US" sz="1400" b="1" dirty="0">
                <a:solidFill>
                  <a:srgbClr val="111115"/>
                </a:solidFill>
                <a:latin typeface="Consolas" pitchFamily="34" charset="0"/>
                <a:ea typeface="Consolas" pitchFamily="34" charset="-122"/>
                <a:cs typeface="Consolas" pitchFamily="34" charset="-120"/>
              </a:rPr>
              <a:t>name  ·  str</a:t>
            </a:r>
            <a:endParaRPr lang="en-US" sz="1400" dirty="0"/>
          </a:p>
        </p:txBody>
      </p:sp>
      <p:sp>
        <p:nvSpPr>
          <p:cNvPr id="28" name="click6"/>
          <p:cNvSpPr txBox="1"/>
          <p:nvPr/>
        </p:nvSpPr>
        <p:spPr>
          <a:xfrm>
            <a:off x="9692640" y="4526280"/>
            <a:ext cx="1856232" cy="640080"/>
          </a:xfrm>
          <a:prstGeom prst="rect">
            <a:avLst/>
          </a:prstGeom>
          <a:noFill/>
          <a:ln/>
        </p:spPr>
        <p:txBody>
          <a:bodyPr wrap="square" lIns="0" tIns="0" rIns="0" bIns="0" rtlCol="0" anchor="ctr"/>
          <a:lstStyle/>
          <a:p>
            <a:pPr algn="ctr" indent="0" marL="0">
              <a:buNone/>
            </a:pPr>
            <a:r>
              <a:rPr lang="en-US" sz="2400" dirty="0">
                <a:solidFill>
                  <a:srgbClr val="F5F5F3"/>
                </a:solidFill>
                <a:latin typeface="Consolas" pitchFamily="34" charset="0"/>
                <a:ea typeface="Consolas" pitchFamily="34" charset="-122"/>
                <a:cs typeface="Consolas" pitchFamily="34" charset="-120"/>
              </a:rPr>
              <a:t>"Riley"</a:t>
            </a:r>
            <a:endParaRPr lang="en-US" sz="2400" dirty="0"/>
          </a:p>
        </p:txBody>
      </p:sp>
      <p:sp>
        <p:nvSpPr>
          <p:cNvPr id="29" name="click6"/>
          <p:cNvSpPr txBox="1"/>
          <p:nvPr/>
        </p:nvSpPr>
        <p:spPr>
          <a:xfrm>
            <a:off x="9601200" y="5303520"/>
            <a:ext cx="2039112" cy="320040"/>
          </a:xfrm>
          <a:prstGeom prst="rect">
            <a:avLst/>
          </a:prstGeom>
          <a:noFill/>
          <a:ln/>
        </p:spPr>
        <p:txBody>
          <a:bodyPr wrap="square" lIns="0" tIns="0" rIns="0" bIns="0" rtlCol="0" anchor="ctr"/>
          <a:lstStyle/>
          <a:p>
            <a:pPr indent="0" marL="0">
              <a:buNone/>
            </a:pPr>
            <a:r>
              <a:rPr lang="en-US" sz="1400" i="1" dirty="0">
                <a:solidFill>
                  <a:srgbClr val="A9A9B4"/>
                </a:solidFill>
                <a:latin typeface="Calibri" pitchFamily="34" charset="0"/>
                <a:ea typeface="Calibri" pitchFamily="34" charset="-122"/>
                <a:cs typeface="Calibri" pitchFamily="34" charset="-120"/>
              </a:rPr>
              <a:t>No change</a:t>
            </a:r>
            <a:endParaRPr lang="en-US" sz="1400" dirty="0"/>
          </a:p>
        </p:txBody>
      </p:sp>
      <p:pic>
        <p:nvPicPr>
          <p:cNvPr id="30" name="Image 0" descr="New information">    </p:cNvPr>
          <p:cNvPicPr>
            <a:picLocks noChangeAspect="1"/>
          </p:cNvPicPr>
          <p:nvPr/>
        </p:nvPicPr>
        <p:blipFill>
          <a:blip r:embed="rId1"/>
          <a:stretch>
            <a:fillRect/>
          </a:stretch>
        </p:blipFill>
        <p:spPr>
          <a:xfrm>
            <a:off x="10972800" y="384048"/>
            <a:ext cx="731520" cy="731520"/>
          </a:xfrm>
          <a:prstGeom prst="rect">
            <a:avLst/>
          </a:prstGeom>
        </p:spPr>
      </p:pic>
      <p:sp>
        <p:nvSpPr>
          <p:cNvPr id="32" name="Text 28"/>
          <p:cNvSpPr txBox="1"/>
          <p:nvPr/>
        </p:nvSpPr>
        <p:spPr>
          <a:xfrm>
            <a:off x="4206240" y="6355080"/>
            <a:ext cx="6812280" cy="320040"/>
          </a:xfrm>
          <a:prstGeom prst="rect">
            <a:avLst/>
          </a:prstGeom>
          <a:noFill/>
          <a:ln/>
        </p:spPr>
        <p:txBody>
          <a:bodyPr wrap="square" lIns="0" tIns="0" rIns="0" bIns="0" rtlCol="0" anchor="ctr"/>
          <a:lstStyle/>
          <a:p>
            <a:pPr algn="r" indent="0" marL="0">
              <a:buNone/>
            </a:pPr>
            <a:r>
              <a:rPr lang="en-US" sz="1300" b="1" i="1" dirty="0">
                <a:solidFill>
                  <a:srgbClr val="D8A73D"/>
                </a:solidFill>
                <a:latin typeface="Calibri" pitchFamily="34" charset="0"/>
                <a:ea typeface="Calibri" pitchFamily="34" charset="-122"/>
                <a:cs typeface="Calibri" pitchFamily="34" charset="-120"/>
              </a:rPr>
              <a:t>runLinesSlide()  ·  Run it line by line</a:t>
            </a:r>
            <a:endParaRPr lang="en-US" sz="1300" dirty="0"/>
          </a:p>
        </p:txBody>
      </p:sp>
      <p:sp>
        <p:nvSpPr>
          <p:cNvPr id="33"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par>
                                <p:cTn id="33" presetID="10" presetClass="entr" presetSubtype="0" fill="hold"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500"/>
                                        <p:tgtEl>
                                          <p:spTgt spid="1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500"/>
                                        <p:tgtEl>
                                          <p:spTgt spid="16"/>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childTnLst>
                                </p:cTn>
                              </p:par>
                              <p:par>
                                <p:cTn id="47" presetID="10" presetClass="entr" presetSubtype="0" fill="hold"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500"/>
                                        <p:tgtEl>
                                          <p:spTgt spid="1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50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500"/>
                                        <p:tgtEl>
                                          <p:spTgt spid="2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5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50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500"/>
                                        <p:tgtEl>
                                          <p:spTgt spid="23"/>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500"/>
                                        <p:tgtEl>
                                          <p:spTgt spid="24"/>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500"/>
                                        <p:tgtEl>
                                          <p:spTgt spid="25"/>
                                        </p:tgtEl>
                                      </p:cBhvr>
                                    </p:animEffect>
                                  </p:childTnLst>
                                </p:cTn>
                              </p:par>
                              <p:par>
                                <p:cTn id="75" presetID="10" presetClass="entr" presetSubtype="0" fill="hold"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500"/>
                                        <p:tgtEl>
                                          <p:spTgt spid="26"/>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fade">
                                      <p:cBhvr>
                                        <p:cTn id="80" dur="500"/>
                                        <p:tgtEl>
                                          <p:spTgt spid="27"/>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8"/>
                                        </p:tgtEl>
                                        <p:attrNameLst>
                                          <p:attrName>style.visibility</p:attrName>
                                        </p:attrNameLst>
                                      </p:cBhvr>
                                      <p:to>
                                        <p:strVal val="visible"/>
                                      </p:to>
                                    </p:set>
                                    <p:animEffect transition="in" filter="fade">
                                      <p:cBhvr>
                                        <p:cTn id="83" dur="500"/>
                                        <p:tgtEl>
                                          <p:spTgt spid="28"/>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9"/>
                                        </p:tgtEl>
                                        <p:attrNameLst>
                                          <p:attrName>style.visibility</p:attrName>
                                        </p:attrNameLst>
                                      </p:cBhvr>
                                      <p:to>
                                        <p:strVal val="visible"/>
                                      </p:to>
                                    </p:set>
                                    <p:animEffect transition="in" filter="fade">
                                      <p:cBhvr>
                                        <p:cTn id="86"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1" grpId="0" animBg="1"/>
      <p:bldP spid="12" grpId="0" animBg="1"/>
      <p:bldP spid="15" grpId="0" animBg="1"/>
      <p:bldP spid="16" grpId="0" animBg="1"/>
      <p:bldP spid="19" grpId="0" animBg="1"/>
      <p:bldP spid="20" grpId="0" animBg="1"/>
      <p:bldP spid="21" grpId="0" animBg="1"/>
      <p:bldP spid="23" grpId="0" animBg="1"/>
      <p:bldP spid="24" grpId="0" animBg="1"/>
      <p:bldP spid="27" grpId="0" animBg="1"/>
      <p:bldP spid="28" grpId="0" animBg="1"/>
      <p:bldP spid="2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Quotes: the word, or what’s stored?</a:t>
            </a:r>
            <a:endParaRPr lang="en-US" sz="3600" dirty="0"/>
          </a:p>
        </p:txBody>
      </p:sp>
      <p:sp>
        <p:nvSpPr>
          <p:cNvPr id="3" name="Text 1"/>
          <p:cNvSpPr txBox="1"/>
          <p:nvPr/>
        </p:nvSpPr>
        <p:spPr>
          <a:xfrm>
            <a:off x="548640" y="1554480"/>
            <a:ext cx="2743200" cy="274320"/>
          </a:xfrm>
          <a:prstGeom prst="rect">
            <a:avLst/>
          </a:prstGeom>
          <a:noFill/>
          <a:ln/>
        </p:spPr>
        <p:txBody>
          <a:bodyPr wrap="square" lIns="0" tIns="0" rIns="0" bIns="0" rtlCol="0" anchor="ctr"/>
          <a:lstStyle/>
          <a:p>
            <a:pPr indent="0" marL="0">
              <a:buNone/>
            </a:pPr>
            <a:r>
              <a:rPr lang="en-US" sz="1300" b="1" spc="200" kern="0" dirty="0">
                <a:solidFill>
                  <a:srgbClr val="6E6E7A"/>
                </a:solidFill>
                <a:latin typeface="Calibri" pitchFamily="34" charset="0"/>
                <a:ea typeface="Calibri" pitchFamily="34" charset="-122"/>
                <a:cs typeface="Calibri" pitchFamily="34" charset="-120"/>
              </a:rPr>
              <a:t>IN MEMORY</a:t>
            </a:r>
            <a:endParaRPr lang="en-US" sz="1300" dirty="0"/>
          </a:p>
        </p:txBody>
      </p:sp>
      <p:sp>
        <p:nvSpPr>
          <p:cNvPr id="4" name="Shape 2"/>
          <p:cNvSpPr/>
          <p:nvPr/>
        </p:nvSpPr>
        <p:spPr>
          <a:xfrm>
            <a:off x="548640" y="2148840"/>
            <a:ext cx="2377440" cy="868680"/>
          </a:xfrm>
          <a:prstGeom prst="roundRect">
            <a:avLst>
              <a:gd name="adj" fmla="val 6316"/>
            </a:avLst>
          </a:prstGeom>
          <a:solidFill>
            <a:srgbClr val="111115"/>
          </a:solidFill>
          <a:ln w="25400">
            <a:solidFill>
              <a:srgbClr val="E69F00"/>
            </a:solidFill>
            <a:prstDash val="solid"/>
          </a:ln>
        </p:spPr>
      </p:sp>
      <p:sp>
        <p:nvSpPr>
          <p:cNvPr id="5" name="Shape 3"/>
          <p:cNvSpPr/>
          <p:nvPr/>
        </p:nvSpPr>
        <p:spPr>
          <a:xfrm>
            <a:off x="685800" y="1965960"/>
            <a:ext cx="1481328" cy="347472"/>
          </a:xfrm>
          <a:prstGeom prst="roundRect">
            <a:avLst>
              <a:gd name="adj" fmla="val 13158"/>
            </a:avLst>
          </a:prstGeom>
          <a:solidFill>
            <a:srgbClr val="E69F00"/>
          </a:solidFill>
          <a:ln/>
        </p:spPr>
      </p:sp>
      <p:sp>
        <p:nvSpPr>
          <p:cNvPr id="6" name="Text 4"/>
          <p:cNvSpPr txBox="1"/>
          <p:nvPr/>
        </p:nvSpPr>
        <p:spPr>
          <a:xfrm>
            <a:off x="685800" y="1965960"/>
            <a:ext cx="1481328" cy="347472"/>
          </a:xfrm>
          <a:prstGeom prst="rect">
            <a:avLst/>
          </a:prstGeom>
          <a:noFill/>
          <a:ln/>
        </p:spPr>
        <p:txBody>
          <a:bodyPr wrap="square" lIns="0" tIns="0" rIns="0" bIns="0" rtlCol="0" anchor="ctr"/>
          <a:lstStyle/>
          <a:p>
            <a:pPr algn="ctr" indent="0" marL="0">
              <a:buNone/>
            </a:pPr>
            <a:r>
              <a:rPr lang="en-US" sz="1400" b="1" dirty="0">
                <a:solidFill>
                  <a:srgbClr val="111115"/>
                </a:solidFill>
                <a:latin typeface="Consolas" pitchFamily="34" charset="0"/>
                <a:ea typeface="Consolas" pitchFamily="34" charset="-122"/>
                <a:cs typeface="Consolas" pitchFamily="34" charset="-120"/>
              </a:rPr>
              <a:t>name  ·  str</a:t>
            </a:r>
            <a:endParaRPr lang="en-US" sz="1400" dirty="0"/>
          </a:p>
        </p:txBody>
      </p:sp>
      <p:sp>
        <p:nvSpPr>
          <p:cNvPr id="7" name="Text 5"/>
          <p:cNvSpPr txBox="1"/>
          <p:nvPr/>
        </p:nvSpPr>
        <p:spPr>
          <a:xfrm>
            <a:off x="640080" y="2331720"/>
            <a:ext cx="2194560" cy="640080"/>
          </a:xfrm>
          <a:prstGeom prst="rect">
            <a:avLst/>
          </a:prstGeom>
          <a:noFill/>
          <a:ln/>
        </p:spPr>
        <p:txBody>
          <a:bodyPr wrap="square" lIns="0" tIns="0" rIns="0" bIns="0" rtlCol="0" anchor="ctr"/>
          <a:lstStyle/>
          <a:p>
            <a:pPr algn="ctr" indent="0" marL="0">
              <a:buNone/>
            </a:pPr>
            <a:r>
              <a:rPr lang="en-US" sz="2600" dirty="0">
                <a:solidFill>
                  <a:srgbClr val="F5F5F3"/>
                </a:solidFill>
                <a:latin typeface="Consolas" pitchFamily="34" charset="0"/>
                <a:ea typeface="Consolas" pitchFamily="34" charset="-122"/>
                <a:cs typeface="Consolas" pitchFamily="34" charset="-120"/>
              </a:rPr>
              <a:t>"Riley"</a:t>
            </a:r>
            <a:endParaRPr lang="en-US" sz="2600" dirty="0"/>
          </a:p>
        </p:txBody>
      </p:sp>
      <p:sp>
        <p:nvSpPr>
          <p:cNvPr id="8" name="code"/>
          <p:cNvSpPr/>
          <p:nvPr/>
        </p:nvSpPr>
        <p:spPr>
          <a:xfrm>
            <a:off x="548640" y="3429000"/>
            <a:ext cx="3566160" cy="868680"/>
          </a:xfrm>
          <a:prstGeom prst="roundRect">
            <a:avLst>
              <a:gd name="adj" fmla="val 8421"/>
            </a:avLst>
          </a:prstGeom>
          <a:solidFill>
            <a:srgbClr val="111115"/>
          </a:solidFill>
          <a:ln w="15875">
            <a:solidFill>
              <a:srgbClr val="3A3A44"/>
            </a:solidFill>
            <a:prstDash val="solid"/>
          </a:ln>
        </p:spPr>
      </p:sp>
      <p:sp>
        <p:nvSpPr>
          <p:cNvPr id="9" name="Text 7"/>
          <p:cNvSpPr txBox="1"/>
          <p:nvPr/>
        </p:nvSpPr>
        <p:spPr>
          <a:xfrm>
            <a:off x="731520" y="3630168"/>
            <a:ext cx="3291840" cy="502920"/>
          </a:xfrm>
          <a:prstGeom prst="rect">
            <a:avLst/>
          </a:prstGeom>
          <a:noFill/>
          <a:ln/>
        </p:spPr>
        <p:txBody>
          <a:bodyPr wrap="square" lIns="0" tIns="0" rIns="0" bIns="0" rtlCol="0" anchor="ctr"/>
          <a:lstStyle/>
          <a:p>
            <a:pPr indent="0" marL="0">
              <a:buNone/>
            </a:pPr>
            <a:r>
              <a:rPr lang="en-US" sz="2400" dirty="0">
                <a:solidFill>
                  <a:srgbClr val="E8C878"/>
                </a:solidFill>
                <a:latin typeface="Consolas" pitchFamily="34" charset="0"/>
                <a:ea typeface="Consolas" pitchFamily="34" charset="-122"/>
                <a:cs typeface="Consolas" pitchFamily="34" charset="-120"/>
              </a:rPr>
              <a:t>print</a:t>
            </a:r>
            <a:pPr indent="0" marL="0">
              <a:buNone/>
            </a:pPr>
            <a:r>
              <a:rPr lang="en-US" sz="2400" dirty="0">
                <a:solidFill>
                  <a:srgbClr val="A9A9B4"/>
                </a:solidFill>
                <a:latin typeface="Consolas" pitchFamily="34" charset="0"/>
                <a:ea typeface="Consolas" pitchFamily="34" charset="-122"/>
                <a:cs typeface="Consolas" pitchFamily="34" charset="-120"/>
              </a:rPr>
              <a:t>(</a:t>
            </a:r>
            <a:pPr indent="0" marL="0">
              <a:buNone/>
            </a:pPr>
            <a:r>
              <a:rPr lang="en-US" sz="2400" dirty="0">
                <a:solidFill>
                  <a:srgbClr val="E69F00"/>
                </a:solidFill>
                <a:latin typeface="Consolas" pitchFamily="34" charset="0"/>
                <a:ea typeface="Consolas" pitchFamily="34" charset="-122"/>
                <a:cs typeface="Consolas" pitchFamily="34" charset="-120"/>
              </a:rPr>
              <a:t>"name"</a:t>
            </a:r>
            <a:pPr indent="0" marL="0">
              <a:buNone/>
            </a:pPr>
            <a:r>
              <a:rPr lang="en-US" sz="2400" dirty="0">
                <a:solidFill>
                  <a:srgbClr val="A9A9B4"/>
                </a:solidFill>
                <a:latin typeface="Consolas" pitchFamily="34" charset="0"/>
                <a:ea typeface="Consolas" pitchFamily="34" charset="-122"/>
                <a:cs typeface="Consolas" pitchFamily="34" charset="-120"/>
              </a:rPr>
              <a:t>)</a:t>
            </a:r>
            <a:endParaRPr lang="en-US" sz="2400" dirty="0"/>
          </a:p>
        </p:txBody>
      </p:sp>
      <p:sp>
        <p:nvSpPr>
          <p:cNvPr id="10" name="Shape 8"/>
          <p:cNvSpPr/>
          <p:nvPr/>
        </p:nvSpPr>
        <p:spPr>
          <a:xfrm>
            <a:off x="4251960" y="3858768"/>
            <a:ext cx="640080" cy="0"/>
          </a:xfrm>
          <a:prstGeom prst="line">
            <a:avLst/>
          </a:prstGeom>
          <a:noFill/>
          <a:ln w="28575">
            <a:solidFill>
              <a:srgbClr val="A9A9B4"/>
            </a:solidFill>
            <a:prstDash val="solid"/>
            <a:tailEnd type="triangle"/>
          </a:ln>
        </p:spPr>
      </p:sp>
      <p:sp>
        <p:nvSpPr>
          <p:cNvPr id="11" name="terminal"/>
          <p:cNvSpPr/>
          <p:nvPr/>
        </p:nvSpPr>
        <p:spPr>
          <a:xfrm>
            <a:off x="5029200" y="3429000"/>
            <a:ext cx="2194560" cy="868680"/>
          </a:xfrm>
          <a:prstGeom prst="roundRect">
            <a:avLst>
              <a:gd name="adj" fmla="val 8421"/>
            </a:avLst>
          </a:prstGeom>
          <a:solidFill>
            <a:srgbClr val="0A0A0D"/>
          </a:solidFill>
          <a:ln w="15875">
            <a:solidFill>
              <a:srgbClr val="3A3A44"/>
            </a:solidFill>
            <a:prstDash val="solid"/>
          </a:ln>
        </p:spPr>
      </p:sp>
      <p:sp>
        <p:nvSpPr>
          <p:cNvPr id="12" name="Text 10"/>
          <p:cNvSpPr txBox="1"/>
          <p:nvPr/>
        </p:nvSpPr>
        <p:spPr>
          <a:xfrm>
            <a:off x="5257800" y="3657600"/>
            <a:ext cx="1737360" cy="487680"/>
          </a:xfrm>
          <a:prstGeom prst="rect">
            <a:avLst/>
          </a:prstGeom>
          <a:noFill/>
          <a:ln/>
        </p:spPr>
        <p:txBody>
          <a:bodyPr wrap="square" lIns="0" tIns="0" rIns="0" bIns="0" rtlCol="0" anchor="ctr"/>
          <a:lstStyle/>
          <a:p>
            <a:pPr indent="0" marL="0">
              <a:buNone/>
            </a:pPr>
            <a:r>
              <a:rPr lang="en-US" sz="2400" dirty="0">
                <a:solidFill>
                  <a:srgbClr val="F5F5F3"/>
                </a:solidFill>
                <a:latin typeface="Consolas" pitchFamily="34" charset="0"/>
                <a:ea typeface="Consolas" pitchFamily="34" charset="-122"/>
                <a:cs typeface="Consolas" pitchFamily="34" charset="-120"/>
              </a:rPr>
              <a:t>name</a:t>
            </a:r>
            <a:endParaRPr lang="en-US" sz="2400" dirty="0"/>
          </a:p>
        </p:txBody>
      </p:sp>
      <p:sp>
        <p:nvSpPr>
          <p:cNvPr id="13" name="Text 11"/>
          <p:cNvSpPr txBox="1"/>
          <p:nvPr/>
        </p:nvSpPr>
        <p:spPr>
          <a:xfrm>
            <a:off x="7543800" y="3429000"/>
            <a:ext cx="4114800" cy="868680"/>
          </a:xfrm>
          <a:prstGeom prst="rect">
            <a:avLst/>
          </a:prstGeom>
          <a:noFill/>
          <a:ln/>
        </p:spPr>
        <p:txBody>
          <a:bodyPr wrap="square" lIns="0" tIns="0" rIns="0" bIns="0" rtlCol="0" anchor="ctr"/>
          <a:lstStyle/>
          <a:p>
            <a:pPr indent="0" marL="0">
              <a:buNone/>
            </a:pPr>
            <a:r>
              <a:rPr lang="en-US" sz="2200" b="1" dirty="0">
                <a:solidFill>
                  <a:srgbClr val="E69F00"/>
                </a:solidFill>
                <a:latin typeface="Calibri" pitchFamily="34" charset="0"/>
                <a:ea typeface="Calibri" pitchFamily="34" charset="-122"/>
                <a:cs typeface="Calibri" pitchFamily="34" charset="-120"/>
              </a:rPr>
              <a:t>In quotes</a:t>
            </a:r>
            <a:pPr indent="0" marL="0">
              <a:buNone/>
            </a:pPr>
            <a:r>
              <a:rPr lang="en-US" sz="2200" dirty="0">
                <a:solidFill>
                  <a:srgbClr val="F5F5F3"/>
                </a:solidFill>
                <a:latin typeface="Calibri" pitchFamily="34" charset="0"/>
                <a:ea typeface="Calibri" pitchFamily="34" charset="-122"/>
                <a:cs typeface="Calibri" pitchFamily="34" charset="-120"/>
              </a:rPr>
              <a:t> → printed exactly as written</a:t>
            </a:r>
            <a:endParaRPr lang="en-US" sz="2200" dirty="0"/>
          </a:p>
        </p:txBody>
      </p:sp>
      <p:sp>
        <p:nvSpPr>
          <p:cNvPr id="14" name="code"/>
          <p:cNvSpPr/>
          <p:nvPr/>
        </p:nvSpPr>
        <p:spPr>
          <a:xfrm>
            <a:off x="548640" y="4663440"/>
            <a:ext cx="3566160" cy="868680"/>
          </a:xfrm>
          <a:prstGeom prst="roundRect">
            <a:avLst>
              <a:gd name="adj" fmla="val 8421"/>
            </a:avLst>
          </a:prstGeom>
          <a:solidFill>
            <a:srgbClr val="111115"/>
          </a:solidFill>
          <a:ln w="15875">
            <a:solidFill>
              <a:srgbClr val="3A3A44"/>
            </a:solidFill>
            <a:prstDash val="solid"/>
          </a:ln>
        </p:spPr>
      </p:sp>
      <p:sp>
        <p:nvSpPr>
          <p:cNvPr id="15" name="Text 13"/>
          <p:cNvSpPr txBox="1"/>
          <p:nvPr/>
        </p:nvSpPr>
        <p:spPr>
          <a:xfrm>
            <a:off x="731520" y="4864608"/>
            <a:ext cx="3291840" cy="502920"/>
          </a:xfrm>
          <a:prstGeom prst="rect">
            <a:avLst/>
          </a:prstGeom>
          <a:noFill/>
          <a:ln/>
        </p:spPr>
        <p:txBody>
          <a:bodyPr wrap="square" lIns="0" tIns="0" rIns="0" bIns="0" rtlCol="0" anchor="ctr"/>
          <a:lstStyle/>
          <a:p>
            <a:pPr indent="0" marL="0">
              <a:buNone/>
            </a:pPr>
            <a:r>
              <a:rPr lang="en-US" sz="2400" dirty="0">
                <a:solidFill>
                  <a:srgbClr val="E8C878"/>
                </a:solidFill>
                <a:latin typeface="Consolas" pitchFamily="34" charset="0"/>
                <a:ea typeface="Consolas" pitchFamily="34" charset="-122"/>
                <a:cs typeface="Consolas" pitchFamily="34" charset="-120"/>
              </a:rPr>
              <a:t>print</a:t>
            </a:r>
            <a:pPr indent="0" marL="0">
              <a:buNone/>
            </a:pPr>
            <a:r>
              <a:rPr lang="en-US" sz="2400" dirty="0">
                <a:solidFill>
                  <a:srgbClr val="A9A9B4"/>
                </a:solidFill>
                <a:latin typeface="Consolas" pitchFamily="34" charset="0"/>
                <a:ea typeface="Consolas" pitchFamily="34" charset="-122"/>
                <a:cs typeface="Consolas" pitchFamily="34" charset="-120"/>
              </a:rPr>
              <a:t>(</a:t>
            </a:r>
            <a:pPr indent="0" marL="0">
              <a:buNone/>
            </a:pPr>
            <a:r>
              <a:rPr lang="en-US" sz="2400" dirty="0">
                <a:solidFill>
                  <a:srgbClr val="F5F5F3"/>
                </a:solidFill>
                <a:latin typeface="Consolas" pitchFamily="34" charset="0"/>
                <a:ea typeface="Consolas" pitchFamily="34" charset="-122"/>
                <a:cs typeface="Consolas" pitchFamily="34" charset="-120"/>
              </a:rPr>
              <a:t>name</a:t>
            </a:r>
            <a:pPr indent="0" marL="0">
              <a:buNone/>
            </a:pPr>
            <a:r>
              <a:rPr lang="en-US" sz="2400" dirty="0">
                <a:solidFill>
                  <a:srgbClr val="A9A9B4"/>
                </a:solidFill>
                <a:latin typeface="Consolas" pitchFamily="34" charset="0"/>
                <a:ea typeface="Consolas" pitchFamily="34" charset="-122"/>
                <a:cs typeface="Consolas" pitchFamily="34" charset="-120"/>
              </a:rPr>
              <a:t>)</a:t>
            </a:r>
            <a:endParaRPr lang="en-US" sz="2400" dirty="0"/>
          </a:p>
        </p:txBody>
      </p:sp>
      <p:sp>
        <p:nvSpPr>
          <p:cNvPr id="16" name="Shape 14"/>
          <p:cNvSpPr/>
          <p:nvPr/>
        </p:nvSpPr>
        <p:spPr>
          <a:xfrm>
            <a:off x="4251960" y="5093208"/>
            <a:ext cx="640080" cy="0"/>
          </a:xfrm>
          <a:prstGeom prst="line">
            <a:avLst/>
          </a:prstGeom>
          <a:noFill/>
          <a:ln w="28575">
            <a:solidFill>
              <a:srgbClr val="A9A9B4"/>
            </a:solidFill>
            <a:prstDash val="solid"/>
            <a:tailEnd type="triangle"/>
          </a:ln>
        </p:spPr>
      </p:sp>
      <p:sp>
        <p:nvSpPr>
          <p:cNvPr id="17" name="terminal"/>
          <p:cNvSpPr/>
          <p:nvPr/>
        </p:nvSpPr>
        <p:spPr>
          <a:xfrm>
            <a:off x="5029200" y="4663440"/>
            <a:ext cx="2194560" cy="868680"/>
          </a:xfrm>
          <a:prstGeom prst="roundRect">
            <a:avLst>
              <a:gd name="adj" fmla="val 8421"/>
            </a:avLst>
          </a:prstGeom>
          <a:solidFill>
            <a:srgbClr val="0A0A0D"/>
          </a:solidFill>
          <a:ln w="15875">
            <a:solidFill>
              <a:srgbClr val="3A3A44"/>
            </a:solidFill>
            <a:prstDash val="solid"/>
          </a:ln>
        </p:spPr>
      </p:sp>
      <p:sp>
        <p:nvSpPr>
          <p:cNvPr id="18" name="Text 16"/>
          <p:cNvSpPr txBox="1"/>
          <p:nvPr/>
        </p:nvSpPr>
        <p:spPr>
          <a:xfrm>
            <a:off x="5257800" y="4892040"/>
            <a:ext cx="1737360" cy="487680"/>
          </a:xfrm>
          <a:prstGeom prst="rect">
            <a:avLst/>
          </a:prstGeom>
          <a:noFill/>
          <a:ln/>
        </p:spPr>
        <p:txBody>
          <a:bodyPr wrap="square" lIns="0" tIns="0" rIns="0" bIns="0" rtlCol="0" anchor="ctr"/>
          <a:lstStyle/>
          <a:p>
            <a:pPr indent="0" marL="0">
              <a:buNone/>
            </a:pPr>
            <a:r>
              <a:rPr lang="en-US" sz="2400" dirty="0">
                <a:solidFill>
                  <a:srgbClr val="F5F5F3"/>
                </a:solidFill>
                <a:latin typeface="Consolas" pitchFamily="34" charset="0"/>
                <a:ea typeface="Consolas" pitchFamily="34" charset="-122"/>
                <a:cs typeface="Consolas" pitchFamily="34" charset="-120"/>
              </a:rPr>
              <a:t>Riley</a:t>
            </a:r>
            <a:endParaRPr lang="en-US" sz="2400" dirty="0"/>
          </a:p>
        </p:txBody>
      </p:sp>
      <p:sp>
        <p:nvSpPr>
          <p:cNvPr id="19" name="Text 17"/>
          <p:cNvSpPr txBox="1"/>
          <p:nvPr/>
        </p:nvSpPr>
        <p:spPr>
          <a:xfrm>
            <a:off x="7543800" y="4663440"/>
            <a:ext cx="4114800" cy="868680"/>
          </a:xfrm>
          <a:prstGeom prst="rect">
            <a:avLst/>
          </a:prstGeom>
          <a:noFill/>
          <a:ln/>
        </p:spPr>
        <p:txBody>
          <a:bodyPr wrap="square" lIns="0" tIns="0" rIns="0" bIns="0" rtlCol="0" anchor="ctr"/>
          <a:lstStyle/>
          <a:p>
            <a:pPr indent="0" marL="0">
              <a:buNone/>
            </a:pPr>
            <a:r>
              <a:rPr lang="en-US" sz="2200" b="1" dirty="0">
                <a:solidFill>
                  <a:srgbClr val="D8A73D"/>
                </a:solidFill>
                <a:latin typeface="Calibri" pitchFamily="34" charset="0"/>
                <a:ea typeface="Calibri" pitchFamily="34" charset="-122"/>
                <a:cs typeface="Calibri" pitchFamily="34" charset="-120"/>
              </a:rPr>
              <a:t>No quotes</a:t>
            </a:r>
            <a:pPr indent="0" marL="0">
              <a:buNone/>
            </a:pPr>
            <a:r>
              <a:rPr lang="en-US" sz="2200" dirty="0">
                <a:solidFill>
                  <a:srgbClr val="F5F5F3"/>
                </a:solidFill>
                <a:latin typeface="Calibri" pitchFamily="34" charset="0"/>
                <a:ea typeface="Calibri" pitchFamily="34" charset="-122"/>
                <a:cs typeface="Calibri" pitchFamily="34" charset="-120"/>
              </a:rPr>
              <a:t> → prints what’s stored inside</a:t>
            </a:r>
            <a:endParaRPr lang="en-US" sz="2200" dirty="0"/>
          </a:p>
        </p:txBody>
      </p:sp>
      <p:pic>
        <p:nvPicPr>
          <p:cNvPr id="20" name="Image 0" descr="New information">    </p:cNvPr>
          <p:cNvPicPr>
            <a:picLocks noChangeAspect="1"/>
          </p:cNvPicPr>
          <p:nvPr/>
        </p:nvPicPr>
        <p:blipFill>
          <a:blip r:embed="rId1"/>
          <a:stretch>
            <a:fillRect/>
          </a:stretch>
        </p:blipFill>
        <p:spPr>
          <a:xfrm>
            <a:off x="10972800" y="384048"/>
            <a:ext cx="731520" cy="731520"/>
          </a:xfrm>
          <a:prstGeom prst="rect">
            <a:avLst/>
          </a:prstGeom>
        </p:spPr>
      </p:pic>
      <p:sp>
        <p:nvSpPr>
          <p:cNvPr id="22" name="Text 18"/>
          <p:cNvSpPr txBox="1"/>
          <p:nvPr/>
        </p:nvSpPr>
        <p:spPr>
          <a:xfrm>
            <a:off x="4206240" y="6355080"/>
            <a:ext cx="6812280" cy="320040"/>
          </a:xfrm>
          <a:prstGeom prst="rect">
            <a:avLst/>
          </a:prstGeom>
          <a:noFill/>
          <a:ln/>
        </p:spPr>
        <p:txBody>
          <a:bodyPr wrap="square" lIns="0" tIns="0" rIns="0" bIns="0" rtlCol="0" anchor="ctr"/>
          <a:lstStyle/>
          <a:p>
            <a:pPr algn="r" indent="0" marL="0">
              <a:buNone/>
            </a:pPr>
            <a:r>
              <a:rPr lang="en-US" sz="1300" b="1" i="1" dirty="0">
                <a:solidFill>
                  <a:srgbClr val="D8A73D"/>
                </a:solidFill>
                <a:latin typeface="Calibri" pitchFamily="34" charset="0"/>
                <a:ea typeface="Calibri" pitchFamily="34" charset="-122"/>
                <a:cs typeface="Calibri" pitchFamily="34" charset="-120"/>
              </a:rPr>
              <a:t>pairSlide()  ·  Discriminating pair</a:t>
            </a:r>
            <a:endParaRPr lang="en-US" sz="13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548640"/>
            <a:ext cx="7315200" cy="320040"/>
          </a:xfrm>
          <a:prstGeom prst="rect">
            <a:avLst/>
          </a:prstGeom>
          <a:noFill/>
          <a:ln/>
        </p:spPr>
        <p:txBody>
          <a:bodyPr wrap="square" lIns="0" tIns="0" rIns="0" bIns="0" rtlCol="0" anchor="ctr"/>
          <a:lstStyle/>
          <a:p>
            <a:pPr indent="0" marL="0">
              <a:buNone/>
            </a:pPr>
            <a:r>
              <a:rPr lang="en-US" sz="1400" b="1" spc="300" kern="0" dirty="0">
                <a:solidFill>
                  <a:srgbClr val="D8A73D"/>
                </a:solidFill>
                <a:latin typeface="Calibri" pitchFamily="34" charset="0"/>
                <a:ea typeface="Calibri" pitchFamily="34" charset="-122"/>
                <a:cs typeface="Calibri" pitchFamily="34" charset="-120"/>
              </a:rPr>
              <a:t>THE STORY SO FAR</a:t>
            </a:r>
            <a:endParaRPr lang="en-US" sz="1400" dirty="0"/>
          </a:p>
        </p:txBody>
      </p:sp>
      <p:sp>
        <p:nvSpPr>
          <p:cNvPr id="3" name="Text 1"/>
          <p:cNvSpPr txBox="1"/>
          <p:nvPr/>
        </p:nvSpPr>
        <p:spPr>
          <a:xfrm>
            <a:off x="548640" y="914400"/>
            <a:ext cx="9144000" cy="914400"/>
          </a:xfrm>
          <a:prstGeom prst="rect">
            <a:avLst/>
          </a:prstGeom>
          <a:noFill/>
          <a:ln/>
        </p:spPr>
        <p:txBody>
          <a:bodyPr wrap="square" lIns="0" tIns="0" rIns="0" bIns="0" rtlCol="0" anchor="ctr"/>
          <a:lstStyle/>
          <a:p>
            <a:pPr indent="0" marL="0">
              <a:buNone/>
            </a:pPr>
            <a:r>
              <a:rPr lang="en-US" sz="4800" b="1" dirty="0">
                <a:solidFill>
                  <a:srgbClr val="F5F5F3"/>
                </a:solidFill>
                <a:latin typeface="Cambria" pitchFamily="34" charset="0"/>
                <a:ea typeface="Cambria" pitchFamily="34" charset="-122"/>
                <a:cs typeface="Cambria" pitchFamily="34" charset="-120"/>
              </a:rPr>
              <a:t>Wake Up</a:t>
            </a:r>
            <a:endParaRPr lang="en-US" sz="4800" dirty="0"/>
          </a:p>
        </p:txBody>
      </p:sp>
      <p:sp>
        <p:nvSpPr>
          <p:cNvPr id="4" name="terminal"/>
          <p:cNvSpPr/>
          <p:nvPr/>
        </p:nvSpPr>
        <p:spPr>
          <a:xfrm>
            <a:off x="548640" y="2148840"/>
            <a:ext cx="11091672" cy="3063240"/>
          </a:xfrm>
          <a:prstGeom prst="roundRect">
            <a:avLst>
              <a:gd name="adj" fmla="val 2388"/>
            </a:avLst>
          </a:prstGeom>
          <a:solidFill>
            <a:srgbClr val="0D1310"/>
          </a:solidFill>
          <a:ln w="15875">
            <a:solidFill>
              <a:srgbClr val="2C4434"/>
            </a:solidFill>
            <a:prstDash val="solid"/>
          </a:ln>
        </p:spPr>
      </p:sp>
      <p:sp>
        <p:nvSpPr>
          <p:cNvPr id="5" name="Text 3"/>
          <p:cNvSpPr txBox="1"/>
          <p:nvPr/>
        </p:nvSpPr>
        <p:spPr>
          <a:xfrm>
            <a:off x="777240" y="2331720"/>
            <a:ext cx="10634472" cy="274320"/>
          </a:xfrm>
          <a:prstGeom prst="rect">
            <a:avLst/>
          </a:prstGeom>
          <a:noFill/>
          <a:ln/>
        </p:spPr>
        <p:txBody>
          <a:bodyPr wrap="square" lIns="0" tIns="0" rIns="0" bIns="0" rtlCol="0" anchor="ctr"/>
          <a:lstStyle/>
          <a:p>
            <a:pPr indent="0" marL="0">
              <a:buNone/>
            </a:pPr>
            <a:r>
              <a:rPr lang="en-US" sz="1200" b="1" spc="200" kern="0" dirty="0">
                <a:solidFill>
                  <a:srgbClr val="7FD99A"/>
                </a:solidFill>
                <a:latin typeface="Calibri" pitchFamily="34" charset="0"/>
                <a:ea typeface="Calibri" pitchFamily="34" charset="-122"/>
                <a:cs typeface="Calibri" pitchFamily="34" charset="-120"/>
              </a:rPr>
              <a:t>CRYO BAY</a:t>
            </a:r>
            <a:endParaRPr lang="en-US" sz="1200" dirty="0"/>
          </a:p>
        </p:txBody>
      </p:sp>
      <p:sp>
        <p:nvSpPr>
          <p:cNvPr id="6" name="Text 4"/>
          <p:cNvSpPr txBox="1"/>
          <p:nvPr/>
        </p:nvSpPr>
        <p:spPr>
          <a:xfrm>
            <a:off x="777240" y="2697480"/>
            <a:ext cx="10634472" cy="457200"/>
          </a:xfrm>
          <a:prstGeom prst="rect">
            <a:avLst/>
          </a:prstGeom>
          <a:noFill/>
          <a:ln/>
        </p:spPr>
        <p:txBody>
          <a:bodyPr wrap="square" lIns="0" tIns="0" rIns="0" bIns="0" rtlCol="0" anchor="ctr"/>
          <a:lstStyle/>
          <a:p>
            <a:pPr indent="0" marL="0">
              <a:buNone/>
            </a:pPr>
            <a:r>
              <a:rPr lang="en-US" sz="2600" dirty="0">
                <a:solidFill>
                  <a:srgbClr val="7FD99A"/>
                </a:solidFill>
                <a:latin typeface="Consolas" pitchFamily="34" charset="0"/>
                <a:ea typeface="Consolas" pitchFamily="34" charset="-122"/>
                <a:cs typeface="Consolas" pitchFamily="34" charset="-120"/>
              </a:rPr>
              <a:t>A solar storm has wiped the station’s software.</a:t>
            </a:r>
            <a:endParaRPr lang="en-US" sz="2600" dirty="0"/>
          </a:p>
        </p:txBody>
      </p:sp>
      <p:sp>
        <p:nvSpPr>
          <p:cNvPr id="7" name="Text 5"/>
          <p:cNvSpPr txBox="1"/>
          <p:nvPr/>
        </p:nvSpPr>
        <p:spPr>
          <a:xfrm>
            <a:off x="777240" y="3154680"/>
            <a:ext cx="10634472" cy="457200"/>
          </a:xfrm>
          <a:prstGeom prst="rect">
            <a:avLst/>
          </a:prstGeom>
          <a:noFill/>
          <a:ln/>
        </p:spPr>
        <p:txBody>
          <a:bodyPr wrap="square" lIns="0" tIns="0" rIns="0" bIns="0" rtlCol="0" anchor="ctr"/>
          <a:lstStyle/>
          <a:p>
            <a:pPr indent="0" marL="0">
              <a:buNone/>
            </a:pPr>
            <a:endParaRPr lang="en-US" sz="2600" dirty="0"/>
          </a:p>
        </p:txBody>
      </p:sp>
      <p:sp>
        <p:nvSpPr>
          <p:cNvPr id="8" name="Text 6"/>
          <p:cNvSpPr txBox="1"/>
          <p:nvPr/>
        </p:nvSpPr>
        <p:spPr>
          <a:xfrm>
            <a:off x="777240" y="3611880"/>
            <a:ext cx="10634472" cy="457200"/>
          </a:xfrm>
          <a:prstGeom prst="rect">
            <a:avLst/>
          </a:prstGeom>
          <a:noFill/>
          <a:ln/>
        </p:spPr>
        <p:txBody>
          <a:bodyPr wrap="square" lIns="0" tIns="0" rIns="0" bIns="0" rtlCol="0" anchor="ctr"/>
          <a:lstStyle/>
          <a:p>
            <a:pPr indent="0" marL="0">
              <a:buNone/>
            </a:pPr>
            <a:r>
              <a:rPr lang="en-US" sz="2600" dirty="0">
                <a:solidFill>
                  <a:srgbClr val="7FD99A"/>
                </a:solidFill>
                <a:latin typeface="Consolas" pitchFamily="34" charset="0"/>
                <a:ea typeface="Consolas" pitchFamily="34" charset="-122"/>
                <a:cs typeface="Consolas" pitchFamily="34" charset="-120"/>
              </a:rPr>
              <a:t>You woke up alone. The crew are still frozen.</a:t>
            </a:r>
            <a:endParaRPr lang="en-US" sz="2600" dirty="0"/>
          </a:p>
        </p:txBody>
      </p:sp>
      <p:sp>
        <p:nvSpPr>
          <p:cNvPr id="9" name="Text 7"/>
          <p:cNvSpPr txBox="1"/>
          <p:nvPr/>
        </p:nvSpPr>
        <p:spPr>
          <a:xfrm>
            <a:off x="777240" y="4069080"/>
            <a:ext cx="10634472" cy="457200"/>
          </a:xfrm>
          <a:prstGeom prst="rect">
            <a:avLst/>
          </a:prstGeom>
          <a:noFill/>
          <a:ln/>
        </p:spPr>
        <p:txBody>
          <a:bodyPr wrap="square" lIns="0" tIns="0" rIns="0" bIns="0" rtlCol="0" anchor="ctr"/>
          <a:lstStyle/>
          <a:p>
            <a:pPr indent="0" marL="0">
              <a:buNone/>
            </a:pPr>
            <a:endParaRPr lang="en-US" sz="2600" dirty="0"/>
          </a:p>
        </p:txBody>
      </p:sp>
      <p:sp>
        <p:nvSpPr>
          <p:cNvPr id="10" name="Text 8"/>
          <p:cNvSpPr txBox="1"/>
          <p:nvPr/>
        </p:nvSpPr>
        <p:spPr>
          <a:xfrm>
            <a:off x="777240" y="4526280"/>
            <a:ext cx="10634472" cy="457200"/>
          </a:xfrm>
          <a:prstGeom prst="rect">
            <a:avLst/>
          </a:prstGeom>
          <a:noFill/>
          <a:ln/>
        </p:spPr>
        <p:txBody>
          <a:bodyPr wrap="square" lIns="0" tIns="0" rIns="0" bIns="0" rtlCol="0" anchor="ctr"/>
          <a:lstStyle/>
          <a:p>
            <a:pPr indent="0" marL="0">
              <a:buNone/>
            </a:pPr>
            <a:r>
              <a:rPr lang="en-US" sz="2600" dirty="0">
                <a:solidFill>
                  <a:srgbClr val="7FD99A"/>
                </a:solidFill>
                <a:latin typeface="Consolas" pitchFamily="34" charset="0"/>
                <a:ea typeface="Consolas" pitchFamily="34" charset="-122"/>
                <a:cs typeface="Consolas" pitchFamily="34" charset="-120"/>
              </a:rPr>
              <a:t>Every door is sealed.</a:t>
            </a:r>
            <a:endParaRPr lang="en-US" sz="2600" dirty="0"/>
          </a:p>
        </p:txBody>
      </p:sp>
      <p:pic>
        <p:nvPicPr>
          <p:cNvPr id="11" name="Image 0" descr="Deliberate practice">    </p:cNvPr>
          <p:cNvPicPr>
            <a:picLocks noChangeAspect="1"/>
          </p:cNvPicPr>
          <p:nvPr/>
        </p:nvPicPr>
        <p:blipFill>
          <a:blip r:embed="rId1"/>
          <a:stretch>
            <a:fillRect/>
          </a:stretch>
        </p:blipFill>
        <p:spPr>
          <a:xfrm>
            <a:off x="10972800" y="384048"/>
            <a:ext cx="731520" cy="731520"/>
          </a:xfrm>
          <a:prstGeom prst="rect">
            <a:avLst/>
          </a:prstGeom>
        </p:spPr>
      </p:pic>
      <p:sp>
        <p:nvSpPr>
          <p:cNvPr id="13" name="Text 9"/>
          <p:cNvSpPr txBox="1"/>
          <p:nvPr/>
        </p:nvSpPr>
        <p:spPr>
          <a:xfrm>
            <a:off x="4206240" y="6355080"/>
            <a:ext cx="6812280" cy="320040"/>
          </a:xfrm>
          <a:prstGeom prst="rect">
            <a:avLst/>
          </a:prstGeom>
          <a:noFill/>
          <a:ln/>
        </p:spPr>
        <p:txBody>
          <a:bodyPr wrap="square" lIns="0" tIns="0" rIns="0" bIns="0" rtlCol="0" anchor="ctr"/>
          <a:lstStyle/>
          <a:p>
            <a:pPr algn="r" indent="0" marL="0">
              <a:buNone/>
            </a:pPr>
            <a:r>
              <a:rPr lang="en-US" sz="1300" b="1" i="1" dirty="0">
                <a:solidFill>
                  <a:srgbClr val="D8A73D"/>
                </a:solidFill>
                <a:latin typeface="Calibri" pitchFamily="34" charset="0"/>
                <a:ea typeface="Calibri" pitchFamily="34" charset="-122"/>
                <a:cs typeface="Calibri" pitchFamily="34" charset="-120"/>
              </a:rPr>
              <a:t>storySoFarSlide()  ·  Story so far (before Predict)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Predict</a:t>
            </a:r>
            <a:endParaRPr lang="en-US" sz="3600" dirty="0"/>
          </a:p>
        </p:txBody>
      </p:sp>
      <p:sp>
        <p:nvSpPr>
          <p:cNvPr id="3" name="code"/>
          <p:cNvSpPr/>
          <p:nvPr/>
        </p:nvSpPr>
        <p:spPr>
          <a:xfrm>
            <a:off x="548640" y="1600200"/>
            <a:ext cx="7040880" cy="2246376"/>
          </a:xfrm>
          <a:prstGeom prst="roundRect">
            <a:avLst>
              <a:gd name="adj" fmla="val 3256"/>
            </a:avLst>
          </a:prstGeom>
          <a:solidFill>
            <a:srgbClr val="111115"/>
          </a:solidFill>
          <a:ln w="15875">
            <a:solidFill>
              <a:srgbClr val="3A3A44"/>
            </a:solidFill>
            <a:prstDash val="solid"/>
          </a:ln>
        </p:spPr>
      </p:sp>
      <p:sp>
        <p:nvSpPr>
          <p:cNvPr id="4" name="Text 2"/>
          <p:cNvSpPr txBox="1"/>
          <p:nvPr/>
        </p:nvSpPr>
        <p:spPr>
          <a:xfrm>
            <a:off x="658368" y="1801368"/>
            <a:ext cx="274320" cy="461010"/>
          </a:xfrm>
          <a:prstGeom prst="rect">
            <a:avLst/>
          </a:prstGeom>
          <a:noFill/>
          <a:ln/>
        </p:spPr>
        <p:txBody>
          <a:bodyPr wrap="square" lIns="0" tIns="0" rIns="0" bIns="0" rtlCol="0" anchor="ctr"/>
          <a:lstStyle/>
          <a:p>
            <a:pPr algn="r" indent="0" marL="0">
              <a:buNone/>
            </a:pPr>
            <a:r>
              <a:rPr lang="en-US" sz="1800" dirty="0">
                <a:solidFill>
                  <a:srgbClr val="6E6E7A"/>
                </a:solidFill>
                <a:latin typeface="Consolas" pitchFamily="34" charset="0"/>
                <a:ea typeface="Consolas" pitchFamily="34" charset="-122"/>
                <a:cs typeface="Consolas" pitchFamily="34" charset="-120"/>
              </a:rPr>
              <a:t>1</a:t>
            </a:r>
            <a:endParaRPr lang="en-US" sz="1800" dirty="0"/>
          </a:p>
        </p:txBody>
      </p:sp>
      <p:sp>
        <p:nvSpPr>
          <p:cNvPr id="5" name="Text 3"/>
          <p:cNvSpPr txBox="1"/>
          <p:nvPr/>
        </p:nvSpPr>
        <p:spPr>
          <a:xfrm>
            <a:off x="1188720" y="1801368"/>
            <a:ext cx="6309360" cy="461010"/>
          </a:xfrm>
          <a:prstGeom prst="rect">
            <a:avLst/>
          </a:prstGeom>
          <a:noFill/>
          <a:ln/>
        </p:spPr>
        <p:txBody>
          <a:bodyPr wrap="square" lIns="0" tIns="0" rIns="0" bIns="0" rtlCol="0" anchor="ctr"/>
          <a:lstStyle/>
          <a:p>
            <a:pPr indent="0" marL="0">
              <a:buNone/>
            </a:pPr>
            <a:r>
              <a:rPr lang="en-US" sz="2200" dirty="0">
                <a:solidFill>
                  <a:srgbClr val="F5F5F3"/>
                </a:solidFill>
                <a:latin typeface="Consolas" pitchFamily="34" charset="0"/>
                <a:ea typeface="Consolas" pitchFamily="34" charset="-122"/>
                <a:cs typeface="Consolas" pitchFamily="34" charset="-120"/>
              </a:rPr>
              <a:t>room</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E8C878"/>
                </a:solidFill>
                <a:latin typeface="Consolas" pitchFamily="34" charset="0"/>
                <a:ea typeface="Consolas" pitchFamily="34" charset="-122"/>
                <a:cs typeface="Consolas" pitchFamily="34" charset="-120"/>
              </a:rPr>
              <a:t>input</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E69F00"/>
                </a:solidFill>
                <a:latin typeface="Consolas" pitchFamily="34" charset="0"/>
                <a:ea typeface="Consolas" pitchFamily="34" charset="-122"/>
                <a:cs typeface="Consolas" pitchFamily="34" charset="-120"/>
              </a:rPr>
              <a:t>"Which room? "</a:t>
            </a:r>
            <a:pPr indent="0" marL="0">
              <a:buNone/>
            </a:pPr>
            <a:r>
              <a:rPr lang="en-US" sz="2200" dirty="0">
                <a:solidFill>
                  <a:srgbClr val="A9A9B4"/>
                </a:solidFill>
                <a:latin typeface="Consolas" pitchFamily="34" charset="0"/>
                <a:ea typeface="Consolas" pitchFamily="34" charset="-122"/>
                <a:cs typeface="Consolas" pitchFamily="34" charset="-120"/>
              </a:rPr>
              <a:t>)</a:t>
            </a:r>
            <a:endParaRPr lang="en-US" sz="2200" dirty="0"/>
          </a:p>
        </p:txBody>
      </p:sp>
      <p:sp>
        <p:nvSpPr>
          <p:cNvPr id="6" name="Text 4"/>
          <p:cNvSpPr txBox="1"/>
          <p:nvPr/>
        </p:nvSpPr>
        <p:spPr>
          <a:xfrm>
            <a:off x="658368" y="2262378"/>
            <a:ext cx="274320" cy="461010"/>
          </a:xfrm>
          <a:prstGeom prst="rect">
            <a:avLst/>
          </a:prstGeom>
          <a:noFill/>
          <a:ln/>
        </p:spPr>
        <p:txBody>
          <a:bodyPr wrap="square" lIns="0" tIns="0" rIns="0" bIns="0" rtlCol="0" anchor="ctr"/>
          <a:lstStyle/>
          <a:p>
            <a:pPr algn="r" indent="0" marL="0">
              <a:buNone/>
            </a:pPr>
            <a:r>
              <a:rPr lang="en-US" sz="1800" dirty="0">
                <a:solidFill>
                  <a:srgbClr val="6E6E7A"/>
                </a:solidFill>
                <a:latin typeface="Consolas" pitchFamily="34" charset="0"/>
                <a:ea typeface="Consolas" pitchFamily="34" charset="-122"/>
                <a:cs typeface="Consolas" pitchFamily="34" charset="-120"/>
              </a:rPr>
              <a:t>2</a:t>
            </a:r>
            <a:endParaRPr lang="en-US" sz="1800" dirty="0"/>
          </a:p>
        </p:txBody>
      </p:sp>
      <p:sp>
        <p:nvSpPr>
          <p:cNvPr id="7" name="Text 5"/>
          <p:cNvSpPr txBox="1"/>
          <p:nvPr/>
        </p:nvSpPr>
        <p:spPr>
          <a:xfrm>
            <a:off x="1188720" y="2262378"/>
            <a:ext cx="6309360" cy="461010"/>
          </a:xfrm>
          <a:prstGeom prst="rect">
            <a:avLst/>
          </a:prstGeom>
          <a:noFill/>
          <a:ln/>
        </p:spPr>
        <p:txBody>
          <a:bodyPr wrap="square" lIns="0" tIns="0" rIns="0" bIns="0" rtlCol="0" anchor="ctr"/>
          <a:lstStyle/>
          <a:p>
            <a:pPr indent="0" marL="0">
              <a:buNone/>
            </a:pPr>
            <a:r>
              <a:rPr lang="en-US" sz="2200" dirty="0">
                <a:solidFill>
                  <a:srgbClr val="F5F5F3"/>
                </a:solidFill>
                <a:latin typeface="Consolas" pitchFamily="34" charset="0"/>
                <a:ea typeface="Consolas" pitchFamily="34" charset="-122"/>
                <a:cs typeface="Consolas" pitchFamily="34" charset="-120"/>
              </a:rPr>
              <a:t>level</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E8C878"/>
                </a:solidFill>
                <a:latin typeface="Consolas" pitchFamily="34" charset="0"/>
                <a:ea typeface="Consolas" pitchFamily="34" charset="-122"/>
                <a:cs typeface="Consolas" pitchFamily="34" charset="-120"/>
              </a:rPr>
              <a:t>input</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E69F00"/>
                </a:solidFill>
                <a:latin typeface="Consolas" pitchFamily="34" charset="0"/>
                <a:ea typeface="Consolas" pitchFamily="34" charset="-122"/>
                <a:cs typeface="Consolas" pitchFamily="34" charset="-120"/>
              </a:rPr>
              <a:t>"Which level? "</a:t>
            </a:r>
            <a:pPr indent="0" marL="0">
              <a:buNone/>
            </a:pPr>
            <a:r>
              <a:rPr lang="en-US" sz="2200" dirty="0">
                <a:solidFill>
                  <a:srgbClr val="A9A9B4"/>
                </a:solidFill>
                <a:latin typeface="Consolas" pitchFamily="34" charset="0"/>
                <a:ea typeface="Consolas" pitchFamily="34" charset="-122"/>
                <a:cs typeface="Consolas" pitchFamily="34" charset="-120"/>
              </a:rPr>
              <a:t>)</a:t>
            </a:r>
            <a:endParaRPr lang="en-US" sz="2200" dirty="0"/>
          </a:p>
        </p:txBody>
      </p:sp>
      <p:sp>
        <p:nvSpPr>
          <p:cNvPr id="8" name="Text 6"/>
          <p:cNvSpPr txBox="1"/>
          <p:nvPr/>
        </p:nvSpPr>
        <p:spPr>
          <a:xfrm>
            <a:off x="658368" y="2723388"/>
            <a:ext cx="274320" cy="461010"/>
          </a:xfrm>
          <a:prstGeom prst="rect">
            <a:avLst/>
          </a:prstGeom>
          <a:noFill/>
          <a:ln/>
        </p:spPr>
        <p:txBody>
          <a:bodyPr wrap="square" lIns="0" tIns="0" rIns="0" bIns="0" rtlCol="0" anchor="ctr"/>
          <a:lstStyle/>
          <a:p>
            <a:pPr algn="r" indent="0" marL="0">
              <a:buNone/>
            </a:pPr>
            <a:r>
              <a:rPr lang="en-US" sz="1800" dirty="0">
                <a:solidFill>
                  <a:srgbClr val="6E6E7A"/>
                </a:solidFill>
                <a:latin typeface="Consolas" pitchFamily="34" charset="0"/>
                <a:ea typeface="Consolas" pitchFamily="34" charset="-122"/>
                <a:cs typeface="Consolas" pitchFamily="34" charset="-120"/>
              </a:rPr>
              <a:t>3</a:t>
            </a:r>
            <a:endParaRPr lang="en-US" sz="1800" dirty="0"/>
          </a:p>
        </p:txBody>
      </p:sp>
      <p:sp>
        <p:nvSpPr>
          <p:cNvPr id="9" name="Text 7"/>
          <p:cNvSpPr txBox="1"/>
          <p:nvPr/>
        </p:nvSpPr>
        <p:spPr>
          <a:xfrm>
            <a:off x="1188720" y="2723388"/>
            <a:ext cx="6309360" cy="461010"/>
          </a:xfrm>
          <a:prstGeom prst="rect">
            <a:avLst/>
          </a:prstGeom>
          <a:noFill/>
          <a:ln/>
        </p:spPr>
        <p:txBody>
          <a:bodyPr wrap="square" lIns="0" tIns="0" rIns="0" bIns="0" rtlCol="0" anchor="ctr"/>
          <a:lstStyle/>
          <a:p>
            <a:pPr indent="0" marL="0">
              <a:buNone/>
            </a:pPr>
            <a:r>
              <a:rPr lang="en-US" sz="2200" dirty="0">
                <a:solidFill>
                  <a:srgbClr val="E8C878"/>
                </a:solidFill>
                <a:latin typeface="Consolas" pitchFamily="34" charset="0"/>
                <a:ea typeface="Consolas" pitchFamily="34" charset="-122"/>
                <a:cs typeface="Consolas" pitchFamily="34" charset="-120"/>
              </a:rPr>
              <a:t>print</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E69F00"/>
                </a:solidFill>
                <a:latin typeface="Consolas" pitchFamily="34" charset="0"/>
                <a:ea typeface="Consolas" pitchFamily="34" charset="-122"/>
                <a:cs typeface="Consolas" pitchFamily="34" charset="-120"/>
              </a:rPr>
              <a:t>"Scanning..."</a:t>
            </a:r>
            <a:pPr indent="0" marL="0">
              <a:buNone/>
            </a:pPr>
            <a:r>
              <a:rPr lang="en-US" sz="2200" dirty="0">
                <a:solidFill>
                  <a:srgbClr val="A9A9B4"/>
                </a:solidFill>
                <a:latin typeface="Consolas" pitchFamily="34" charset="0"/>
                <a:ea typeface="Consolas" pitchFamily="34" charset="-122"/>
                <a:cs typeface="Consolas" pitchFamily="34" charset="-120"/>
              </a:rPr>
              <a:t>)</a:t>
            </a:r>
            <a:endParaRPr lang="en-US" sz="2200" dirty="0"/>
          </a:p>
        </p:txBody>
      </p:sp>
      <p:sp>
        <p:nvSpPr>
          <p:cNvPr id="10" name="Text 8"/>
          <p:cNvSpPr txBox="1"/>
          <p:nvPr/>
        </p:nvSpPr>
        <p:spPr>
          <a:xfrm>
            <a:off x="658368" y="3184398"/>
            <a:ext cx="274320" cy="461010"/>
          </a:xfrm>
          <a:prstGeom prst="rect">
            <a:avLst/>
          </a:prstGeom>
          <a:noFill/>
          <a:ln/>
        </p:spPr>
        <p:txBody>
          <a:bodyPr wrap="square" lIns="0" tIns="0" rIns="0" bIns="0" rtlCol="0" anchor="ctr"/>
          <a:lstStyle/>
          <a:p>
            <a:pPr algn="r" indent="0" marL="0">
              <a:buNone/>
            </a:pPr>
            <a:r>
              <a:rPr lang="en-US" sz="1800" dirty="0">
                <a:solidFill>
                  <a:srgbClr val="6E6E7A"/>
                </a:solidFill>
                <a:latin typeface="Consolas" pitchFamily="34" charset="0"/>
                <a:ea typeface="Consolas" pitchFamily="34" charset="-122"/>
                <a:cs typeface="Consolas" pitchFamily="34" charset="-120"/>
              </a:rPr>
              <a:t>4</a:t>
            </a:r>
            <a:endParaRPr lang="en-US" sz="1800" dirty="0"/>
          </a:p>
        </p:txBody>
      </p:sp>
      <p:sp>
        <p:nvSpPr>
          <p:cNvPr id="11" name="Text 9"/>
          <p:cNvSpPr txBox="1"/>
          <p:nvPr/>
        </p:nvSpPr>
        <p:spPr>
          <a:xfrm>
            <a:off x="1188720" y="3184398"/>
            <a:ext cx="6309360" cy="461010"/>
          </a:xfrm>
          <a:prstGeom prst="rect">
            <a:avLst/>
          </a:prstGeom>
          <a:noFill/>
          <a:ln/>
        </p:spPr>
        <p:txBody>
          <a:bodyPr wrap="square" lIns="0" tIns="0" rIns="0" bIns="0" rtlCol="0" anchor="ctr"/>
          <a:lstStyle/>
          <a:p>
            <a:pPr indent="0" marL="0">
              <a:buNone/>
            </a:pPr>
            <a:r>
              <a:rPr lang="en-US" sz="2200" dirty="0">
                <a:solidFill>
                  <a:srgbClr val="E8C878"/>
                </a:solidFill>
                <a:latin typeface="Consolas" pitchFamily="34" charset="0"/>
                <a:ea typeface="Consolas" pitchFamily="34" charset="-122"/>
                <a:cs typeface="Consolas" pitchFamily="34" charset="-120"/>
              </a:rPr>
              <a:t>print</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F5F5F3"/>
                </a:solidFill>
                <a:latin typeface="Consolas" pitchFamily="34" charset="0"/>
                <a:ea typeface="Consolas" pitchFamily="34" charset="-122"/>
                <a:cs typeface="Consolas" pitchFamily="34" charset="-120"/>
              </a:rPr>
              <a:t>room</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E69F00"/>
                </a:solidFill>
                <a:latin typeface="Consolas" pitchFamily="34" charset="0"/>
                <a:ea typeface="Consolas" pitchFamily="34" charset="-122"/>
                <a:cs typeface="Consolas" pitchFamily="34" charset="-120"/>
              </a:rPr>
              <a:t>" on level "</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F5F5F3"/>
                </a:solidFill>
                <a:latin typeface="Consolas" pitchFamily="34" charset="0"/>
                <a:ea typeface="Consolas" pitchFamily="34" charset="-122"/>
                <a:cs typeface="Consolas" pitchFamily="34" charset="-120"/>
              </a:rPr>
              <a:t>level</a:t>
            </a:r>
            <a:pPr indent="0" marL="0">
              <a:buNone/>
            </a:pPr>
            <a:r>
              <a:rPr lang="en-US" sz="2200" dirty="0">
                <a:solidFill>
                  <a:srgbClr val="A9A9B4"/>
                </a:solidFill>
                <a:latin typeface="Consolas" pitchFamily="34" charset="0"/>
                <a:ea typeface="Consolas" pitchFamily="34" charset="-122"/>
                <a:cs typeface="Consolas" pitchFamily="34" charset="-120"/>
              </a:rPr>
              <a:t>)</a:t>
            </a:r>
            <a:endParaRPr lang="en-US" sz="2200" dirty="0"/>
          </a:p>
        </p:txBody>
      </p:sp>
      <p:sp>
        <p:nvSpPr>
          <p:cNvPr id="12" name="Shape 10"/>
          <p:cNvSpPr/>
          <p:nvPr/>
        </p:nvSpPr>
        <p:spPr>
          <a:xfrm>
            <a:off x="7909560" y="1600200"/>
            <a:ext cx="3730752" cy="1947672"/>
          </a:xfrm>
          <a:prstGeom prst="roundRect">
            <a:avLst>
              <a:gd name="adj" fmla="val 3756"/>
            </a:avLst>
          </a:prstGeom>
          <a:solidFill>
            <a:srgbClr val="2A2A32"/>
          </a:solidFill>
          <a:ln/>
        </p:spPr>
      </p:sp>
      <p:sp>
        <p:nvSpPr>
          <p:cNvPr id="13" name="Text 11"/>
          <p:cNvSpPr txBox="1"/>
          <p:nvPr/>
        </p:nvSpPr>
        <p:spPr>
          <a:xfrm>
            <a:off x="8183880" y="1783080"/>
            <a:ext cx="3200400" cy="274320"/>
          </a:xfrm>
          <a:prstGeom prst="rect">
            <a:avLst/>
          </a:prstGeom>
          <a:noFill/>
          <a:ln/>
        </p:spPr>
        <p:txBody>
          <a:bodyPr wrap="square" lIns="0" tIns="0" rIns="0" bIns="0" rtlCol="0" anchor="ctr"/>
          <a:lstStyle/>
          <a:p>
            <a:pPr indent="0" marL="0">
              <a:buNone/>
            </a:pPr>
            <a:r>
              <a:rPr lang="en-US" sz="1300" b="1" spc="200" kern="0" dirty="0">
                <a:solidFill>
                  <a:srgbClr val="6E6E7A"/>
                </a:solidFill>
                <a:latin typeface="Calibri" pitchFamily="34" charset="0"/>
                <a:ea typeface="Calibri" pitchFamily="34" charset="-122"/>
                <a:cs typeface="Calibri" pitchFamily="34" charset="-120"/>
              </a:rPr>
              <a:t>THE USER TYPES</a:t>
            </a:r>
            <a:endParaRPr lang="en-US" sz="1300" dirty="0"/>
          </a:p>
        </p:txBody>
      </p:sp>
      <p:sp>
        <p:nvSpPr>
          <p:cNvPr id="14" name="Text 12"/>
          <p:cNvSpPr txBox="1"/>
          <p:nvPr/>
        </p:nvSpPr>
        <p:spPr>
          <a:xfrm>
            <a:off x="8183880" y="2148840"/>
            <a:ext cx="3291840" cy="502920"/>
          </a:xfrm>
          <a:prstGeom prst="rect">
            <a:avLst/>
          </a:prstGeom>
          <a:noFill/>
          <a:ln/>
        </p:spPr>
        <p:txBody>
          <a:bodyPr wrap="square" lIns="0" tIns="0" rIns="0" bIns="0" rtlCol="0" anchor="ctr"/>
          <a:lstStyle/>
          <a:p>
            <a:pPr indent="0" marL="0">
              <a:buNone/>
            </a:pPr>
            <a:r>
              <a:rPr lang="en-US" sz="1800" dirty="0">
                <a:solidFill>
                  <a:srgbClr val="A9A9B4"/>
                </a:solidFill>
                <a:latin typeface="Calibri" pitchFamily="34" charset="0"/>
                <a:ea typeface="Calibri" pitchFamily="34" charset="-122"/>
                <a:cs typeface="Calibri" pitchFamily="34" charset="-120"/>
              </a:rPr>
              <a:t>1st   </a:t>
            </a:r>
            <a:pPr indent="0" marL="0">
              <a:buNone/>
            </a:pPr>
            <a:r>
              <a:rPr lang="en-US" sz="2800" b="1" dirty="0">
                <a:solidFill>
                  <a:srgbClr val="E69F00"/>
                </a:solidFill>
                <a:latin typeface="Consolas" pitchFamily="34" charset="0"/>
                <a:ea typeface="Consolas" pitchFamily="34" charset="-122"/>
                <a:cs typeface="Consolas" pitchFamily="34" charset="-120"/>
              </a:rPr>
              <a:t>Medbay</a:t>
            </a:r>
            <a:endParaRPr lang="en-US" sz="2800" dirty="0"/>
          </a:p>
        </p:txBody>
      </p:sp>
      <p:sp>
        <p:nvSpPr>
          <p:cNvPr id="15" name="Text 13"/>
          <p:cNvSpPr txBox="1"/>
          <p:nvPr/>
        </p:nvSpPr>
        <p:spPr>
          <a:xfrm>
            <a:off x="8183880" y="2697480"/>
            <a:ext cx="3291840" cy="502920"/>
          </a:xfrm>
          <a:prstGeom prst="rect">
            <a:avLst/>
          </a:prstGeom>
          <a:noFill/>
          <a:ln/>
        </p:spPr>
        <p:txBody>
          <a:bodyPr wrap="square" lIns="0" tIns="0" rIns="0" bIns="0" rtlCol="0" anchor="ctr"/>
          <a:lstStyle/>
          <a:p>
            <a:pPr indent="0" marL="0">
              <a:buNone/>
            </a:pPr>
            <a:r>
              <a:rPr lang="en-US" sz="1800" dirty="0">
                <a:solidFill>
                  <a:srgbClr val="A9A9B4"/>
                </a:solidFill>
                <a:latin typeface="Calibri" pitchFamily="34" charset="0"/>
                <a:ea typeface="Calibri" pitchFamily="34" charset="-122"/>
                <a:cs typeface="Calibri" pitchFamily="34" charset="-120"/>
              </a:rPr>
              <a:t>2nd   </a:t>
            </a:r>
            <a:pPr indent="0" marL="0">
              <a:buNone/>
            </a:pPr>
            <a:r>
              <a:rPr lang="en-US" sz="2800" b="1" dirty="0">
                <a:solidFill>
                  <a:srgbClr val="E69F00"/>
                </a:solidFill>
                <a:latin typeface="Consolas" pitchFamily="34" charset="0"/>
                <a:ea typeface="Consolas" pitchFamily="34" charset="-122"/>
                <a:cs typeface="Consolas" pitchFamily="34" charset="-120"/>
              </a:rPr>
              <a:t>3</a:t>
            </a:r>
            <a:endParaRPr lang="en-US" sz="2800" dirty="0"/>
          </a:p>
        </p:txBody>
      </p:sp>
      <p:sp>
        <p:nvSpPr>
          <p:cNvPr id="16" name="Shape 14"/>
          <p:cNvSpPr/>
          <p:nvPr/>
        </p:nvSpPr>
        <p:spPr>
          <a:xfrm>
            <a:off x="548640" y="4160520"/>
            <a:ext cx="11091672" cy="1280160"/>
          </a:xfrm>
          <a:prstGeom prst="roundRect">
            <a:avLst>
              <a:gd name="adj" fmla="val 5714"/>
            </a:avLst>
          </a:prstGeom>
          <a:solidFill>
            <a:srgbClr val="1E1E24"/>
          </a:solidFill>
          <a:ln w="25400">
            <a:solidFill>
              <a:srgbClr val="D8A73D"/>
            </a:solidFill>
            <a:prstDash val="solid"/>
          </a:ln>
        </p:spPr>
      </p:sp>
      <p:sp>
        <p:nvSpPr>
          <p:cNvPr id="17" name="Text 15"/>
          <p:cNvSpPr txBox="1"/>
          <p:nvPr/>
        </p:nvSpPr>
        <p:spPr>
          <a:xfrm>
            <a:off x="914400" y="4160520"/>
            <a:ext cx="10332720" cy="1280160"/>
          </a:xfrm>
          <a:prstGeom prst="rect">
            <a:avLst/>
          </a:prstGeom>
          <a:noFill/>
          <a:ln/>
        </p:spPr>
        <p:txBody>
          <a:bodyPr wrap="square" lIns="0" tIns="0" rIns="0" bIns="0" rtlCol="0" anchor="ctr"/>
          <a:lstStyle/>
          <a:p>
            <a:pPr indent="0" marL="0">
              <a:buNone/>
            </a:pPr>
            <a:r>
              <a:rPr lang="en-US" sz="2500" b="1" dirty="0">
                <a:solidFill>
                  <a:srgbClr val="D8A73D"/>
                </a:solidFill>
                <a:latin typeface="Calibri" pitchFamily="34" charset="0"/>
                <a:ea typeface="Calibri" pitchFamily="34" charset="-122"/>
                <a:cs typeface="Calibri" pitchFamily="34" charset="-120"/>
              </a:rPr>
              <a:t>On your whiteboard: </a:t>
            </a:r>
            <a:pPr indent="0" marL="0">
              <a:buNone/>
            </a:pPr>
            <a:r>
              <a:rPr lang="en-US" sz="2500" dirty="0">
                <a:solidFill>
                  <a:srgbClr val="F5F5F3"/>
                </a:solidFill>
                <a:latin typeface="Calibri" pitchFamily="34" charset="0"/>
                <a:ea typeface="Calibri" pitchFamily="34" charset="-122"/>
                <a:cs typeface="Calibri" pitchFamily="34" charset="-120"/>
              </a:rPr>
              <a:t>write the exact last line this program prints.</a:t>
            </a:r>
            <a:endParaRPr lang="en-US" sz="2500" dirty="0"/>
          </a:p>
        </p:txBody>
      </p:sp>
      <p:sp>
        <p:nvSpPr>
          <p:cNvPr id="18" name="Shape 16"/>
          <p:cNvSpPr/>
          <p:nvPr/>
        </p:nvSpPr>
        <p:spPr>
          <a:xfrm>
            <a:off x="9464040" y="566928"/>
            <a:ext cx="1280160" cy="329184"/>
          </a:xfrm>
          <a:prstGeom prst="roundRect">
            <a:avLst>
              <a:gd name="adj" fmla="val 50000"/>
            </a:avLst>
          </a:prstGeom>
          <a:solidFill>
            <a:srgbClr val="1E1E24"/>
          </a:solidFill>
          <a:ln w="15875">
            <a:solidFill>
              <a:srgbClr val="D8A73D"/>
            </a:solidFill>
            <a:prstDash val="solid"/>
          </a:ln>
        </p:spPr>
      </p:sp>
      <p:sp>
        <p:nvSpPr>
          <p:cNvPr id="19" name="Text 17"/>
          <p:cNvSpPr txBox="1"/>
          <p:nvPr/>
        </p:nvSpPr>
        <p:spPr>
          <a:xfrm>
            <a:off x="9464040" y="566928"/>
            <a:ext cx="1280160" cy="329184"/>
          </a:xfrm>
          <a:prstGeom prst="rect">
            <a:avLst/>
          </a:prstGeom>
          <a:noFill/>
          <a:ln/>
        </p:spPr>
        <p:txBody>
          <a:bodyPr wrap="square" lIns="0" tIns="0" rIns="0" bIns="0" rtlCol="0" anchor="ctr"/>
          <a:lstStyle/>
          <a:p>
            <a:pPr algn="ctr" indent="0" marL="0">
              <a:buNone/>
            </a:pPr>
            <a:r>
              <a:rPr lang="en-US" sz="1400" b="1" spc="100" kern="0" dirty="0">
                <a:solidFill>
                  <a:srgbClr val="D8A73D"/>
                </a:solidFill>
                <a:latin typeface="Calibri" pitchFamily="34" charset="0"/>
                <a:ea typeface="Calibri" pitchFamily="34" charset="-122"/>
                <a:cs typeface="Calibri" pitchFamily="34" charset="-120"/>
              </a:rPr>
              <a:t>⏱  2 MIN</a:t>
            </a:r>
            <a:endParaRPr lang="en-US" sz="1400" dirty="0"/>
          </a:p>
        </p:txBody>
      </p:sp>
      <p:pic>
        <p:nvPicPr>
          <p:cNvPr id="20" name="Image 0" descr="Deliberate practice">    </p:cNvPr>
          <p:cNvPicPr>
            <a:picLocks noChangeAspect="1"/>
          </p:cNvPicPr>
          <p:nvPr/>
        </p:nvPicPr>
        <p:blipFill>
          <a:blip r:embed="rId1"/>
          <a:stretch>
            <a:fillRect/>
          </a:stretch>
        </p:blipFill>
        <p:spPr>
          <a:xfrm>
            <a:off x="10972800" y="384048"/>
            <a:ext cx="731520" cy="731520"/>
          </a:xfrm>
          <a:prstGeom prst="rect">
            <a:avLst/>
          </a:prstGeom>
        </p:spPr>
      </p:pic>
      <p:sp>
        <p:nvSpPr>
          <p:cNvPr id="22" name="Text 18"/>
          <p:cNvSpPr txBox="1"/>
          <p:nvPr/>
        </p:nvSpPr>
        <p:spPr>
          <a:xfrm>
            <a:off x="4206240" y="6355080"/>
            <a:ext cx="6812280" cy="320040"/>
          </a:xfrm>
          <a:prstGeom prst="rect">
            <a:avLst/>
          </a:prstGeom>
          <a:noFill/>
          <a:ln/>
        </p:spPr>
        <p:txBody>
          <a:bodyPr wrap="square" lIns="0" tIns="0" rIns="0" bIns="0" rtlCol="0" anchor="ctr"/>
          <a:lstStyle/>
          <a:p>
            <a:pPr algn="r" indent="0" marL="0">
              <a:buNone/>
            </a:pPr>
            <a:r>
              <a:rPr lang="en-US" sz="1300" b="1" i="1" dirty="0">
                <a:solidFill>
                  <a:srgbClr val="D8A73D"/>
                </a:solidFill>
                <a:latin typeface="Calibri" pitchFamily="34" charset="0"/>
                <a:ea typeface="Calibri" pitchFamily="34" charset="-122"/>
                <a:cs typeface="Calibri" pitchFamily="34" charset="-120"/>
              </a:rPr>
              <a:t>predictSlide()  ·  Predict (mini-whiteboards)</a:t>
            </a:r>
            <a:endParaRPr lang="en-US" sz="13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Predict — what it prints</a:t>
            </a:r>
            <a:endParaRPr lang="en-US" sz="3600" dirty="0"/>
          </a:p>
        </p:txBody>
      </p:sp>
      <p:sp>
        <p:nvSpPr>
          <p:cNvPr id="3" name="code"/>
          <p:cNvSpPr/>
          <p:nvPr/>
        </p:nvSpPr>
        <p:spPr>
          <a:xfrm>
            <a:off x="548640" y="1600200"/>
            <a:ext cx="7040880" cy="2246376"/>
          </a:xfrm>
          <a:prstGeom prst="roundRect">
            <a:avLst>
              <a:gd name="adj" fmla="val 3256"/>
            </a:avLst>
          </a:prstGeom>
          <a:solidFill>
            <a:srgbClr val="111115"/>
          </a:solidFill>
          <a:ln w="15875">
            <a:solidFill>
              <a:srgbClr val="3A3A44"/>
            </a:solidFill>
            <a:prstDash val="solid"/>
          </a:ln>
        </p:spPr>
      </p:sp>
      <p:sp>
        <p:nvSpPr>
          <p:cNvPr id="4" name="Text 2"/>
          <p:cNvSpPr txBox="1"/>
          <p:nvPr/>
        </p:nvSpPr>
        <p:spPr>
          <a:xfrm>
            <a:off x="658368" y="1801368"/>
            <a:ext cx="274320" cy="461010"/>
          </a:xfrm>
          <a:prstGeom prst="rect">
            <a:avLst/>
          </a:prstGeom>
          <a:noFill/>
          <a:ln/>
        </p:spPr>
        <p:txBody>
          <a:bodyPr wrap="square" lIns="0" tIns="0" rIns="0" bIns="0" rtlCol="0" anchor="ctr"/>
          <a:lstStyle/>
          <a:p>
            <a:pPr algn="r" indent="0" marL="0">
              <a:buNone/>
            </a:pPr>
            <a:r>
              <a:rPr lang="en-US" sz="1800" dirty="0">
                <a:solidFill>
                  <a:srgbClr val="6E6E7A"/>
                </a:solidFill>
                <a:latin typeface="Consolas" pitchFamily="34" charset="0"/>
                <a:ea typeface="Consolas" pitchFamily="34" charset="-122"/>
                <a:cs typeface="Consolas" pitchFamily="34" charset="-120"/>
              </a:rPr>
              <a:t>1</a:t>
            </a:r>
            <a:endParaRPr lang="en-US" sz="1800" dirty="0"/>
          </a:p>
        </p:txBody>
      </p:sp>
      <p:sp>
        <p:nvSpPr>
          <p:cNvPr id="5" name="Text 3"/>
          <p:cNvSpPr txBox="1"/>
          <p:nvPr/>
        </p:nvSpPr>
        <p:spPr>
          <a:xfrm>
            <a:off x="1188720" y="1801368"/>
            <a:ext cx="6309360" cy="461010"/>
          </a:xfrm>
          <a:prstGeom prst="rect">
            <a:avLst/>
          </a:prstGeom>
          <a:noFill/>
          <a:ln/>
        </p:spPr>
        <p:txBody>
          <a:bodyPr wrap="square" lIns="0" tIns="0" rIns="0" bIns="0" rtlCol="0" anchor="ctr"/>
          <a:lstStyle/>
          <a:p>
            <a:pPr indent="0" marL="0">
              <a:buNone/>
            </a:pPr>
            <a:r>
              <a:rPr lang="en-US" sz="2200" dirty="0">
                <a:solidFill>
                  <a:srgbClr val="F5F5F3"/>
                </a:solidFill>
                <a:latin typeface="Consolas" pitchFamily="34" charset="0"/>
                <a:ea typeface="Consolas" pitchFamily="34" charset="-122"/>
                <a:cs typeface="Consolas" pitchFamily="34" charset="-120"/>
              </a:rPr>
              <a:t>room</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E8C878"/>
                </a:solidFill>
                <a:latin typeface="Consolas" pitchFamily="34" charset="0"/>
                <a:ea typeface="Consolas" pitchFamily="34" charset="-122"/>
                <a:cs typeface="Consolas" pitchFamily="34" charset="-120"/>
              </a:rPr>
              <a:t>input</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E69F00"/>
                </a:solidFill>
                <a:latin typeface="Consolas" pitchFamily="34" charset="0"/>
                <a:ea typeface="Consolas" pitchFamily="34" charset="-122"/>
                <a:cs typeface="Consolas" pitchFamily="34" charset="-120"/>
              </a:rPr>
              <a:t>"Which room? "</a:t>
            </a:r>
            <a:pPr indent="0" marL="0">
              <a:buNone/>
            </a:pPr>
            <a:r>
              <a:rPr lang="en-US" sz="2200" dirty="0">
                <a:solidFill>
                  <a:srgbClr val="A9A9B4"/>
                </a:solidFill>
                <a:latin typeface="Consolas" pitchFamily="34" charset="0"/>
                <a:ea typeface="Consolas" pitchFamily="34" charset="-122"/>
                <a:cs typeface="Consolas" pitchFamily="34" charset="-120"/>
              </a:rPr>
              <a:t>)</a:t>
            </a:r>
            <a:endParaRPr lang="en-US" sz="2200" dirty="0"/>
          </a:p>
        </p:txBody>
      </p:sp>
      <p:sp>
        <p:nvSpPr>
          <p:cNvPr id="6" name="Text 4"/>
          <p:cNvSpPr txBox="1"/>
          <p:nvPr/>
        </p:nvSpPr>
        <p:spPr>
          <a:xfrm>
            <a:off x="658368" y="2262378"/>
            <a:ext cx="274320" cy="461010"/>
          </a:xfrm>
          <a:prstGeom prst="rect">
            <a:avLst/>
          </a:prstGeom>
          <a:noFill/>
          <a:ln/>
        </p:spPr>
        <p:txBody>
          <a:bodyPr wrap="square" lIns="0" tIns="0" rIns="0" bIns="0" rtlCol="0" anchor="ctr"/>
          <a:lstStyle/>
          <a:p>
            <a:pPr algn="r" indent="0" marL="0">
              <a:buNone/>
            </a:pPr>
            <a:r>
              <a:rPr lang="en-US" sz="1800" dirty="0">
                <a:solidFill>
                  <a:srgbClr val="6E6E7A"/>
                </a:solidFill>
                <a:latin typeface="Consolas" pitchFamily="34" charset="0"/>
                <a:ea typeface="Consolas" pitchFamily="34" charset="-122"/>
                <a:cs typeface="Consolas" pitchFamily="34" charset="-120"/>
              </a:rPr>
              <a:t>2</a:t>
            </a:r>
            <a:endParaRPr lang="en-US" sz="1800" dirty="0"/>
          </a:p>
        </p:txBody>
      </p:sp>
      <p:sp>
        <p:nvSpPr>
          <p:cNvPr id="7" name="Text 5"/>
          <p:cNvSpPr txBox="1"/>
          <p:nvPr/>
        </p:nvSpPr>
        <p:spPr>
          <a:xfrm>
            <a:off x="1188720" y="2262378"/>
            <a:ext cx="6309360" cy="461010"/>
          </a:xfrm>
          <a:prstGeom prst="rect">
            <a:avLst/>
          </a:prstGeom>
          <a:noFill/>
          <a:ln/>
        </p:spPr>
        <p:txBody>
          <a:bodyPr wrap="square" lIns="0" tIns="0" rIns="0" bIns="0" rtlCol="0" anchor="ctr"/>
          <a:lstStyle/>
          <a:p>
            <a:pPr indent="0" marL="0">
              <a:buNone/>
            </a:pPr>
            <a:r>
              <a:rPr lang="en-US" sz="2200" dirty="0">
                <a:solidFill>
                  <a:srgbClr val="F5F5F3"/>
                </a:solidFill>
                <a:latin typeface="Consolas" pitchFamily="34" charset="0"/>
                <a:ea typeface="Consolas" pitchFamily="34" charset="-122"/>
                <a:cs typeface="Consolas" pitchFamily="34" charset="-120"/>
              </a:rPr>
              <a:t>level</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E8C878"/>
                </a:solidFill>
                <a:latin typeface="Consolas" pitchFamily="34" charset="0"/>
                <a:ea typeface="Consolas" pitchFamily="34" charset="-122"/>
                <a:cs typeface="Consolas" pitchFamily="34" charset="-120"/>
              </a:rPr>
              <a:t>input</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E69F00"/>
                </a:solidFill>
                <a:latin typeface="Consolas" pitchFamily="34" charset="0"/>
                <a:ea typeface="Consolas" pitchFamily="34" charset="-122"/>
                <a:cs typeface="Consolas" pitchFamily="34" charset="-120"/>
              </a:rPr>
              <a:t>"Which level? "</a:t>
            </a:r>
            <a:pPr indent="0" marL="0">
              <a:buNone/>
            </a:pPr>
            <a:r>
              <a:rPr lang="en-US" sz="2200" dirty="0">
                <a:solidFill>
                  <a:srgbClr val="A9A9B4"/>
                </a:solidFill>
                <a:latin typeface="Consolas" pitchFamily="34" charset="0"/>
                <a:ea typeface="Consolas" pitchFamily="34" charset="-122"/>
                <a:cs typeface="Consolas" pitchFamily="34" charset="-120"/>
              </a:rPr>
              <a:t>)</a:t>
            </a:r>
            <a:endParaRPr lang="en-US" sz="2200" dirty="0"/>
          </a:p>
        </p:txBody>
      </p:sp>
      <p:sp>
        <p:nvSpPr>
          <p:cNvPr id="8" name="Text 6"/>
          <p:cNvSpPr txBox="1"/>
          <p:nvPr/>
        </p:nvSpPr>
        <p:spPr>
          <a:xfrm>
            <a:off x="658368" y="2723388"/>
            <a:ext cx="274320" cy="461010"/>
          </a:xfrm>
          <a:prstGeom prst="rect">
            <a:avLst/>
          </a:prstGeom>
          <a:noFill/>
          <a:ln/>
        </p:spPr>
        <p:txBody>
          <a:bodyPr wrap="square" lIns="0" tIns="0" rIns="0" bIns="0" rtlCol="0" anchor="ctr"/>
          <a:lstStyle/>
          <a:p>
            <a:pPr algn="r" indent="0" marL="0">
              <a:buNone/>
            </a:pPr>
            <a:r>
              <a:rPr lang="en-US" sz="1800" dirty="0">
                <a:solidFill>
                  <a:srgbClr val="6E6E7A"/>
                </a:solidFill>
                <a:latin typeface="Consolas" pitchFamily="34" charset="0"/>
                <a:ea typeface="Consolas" pitchFamily="34" charset="-122"/>
                <a:cs typeface="Consolas" pitchFamily="34" charset="-120"/>
              </a:rPr>
              <a:t>3</a:t>
            </a:r>
            <a:endParaRPr lang="en-US" sz="1800" dirty="0"/>
          </a:p>
        </p:txBody>
      </p:sp>
      <p:sp>
        <p:nvSpPr>
          <p:cNvPr id="9" name="Text 7"/>
          <p:cNvSpPr txBox="1"/>
          <p:nvPr/>
        </p:nvSpPr>
        <p:spPr>
          <a:xfrm>
            <a:off x="1188720" y="2723388"/>
            <a:ext cx="6309360" cy="461010"/>
          </a:xfrm>
          <a:prstGeom prst="rect">
            <a:avLst/>
          </a:prstGeom>
          <a:noFill/>
          <a:ln/>
        </p:spPr>
        <p:txBody>
          <a:bodyPr wrap="square" lIns="0" tIns="0" rIns="0" bIns="0" rtlCol="0" anchor="ctr"/>
          <a:lstStyle/>
          <a:p>
            <a:pPr indent="0" marL="0">
              <a:buNone/>
            </a:pPr>
            <a:r>
              <a:rPr lang="en-US" sz="2200" dirty="0">
                <a:solidFill>
                  <a:srgbClr val="E8C878"/>
                </a:solidFill>
                <a:latin typeface="Consolas" pitchFamily="34" charset="0"/>
                <a:ea typeface="Consolas" pitchFamily="34" charset="-122"/>
                <a:cs typeface="Consolas" pitchFamily="34" charset="-120"/>
              </a:rPr>
              <a:t>print</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E69F00"/>
                </a:solidFill>
                <a:latin typeface="Consolas" pitchFamily="34" charset="0"/>
                <a:ea typeface="Consolas" pitchFamily="34" charset="-122"/>
                <a:cs typeface="Consolas" pitchFamily="34" charset="-120"/>
              </a:rPr>
              <a:t>"Scanning..."</a:t>
            </a:r>
            <a:pPr indent="0" marL="0">
              <a:buNone/>
            </a:pPr>
            <a:r>
              <a:rPr lang="en-US" sz="2200" dirty="0">
                <a:solidFill>
                  <a:srgbClr val="A9A9B4"/>
                </a:solidFill>
                <a:latin typeface="Consolas" pitchFamily="34" charset="0"/>
                <a:ea typeface="Consolas" pitchFamily="34" charset="-122"/>
                <a:cs typeface="Consolas" pitchFamily="34" charset="-120"/>
              </a:rPr>
              <a:t>)</a:t>
            </a:r>
            <a:endParaRPr lang="en-US" sz="2200" dirty="0"/>
          </a:p>
        </p:txBody>
      </p:sp>
      <p:sp>
        <p:nvSpPr>
          <p:cNvPr id="10" name="Shape 8"/>
          <p:cNvSpPr/>
          <p:nvPr/>
        </p:nvSpPr>
        <p:spPr>
          <a:xfrm>
            <a:off x="603504" y="3184398"/>
            <a:ext cx="6931152" cy="461010"/>
          </a:xfrm>
          <a:prstGeom prst="rect">
            <a:avLst/>
          </a:prstGeom>
          <a:solidFill>
            <a:srgbClr val="2B2618"/>
          </a:solidFill>
          <a:ln/>
        </p:spPr>
      </p:sp>
      <p:sp>
        <p:nvSpPr>
          <p:cNvPr id="11" name="Text 9"/>
          <p:cNvSpPr txBox="1"/>
          <p:nvPr/>
        </p:nvSpPr>
        <p:spPr>
          <a:xfrm>
            <a:off x="658368" y="3184398"/>
            <a:ext cx="274320" cy="461010"/>
          </a:xfrm>
          <a:prstGeom prst="rect">
            <a:avLst/>
          </a:prstGeom>
          <a:noFill/>
          <a:ln/>
        </p:spPr>
        <p:txBody>
          <a:bodyPr wrap="square" lIns="0" tIns="0" rIns="0" bIns="0" rtlCol="0" anchor="ctr"/>
          <a:lstStyle/>
          <a:p>
            <a:pPr algn="r" indent="0" marL="0">
              <a:buNone/>
            </a:pPr>
            <a:r>
              <a:rPr lang="en-US" sz="1800" dirty="0">
                <a:solidFill>
                  <a:srgbClr val="6E6E7A"/>
                </a:solidFill>
                <a:latin typeface="Consolas" pitchFamily="34" charset="0"/>
                <a:ea typeface="Consolas" pitchFamily="34" charset="-122"/>
                <a:cs typeface="Consolas" pitchFamily="34" charset="-120"/>
              </a:rPr>
              <a:t>4</a:t>
            </a:r>
            <a:endParaRPr lang="en-US" sz="1800" dirty="0"/>
          </a:p>
        </p:txBody>
      </p:sp>
      <p:sp>
        <p:nvSpPr>
          <p:cNvPr id="12" name="Text 10"/>
          <p:cNvSpPr txBox="1"/>
          <p:nvPr/>
        </p:nvSpPr>
        <p:spPr>
          <a:xfrm>
            <a:off x="1188720" y="3184398"/>
            <a:ext cx="6309360" cy="461010"/>
          </a:xfrm>
          <a:prstGeom prst="rect">
            <a:avLst/>
          </a:prstGeom>
          <a:noFill/>
          <a:ln/>
        </p:spPr>
        <p:txBody>
          <a:bodyPr wrap="square" lIns="0" tIns="0" rIns="0" bIns="0" rtlCol="0" anchor="ctr"/>
          <a:lstStyle/>
          <a:p>
            <a:pPr indent="0" marL="0">
              <a:buNone/>
            </a:pPr>
            <a:r>
              <a:rPr lang="en-US" sz="2200" dirty="0">
                <a:solidFill>
                  <a:srgbClr val="E8C878"/>
                </a:solidFill>
                <a:latin typeface="Consolas" pitchFamily="34" charset="0"/>
                <a:ea typeface="Consolas" pitchFamily="34" charset="-122"/>
                <a:cs typeface="Consolas" pitchFamily="34" charset="-120"/>
              </a:rPr>
              <a:t>print</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F5F5F3"/>
                </a:solidFill>
                <a:latin typeface="Consolas" pitchFamily="34" charset="0"/>
                <a:ea typeface="Consolas" pitchFamily="34" charset="-122"/>
                <a:cs typeface="Consolas" pitchFamily="34" charset="-120"/>
              </a:rPr>
              <a:t>room</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E69F00"/>
                </a:solidFill>
                <a:latin typeface="Consolas" pitchFamily="34" charset="0"/>
                <a:ea typeface="Consolas" pitchFamily="34" charset="-122"/>
                <a:cs typeface="Consolas" pitchFamily="34" charset="-120"/>
              </a:rPr>
              <a:t>" on level "</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F5F5F3"/>
                </a:solidFill>
                <a:latin typeface="Consolas" pitchFamily="34" charset="0"/>
                <a:ea typeface="Consolas" pitchFamily="34" charset="-122"/>
                <a:cs typeface="Consolas" pitchFamily="34" charset="-120"/>
              </a:rPr>
              <a:t>level</a:t>
            </a:r>
            <a:pPr indent="0" marL="0">
              <a:buNone/>
            </a:pPr>
            <a:r>
              <a:rPr lang="en-US" sz="2200" dirty="0">
                <a:solidFill>
                  <a:srgbClr val="A9A9B4"/>
                </a:solidFill>
                <a:latin typeface="Consolas" pitchFamily="34" charset="0"/>
                <a:ea typeface="Consolas" pitchFamily="34" charset="-122"/>
                <a:cs typeface="Consolas" pitchFamily="34" charset="-120"/>
              </a:rPr>
              <a:t>)</a:t>
            </a:r>
            <a:endParaRPr lang="en-US" sz="2200" dirty="0"/>
          </a:p>
        </p:txBody>
      </p:sp>
      <p:sp>
        <p:nvSpPr>
          <p:cNvPr id="13" name="terminal"/>
          <p:cNvSpPr/>
          <p:nvPr/>
        </p:nvSpPr>
        <p:spPr>
          <a:xfrm>
            <a:off x="7909560" y="1600200"/>
            <a:ext cx="3730752" cy="2402840"/>
          </a:xfrm>
          <a:prstGeom prst="roundRect">
            <a:avLst>
              <a:gd name="adj" fmla="val 3044"/>
            </a:avLst>
          </a:prstGeom>
          <a:solidFill>
            <a:srgbClr val="0A0A0D"/>
          </a:solidFill>
          <a:ln w="15875">
            <a:solidFill>
              <a:srgbClr val="3A3A44"/>
            </a:solidFill>
            <a:prstDash val="solid"/>
          </a:ln>
        </p:spPr>
      </p:sp>
      <p:sp>
        <p:nvSpPr>
          <p:cNvPr id="14" name="Text 12"/>
          <p:cNvSpPr txBox="1"/>
          <p:nvPr/>
        </p:nvSpPr>
        <p:spPr>
          <a:xfrm>
            <a:off x="8138160" y="1783080"/>
            <a:ext cx="3273552" cy="274320"/>
          </a:xfrm>
          <a:prstGeom prst="rect">
            <a:avLst/>
          </a:prstGeom>
          <a:noFill/>
          <a:ln/>
        </p:spPr>
        <p:txBody>
          <a:bodyPr wrap="square" lIns="0" tIns="0" rIns="0" bIns="0" rtlCol="0" anchor="ctr"/>
          <a:lstStyle/>
          <a:p>
            <a:pPr indent="0" marL="0">
              <a:buNone/>
            </a:pPr>
            <a:r>
              <a:rPr lang="en-US" sz="1200" b="1" spc="200" kern="0" dirty="0">
                <a:solidFill>
                  <a:srgbClr val="A9A9B4"/>
                </a:solidFill>
                <a:latin typeface="Calibri" pitchFamily="34" charset="0"/>
                <a:ea typeface="Calibri" pitchFamily="34" charset="-122"/>
                <a:cs typeface="Calibri" pitchFamily="34" charset="-120"/>
              </a:rPr>
              <a:t>OUTPUT</a:t>
            </a:r>
            <a:endParaRPr lang="en-US" sz="1200" dirty="0"/>
          </a:p>
        </p:txBody>
      </p:sp>
      <p:sp>
        <p:nvSpPr>
          <p:cNvPr id="15" name="Text 13"/>
          <p:cNvSpPr txBox="1"/>
          <p:nvPr/>
        </p:nvSpPr>
        <p:spPr>
          <a:xfrm>
            <a:off x="8138160" y="2148840"/>
            <a:ext cx="3273552" cy="406400"/>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Which room? </a:t>
            </a:r>
            <a:pPr indent="0" marL="0">
              <a:buNone/>
            </a:pPr>
            <a:r>
              <a:rPr lang="en-US" sz="2000" dirty="0">
                <a:solidFill>
                  <a:srgbClr val="E69F00"/>
                </a:solidFill>
                <a:latin typeface="Consolas" pitchFamily="34" charset="0"/>
                <a:ea typeface="Consolas" pitchFamily="34" charset="-122"/>
                <a:cs typeface="Consolas" pitchFamily="34" charset="-120"/>
              </a:rPr>
              <a:t>Medbay</a:t>
            </a:r>
            <a:endParaRPr lang="en-US" sz="2000" dirty="0"/>
          </a:p>
        </p:txBody>
      </p:sp>
      <p:sp>
        <p:nvSpPr>
          <p:cNvPr id="16" name="Text 14"/>
          <p:cNvSpPr txBox="1"/>
          <p:nvPr/>
        </p:nvSpPr>
        <p:spPr>
          <a:xfrm>
            <a:off x="8138160" y="2555240"/>
            <a:ext cx="3273552" cy="406400"/>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Which level? </a:t>
            </a:r>
            <a:pPr indent="0" marL="0">
              <a:buNone/>
            </a:pPr>
            <a:r>
              <a:rPr lang="en-US" sz="2000" dirty="0">
                <a:solidFill>
                  <a:srgbClr val="E69F00"/>
                </a:solidFill>
                <a:latin typeface="Consolas" pitchFamily="34" charset="0"/>
                <a:ea typeface="Consolas" pitchFamily="34" charset="-122"/>
                <a:cs typeface="Consolas" pitchFamily="34" charset="-120"/>
              </a:rPr>
              <a:t>3</a:t>
            </a:r>
            <a:endParaRPr lang="en-US" sz="2000" dirty="0"/>
          </a:p>
        </p:txBody>
      </p:sp>
      <p:sp>
        <p:nvSpPr>
          <p:cNvPr id="17" name="Text 15"/>
          <p:cNvSpPr txBox="1"/>
          <p:nvPr/>
        </p:nvSpPr>
        <p:spPr>
          <a:xfrm>
            <a:off x="8138160" y="2961640"/>
            <a:ext cx="3273552" cy="406400"/>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Scanning...</a:t>
            </a:r>
            <a:endParaRPr lang="en-US" sz="2000" dirty="0"/>
          </a:p>
        </p:txBody>
      </p:sp>
      <p:sp>
        <p:nvSpPr>
          <p:cNvPr id="18" name="Text 16"/>
          <p:cNvSpPr txBox="1"/>
          <p:nvPr/>
        </p:nvSpPr>
        <p:spPr>
          <a:xfrm>
            <a:off x="8138160" y="3368040"/>
            <a:ext cx="3273552" cy="406400"/>
          </a:xfrm>
          <a:prstGeom prst="rect">
            <a:avLst/>
          </a:prstGeom>
          <a:noFill/>
          <a:ln/>
        </p:spPr>
        <p:txBody>
          <a:bodyPr wrap="square" lIns="0" tIns="0" rIns="0" bIns="0" rtlCol="0" anchor="ctr"/>
          <a:lstStyle/>
          <a:p>
            <a:pPr indent="0" marL="0">
              <a:buNone/>
            </a:pPr>
            <a:r>
              <a:rPr lang="en-US" sz="2000" b="1" dirty="0">
                <a:solidFill>
                  <a:srgbClr val="D8A73D"/>
                </a:solidFill>
                <a:latin typeface="Consolas" pitchFamily="34" charset="0"/>
                <a:ea typeface="Consolas" pitchFamily="34" charset="-122"/>
                <a:cs typeface="Consolas" pitchFamily="34" charset="-120"/>
              </a:rPr>
              <a:t>Medbay on level 3</a:t>
            </a:r>
            <a:endParaRPr lang="en-US" sz="2000" dirty="0"/>
          </a:p>
        </p:txBody>
      </p:sp>
      <p:sp>
        <p:nvSpPr>
          <p:cNvPr id="19" name="Shape 17"/>
          <p:cNvSpPr/>
          <p:nvPr/>
        </p:nvSpPr>
        <p:spPr>
          <a:xfrm>
            <a:off x="548640" y="4206240"/>
            <a:ext cx="5394960" cy="1508760"/>
          </a:xfrm>
          <a:prstGeom prst="roundRect">
            <a:avLst>
              <a:gd name="adj" fmla="val 4848"/>
            </a:avLst>
          </a:prstGeom>
          <a:solidFill>
            <a:srgbClr val="2A2A32"/>
          </a:solidFill>
          <a:ln/>
        </p:spPr>
      </p:sp>
      <p:sp>
        <p:nvSpPr>
          <p:cNvPr id="20" name="Text 18"/>
          <p:cNvSpPr txBox="1"/>
          <p:nvPr/>
        </p:nvSpPr>
        <p:spPr>
          <a:xfrm>
            <a:off x="822960" y="4206240"/>
            <a:ext cx="4937760" cy="1508760"/>
          </a:xfrm>
          <a:prstGeom prst="rect">
            <a:avLst/>
          </a:prstGeom>
          <a:noFill/>
          <a:ln/>
        </p:spPr>
        <p:txBody>
          <a:bodyPr wrap="square" lIns="0" tIns="0" rIns="0" bIns="0" rtlCol="0" anchor="ctr"/>
          <a:lstStyle/>
          <a:p>
            <a:pPr indent="0" marL="0">
              <a:spcAft>
                <a:spcPts val="600"/>
              </a:spcAft>
              <a:buNone/>
            </a:pPr>
            <a:r>
              <a:rPr lang="en-US" sz="2000" b="1" dirty="0">
                <a:solidFill>
                  <a:srgbClr val="FF6B6B"/>
                </a:solidFill>
                <a:latin typeface="Consolas" pitchFamily="34" charset="0"/>
                <a:ea typeface="Consolas" pitchFamily="34" charset="-122"/>
                <a:cs typeface="Consolas" pitchFamily="34" charset="-120"/>
              </a:rPr>
              <a:t>✗  room on level level</a:t>
            </a:r>
            <a:pPr indent="0" marL="0">
              <a:spcAft>
                <a:spcPts val="600"/>
              </a:spcAft>
              <a:buNone/>
            </a:pPr>
            <a:endParaRPr lang="en-US" sz="2000" dirty="0"/>
          </a:p>
          <a:p>
            <a:pPr indent="0" marL="0">
              <a:spcAft>
                <a:spcPts val="600"/>
              </a:spcAft>
              <a:buNone/>
            </a:pPr>
            <a:r>
              <a:rPr lang="en-US" sz="2000" dirty="0">
                <a:solidFill>
                  <a:srgbClr val="F5F5F3"/>
                </a:solidFill>
                <a:latin typeface="Calibri" pitchFamily="34" charset="0"/>
                <a:ea typeface="Calibri" pitchFamily="34" charset="-122"/>
                <a:cs typeface="Calibri" pitchFamily="34" charset="-120"/>
              </a:rPr>
              <a:t>No quotes → Python prints what’s stored, not the name</a:t>
            </a:r>
            <a:endParaRPr lang="en-US" sz="2000" dirty="0"/>
          </a:p>
        </p:txBody>
      </p:sp>
      <p:sp>
        <p:nvSpPr>
          <p:cNvPr id="21" name="Shape 19"/>
          <p:cNvSpPr/>
          <p:nvPr/>
        </p:nvSpPr>
        <p:spPr>
          <a:xfrm>
            <a:off x="6245352" y="4206240"/>
            <a:ext cx="5394960" cy="1508760"/>
          </a:xfrm>
          <a:prstGeom prst="roundRect">
            <a:avLst>
              <a:gd name="adj" fmla="val 4848"/>
            </a:avLst>
          </a:prstGeom>
          <a:solidFill>
            <a:srgbClr val="2A2A32"/>
          </a:solidFill>
          <a:ln/>
        </p:spPr>
      </p:sp>
      <p:sp>
        <p:nvSpPr>
          <p:cNvPr id="22" name="Text 20"/>
          <p:cNvSpPr txBox="1"/>
          <p:nvPr/>
        </p:nvSpPr>
        <p:spPr>
          <a:xfrm>
            <a:off x="6519672" y="4206240"/>
            <a:ext cx="4937760" cy="1508760"/>
          </a:xfrm>
          <a:prstGeom prst="rect">
            <a:avLst/>
          </a:prstGeom>
          <a:noFill/>
          <a:ln/>
        </p:spPr>
        <p:txBody>
          <a:bodyPr wrap="square" lIns="0" tIns="0" rIns="0" bIns="0" rtlCol="0" anchor="ctr"/>
          <a:lstStyle/>
          <a:p>
            <a:pPr indent="0" marL="0">
              <a:spcAft>
                <a:spcPts val="600"/>
              </a:spcAft>
              <a:buNone/>
            </a:pPr>
            <a:r>
              <a:rPr lang="en-US" sz="2000" b="1" dirty="0">
                <a:solidFill>
                  <a:srgbClr val="E69F00"/>
                </a:solidFill>
                <a:latin typeface="Consolas" pitchFamily="34" charset="0"/>
                <a:ea typeface="Consolas" pitchFamily="34" charset="-122"/>
                <a:cs typeface="Consolas" pitchFamily="34" charset="-120"/>
              </a:rPr>
              <a:t>" on level "</a:t>
            </a:r>
            <a:pPr indent="0" marL="0">
              <a:spcAft>
                <a:spcPts val="600"/>
              </a:spcAft>
              <a:buNone/>
            </a:pPr>
            <a:endParaRPr lang="en-US" sz="2000" dirty="0"/>
          </a:p>
          <a:p>
            <a:pPr indent="0" marL="0">
              <a:spcAft>
                <a:spcPts val="600"/>
              </a:spcAft>
              <a:buNone/>
            </a:pPr>
            <a:r>
              <a:rPr lang="en-US" sz="2000" dirty="0">
                <a:solidFill>
                  <a:srgbClr val="F5F5F3"/>
                </a:solidFill>
                <a:latin typeface="Calibri" pitchFamily="34" charset="0"/>
                <a:ea typeface="Calibri" pitchFamily="34" charset="-122"/>
                <a:cs typeface="Calibri" pitchFamily="34" charset="-120"/>
              </a:rPr>
              <a:t>The spaces come from inside the quotes</a:t>
            </a:r>
            <a:endParaRPr lang="en-US" sz="2000" dirty="0"/>
          </a:p>
        </p:txBody>
      </p:sp>
      <p:pic>
        <p:nvPicPr>
          <p:cNvPr id="23" name="Image 0" descr="Feedback">    </p:cNvPr>
          <p:cNvPicPr>
            <a:picLocks noChangeAspect="1"/>
          </p:cNvPicPr>
          <p:nvPr/>
        </p:nvPicPr>
        <p:blipFill>
          <a:blip r:embed="rId1"/>
          <a:stretch>
            <a:fillRect/>
          </a:stretch>
        </p:blipFill>
        <p:spPr>
          <a:xfrm>
            <a:off x="10972800" y="384048"/>
            <a:ext cx="731520" cy="731520"/>
          </a:xfrm>
          <a:prstGeom prst="rect">
            <a:avLst/>
          </a:prstGeom>
        </p:spPr>
      </p:pic>
      <p:sp>
        <p:nvSpPr>
          <p:cNvPr id="25" name="Text 21"/>
          <p:cNvSpPr txBox="1"/>
          <p:nvPr/>
        </p:nvSpPr>
        <p:spPr>
          <a:xfrm>
            <a:off x="4206240" y="6355080"/>
            <a:ext cx="6812280" cy="320040"/>
          </a:xfrm>
          <a:prstGeom prst="rect">
            <a:avLst/>
          </a:prstGeom>
          <a:noFill/>
          <a:ln/>
        </p:spPr>
        <p:txBody>
          <a:bodyPr wrap="square" lIns="0" tIns="0" rIns="0" bIns="0" rtlCol="0" anchor="ctr"/>
          <a:lstStyle/>
          <a:p>
            <a:pPr algn="r" indent="0" marL="0">
              <a:buNone/>
            </a:pPr>
            <a:r>
              <a:rPr lang="en-US" sz="1300" b="1" i="1" dirty="0">
                <a:solidFill>
                  <a:srgbClr val="D8A73D"/>
                </a:solidFill>
                <a:latin typeface="Calibri" pitchFamily="34" charset="0"/>
                <a:ea typeface="Calibri" pitchFamily="34" charset="-122"/>
                <a:cs typeface="Calibri" pitchFamily="34" charset="-120"/>
              </a:rPr>
              <a:t>predictRevealSlide()  ·  Predict reveal</a:t>
            </a:r>
            <a:endParaRPr lang="en-US" sz="1300" dirty="0"/>
          </a:p>
        </p:txBody>
      </p:sp>
      <p:sp>
        <p:nvSpPr>
          <p:cNvPr id="26"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Predict — trace it</a:t>
            </a:r>
            <a:endParaRPr lang="en-US" sz="3600" dirty="0"/>
          </a:p>
        </p:txBody>
      </p:sp>
      <p:sp>
        <p:nvSpPr>
          <p:cNvPr id="3" name="code"/>
          <p:cNvSpPr/>
          <p:nvPr/>
        </p:nvSpPr>
        <p:spPr>
          <a:xfrm>
            <a:off x="548640" y="1508760"/>
            <a:ext cx="8046720" cy="1785366"/>
          </a:xfrm>
          <a:prstGeom prst="roundRect">
            <a:avLst>
              <a:gd name="adj" fmla="val 4097"/>
            </a:avLst>
          </a:prstGeom>
          <a:solidFill>
            <a:srgbClr val="111115"/>
          </a:solidFill>
          <a:ln w="15875">
            <a:solidFill>
              <a:srgbClr val="3A3A44"/>
            </a:solidFill>
            <a:prstDash val="solid"/>
          </a:ln>
        </p:spPr>
      </p:sp>
      <p:sp>
        <p:nvSpPr>
          <p:cNvPr id="4" name="Text 2"/>
          <p:cNvSpPr txBox="1"/>
          <p:nvPr/>
        </p:nvSpPr>
        <p:spPr>
          <a:xfrm>
            <a:off x="658368" y="1709928"/>
            <a:ext cx="274320" cy="461010"/>
          </a:xfrm>
          <a:prstGeom prst="rect">
            <a:avLst/>
          </a:prstGeom>
          <a:noFill/>
          <a:ln/>
        </p:spPr>
        <p:txBody>
          <a:bodyPr wrap="square" lIns="0" tIns="0" rIns="0" bIns="0" rtlCol="0" anchor="ctr"/>
          <a:lstStyle/>
          <a:p>
            <a:pPr algn="r" indent="0" marL="0">
              <a:buNone/>
            </a:pPr>
            <a:r>
              <a:rPr lang="en-US" sz="1800" dirty="0">
                <a:solidFill>
                  <a:srgbClr val="6E6E7A"/>
                </a:solidFill>
                <a:latin typeface="Consolas" pitchFamily="34" charset="0"/>
                <a:ea typeface="Consolas" pitchFamily="34" charset="-122"/>
                <a:cs typeface="Consolas" pitchFamily="34" charset="-120"/>
              </a:rPr>
              <a:t>1</a:t>
            </a:r>
            <a:endParaRPr lang="en-US" sz="1800" dirty="0"/>
          </a:p>
        </p:txBody>
      </p:sp>
      <p:sp>
        <p:nvSpPr>
          <p:cNvPr id="5" name="Text 3"/>
          <p:cNvSpPr txBox="1"/>
          <p:nvPr/>
        </p:nvSpPr>
        <p:spPr>
          <a:xfrm>
            <a:off x="1188720" y="1709928"/>
            <a:ext cx="7315200" cy="461010"/>
          </a:xfrm>
          <a:prstGeom prst="rect">
            <a:avLst/>
          </a:prstGeom>
          <a:noFill/>
          <a:ln/>
        </p:spPr>
        <p:txBody>
          <a:bodyPr wrap="square" lIns="0" tIns="0" rIns="0" bIns="0" rtlCol="0" anchor="ctr"/>
          <a:lstStyle/>
          <a:p>
            <a:pPr indent="0" marL="0">
              <a:buNone/>
            </a:pPr>
            <a:r>
              <a:rPr lang="en-US" sz="2200" dirty="0">
                <a:solidFill>
                  <a:srgbClr val="F5F5F3"/>
                </a:solidFill>
                <a:latin typeface="Consolas" pitchFamily="34" charset="0"/>
                <a:ea typeface="Consolas" pitchFamily="34" charset="-122"/>
                <a:cs typeface="Consolas" pitchFamily="34" charset="-120"/>
              </a:rPr>
              <a:t>battery</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E8C878"/>
                </a:solidFill>
                <a:latin typeface="Consolas" pitchFamily="34" charset="0"/>
                <a:ea typeface="Consolas" pitchFamily="34" charset="-122"/>
                <a:cs typeface="Consolas" pitchFamily="34" charset="-120"/>
              </a:rPr>
              <a:t>int</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E8C878"/>
                </a:solidFill>
                <a:latin typeface="Consolas" pitchFamily="34" charset="0"/>
                <a:ea typeface="Consolas" pitchFamily="34" charset="-122"/>
                <a:cs typeface="Consolas" pitchFamily="34" charset="-120"/>
              </a:rPr>
              <a:t>input</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E69F00"/>
                </a:solidFill>
                <a:latin typeface="Consolas" pitchFamily="34" charset="0"/>
                <a:ea typeface="Consolas" pitchFamily="34" charset="-122"/>
                <a:cs typeface="Consolas" pitchFamily="34" charset="-120"/>
              </a:rPr>
              <a:t>"Battery %: "</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A9A9B4"/>
                </a:solidFill>
                <a:latin typeface="Consolas" pitchFamily="34" charset="0"/>
                <a:ea typeface="Consolas" pitchFamily="34" charset="-122"/>
                <a:cs typeface="Consolas" pitchFamily="34" charset="-120"/>
              </a:rPr>
              <a:t>)</a:t>
            </a:r>
            <a:endParaRPr lang="en-US" sz="2200" dirty="0"/>
          </a:p>
        </p:txBody>
      </p:sp>
      <p:sp>
        <p:nvSpPr>
          <p:cNvPr id="6" name="Text 4"/>
          <p:cNvSpPr txBox="1"/>
          <p:nvPr/>
        </p:nvSpPr>
        <p:spPr>
          <a:xfrm>
            <a:off x="658368" y="2170938"/>
            <a:ext cx="274320" cy="461010"/>
          </a:xfrm>
          <a:prstGeom prst="rect">
            <a:avLst/>
          </a:prstGeom>
          <a:noFill/>
          <a:ln/>
        </p:spPr>
        <p:txBody>
          <a:bodyPr wrap="square" lIns="0" tIns="0" rIns="0" bIns="0" rtlCol="0" anchor="ctr"/>
          <a:lstStyle/>
          <a:p>
            <a:pPr algn="r" indent="0" marL="0">
              <a:buNone/>
            </a:pPr>
            <a:r>
              <a:rPr lang="en-US" sz="1800" dirty="0">
                <a:solidFill>
                  <a:srgbClr val="6E6E7A"/>
                </a:solidFill>
                <a:latin typeface="Consolas" pitchFamily="34" charset="0"/>
                <a:ea typeface="Consolas" pitchFamily="34" charset="-122"/>
                <a:cs typeface="Consolas" pitchFamily="34" charset="-120"/>
              </a:rPr>
              <a:t>2</a:t>
            </a:r>
            <a:endParaRPr lang="en-US" sz="1800" dirty="0"/>
          </a:p>
        </p:txBody>
      </p:sp>
      <p:sp>
        <p:nvSpPr>
          <p:cNvPr id="7" name="Text 5"/>
          <p:cNvSpPr txBox="1"/>
          <p:nvPr/>
        </p:nvSpPr>
        <p:spPr>
          <a:xfrm>
            <a:off x="1188720" y="2170938"/>
            <a:ext cx="7315200" cy="461010"/>
          </a:xfrm>
          <a:prstGeom prst="rect">
            <a:avLst/>
          </a:prstGeom>
          <a:noFill/>
          <a:ln/>
        </p:spPr>
        <p:txBody>
          <a:bodyPr wrap="square" lIns="0" tIns="0" rIns="0" bIns="0" rtlCol="0" anchor="ctr"/>
          <a:lstStyle/>
          <a:p>
            <a:pPr indent="0" marL="0">
              <a:buNone/>
            </a:pPr>
            <a:r>
              <a:rPr lang="en-US" sz="2200" dirty="0">
                <a:solidFill>
                  <a:srgbClr val="F5F5F3"/>
                </a:solidFill>
                <a:latin typeface="Consolas" pitchFamily="34" charset="0"/>
                <a:ea typeface="Consolas" pitchFamily="34" charset="-122"/>
                <a:cs typeface="Consolas" pitchFamily="34" charset="-120"/>
              </a:rPr>
              <a:t>battery</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F5F5F3"/>
                </a:solidFill>
                <a:latin typeface="Consolas" pitchFamily="34" charset="0"/>
                <a:ea typeface="Consolas" pitchFamily="34" charset="-122"/>
                <a:cs typeface="Consolas" pitchFamily="34" charset="-120"/>
              </a:rPr>
              <a:t>battery</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56B4E9"/>
                </a:solidFill>
                <a:latin typeface="Consolas" pitchFamily="34" charset="0"/>
                <a:ea typeface="Consolas" pitchFamily="34" charset="-122"/>
                <a:cs typeface="Consolas" pitchFamily="34" charset="-120"/>
              </a:rPr>
              <a:t>15</a:t>
            </a:r>
            <a:endParaRPr lang="en-US" sz="2200" dirty="0"/>
          </a:p>
        </p:txBody>
      </p:sp>
      <p:sp>
        <p:nvSpPr>
          <p:cNvPr id="8" name="Text 6"/>
          <p:cNvSpPr txBox="1"/>
          <p:nvPr/>
        </p:nvSpPr>
        <p:spPr>
          <a:xfrm>
            <a:off x="658368" y="2631948"/>
            <a:ext cx="274320" cy="461010"/>
          </a:xfrm>
          <a:prstGeom prst="rect">
            <a:avLst/>
          </a:prstGeom>
          <a:noFill/>
          <a:ln/>
        </p:spPr>
        <p:txBody>
          <a:bodyPr wrap="square" lIns="0" tIns="0" rIns="0" bIns="0" rtlCol="0" anchor="ctr"/>
          <a:lstStyle/>
          <a:p>
            <a:pPr algn="r" indent="0" marL="0">
              <a:buNone/>
            </a:pPr>
            <a:r>
              <a:rPr lang="en-US" sz="1800" dirty="0">
                <a:solidFill>
                  <a:srgbClr val="6E6E7A"/>
                </a:solidFill>
                <a:latin typeface="Consolas" pitchFamily="34" charset="0"/>
                <a:ea typeface="Consolas" pitchFamily="34" charset="-122"/>
                <a:cs typeface="Consolas" pitchFamily="34" charset="-120"/>
              </a:rPr>
              <a:t>3</a:t>
            </a:r>
            <a:endParaRPr lang="en-US" sz="1800" dirty="0"/>
          </a:p>
        </p:txBody>
      </p:sp>
      <p:sp>
        <p:nvSpPr>
          <p:cNvPr id="9" name="Text 7"/>
          <p:cNvSpPr txBox="1"/>
          <p:nvPr/>
        </p:nvSpPr>
        <p:spPr>
          <a:xfrm>
            <a:off x="1188720" y="2631948"/>
            <a:ext cx="7315200" cy="461010"/>
          </a:xfrm>
          <a:prstGeom prst="rect">
            <a:avLst/>
          </a:prstGeom>
          <a:noFill/>
          <a:ln/>
        </p:spPr>
        <p:txBody>
          <a:bodyPr wrap="square" lIns="0" tIns="0" rIns="0" bIns="0" rtlCol="0" anchor="ctr"/>
          <a:lstStyle/>
          <a:p>
            <a:pPr indent="0" marL="0">
              <a:buNone/>
            </a:pPr>
            <a:r>
              <a:rPr lang="en-US" sz="2200" dirty="0">
                <a:solidFill>
                  <a:srgbClr val="E8C878"/>
                </a:solidFill>
                <a:latin typeface="Consolas" pitchFamily="34" charset="0"/>
                <a:ea typeface="Consolas" pitchFamily="34" charset="-122"/>
                <a:cs typeface="Consolas" pitchFamily="34" charset="-120"/>
              </a:rPr>
              <a:t>print</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E69F00"/>
                </a:solidFill>
                <a:latin typeface="Consolas" pitchFamily="34" charset="0"/>
                <a:ea typeface="Consolas" pitchFamily="34" charset="-122"/>
                <a:cs typeface="Consolas" pitchFamily="34" charset="-120"/>
              </a:rPr>
              <a:t>"Power left: "</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E8C878"/>
                </a:solidFill>
                <a:latin typeface="Consolas" pitchFamily="34" charset="0"/>
                <a:ea typeface="Consolas" pitchFamily="34" charset="-122"/>
                <a:cs typeface="Consolas" pitchFamily="34" charset="-120"/>
              </a:rPr>
              <a:t>str</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F5F5F3"/>
                </a:solidFill>
                <a:latin typeface="Consolas" pitchFamily="34" charset="0"/>
                <a:ea typeface="Consolas" pitchFamily="34" charset="-122"/>
                <a:cs typeface="Consolas" pitchFamily="34" charset="-120"/>
              </a:rPr>
              <a:t>battery</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E69F00"/>
                </a:solidFill>
                <a:latin typeface="Consolas" pitchFamily="34" charset="0"/>
                <a:ea typeface="Consolas" pitchFamily="34" charset="-122"/>
                <a:cs typeface="Consolas" pitchFamily="34" charset="-120"/>
              </a:rPr>
              <a:t>"%"</a:t>
            </a:r>
            <a:pPr indent="0" marL="0">
              <a:buNone/>
            </a:pPr>
            <a:r>
              <a:rPr lang="en-US" sz="2200" dirty="0">
                <a:solidFill>
                  <a:srgbClr val="A9A9B4"/>
                </a:solidFill>
                <a:latin typeface="Consolas" pitchFamily="34" charset="0"/>
                <a:ea typeface="Consolas" pitchFamily="34" charset="-122"/>
                <a:cs typeface="Consolas" pitchFamily="34" charset="-120"/>
              </a:rPr>
              <a:t>)</a:t>
            </a:r>
            <a:endParaRPr lang="en-US" sz="2200" dirty="0"/>
          </a:p>
        </p:txBody>
      </p:sp>
      <p:sp>
        <p:nvSpPr>
          <p:cNvPr id="10" name="Shape 8"/>
          <p:cNvSpPr/>
          <p:nvPr/>
        </p:nvSpPr>
        <p:spPr>
          <a:xfrm>
            <a:off x="8823960" y="1508760"/>
            <a:ext cx="2816352" cy="1719072"/>
          </a:xfrm>
          <a:prstGeom prst="roundRect">
            <a:avLst>
              <a:gd name="adj" fmla="val 4255"/>
            </a:avLst>
          </a:prstGeom>
          <a:solidFill>
            <a:srgbClr val="2A2A32"/>
          </a:solidFill>
          <a:ln/>
        </p:spPr>
      </p:sp>
      <p:sp>
        <p:nvSpPr>
          <p:cNvPr id="11" name="Text 9"/>
          <p:cNvSpPr txBox="1"/>
          <p:nvPr/>
        </p:nvSpPr>
        <p:spPr>
          <a:xfrm>
            <a:off x="9052560" y="1691640"/>
            <a:ext cx="2468880" cy="274320"/>
          </a:xfrm>
          <a:prstGeom prst="rect">
            <a:avLst/>
          </a:prstGeom>
          <a:noFill/>
          <a:ln/>
        </p:spPr>
        <p:txBody>
          <a:bodyPr wrap="square" lIns="0" tIns="0" rIns="0" bIns="0" rtlCol="0" anchor="ctr"/>
          <a:lstStyle/>
          <a:p>
            <a:pPr indent="0" marL="0">
              <a:buNone/>
            </a:pPr>
            <a:r>
              <a:rPr lang="en-US" sz="1300" b="1" spc="200" kern="0" dirty="0">
                <a:solidFill>
                  <a:srgbClr val="6E6E7A"/>
                </a:solidFill>
                <a:latin typeface="Calibri" pitchFamily="34" charset="0"/>
                <a:ea typeface="Calibri" pitchFamily="34" charset="-122"/>
                <a:cs typeface="Calibri" pitchFamily="34" charset="-120"/>
              </a:rPr>
              <a:t>THE USER TYPES</a:t>
            </a:r>
            <a:endParaRPr lang="en-US" sz="1300" dirty="0"/>
          </a:p>
        </p:txBody>
      </p:sp>
      <p:sp>
        <p:nvSpPr>
          <p:cNvPr id="12" name="Text 10"/>
          <p:cNvSpPr txBox="1"/>
          <p:nvPr/>
        </p:nvSpPr>
        <p:spPr>
          <a:xfrm>
            <a:off x="9052560" y="2057400"/>
            <a:ext cx="2377440" cy="914400"/>
          </a:xfrm>
          <a:prstGeom prst="rect">
            <a:avLst/>
          </a:prstGeom>
          <a:noFill/>
          <a:ln/>
        </p:spPr>
        <p:txBody>
          <a:bodyPr wrap="square" lIns="0" tIns="0" rIns="0" bIns="0" rtlCol="0" anchor="ctr"/>
          <a:lstStyle/>
          <a:p>
            <a:pPr indent="0" marL="0">
              <a:buNone/>
            </a:pPr>
            <a:r>
              <a:rPr lang="en-US" sz="4000" b="1" dirty="0">
                <a:solidFill>
                  <a:srgbClr val="E69F00"/>
                </a:solidFill>
                <a:latin typeface="Consolas" pitchFamily="34" charset="0"/>
                <a:ea typeface="Consolas" pitchFamily="34" charset="-122"/>
                <a:cs typeface="Consolas" pitchFamily="34" charset="-120"/>
              </a:rPr>
              <a:t>80</a:t>
            </a:r>
            <a:endParaRPr lang="en-US" sz="4000" dirty="0"/>
          </a:p>
        </p:txBody>
      </p:sp>
      <p:sp>
        <p:nvSpPr>
          <p:cNvPr id="13" name="Shape 11"/>
          <p:cNvSpPr/>
          <p:nvPr/>
        </p:nvSpPr>
        <p:spPr>
          <a:xfrm>
            <a:off x="9464040" y="566928"/>
            <a:ext cx="1280160" cy="329184"/>
          </a:xfrm>
          <a:prstGeom prst="roundRect">
            <a:avLst>
              <a:gd name="adj" fmla="val 50000"/>
            </a:avLst>
          </a:prstGeom>
          <a:solidFill>
            <a:srgbClr val="1E1E24"/>
          </a:solidFill>
          <a:ln w="15875">
            <a:solidFill>
              <a:srgbClr val="D8A73D"/>
            </a:solidFill>
            <a:prstDash val="solid"/>
          </a:ln>
        </p:spPr>
      </p:sp>
      <p:sp>
        <p:nvSpPr>
          <p:cNvPr id="14" name="Text 12"/>
          <p:cNvSpPr txBox="1"/>
          <p:nvPr/>
        </p:nvSpPr>
        <p:spPr>
          <a:xfrm>
            <a:off x="9464040" y="566928"/>
            <a:ext cx="1280160" cy="329184"/>
          </a:xfrm>
          <a:prstGeom prst="rect">
            <a:avLst/>
          </a:prstGeom>
          <a:noFill/>
          <a:ln/>
        </p:spPr>
        <p:txBody>
          <a:bodyPr wrap="square" lIns="0" tIns="0" rIns="0" bIns="0" rtlCol="0" anchor="ctr"/>
          <a:lstStyle/>
          <a:p>
            <a:pPr algn="ctr" indent="0" marL="0">
              <a:buNone/>
            </a:pPr>
            <a:r>
              <a:rPr lang="en-US" sz="1400" b="1" spc="100" kern="0" dirty="0">
                <a:solidFill>
                  <a:srgbClr val="D8A73D"/>
                </a:solidFill>
                <a:latin typeface="Calibri" pitchFamily="34" charset="0"/>
                <a:ea typeface="Calibri" pitchFamily="34" charset="-122"/>
                <a:cs typeface="Calibri" pitchFamily="34" charset="-120"/>
              </a:rPr>
              <a:t>⏱  3 MIN</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3840480"/>
          <a:ext cx="11091672" cy="914400"/>
        </p:xfrm>
        <a:graphic>
          <a:graphicData uri="http://schemas.openxmlformats.org/drawingml/2006/table">
            <a:tbl>
              <a:tblPr/>
              <a:tblGrid>
                <a:gridCol w="1280160"/>
                <a:gridCol w="2377440"/>
                <a:gridCol w="7434072"/>
              </a:tblGrid>
              <a:tr h="475488">
                <a:tc>
                  <a:txBody>
                    <a:bodyPr/>
                    <a:lstStyle/>
                    <a:p>
                      <a:pPr algn="ctr" indent="0" marL="0">
                        <a:buNone/>
                      </a:pPr>
                      <a:r>
                        <a:rPr lang="en-US" sz="2000" b="1" dirty="0">
                          <a:solidFill>
                            <a:srgbClr val="D8A73D"/>
                          </a:solidFill>
                          <a:latin typeface="Calibri" pitchFamily="34" charset="0"/>
                          <a:ea typeface="Calibri" pitchFamily="34" charset="-122"/>
                          <a:cs typeface="Calibri" pitchFamily="34" charset="-120"/>
                        </a:rPr>
                        <a:t>Line</a:t>
                      </a:r>
                      <a:endParaRPr lang="en-US" sz="2000" dirty="0">
                        <a:latin typeface="Calibri" charset="0"/>
                        <a:ea typeface="Calibri" charset="0"/>
                        <a:cs typeface="Calibri" charset="0"/>
                      </a:endParaRPr>
                    </a:p>
                  </a:txBody>
                  <a:tcPr marL="137160" marR="13716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2A2A32"/>
                    </a:solidFill>
                  </a:tcPr>
                </a:tc>
                <a:tc>
                  <a:txBody>
                    <a:bodyPr/>
                    <a:lstStyle/>
                    <a:p>
                      <a:pPr algn="ctr" indent="0" marL="0">
                        <a:buNone/>
                      </a:pPr>
                      <a:r>
                        <a:rPr lang="en-US" sz="2000" b="1" dirty="0">
                          <a:solidFill>
                            <a:srgbClr val="56B4E9"/>
                          </a:solidFill>
                          <a:latin typeface="Consolas" pitchFamily="34" charset="0"/>
                          <a:ea typeface="Consolas" pitchFamily="34" charset="-122"/>
                          <a:cs typeface="Consolas" pitchFamily="34" charset="-120"/>
                        </a:rPr>
                        <a:t>battery</a:t>
                      </a:r>
                      <a:endParaRPr lang="en-US" sz="2000" dirty="0">
                        <a:latin typeface="Consolas" charset="0"/>
                        <a:ea typeface="Consolas" charset="0"/>
                        <a:cs typeface="Consolas" charset="0"/>
                      </a:endParaRPr>
                    </a:p>
                  </a:txBody>
                  <a:tcPr marL="137160" marR="13716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2A2A32"/>
                    </a:solidFill>
                  </a:tcPr>
                </a:tc>
                <a:tc>
                  <a:txBody>
                    <a:bodyPr/>
                    <a:lstStyle/>
                    <a:p>
                      <a:pPr algn="ctr" indent="0" marL="0">
                        <a:buNone/>
                      </a:pPr>
                      <a:r>
                        <a:rPr lang="en-US" sz="2000" b="1" dirty="0">
                          <a:solidFill>
                            <a:srgbClr val="D8A73D"/>
                          </a:solidFill>
                          <a:latin typeface="Calibri" pitchFamily="34" charset="0"/>
                          <a:ea typeface="Calibri" pitchFamily="34" charset="-122"/>
                          <a:cs typeface="Calibri" pitchFamily="34" charset="-120"/>
                        </a:rPr>
                        <a:t>Output</a:t>
                      </a:r>
                      <a:endParaRPr lang="en-US" sz="2000" dirty="0">
                        <a:latin typeface="Calibri" charset="0"/>
                        <a:ea typeface="Calibri" charset="0"/>
                        <a:cs typeface="Calibri" charset="0"/>
                      </a:endParaRPr>
                    </a:p>
                  </a:txBody>
                  <a:tcPr marL="137160" marR="13716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2A2A32"/>
                    </a:solidFill>
                  </a:tcPr>
                </a:tc>
              </a:tr>
              <a:tr h="475488">
                <a:tc>
                  <a:txBody>
                    <a:bodyPr/>
                    <a:lstStyle/>
                    <a:p>
                      <a:pPr algn="ctr" indent="0" marL="0">
                        <a:buNone/>
                      </a:pPr>
                      <a:r>
                        <a:rPr lang="en-US" sz="2000" dirty="0">
                          <a:solidFill>
                            <a:srgbClr val="A9A9B4"/>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L="137160" marR="13716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c>
                  <a:txBody>
                    <a:bodyPr/>
                    <a:lstStyle/>
                    <a:p>
                      <a:pPr algn="ctr" indent="0" marL="0">
                        <a:buNone/>
                      </a:pPr>
                      <a:endParaRPr lang="en-US" sz="2000" dirty="0">
                        <a:latin typeface="Consolas" charset="0"/>
                        <a:ea typeface="Consolas" charset="0"/>
                        <a:cs typeface="Consolas" charset="0"/>
                      </a:endParaRPr>
                    </a:p>
                  </a:txBody>
                  <a:tcPr marL="137160" marR="13716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c>
                  <a:txBody>
                    <a:bodyPr/>
                    <a:lstStyle/>
                    <a:p>
                      <a:pPr algn="l" indent="0" marL="0">
                        <a:buNone/>
                      </a:pPr>
                      <a:endParaRPr lang="en-US" sz="2000" dirty="0">
                        <a:latin typeface="Consolas" charset="0"/>
                        <a:ea typeface="Consolas" charset="0"/>
                        <a:cs typeface="Consolas" charset="0"/>
                      </a:endParaRPr>
                    </a:p>
                  </a:txBody>
                  <a:tcPr marL="137160" marR="13716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r>
              <a:tr h="475488">
                <a:tc>
                  <a:txBody>
                    <a:bodyPr/>
                    <a:lstStyle/>
                    <a:p>
                      <a:pPr algn="ctr" indent="0" marL="0">
                        <a:buNone/>
                      </a:pPr>
                      <a:r>
                        <a:rPr lang="en-US" sz="2000" dirty="0">
                          <a:solidFill>
                            <a:srgbClr val="A9A9B4"/>
                          </a:solidFill>
                          <a:latin typeface="Calibri" pitchFamily="34" charset="0"/>
                          <a:ea typeface="Calibri" pitchFamily="34" charset="-122"/>
                          <a:cs typeface="Calibri" pitchFamily="34" charset="-120"/>
                        </a:rPr>
                        <a:t>2</a:t>
                      </a:r>
                      <a:endParaRPr lang="en-US" sz="2000" dirty="0">
                        <a:latin typeface="Calibri" charset="0"/>
                        <a:ea typeface="Calibri" charset="0"/>
                        <a:cs typeface="Calibri" charset="0"/>
                      </a:endParaRPr>
                    </a:p>
                  </a:txBody>
                  <a:tcPr marL="137160" marR="13716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c>
                  <a:txBody>
                    <a:bodyPr/>
                    <a:lstStyle/>
                    <a:p>
                      <a:pPr algn="ctr" indent="0" marL="0">
                        <a:buNone/>
                      </a:pPr>
                      <a:endParaRPr lang="en-US" sz="2000" dirty="0">
                        <a:latin typeface="Consolas" charset="0"/>
                        <a:ea typeface="Consolas" charset="0"/>
                        <a:cs typeface="Consolas" charset="0"/>
                      </a:endParaRPr>
                    </a:p>
                  </a:txBody>
                  <a:tcPr marL="137160" marR="13716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c>
                  <a:txBody>
                    <a:bodyPr/>
                    <a:lstStyle/>
                    <a:p>
                      <a:pPr algn="l" indent="0" marL="0">
                        <a:buNone/>
                      </a:pPr>
                      <a:endParaRPr lang="en-US" sz="2000" dirty="0">
                        <a:latin typeface="Consolas" charset="0"/>
                        <a:ea typeface="Consolas" charset="0"/>
                        <a:cs typeface="Consolas" charset="0"/>
                      </a:endParaRPr>
                    </a:p>
                  </a:txBody>
                  <a:tcPr marL="137160" marR="13716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r>
              <a:tr h="475488">
                <a:tc>
                  <a:txBody>
                    <a:bodyPr/>
                    <a:lstStyle/>
                    <a:p>
                      <a:pPr algn="ctr" indent="0" marL="0">
                        <a:buNone/>
                      </a:pPr>
                      <a:r>
                        <a:rPr lang="en-US" sz="2000" dirty="0">
                          <a:solidFill>
                            <a:srgbClr val="A9A9B4"/>
                          </a:solidFill>
                          <a:latin typeface="Calibri" pitchFamily="34" charset="0"/>
                          <a:ea typeface="Calibri" pitchFamily="34" charset="-122"/>
                          <a:cs typeface="Calibri" pitchFamily="34" charset="-120"/>
                        </a:rPr>
                        <a:t>3</a:t>
                      </a:r>
                      <a:endParaRPr lang="en-US" sz="2000" dirty="0">
                        <a:latin typeface="Calibri" charset="0"/>
                        <a:ea typeface="Calibri" charset="0"/>
                        <a:cs typeface="Calibri" charset="0"/>
                      </a:endParaRPr>
                    </a:p>
                  </a:txBody>
                  <a:tcPr marL="137160" marR="13716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c>
                  <a:txBody>
                    <a:bodyPr/>
                    <a:lstStyle/>
                    <a:p>
                      <a:pPr algn="ctr" indent="0" marL="0">
                        <a:buNone/>
                      </a:pPr>
                      <a:endParaRPr lang="en-US" sz="2000" dirty="0">
                        <a:latin typeface="Consolas" charset="0"/>
                        <a:ea typeface="Consolas" charset="0"/>
                        <a:cs typeface="Consolas" charset="0"/>
                      </a:endParaRPr>
                    </a:p>
                  </a:txBody>
                  <a:tcPr marL="137160" marR="13716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c>
                  <a:txBody>
                    <a:bodyPr/>
                    <a:lstStyle/>
                    <a:p>
                      <a:pPr algn="l" indent="0" marL="0">
                        <a:buNone/>
                      </a:pPr>
                      <a:endParaRPr lang="en-US" sz="2000" dirty="0">
                        <a:latin typeface="Consolas" charset="0"/>
                        <a:ea typeface="Consolas" charset="0"/>
                        <a:cs typeface="Consolas" charset="0"/>
                      </a:endParaRPr>
                    </a:p>
                  </a:txBody>
                  <a:tcPr marL="137160" marR="13716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r>
            </a:tbl>
          </a:graphicData>
        </a:graphic>
      </p:graphicFrame>
      <p:pic>
        <p:nvPicPr>
          <p:cNvPr id="16" name="Image 0" descr="Deliberate practice">    </p:cNvPr>
          <p:cNvPicPr>
            <a:picLocks noChangeAspect="1"/>
          </p:cNvPicPr>
          <p:nvPr/>
        </p:nvPicPr>
        <p:blipFill>
          <a:blip r:embed="rId1"/>
          <a:stretch>
            <a:fillRect/>
          </a:stretch>
        </p:blipFill>
        <p:spPr>
          <a:xfrm>
            <a:off x="10972800" y="384048"/>
            <a:ext cx="731520" cy="731520"/>
          </a:xfrm>
          <a:prstGeom prst="rect">
            <a:avLst/>
          </a:prstGeom>
        </p:spPr>
      </p:pic>
      <p:sp>
        <p:nvSpPr>
          <p:cNvPr id="18" name="Text 13"/>
          <p:cNvSpPr txBox="1"/>
          <p:nvPr/>
        </p:nvSpPr>
        <p:spPr>
          <a:xfrm>
            <a:off x="4206240" y="6355080"/>
            <a:ext cx="6812280" cy="320040"/>
          </a:xfrm>
          <a:prstGeom prst="rect">
            <a:avLst/>
          </a:prstGeom>
          <a:noFill/>
          <a:ln/>
        </p:spPr>
        <p:txBody>
          <a:bodyPr wrap="square" lIns="0" tIns="0" rIns="0" bIns="0" rtlCol="0" anchor="ctr"/>
          <a:lstStyle/>
          <a:p>
            <a:pPr algn="r" indent="0" marL="0">
              <a:buNone/>
            </a:pPr>
            <a:r>
              <a:rPr lang="en-US" sz="1300" b="1" i="1" dirty="0">
                <a:solidFill>
                  <a:srgbClr val="D8A73D"/>
                </a:solidFill>
                <a:latin typeface="Calibri" pitchFamily="34" charset="0"/>
                <a:ea typeface="Calibri" pitchFamily="34" charset="-122"/>
                <a:cs typeface="Calibri" pitchFamily="34" charset="-120"/>
              </a:rPr>
              <a:t>traceSlide()  ·  Trace table</a:t>
            </a:r>
            <a:endParaRPr lang="en-US" sz="13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Join or add?</a:t>
            </a:r>
            <a:endParaRPr lang="en-US" sz="3600" dirty="0"/>
          </a:p>
        </p:txBody>
      </p:sp>
      <p:sp>
        <p:nvSpPr>
          <p:cNvPr id="3" name="code"/>
          <p:cNvSpPr/>
          <p:nvPr/>
        </p:nvSpPr>
        <p:spPr>
          <a:xfrm>
            <a:off x="548640" y="1737360"/>
            <a:ext cx="5394960" cy="1188720"/>
          </a:xfrm>
          <a:prstGeom prst="roundRect">
            <a:avLst>
              <a:gd name="adj" fmla="val 6154"/>
            </a:avLst>
          </a:prstGeom>
          <a:solidFill>
            <a:srgbClr val="111115"/>
          </a:solidFill>
          <a:ln w="15875">
            <a:solidFill>
              <a:srgbClr val="3A3A44"/>
            </a:solidFill>
            <a:prstDash val="solid"/>
          </a:ln>
        </p:spPr>
      </p:sp>
      <p:sp>
        <p:nvSpPr>
          <p:cNvPr id="4" name="Text 2"/>
          <p:cNvSpPr txBox="1"/>
          <p:nvPr/>
        </p:nvSpPr>
        <p:spPr>
          <a:xfrm>
            <a:off x="731520" y="1938528"/>
            <a:ext cx="5120640" cy="628650"/>
          </a:xfrm>
          <a:prstGeom prst="rect">
            <a:avLst/>
          </a:prstGeom>
          <a:noFill/>
          <a:ln/>
        </p:spPr>
        <p:txBody>
          <a:bodyPr wrap="square" lIns="0" tIns="0" rIns="0" bIns="0" rtlCol="0" anchor="ctr"/>
          <a:lstStyle/>
          <a:p>
            <a:pPr indent="0" marL="0">
              <a:buNone/>
            </a:pPr>
            <a:r>
              <a:rPr lang="en-US" sz="3000" dirty="0">
                <a:solidFill>
                  <a:srgbClr val="E8C878"/>
                </a:solidFill>
                <a:latin typeface="Consolas" pitchFamily="34" charset="0"/>
                <a:ea typeface="Consolas" pitchFamily="34" charset="-122"/>
                <a:cs typeface="Consolas" pitchFamily="34" charset="-120"/>
              </a:rPr>
              <a:t>print</a:t>
            </a:r>
            <a:pPr indent="0" marL="0">
              <a:buNone/>
            </a:pPr>
            <a:r>
              <a:rPr lang="en-US" sz="3000" dirty="0">
                <a:solidFill>
                  <a:srgbClr val="A9A9B4"/>
                </a:solidFill>
                <a:latin typeface="Consolas" pitchFamily="34" charset="0"/>
                <a:ea typeface="Consolas" pitchFamily="34" charset="-122"/>
                <a:cs typeface="Consolas" pitchFamily="34" charset="-120"/>
              </a:rPr>
              <a:t>(</a:t>
            </a:r>
            <a:pPr indent="0" marL="0">
              <a:buNone/>
            </a:pPr>
            <a:r>
              <a:rPr lang="en-US" sz="3000" dirty="0">
                <a:solidFill>
                  <a:srgbClr val="E69F00"/>
                </a:solidFill>
                <a:latin typeface="Consolas" pitchFamily="34" charset="0"/>
                <a:ea typeface="Consolas" pitchFamily="34" charset="-122"/>
                <a:cs typeface="Consolas" pitchFamily="34" charset="-120"/>
              </a:rPr>
              <a:t>"5"</a:t>
            </a:r>
            <a:pPr indent="0" marL="0">
              <a:buNone/>
            </a:pPr>
            <a:r>
              <a:rPr lang="en-US" sz="3000" dirty="0">
                <a:solidFill>
                  <a:srgbClr val="F5F5F3"/>
                </a:solidFill>
                <a:latin typeface="Consolas" pitchFamily="34" charset="0"/>
                <a:ea typeface="Consolas" pitchFamily="34" charset="-122"/>
                <a:cs typeface="Consolas" pitchFamily="34" charset="-120"/>
              </a:rPr>
              <a:t> </a:t>
            </a:r>
            <a:pPr indent="0" marL="0">
              <a:buNone/>
            </a:pPr>
            <a:r>
              <a:rPr lang="en-US" sz="3000" dirty="0">
                <a:solidFill>
                  <a:srgbClr val="A9A9B4"/>
                </a:solidFill>
                <a:latin typeface="Consolas" pitchFamily="34" charset="0"/>
                <a:ea typeface="Consolas" pitchFamily="34" charset="-122"/>
                <a:cs typeface="Consolas" pitchFamily="34" charset="-120"/>
              </a:rPr>
              <a:t>+</a:t>
            </a:r>
            <a:pPr indent="0" marL="0">
              <a:buNone/>
            </a:pPr>
            <a:r>
              <a:rPr lang="en-US" sz="3000" dirty="0">
                <a:solidFill>
                  <a:srgbClr val="F5F5F3"/>
                </a:solidFill>
                <a:latin typeface="Consolas" pitchFamily="34" charset="0"/>
                <a:ea typeface="Consolas" pitchFamily="34" charset="-122"/>
                <a:cs typeface="Consolas" pitchFamily="34" charset="-120"/>
              </a:rPr>
              <a:t> </a:t>
            </a:r>
            <a:pPr indent="0" marL="0">
              <a:buNone/>
            </a:pPr>
            <a:r>
              <a:rPr lang="en-US" sz="3000" dirty="0">
                <a:solidFill>
                  <a:srgbClr val="E69F00"/>
                </a:solidFill>
                <a:latin typeface="Consolas" pitchFamily="34" charset="0"/>
                <a:ea typeface="Consolas" pitchFamily="34" charset="-122"/>
                <a:cs typeface="Consolas" pitchFamily="34" charset="-120"/>
              </a:rPr>
              <a:t>"5"</a:t>
            </a:r>
            <a:pPr indent="0" marL="0">
              <a:buNone/>
            </a:pPr>
            <a:r>
              <a:rPr lang="en-US" sz="3000" dirty="0">
                <a:solidFill>
                  <a:srgbClr val="A9A9B4"/>
                </a:solidFill>
                <a:latin typeface="Consolas" pitchFamily="34" charset="0"/>
                <a:ea typeface="Consolas" pitchFamily="34" charset="-122"/>
                <a:cs typeface="Consolas" pitchFamily="34" charset="-120"/>
              </a:rPr>
              <a:t>)</a:t>
            </a:r>
            <a:endParaRPr lang="en-US" sz="3000" dirty="0"/>
          </a:p>
        </p:txBody>
      </p:sp>
      <p:sp>
        <p:nvSpPr>
          <p:cNvPr id="5" name="terminal"/>
          <p:cNvSpPr/>
          <p:nvPr/>
        </p:nvSpPr>
        <p:spPr>
          <a:xfrm>
            <a:off x="548640" y="3154680"/>
            <a:ext cx="5394960" cy="914400"/>
          </a:xfrm>
          <a:prstGeom prst="roundRect">
            <a:avLst>
              <a:gd name="adj" fmla="val 8000"/>
            </a:avLst>
          </a:prstGeom>
          <a:solidFill>
            <a:srgbClr val="0A0A0D"/>
          </a:solidFill>
          <a:ln w="15875">
            <a:solidFill>
              <a:srgbClr val="3A3A44"/>
            </a:solidFill>
            <a:prstDash val="solid"/>
          </a:ln>
        </p:spPr>
      </p:sp>
      <p:sp>
        <p:nvSpPr>
          <p:cNvPr id="6" name="Text 4"/>
          <p:cNvSpPr txBox="1"/>
          <p:nvPr/>
        </p:nvSpPr>
        <p:spPr>
          <a:xfrm>
            <a:off x="777240" y="3383280"/>
            <a:ext cx="4937760" cy="609600"/>
          </a:xfrm>
          <a:prstGeom prst="rect">
            <a:avLst/>
          </a:prstGeom>
          <a:noFill/>
          <a:ln/>
        </p:spPr>
        <p:txBody>
          <a:bodyPr wrap="square" lIns="0" tIns="0" rIns="0" bIns="0" rtlCol="0" anchor="ctr"/>
          <a:lstStyle/>
          <a:p>
            <a:pPr indent="0" marL="0">
              <a:buNone/>
            </a:pPr>
            <a:r>
              <a:rPr lang="en-US" sz="3000" dirty="0">
                <a:solidFill>
                  <a:srgbClr val="F5F5F3"/>
                </a:solidFill>
                <a:latin typeface="Consolas" pitchFamily="34" charset="0"/>
                <a:ea typeface="Consolas" pitchFamily="34" charset="-122"/>
                <a:cs typeface="Consolas" pitchFamily="34" charset="-120"/>
              </a:rPr>
              <a:t>?</a:t>
            </a:r>
            <a:endParaRPr lang="en-US" sz="3000" dirty="0"/>
          </a:p>
        </p:txBody>
      </p:sp>
      <p:sp>
        <p:nvSpPr>
          <p:cNvPr id="7" name="code"/>
          <p:cNvSpPr/>
          <p:nvPr/>
        </p:nvSpPr>
        <p:spPr>
          <a:xfrm>
            <a:off x="6245352" y="1737360"/>
            <a:ext cx="5394960" cy="1188720"/>
          </a:xfrm>
          <a:prstGeom prst="roundRect">
            <a:avLst>
              <a:gd name="adj" fmla="val 6154"/>
            </a:avLst>
          </a:prstGeom>
          <a:solidFill>
            <a:srgbClr val="111115"/>
          </a:solidFill>
          <a:ln w="15875">
            <a:solidFill>
              <a:srgbClr val="3A3A44"/>
            </a:solidFill>
            <a:prstDash val="solid"/>
          </a:ln>
        </p:spPr>
      </p:sp>
      <p:sp>
        <p:nvSpPr>
          <p:cNvPr id="8" name="Text 6"/>
          <p:cNvSpPr txBox="1"/>
          <p:nvPr/>
        </p:nvSpPr>
        <p:spPr>
          <a:xfrm>
            <a:off x="6428232" y="1938528"/>
            <a:ext cx="5120640" cy="628650"/>
          </a:xfrm>
          <a:prstGeom prst="rect">
            <a:avLst/>
          </a:prstGeom>
          <a:noFill/>
          <a:ln/>
        </p:spPr>
        <p:txBody>
          <a:bodyPr wrap="square" lIns="0" tIns="0" rIns="0" bIns="0" rtlCol="0" anchor="ctr"/>
          <a:lstStyle/>
          <a:p>
            <a:pPr indent="0" marL="0">
              <a:buNone/>
            </a:pPr>
            <a:r>
              <a:rPr lang="en-US" sz="3000" dirty="0">
                <a:solidFill>
                  <a:srgbClr val="E8C878"/>
                </a:solidFill>
                <a:latin typeface="Consolas" pitchFamily="34" charset="0"/>
                <a:ea typeface="Consolas" pitchFamily="34" charset="-122"/>
                <a:cs typeface="Consolas" pitchFamily="34" charset="-120"/>
              </a:rPr>
              <a:t>print</a:t>
            </a:r>
            <a:pPr indent="0" marL="0">
              <a:buNone/>
            </a:pPr>
            <a:r>
              <a:rPr lang="en-US" sz="3000" dirty="0">
                <a:solidFill>
                  <a:srgbClr val="A9A9B4"/>
                </a:solidFill>
                <a:latin typeface="Consolas" pitchFamily="34" charset="0"/>
                <a:ea typeface="Consolas" pitchFamily="34" charset="-122"/>
                <a:cs typeface="Consolas" pitchFamily="34" charset="-120"/>
              </a:rPr>
              <a:t>(</a:t>
            </a:r>
            <a:pPr indent="0" marL="0">
              <a:buNone/>
            </a:pPr>
            <a:r>
              <a:rPr lang="en-US" sz="3000" dirty="0">
                <a:solidFill>
                  <a:srgbClr val="56B4E9"/>
                </a:solidFill>
                <a:latin typeface="Consolas" pitchFamily="34" charset="0"/>
                <a:ea typeface="Consolas" pitchFamily="34" charset="-122"/>
                <a:cs typeface="Consolas" pitchFamily="34" charset="-120"/>
              </a:rPr>
              <a:t>5</a:t>
            </a:r>
            <a:pPr indent="0" marL="0">
              <a:buNone/>
            </a:pPr>
            <a:r>
              <a:rPr lang="en-US" sz="3000" dirty="0">
                <a:solidFill>
                  <a:srgbClr val="F5F5F3"/>
                </a:solidFill>
                <a:latin typeface="Consolas" pitchFamily="34" charset="0"/>
                <a:ea typeface="Consolas" pitchFamily="34" charset="-122"/>
                <a:cs typeface="Consolas" pitchFamily="34" charset="-120"/>
              </a:rPr>
              <a:t> </a:t>
            </a:r>
            <a:pPr indent="0" marL="0">
              <a:buNone/>
            </a:pPr>
            <a:r>
              <a:rPr lang="en-US" sz="3000" dirty="0">
                <a:solidFill>
                  <a:srgbClr val="A9A9B4"/>
                </a:solidFill>
                <a:latin typeface="Consolas" pitchFamily="34" charset="0"/>
                <a:ea typeface="Consolas" pitchFamily="34" charset="-122"/>
                <a:cs typeface="Consolas" pitchFamily="34" charset="-120"/>
              </a:rPr>
              <a:t>+</a:t>
            </a:r>
            <a:pPr indent="0" marL="0">
              <a:buNone/>
            </a:pPr>
            <a:r>
              <a:rPr lang="en-US" sz="3000" dirty="0">
                <a:solidFill>
                  <a:srgbClr val="F5F5F3"/>
                </a:solidFill>
                <a:latin typeface="Consolas" pitchFamily="34" charset="0"/>
                <a:ea typeface="Consolas" pitchFamily="34" charset="-122"/>
                <a:cs typeface="Consolas" pitchFamily="34" charset="-120"/>
              </a:rPr>
              <a:t> </a:t>
            </a:r>
            <a:pPr indent="0" marL="0">
              <a:buNone/>
            </a:pPr>
            <a:r>
              <a:rPr lang="en-US" sz="3000" dirty="0">
                <a:solidFill>
                  <a:srgbClr val="56B4E9"/>
                </a:solidFill>
                <a:latin typeface="Consolas" pitchFamily="34" charset="0"/>
                <a:ea typeface="Consolas" pitchFamily="34" charset="-122"/>
                <a:cs typeface="Consolas" pitchFamily="34" charset="-120"/>
              </a:rPr>
              <a:t>5</a:t>
            </a:r>
            <a:pPr indent="0" marL="0">
              <a:buNone/>
            </a:pPr>
            <a:r>
              <a:rPr lang="en-US" sz="3000" dirty="0">
                <a:solidFill>
                  <a:srgbClr val="A9A9B4"/>
                </a:solidFill>
                <a:latin typeface="Consolas" pitchFamily="34" charset="0"/>
                <a:ea typeface="Consolas" pitchFamily="34" charset="-122"/>
                <a:cs typeface="Consolas" pitchFamily="34" charset="-120"/>
              </a:rPr>
              <a:t>)</a:t>
            </a:r>
            <a:endParaRPr lang="en-US" sz="3000" dirty="0"/>
          </a:p>
        </p:txBody>
      </p:sp>
      <p:sp>
        <p:nvSpPr>
          <p:cNvPr id="9" name="terminal"/>
          <p:cNvSpPr/>
          <p:nvPr/>
        </p:nvSpPr>
        <p:spPr>
          <a:xfrm>
            <a:off x="6245352" y="3154680"/>
            <a:ext cx="5394960" cy="914400"/>
          </a:xfrm>
          <a:prstGeom prst="roundRect">
            <a:avLst>
              <a:gd name="adj" fmla="val 8000"/>
            </a:avLst>
          </a:prstGeom>
          <a:solidFill>
            <a:srgbClr val="0A0A0D"/>
          </a:solidFill>
          <a:ln w="15875">
            <a:solidFill>
              <a:srgbClr val="3A3A44"/>
            </a:solidFill>
            <a:prstDash val="solid"/>
          </a:ln>
        </p:spPr>
      </p:sp>
      <p:sp>
        <p:nvSpPr>
          <p:cNvPr id="10" name="Text 8"/>
          <p:cNvSpPr txBox="1"/>
          <p:nvPr/>
        </p:nvSpPr>
        <p:spPr>
          <a:xfrm>
            <a:off x="6473952" y="3383280"/>
            <a:ext cx="4937760" cy="609600"/>
          </a:xfrm>
          <a:prstGeom prst="rect">
            <a:avLst/>
          </a:prstGeom>
          <a:noFill/>
          <a:ln/>
        </p:spPr>
        <p:txBody>
          <a:bodyPr wrap="square" lIns="0" tIns="0" rIns="0" bIns="0" rtlCol="0" anchor="ctr"/>
          <a:lstStyle/>
          <a:p>
            <a:pPr indent="0" marL="0">
              <a:buNone/>
            </a:pPr>
            <a:r>
              <a:rPr lang="en-US" sz="3000" dirty="0">
                <a:solidFill>
                  <a:srgbClr val="F5F5F3"/>
                </a:solidFill>
                <a:latin typeface="Consolas" pitchFamily="34" charset="0"/>
                <a:ea typeface="Consolas" pitchFamily="34" charset="-122"/>
                <a:cs typeface="Consolas" pitchFamily="34" charset="-120"/>
              </a:rPr>
              <a:t>?</a:t>
            </a:r>
            <a:endParaRPr lang="en-US" sz="3000" dirty="0"/>
          </a:p>
        </p:txBody>
      </p:sp>
      <p:sp>
        <p:nvSpPr>
          <p:cNvPr id="11" name="Shape 9"/>
          <p:cNvSpPr/>
          <p:nvPr/>
        </p:nvSpPr>
        <p:spPr>
          <a:xfrm>
            <a:off x="548640" y="4526280"/>
            <a:ext cx="11091672" cy="1234440"/>
          </a:xfrm>
          <a:prstGeom prst="roundRect">
            <a:avLst>
              <a:gd name="adj" fmla="val 5926"/>
            </a:avLst>
          </a:prstGeom>
          <a:solidFill>
            <a:srgbClr val="1E1E24"/>
          </a:solidFill>
          <a:ln w="25400">
            <a:solidFill>
              <a:srgbClr val="D8A73D"/>
            </a:solidFill>
            <a:prstDash val="solid"/>
          </a:ln>
        </p:spPr>
      </p:sp>
      <p:sp>
        <p:nvSpPr>
          <p:cNvPr id="12" name="Text 10"/>
          <p:cNvSpPr txBox="1"/>
          <p:nvPr/>
        </p:nvSpPr>
        <p:spPr>
          <a:xfrm>
            <a:off x="914400" y="4526280"/>
            <a:ext cx="10332720" cy="1234440"/>
          </a:xfrm>
          <a:prstGeom prst="rect">
            <a:avLst/>
          </a:prstGeom>
          <a:noFill/>
          <a:ln/>
        </p:spPr>
        <p:txBody>
          <a:bodyPr wrap="square" lIns="0" tIns="0" rIns="0" bIns="0" rtlCol="0" anchor="ctr"/>
          <a:lstStyle/>
          <a:p>
            <a:pPr indent="0" marL="0">
              <a:buNone/>
            </a:pPr>
            <a:r>
              <a:rPr lang="en-US" sz="2500" b="1" dirty="0">
                <a:solidFill>
                  <a:srgbClr val="D8A73D"/>
                </a:solidFill>
                <a:latin typeface="Calibri" pitchFamily="34" charset="0"/>
                <a:ea typeface="Calibri" pitchFamily="34" charset="-122"/>
                <a:cs typeface="Calibri" pitchFamily="34" charset="-120"/>
              </a:rPr>
              <a:t>Turn &amp; Talk: </a:t>
            </a:r>
            <a:pPr indent="0" marL="0">
              <a:buNone/>
            </a:pPr>
            <a:r>
              <a:rPr lang="en-US" sz="2500" dirty="0">
                <a:solidFill>
                  <a:srgbClr val="F5F5F3"/>
                </a:solidFill>
                <a:latin typeface="Calibri" pitchFamily="34" charset="0"/>
                <a:ea typeface="Calibri" pitchFamily="34" charset="-122"/>
                <a:cs typeface="Calibri" pitchFamily="34" charset="-120"/>
              </a:rPr>
              <a:t>what does each one print — and why are they different?</a:t>
            </a:r>
            <a:endParaRPr lang="en-US" sz="2500" dirty="0"/>
          </a:p>
        </p:txBody>
      </p:sp>
      <p:sp>
        <p:nvSpPr>
          <p:cNvPr id="13" name="Shape 11"/>
          <p:cNvSpPr/>
          <p:nvPr/>
        </p:nvSpPr>
        <p:spPr>
          <a:xfrm>
            <a:off x="9464040" y="566928"/>
            <a:ext cx="1280160" cy="329184"/>
          </a:xfrm>
          <a:prstGeom prst="roundRect">
            <a:avLst>
              <a:gd name="adj" fmla="val 50000"/>
            </a:avLst>
          </a:prstGeom>
          <a:solidFill>
            <a:srgbClr val="1E1E24"/>
          </a:solidFill>
          <a:ln w="15875">
            <a:solidFill>
              <a:srgbClr val="D8A73D"/>
            </a:solidFill>
            <a:prstDash val="solid"/>
          </a:ln>
        </p:spPr>
      </p:sp>
      <p:sp>
        <p:nvSpPr>
          <p:cNvPr id="14" name="Text 12"/>
          <p:cNvSpPr txBox="1"/>
          <p:nvPr/>
        </p:nvSpPr>
        <p:spPr>
          <a:xfrm>
            <a:off x="9464040" y="566928"/>
            <a:ext cx="1280160" cy="329184"/>
          </a:xfrm>
          <a:prstGeom prst="rect">
            <a:avLst/>
          </a:prstGeom>
          <a:noFill/>
          <a:ln/>
        </p:spPr>
        <p:txBody>
          <a:bodyPr wrap="square" lIns="0" tIns="0" rIns="0" bIns="0" rtlCol="0" anchor="ctr"/>
          <a:lstStyle/>
          <a:p>
            <a:pPr algn="ctr" indent="0" marL="0">
              <a:buNone/>
            </a:pPr>
            <a:r>
              <a:rPr lang="en-US" sz="1400" b="1" spc="100" kern="0" dirty="0">
                <a:solidFill>
                  <a:srgbClr val="D8A73D"/>
                </a:solidFill>
                <a:latin typeface="Calibri" pitchFamily="34" charset="0"/>
                <a:ea typeface="Calibri" pitchFamily="34" charset="-122"/>
                <a:cs typeface="Calibri" pitchFamily="34" charset="-120"/>
              </a:rPr>
              <a:t>⏱  1 MIN</a:t>
            </a:r>
            <a:endParaRPr lang="en-US" sz="1400" dirty="0"/>
          </a:p>
        </p:txBody>
      </p:sp>
      <p:pic>
        <p:nvPicPr>
          <p:cNvPr id="15" name="Image 0" descr="Deliberate practice">    </p:cNvPr>
          <p:cNvPicPr>
            <a:picLocks noChangeAspect="1"/>
          </p:cNvPicPr>
          <p:nvPr/>
        </p:nvPicPr>
        <p:blipFill>
          <a:blip r:embed="rId1"/>
          <a:stretch>
            <a:fillRect/>
          </a:stretch>
        </p:blipFill>
        <p:spPr>
          <a:xfrm>
            <a:off x="10972800" y="384048"/>
            <a:ext cx="731520" cy="731520"/>
          </a:xfrm>
          <a:prstGeom prst="rect">
            <a:avLst/>
          </a:prstGeom>
        </p:spPr>
      </p:pic>
      <p:sp>
        <p:nvSpPr>
          <p:cNvPr id="17" name="Text 13"/>
          <p:cNvSpPr txBox="1"/>
          <p:nvPr/>
        </p:nvSpPr>
        <p:spPr>
          <a:xfrm>
            <a:off x="4206240" y="6355080"/>
            <a:ext cx="6812280" cy="320040"/>
          </a:xfrm>
          <a:prstGeom prst="rect">
            <a:avLst/>
          </a:prstGeom>
          <a:noFill/>
          <a:ln/>
        </p:spPr>
        <p:txBody>
          <a:bodyPr wrap="square" lIns="0" tIns="0" rIns="0" bIns="0" rtlCol="0" anchor="ctr"/>
          <a:lstStyle/>
          <a:p>
            <a:pPr algn="r" indent="0" marL="0">
              <a:buNone/>
            </a:pPr>
            <a:r>
              <a:rPr lang="en-US" sz="1300" b="1" i="1" dirty="0">
                <a:solidFill>
                  <a:srgbClr val="D8A73D"/>
                </a:solidFill>
                <a:latin typeface="Calibri" pitchFamily="34" charset="0"/>
                <a:ea typeface="Calibri" pitchFamily="34" charset="-122"/>
                <a:cs typeface="Calibri" pitchFamily="34" charset="-120"/>
              </a:rPr>
              <a:t>turnTalkSlide()  ·  Turn &amp; Talk</a:t>
            </a:r>
            <a:endParaRPr lang="en-US" sz="13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Debugging recipe</a:t>
            </a:r>
            <a:endParaRPr lang="en-US" sz="3600" dirty="0"/>
          </a:p>
        </p:txBody>
      </p:sp>
      <p:sp>
        <p:nvSpPr>
          <p:cNvPr id="3" name="terminal"/>
          <p:cNvSpPr/>
          <p:nvPr/>
        </p:nvSpPr>
        <p:spPr>
          <a:xfrm>
            <a:off x="548640" y="1554480"/>
            <a:ext cx="8503920" cy="2402840"/>
          </a:xfrm>
          <a:prstGeom prst="roundRect">
            <a:avLst>
              <a:gd name="adj" fmla="val 3044"/>
            </a:avLst>
          </a:prstGeom>
          <a:solidFill>
            <a:srgbClr val="0A0A0D"/>
          </a:solidFill>
          <a:ln w="15875">
            <a:solidFill>
              <a:srgbClr val="3A3A44"/>
            </a:solidFill>
            <a:prstDash val="solid"/>
          </a:ln>
        </p:spPr>
      </p:sp>
      <p:sp>
        <p:nvSpPr>
          <p:cNvPr id="4" name="Text 2"/>
          <p:cNvSpPr txBox="1"/>
          <p:nvPr/>
        </p:nvSpPr>
        <p:spPr>
          <a:xfrm>
            <a:off x="777240" y="1737360"/>
            <a:ext cx="8046720" cy="274320"/>
          </a:xfrm>
          <a:prstGeom prst="rect">
            <a:avLst/>
          </a:prstGeom>
          <a:noFill/>
          <a:ln/>
        </p:spPr>
        <p:txBody>
          <a:bodyPr wrap="square" lIns="0" tIns="0" rIns="0" bIns="0" rtlCol="0" anchor="ctr"/>
          <a:lstStyle/>
          <a:p>
            <a:pPr indent="0" marL="0">
              <a:buNone/>
            </a:pPr>
            <a:r>
              <a:rPr lang="en-US" sz="1200" b="1" spc="200" kern="0" dirty="0">
                <a:solidFill>
                  <a:srgbClr val="A9A9B4"/>
                </a:solidFill>
                <a:latin typeface="Calibri" pitchFamily="34" charset="0"/>
                <a:ea typeface="Calibri" pitchFamily="34" charset="-122"/>
                <a:cs typeface="Calibri" pitchFamily="34" charset="-120"/>
              </a:rPr>
              <a:t>ERROR MESSAGE</a:t>
            </a:r>
            <a:endParaRPr lang="en-US" sz="1200" dirty="0"/>
          </a:p>
        </p:txBody>
      </p:sp>
      <p:sp>
        <p:nvSpPr>
          <p:cNvPr id="5" name="Text 3"/>
          <p:cNvSpPr txBox="1"/>
          <p:nvPr/>
        </p:nvSpPr>
        <p:spPr>
          <a:xfrm>
            <a:off x="777240" y="2103120"/>
            <a:ext cx="8046720" cy="406400"/>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  File "main.py", line 3</a:t>
            </a:r>
            <a:endParaRPr lang="en-US" sz="2000" dirty="0"/>
          </a:p>
        </p:txBody>
      </p:sp>
      <p:sp>
        <p:nvSpPr>
          <p:cNvPr id="6" name="Text 4"/>
          <p:cNvSpPr txBox="1"/>
          <p:nvPr/>
        </p:nvSpPr>
        <p:spPr>
          <a:xfrm>
            <a:off x="777240" y="2509520"/>
            <a:ext cx="8046720" cy="406400"/>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    print("Scanning...)</a:t>
            </a:r>
            <a:endParaRPr lang="en-US" sz="2000" dirty="0"/>
          </a:p>
        </p:txBody>
      </p:sp>
      <p:sp>
        <p:nvSpPr>
          <p:cNvPr id="7" name="Text 5"/>
          <p:cNvSpPr txBox="1"/>
          <p:nvPr/>
        </p:nvSpPr>
        <p:spPr>
          <a:xfrm>
            <a:off x="777240" y="2915920"/>
            <a:ext cx="8046720" cy="406400"/>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          ^</a:t>
            </a:r>
            <a:endParaRPr lang="en-US" sz="2000" dirty="0"/>
          </a:p>
        </p:txBody>
      </p:sp>
      <p:sp>
        <p:nvSpPr>
          <p:cNvPr id="8" name="Text 6"/>
          <p:cNvSpPr txBox="1"/>
          <p:nvPr/>
        </p:nvSpPr>
        <p:spPr>
          <a:xfrm>
            <a:off x="777240" y="3322320"/>
            <a:ext cx="8046720" cy="406400"/>
          </a:xfrm>
          <a:prstGeom prst="rect">
            <a:avLst/>
          </a:prstGeom>
          <a:noFill/>
          <a:ln/>
        </p:spPr>
        <p:txBody>
          <a:bodyPr wrap="square" lIns="0" tIns="0" rIns="0" bIns="0" rtlCol="0" anchor="ctr"/>
          <a:lstStyle/>
          <a:p>
            <a:pPr indent="0" marL="0">
              <a:buNone/>
            </a:pPr>
            <a:r>
              <a:rPr lang="en-US" sz="2000" b="1" dirty="0">
                <a:solidFill>
                  <a:srgbClr val="FF6B6B"/>
                </a:solidFill>
                <a:latin typeface="Consolas" pitchFamily="34" charset="0"/>
                <a:ea typeface="Consolas" pitchFamily="34" charset="-122"/>
                <a:cs typeface="Consolas" pitchFamily="34" charset="-120"/>
              </a:rPr>
              <a:t>SyntaxError: </a:t>
            </a:r>
            <a:pPr indent="0" marL="0">
              <a:buNone/>
            </a:pPr>
            <a:r>
              <a:rPr lang="en-US" sz="2000" dirty="0">
                <a:solidFill>
                  <a:srgbClr val="FF6B6B"/>
                </a:solidFill>
                <a:latin typeface="Consolas" pitchFamily="34" charset="0"/>
                <a:ea typeface="Consolas" pitchFamily="34" charset="-122"/>
                <a:cs typeface="Consolas" pitchFamily="34" charset="-120"/>
              </a:rPr>
              <a:t>unterminated string literal</a:t>
            </a:r>
            <a:endParaRPr lang="en-US" sz="2000" dirty="0"/>
          </a:p>
        </p:txBody>
      </p:sp>
      <p:sp>
        <p:nvSpPr>
          <p:cNvPr id="9" name="Shape 7"/>
          <p:cNvSpPr/>
          <p:nvPr/>
        </p:nvSpPr>
        <p:spPr>
          <a:xfrm>
            <a:off x="6733540" y="3306064"/>
            <a:ext cx="438912" cy="438912"/>
          </a:xfrm>
          <a:prstGeom prst="ellipse">
            <a:avLst/>
          </a:prstGeom>
          <a:solidFill>
            <a:srgbClr val="D8A73D"/>
          </a:solidFill>
          <a:ln/>
        </p:spPr>
      </p:sp>
      <p:sp>
        <p:nvSpPr>
          <p:cNvPr id="10" name="Text 8"/>
          <p:cNvSpPr txBox="1"/>
          <p:nvPr/>
        </p:nvSpPr>
        <p:spPr>
          <a:xfrm>
            <a:off x="6733540" y="3306064"/>
            <a:ext cx="438912" cy="438912"/>
          </a:xfrm>
          <a:prstGeom prst="rect">
            <a:avLst/>
          </a:prstGeom>
          <a:noFill/>
          <a:ln/>
        </p:spPr>
        <p:txBody>
          <a:bodyPr wrap="square" lIns="0" tIns="0" rIns="0" bIns="0" rtlCol="0" anchor="ctr"/>
          <a:lstStyle/>
          <a:p>
            <a:pPr algn="ctr" indent="0" marL="0">
              <a:buNone/>
            </a:pPr>
            <a:r>
              <a:rPr lang="en-US" sz="2000" b="1" dirty="0">
                <a:solidFill>
                  <a:srgbClr val="1E1E24"/>
                </a:solidFill>
                <a:latin typeface="Cambria" pitchFamily="34" charset="0"/>
                <a:ea typeface="Cambria" pitchFamily="34" charset="-122"/>
                <a:cs typeface="Cambria" pitchFamily="34" charset="-120"/>
              </a:rPr>
              <a:t>1</a:t>
            </a:r>
            <a:endParaRPr lang="en-US" sz="2000" dirty="0"/>
          </a:p>
        </p:txBody>
      </p:sp>
      <p:sp>
        <p:nvSpPr>
          <p:cNvPr id="11" name="Shape 9"/>
          <p:cNvSpPr/>
          <p:nvPr/>
        </p:nvSpPr>
        <p:spPr>
          <a:xfrm>
            <a:off x="4358640" y="2086864"/>
            <a:ext cx="438912" cy="438912"/>
          </a:xfrm>
          <a:prstGeom prst="ellipse">
            <a:avLst/>
          </a:prstGeom>
          <a:solidFill>
            <a:srgbClr val="D8A73D"/>
          </a:solidFill>
          <a:ln/>
        </p:spPr>
      </p:sp>
      <p:sp>
        <p:nvSpPr>
          <p:cNvPr id="12" name="Text 10"/>
          <p:cNvSpPr txBox="1"/>
          <p:nvPr/>
        </p:nvSpPr>
        <p:spPr>
          <a:xfrm>
            <a:off x="4358640" y="2086864"/>
            <a:ext cx="438912" cy="438912"/>
          </a:xfrm>
          <a:prstGeom prst="rect">
            <a:avLst/>
          </a:prstGeom>
          <a:noFill/>
          <a:ln/>
        </p:spPr>
        <p:txBody>
          <a:bodyPr wrap="square" lIns="0" tIns="0" rIns="0" bIns="0" rtlCol="0" anchor="ctr"/>
          <a:lstStyle/>
          <a:p>
            <a:pPr algn="ctr" indent="0" marL="0">
              <a:buNone/>
            </a:pPr>
            <a:r>
              <a:rPr lang="en-US" sz="2000" b="1" dirty="0">
                <a:solidFill>
                  <a:srgbClr val="1E1E24"/>
                </a:solidFill>
                <a:latin typeface="Cambria" pitchFamily="34" charset="0"/>
                <a:ea typeface="Cambria" pitchFamily="34" charset="-122"/>
                <a:cs typeface="Cambria" pitchFamily="34" charset="-120"/>
              </a:rPr>
              <a:t>2</a:t>
            </a:r>
            <a:endParaRPr lang="en-US" sz="2000" dirty="0"/>
          </a:p>
        </p:txBody>
      </p:sp>
      <p:sp>
        <p:nvSpPr>
          <p:cNvPr id="13" name="Shape 11"/>
          <p:cNvSpPr/>
          <p:nvPr/>
        </p:nvSpPr>
        <p:spPr>
          <a:xfrm>
            <a:off x="4218940" y="2493264"/>
            <a:ext cx="438912" cy="438912"/>
          </a:xfrm>
          <a:prstGeom prst="ellipse">
            <a:avLst/>
          </a:prstGeom>
          <a:solidFill>
            <a:srgbClr val="D8A73D"/>
          </a:solidFill>
          <a:ln/>
        </p:spPr>
      </p:sp>
      <p:sp>
        <p:nvSpPr>
          <p:cNvPr id="14" name="Text 12"/>
          <p:cNvSpPr txBox="1"/>
          <p:nvPr/>
        </p:nvSpPr>
        <p:spPr>
          <a:xfrm>
            <a:off x="4218940" y="2493264"/>
            <a:ext cx="438912" cy="438912"/>
          </a:xfrm>
          <a:prstGeom prst="rect">
            <a:avLst/>
          </a:prstGeom>
          <a:noFill/>
          <a:ln/>
        </p:spPr>
        <p:txBody>
          <a:bodyPr wrap="square" lIns="0" tIns="0" rIns="0" bIns="0" rtlCol="0" anchor="ctr"/>
          <a:lstStyle/>
          <a:p>
            <a:pPr algn="ctr" indent="0" marL="0">
              <a:buNone/>
            </a:pPr>
            <a:r>
              <a:rPr lang="en-US" sz="2000" b="1" dirty="0">
                <a:solidFill>
                  <a:srgbClr val="1E1E24"/>
                </a:solidFill>
                <a:latin typeface="Cambria" pitchFamily="34" charset="0"/>
                <a:ea typeface="Cambria" pitchFamily="34" charset="-122"/>
                <a:cs typeface="Cambria" pitchFamily="34" charset="-120"/>
              </a:rPr>
              <a:t>3</a:t>
            </a:r>
            <a:endParaRPr lang="en-US" sz="2000" dirty="0"/>
          </a:p>
        </p:txBody>
      </p:sp>
      <p:sp>
        <p:nvSpPr>
          <p:cNvPr id="15" name="Shape 13"/>
          <p:cNvSpPr/>
          <p:nvPr/>
        </p:nvSpPr>
        <p:spPr>
          <a:xfrm>
            <a:off x="548640" y="3977640"/>
            <a:ext cx="2633472" cy="2011680"/>
          </a:xfrm>
          <a:prstGeom prst="roundRect">
            <a:avLst>
              <a:gd name="adj" fmla="val 3636"/>
            </a:avLst>
          </a:prstGeom>
          <a:solidFill>
            <a:srgbClr val="2A2A32"/>
          </a:solidFill>
          <a:ln/>
        </p:spPr>
      </p:sp>
      <p:sp>
        <p:nvSpPr>
          <p:cNvPr id="16" name="Shape 14"/>
          <p:cNvSpPr/>
          <p:nvPr/>
        </p:nvSpPr>
        <p:spPr>
          <a:xfrm>
            <a:off x="749808" y="4206240"/>
            <a:ext cx="438912" cy="438912"/>
          </a:xfrm>
          <a:prstGeom prst="ellipse">
            <a:avLst/>
          </a:prstGeom>
          <a:solidFill>
            <a:srgbClr val="D8A73D"/>
          </a:solidFill>
          <a:ln/>
        </p:spPr>
      </p:sp>
      <p:sp>
        <p:nvSpPr>
          <p:cNvPr id="17" name="Text 15"/>
          <p:cNvSpPr txBox="1"/>
          <p:nvPr/>
        </p:nvSpPr>
        <p:spPr>
          <a:xfrm>
            <a:off x="749808" y="4206240"/>
            <a:ext cx="438912" cy="438912"/>
          </a:xfrm>
          <a:prstGeom prst="rect">
            <a:avLst/>
          </a:prstGeom>
          <a:noFill/>
          <a:ln/>
        </p:spPr>
        <p:txBody>
          <a:bodyPr wrap="square" lIns="0" tIns="0" rIns="0" bIns="0" rtlCol="0" anchor="ctr"/>
          <a:lstStyle/>
          <a:p>
            <a:pPr algn="ctr" indent="0" marL="0">
              <a:buNone/>
            </a:pPr>
            <a:r>
              <a:rPr lang="en-US" sz="2000" b="1" dirty="0">
                <a:solidFill>
                  <a:srgbClr val="1E1E24"/>
                </a:solidFill>
                <a:latin typeface="Cambria" pitchFamily="34" charset="0"/>
                <a:ea typeface="Cambria" pitchFamily="34" charset="-122"/>
                <a:cs typeface="Cambria" pitchFamily="34" charset="-120"/>
              </a:rPr>
              <a:t>1</a:t>
            </a:r>
            <a:endParaRPr lang="en-US" sz="2000" dirty="0"/>
          </a:p>
        </p:txBody>
      </p:sp>
      <p:sp>
        <p:nvSpPr>
          <p:cNvPr id="18" name="Text 16"/>
          <p:cNvSpPr txBox="1"/>
          <p:nvPr/>
        </p:nvSpPr>
        <p:spPr>
          <a:xfrm>
            <a:off x="749808" y="4754880"/>
            <a:ext cx="2267712" cy="685800"/>
          </a:xfrm>
          <a:prstGeom prst="rect">
            <a:avLst/>
          </a:prstGeom>
          <a:noFill/>
          <a:ln/>
        </p:spPr>
        <p:txBody>
          <a:bodyPr wrap="square" lIns="0" tIns="0" rIns="0" bIns="0" rtlCol="0" anchor="t"/>
          <a:lstStyle/>
          <a:p>
            <a:pPr indent="0" marL="0">
              <a:buNone/>
            </a:pPr>
            <a:r>
              <a:rPr lang="en-US" sz="2000" b="1" dirty="0">
                <a:solidFill>
                  <a:srgbClr val="F5F5F3"/>
                </a:solidFill>
                <a:latin typeface="Calibri" pitchFamily="34" charset="0"/>
                <a:ea typeface="Calibri" pitchFamily="34" charset="-122"/>
                <a:cs typeface="Calibri" pitchFamily="34" charset="-120"/>
              </a:rPr>
              <a:t>Read the last line</a:t>
            </a:r>
            <a:endParaRPr lang="en-US" sz="2000" dirty="0"/>
          </a:p>
        </p:txBody>
      </p:sp>
      <p:sp>
        <p:nvSpPr>
          <p:cNvPr id="19" name="Text 17"/>
          <p:cNvSpPr txBox="1"/>
          <p:nvPr/>
        </p:nvSpPr>
        <p:spPr>
          <a:xfrm>
            <a:off x="749808" y="5486400"/>
            <a:ext cx="2267712" cy="365760"/>
          </a:xfrm>
          <a:prstGeom prst="rect">
            <a:avLst/>
          </a:prstGeom>
          <a:noFill/>
          <a:ln/>
        </p:spPr>
        <p:txBody>
          <a:bodyPr wrap="square" lIns="0" tIns="0" rIns="0" bIns="0" rtlCol="0" anchor="t"/>
          <a:lstStyle/>
          <a:p>
            <a:pPr indent="0" marL="0">
              <a:buNone/>
            </a:pPr>
            <a:r>
              <a:rPr lang="en-US" sz="1800" dirty="0">
                <a:solidFill>
                  <a:srgbClr val="A9A9B4"/>
                </a:solidFill>
                <a:latin typeface="Calibri" pitchFamily="34" charset="0"/>
                <a:ea typeface="Calibri" pitchFamily="34" charset="-122"/>
                <a:cs typeface="Calibri" pitchFamily="34" charset="-120"/>
              </a:rPr>
              <a:t>What kind of error?</a:t>
            </a:r>
            <a:endParaRPr lang="en-US" sz="1800" dirty="0"/>
          </a:p>
        </p:txBody>
      </p:sp>
      <p:sp>
        <p:nvSpPr>
          <p:cNvPr id="20" name="Shape 18"/>
          <p:cNvSpPr/>
          <p:nvPr/>
        </p:nvSpPr>
        <p:spPr>
          <a:xfrm>
            <a:off x="3364992" y="3977640"/>
            <a:ext cx="2633472" cy="2011680"/>
          </a:xfrm>
          <a:prstGeom prst="roundRect">
            <a:avLst>
              <a:gd name="adj" fmla="val 3636"/>
            </a:avLst>
          </a:prstGeom>
          <a:solidFill>
            <a:srgbClr val="2A2A32"/>
          </a:solidFill>
          <a:ln/>
        </p:spPr>
      </p:sp>
      <p:sp>
        <p:nvSpPr>
          <p:cNvPr id="21" name="Shape 19"/>
          <p:cNvSpPr/>
          <p:nvPr/>
        </p:nvSpPr>
        <p:spPr>
          <a:xfrm>
            <a:off x="3566160" y="4206240"/>
            <a:ext cx="438912" cy="438912"/>
          </a:xfrm>
          <a:prstGeom prst="ellipse">
            <a:avLst/>
          </a:prstGeom>
          <a:solidFill>
            <a:srgbClr val="D8A73D"/>
          </a:solidFill>
          <a:ln/>
        </p:spPr>
      </p:sp>
      <p:sp>
        <p:nvSpPr>
          <p:cNvPr id="22" name="Text 20"/>
          <p:cNvSpPr txBox="1"/>
          <p:nvPr/>
        </p:nvSpPr>
        <p:spPr>
          <a:xfrm>
            <a:off x="3566160" y="4206240"/>
            <a:ext cx="438912" cy="438912"/>
          </a:xfrm>
          <a:prstGeom prst="rect">
            <a:avLst/>
          </a:prstGeom>
          <a:noFill/>
          <a:ln/>
        </p:spPr>
        <p:txBody>
          <a:bodyPr wrap="square" lIns="0" tIns="0" rIns="0" bIns="0" rtlCol="0" anchor="ctr"/>
          <a:lstStyle/>
          <a:p>
            <a:pPr algn="ctr" indent="0" marL="0">
              <a:buNone/>
            </a:pPr>
            <a:r>
              <a:rPr lang="en-US" sz="2000" b="1" dirty="0">
                <a:solidFill>
                  <a:srgbClr val="1E1E24"/>
                </a:solidFill>
                <a:latin typeface="Cambria" pitchFamily="34" charset="0"/>
                <a:ea typeface="Cambria" pitchFamily="34" charset="-122"/>
                <a:cs typeface="Cambria" pitchFamily="34" charset="-120"/>
              </a:rPr>
              <a:t>2</a:t>
            </a:r>
            <a:endParaRPr lang="en-US" sz="2000" dirty="0"/>
          </a:p>
        </p:txBody>
      </p:sp>
      <p:sp>
        <p:nvSpPr>
          <p:cNvPr id="23" name="Text 21"/>
          <p:cNvSpPr txBox="1"/>
          <p:nvPr/>
        </p:nvSpPr>
        <p:spPr>
          <a:xfrm>
            <a:off x="3566160" y="4754880"/>
            <a:ext cx="2267712" cy="685800"/>
          </a:xfrm>
          <a:prstGeom prst="rect">
            <a:avLst/>
          </a:prstGeom>
          <a:noFill/>
          <a:ln/>
        </p:spPr>
        <p:txBody>
          <a:bodyPr wrap="square" lIns="0" tIns="0" rIns="0" bIns="0" rtlCol="0" anchor="t"/>
          <a:lstStyle/>
          <a:p>
            <a:pPr indent="0" marL="0">
              <a:buNone/>
            </a:pPr>
            <a:r>
              <a:rPr lang="en-US" sz="2000" b="1" dirty="0">
                <a:solidFill>
                  <a:srgbClr val="F5F5F3"/>
                </a:solidFill>
                <a:latin typeface="Calibri" pitchFamily="34" charset="0"/>
                <a:ea typeface="Calibri" pitchFamily="34" charset="-122"/>
                <a:cs typeface="Calibri" pitchFamily="34" charset="-120"/>
              </a:rPr>
              <a:t>Find the line number</a:t>
            </a:r>
            <a:endParaRPr lang="en-US" sz="2000" dirty="0"/>
          </a:p>
        </p:txBody>
      </p:sp>
      <p:sp>
        <p:nvSpPr>
          <p:cNvPr id="24" name="Text 22"/>
          <p:cNvSpPr txBox="1"/>
          <p:nvPr/>
        </p:nvSpPr>
        <p:spPr>
          <a:xfrm>
            <a:off x="3566160" y="5486400"/>
            <a:ext cx="2267712" cy="365760"/>
          </a:xfrm>
          <a:prstGeom prst="rect">
            <a:avLst/>
          </a:prstGeom>
          <a:noFill/>
          <a:ln/>
        </p:spPr>
        <p:txBody>
          <a:bodyPr wrap="square" lIns="0" tIns="0" rIns="0" bIns="0" rtlCol="0" anchor="t"/>
          <a:lstStyle/>
          <a:p>
            <a:pPr indent="0" marL="0">
              <a:buNone/>
            </a:pPr>
            <a:r>
              <a:rPr lang="en-US" sz="1800" dirty="0">
                <a:solidFill>
                  <a:srgbClr val="A9A9B4"/>
                </a:solidFill>
                <a:latin typeface="Calibri" pitchFamily="34" charset="0"/>
                <a:ea typeface="Calibri" pitchFamily="34" charset="-122"/>
                <a:cs typeface="Calibri" pitchFamily="34" charset="-120"/>
              </a:rPr>
              <a:t>Where is it?</a:t>
            </a:r>
            <a:endParaRPr lang="en-US" sz="1800" dirty="0"/>
          </a:p>
        </p:txBody>
      </p:sp>
      <p:sp>
        <p:nvSpPr>
          <p:cNvPr id="25" name="Shape 23"/>
          <p:cNvSpPr/>
          <p:nvPr/>
        </p:nvSpPr>
        <p:spPr>
          <a:xfrm>
            <a:off x="6181344" y="3977640"/>
            <a:ext cx="2633472" cy="2011680"/>
          </a:xfrm>
          <a:prstGeom prst="roundRect">
            <a:avLst>
              <a:gd name="adj" fmla="val 3636"/>
            </a:avLst>
          </a:prstGeom>
          <a:solidFill>
            <a:srgbClr val="2A2A32"/>
          </a:solidFill>
          <a:ln/>
        </p:spPr>
      </p:sp>
      <p:sp>
        <p:nvSpPr>
          <p:cNvPr id="26" name="Shape 24"/>
          <p:cNvSpPr/>
          <p:nvPr/>
        </p:nvSpPr>
        <p:spPr>
          <a:xfrm>
            <a:off x="6382512" y="4206240"/>
            <a:ext cx="438912" cy="438912"/>
          </a:xfrm>
          <a:prstGeom prst="ellipse">
            <a:avLst/>
          </a:prstGeom>
          <a:solidFill>
            <a:srgbClr val="D8A73D"/>
          </a:solidFill>
          <a:ln/>
        </p:spPr>
      </p:sp>
      <p:sp>
        <p:nvSpPr>
          <p:cNvPr id="27" name="Text 25"/>
          <p:cNvSpPr txBox="1"/>
          <p:nvPr/>
        </p:nvSpPr>
        <p:spPr>
          <a:xfrm>
            <a:off x="6382512" y="4206240"/>
            <a:ext cx="438912" cy="438912"/>
          </a:xfrm>
          <a:prstGeom prst="rect">
            <a:avLst/>
          </a:prstGeom>
          <a:noFill/>
          <a:ln/>
        </p:spPr>
        <p:txBody>
          <a:bodyPr wrap="square" lIns="0" tIns="0" rIns="0" bIns="0" rtlCol="0" anchor="ctr"/>
          <a:lstStyle/>
          <a:p>
            <a:pPr algn="ctr" indent="0" marL="0">
              <a:buNone/>
            </a:pPr>
            <a:r>
              <a:rPr lang="en-US" sz="2000" b="1" dirty="0">
                <a:solidFill>
                  <a:srgbClr val="1E1E24"/>
                </a:solidFill>
                <a:latin typeface="Cambria" pitchFamily="34" charset="0"/>
                <a:ea typeface="Cambria" pitchFamily="34" charset="-122"/>
                <a:cs typeface="Cambria" pitchFamily="34" charset="-120"/>
              </a:rPr>
              <a:t>3</a:t>
            </a:r>
            <a:endParaRPr lang="en-US" sz="2000" dirty="0"/>
          </a:p>
        </p:txBody>
      </p:sp>
      <p:sp>
        <p:nvSpPr>
          <p:cNvPr id="28" name="Text 26"/>
          <p:cNvSpPr txBox="1"/>
          <p:nvPr/>
        </p:nvSpPr>
        <p:spPr>
          <a:xfrm>
            <a:off x="6382512" y="4754880"/>
            <a:ext cx="2267712" cy="685800"/>
          </a:xfrm>
          <a:prstGeom prst="rect">
            <a:avLst/>
          </a:prstGeom>
          <a:noFill/>
          <a:ln/>
        </p:spPr>
        <p:txBody>
          <a:bodyPr wrap="square" lIns="0" tIns="0" rIns="0" bIns="0" rtlCol="0" anchor="t"/>
          <a:lstStyle/>
          <a:p>
            <a:pPr indent="0" marL="0">
              <a:buNone/>
            </a:pPr>
            <a:r>
              <a:rPr lang="en-US" sz="2000" b="1" dirty="0">
                <a:solidFill>
                  <a:srgbClr val="F5F5F3"/>
                </a:solidFill>
                <a:latin typeface="Calibri" pitchFamily="34" charset="0"/>
                <a:ea typeface="Calibri" pitchFamily="34" charset="-122"/>
                <a:cs typeface="Calibri" pitchFamily="34" charset="-120"/>
              </a:rPr>
              <a:t>Read that line aloud</a:t>
            </a:r>
            <a:endParaRPr lang="en-US" sz="2000" dirty="0"/>
          </a:p>
        </p:txBody>
      </p:sp>
      <p:sp>
        <p:nvSpPr>
          <p:cNvPr id="29" name="Text 27"/>
          <p:cNvSpPr txBox="1"/>
          <p:nvPr/>
        </p:nvSpPr>
        <p:spPr>
          <a:xfrm>
            <a:off x="6382512" y="5486400"/>
            <a:ext cx="2267712" cy="365760"/>
          </a:xfrm>
          <a:prstGeom prst="rect">
            <a:avLst/>
          </a:prstGeom>
          <a:noFill/>
          <a:ln/>
        </p:spPr>
        <p:txBody>
          <a:bodyPr wrap="square" lIns="0" tIns="0" rIns="0" bIns="0" rtlCol="0" anchor="t"/>
          <a:lstStyle/>
          <a:p>
            <a:pPr indent="0" marL="0">
              <a:buNone/>
            </a:pPr>
            <a:r>
              <a:rPr lang="en-US" sz="1800" dirty="0">
                <a:solidFill>
                  <a:srgbClr val="A9A9B4"/>
                </a:solidFill>
                <a:latin typeface="Calibri" pitchFamily="34" charset="0"/>
                <a:ea typeface="Calibri" pitchFamily="34" charset="-122"/>
                <a:cs typeface="Calibri" pitchFamily="34" charset="-120"/>
              </a:rPr>
              <a:t>Quote by quote</a:t>
            </a:r>
            <a:endParaRPr lang="en-US" sz="1800" dirty="0"/>
          </a:p>
        </p:txBody>
      </p:sp>
      <p:sp>
        <p:nvSpPr>
          <p:cNvPr id="30" name="Shape 28"/>
          <p:cNvSpPr/>
          <p:nvPr/>
        </p:nvSpPr>
        <p:spPr>
          <a:xfrm>
            <a:off x="8997696" y="3977640"/>
            <a:ext cx="2633472" cy="2011680"/>
          </a:xfrm>
          <a:prstGeom prst="roundRect">
            <a:avLst>
              <a:gd name="adj" fmla="val 3636"/>
            </a:avLst>
          </a:prstGeom>
          <a:solidFill>
            <a:srgbClr val="2A2A32"/>
          </a:solidFill>
          <a:ln/>
        </p:spPr>
      </p:sp>
      <p:sp>
        <p:nvSpPr>
          <p:cNvPr id="31" name="Shape 29"/>
          <p:cNvSpPr/>
          <p:nvPr/>
        </p:nvSpPr>
        <p:spPr>
          <a:xfrm>
            <a:off x="9198864" y="4206240"/>
            <a:ext cx="438912" cy="438912"/>
          </a:xfrm>
          <a:prstGeom prst="ellipse">
            <a:avLst/>
          </a:prstGeom>
          <a:solidFill>
            <a:srgbClr val="D8A73D"/>
          </a:solidFill>
          <a:ln/>
        </p:spPr>
      </p:sp>
      <p:sp>
        <p:nvSpPr>
          <p:cNvPr id="32" name="Text 30"/>
          <p:cNvSpPr txBox="1"/>
          <p:nvPr/>
        </p:nvSpPr>
        <p:spPr>
          <a:xfrm>
            <a:off x="9198864" y="4206240"/>
            <a:ext cx="438912" cy="438912"/>
          </a:xfrm>
          <a:prstGeom prst="rect">
            <a:avLst/>
          </a:prstGeom>
          <a:noFill/>
          <a:ln/>
        </p:spPr>
        <p:txBody>
          <a:bodyPr wrap="square" lIns="0" tIns="0" rIns="0" bIns="0" rtlCol="0" anchor="ctr"/>
          <a:lstStyle/>
          <a:p>
            <a:pPr algn="ctr" indent="0" marL="0">
              <a:buNone/>
            </a:pPr>
            <a:r>
              <a:rPr lang="en-US" sz="2000" b="1" dirty="0">
                <a:solidFill>
                  <a:srgbClr val="1E1E24"/>
                </a:solidFill>
                <a:latin typeface="Cambria" pitchFamily="34" charset="0"/>
                <a:ea typeface="Cambria" pitchFamily="34" charset="-122"/>
                <a:cs typeface="Cambria" pitchFamily="34" charset="-120"/>
              </a:rPr>
              <a:t>4</a:t>
            </a:r>
            <a:endParaRPr lang="en-US" sz="2000" dirty="0"/>
          </a:p>
        </p:txBody>
      </p:sp>
      <p:sp>
        <p:nvSpPr>
          <p:cNvPr id="33" name="Text 31"/>
          <p:cNvSpPr txBox="1"/>
          <p:nvPr/>
        </p:nvSpPr>
        <p:spPr>
          <a:xfrm>
            <a:off x="9198864" y="4754880"/>
            <a:ext cx="2267712" cy="685800"/>
          </a:xfrm>
          <a:prstGeom prst="rect">
            <a:avLst/>
          </a:prstGeom>
          <a:noFill/>
          <a:ln/>
        </p:spPr>
        <p:txBody>
          <a:bodyPr wrap="square" lIns="0" tIns="0" rIns="0" bIns="0" rtlCol="0" anchor="t"/>
          <a:lstStyle/>
          <a:p>
            <a:pPr indent="0" marL="0">
              <a:buNone/>
            </a:pPr>
            <a:r>
              <a:rPr lang="en-US" sz="2000" b="1" dirty="0">
                <a:solidFill>
                  <a:srgbClr val="F5F5F3"/>
                </a:solidFill>
                <a:latin typeface="Calibri" pitchFamily="34" charset="0"/>
                <a:ea typeface="Calibri" pitchFamily="34" charset="-122"/>
                <a:cs typeface="Calibri" pitchFamily="34" charset="-120"/>
              </a:rPr>
              <a:t>Compare to what you meant</a:t>
            </a:r>
            <a:endParaRPr lang="en-US" sz="2000" dirty="0"/>
          </a:p>
        </p:txBody>
      </p:sp>
      <p:sp>
        <p:nvSpPr>
          <p:cNvPr id="34" name="Text 32"/>
          <p:cNvSpPr txBox="1"/>
          <p:nvPr/>
        </p:nvSpPr>
        <p:spPr>
          <a:xfrm>
            <a:off x="9198864" y="5486400"/>
            <a:ext cx="2267712" cy="365760"/>
          </a:xfrm>
          <a:prstGeom prst="rect">
            <a:avLst/>
          </a:prstGeom>
          <a:noFill/>
          <a:ln/>
        </p:spPr>
        <p:txBody>
          <a:bodyPr wrap="square" lIns="0" tIns="0" rIns="0" bIns="0" rtlCol="0" anchor="t"/>
          <a:lstStyle/>
          <a:p>
            <a:pPr indent="0" marL="0">
              <a:buNone/>
            </a:pPr>
            <a:r>
              <a:rPr lang="en-US" sz="1600" dirty="0">
                <a:solidFill>
                  <a:srgbClr val="E8C878"/>
                </a:solidFill>
                <a:latin typeface="Consolas" pitchFamily="34" charset="0"/>
                <a:ea typeface="Consolas" pitchFamily="34" charset="-122"/>
                <a:cs typeface="Consolas" pitchFamily="34" charset="-120"/>
              </a:rPr>
              <a:t>print</a:t>
            </a:r>
            <a:pPr indent="0" marL="0">
              <a:buNone/>
            </a:pPr>
            <a:r>
              <a:rPr lang="en-US" sz="1600" dirty="0">
                <a:solidFill>
                  <a:srgbClr val="A9A9B4"/>
                </a:solidFill>
                <a:latin typeface="Consolas" pitchFamily="34" charset="0"/>
                <a:ea typeface="Consolas" pitchFamily="34" charset="-122"/>
                <a:cs typeface="Consolas" pitchFamily="34" charset="-120"/>
              </a:rPr>
              <a:t>(</a:t>
            </a:r>
            <a:pPr indent="0" marL="0">
              <a:buNone/>
            </a:pPr>
            <a:r>
              <a:rPr lang="en-US" sz="1600" dirty="0">
                <a:solidFill>
                  <a:srgbClr val="E69F00"/>
                </a:solidFill>
                <a:latin typeface="Consolas" pitchFamily="34" charset="0"/>
                <a:ea typeface="Consolas" pitchFamily="34" charset="-122"/>
                <a:cs typeface="Consolas" pitchFamily="34" charset="-120"/>
              </a:rPr>
              <a:t>"Scanning..."</a:t>
            </a:r>
            <a:pPr indent="0" marL="0">
              <a:buNone/>
            </a:pPr>
            <a:r>
              <a:rPr lang="en-US" sz="1600" dirty="0">
                <a:solidFill>
                  <a:srgbClr val="A9A9B4"/>
                </a:solidFill>
                <a:latin typeface="Consolas" pitchFamily="34" charset="0"/>
                <a:ea typeface="Consolas" pitchFamily="34" charset="-122"/>
                <a:cs typeface="Consolas" pitchFamily="34" charset="-120"/>
              </a:rPr>
              <a:t>)</a:t>
            </a:r>
            <a:endParaRPr lang="en-US" sz="1800" dirty="0"/>
          </a:p>
        </p:txBody>
      </p:sp>
      <p:pic>
        <p:nvPicPr>
          <p:cNvPr id="35" name="Image 0" descr="New information">    </p:cNvPr>
          <p:cNvPicPr>
            <a:picLocks noChangeAspect="1"/>
          </p:cNvPicPr>
          <p:nvPr/>
        </p:nvPicPr>
        <p:blipFill>
          <a:blip r:embed="rId1"/>
          <a:stretch>
            <a:fillRect/>
          </a:stretch>
        </p:blipFill>
        <p:spPr>
          <a:xfrm>
            <a:off x="10972800" y="384048"/>
            <a:ext cx="731520" cy="731520"/>
          </a:xfrm>
          <a:prstGeom prst="rect">
            <a:avLst/>
          </a:prstGeom>
        </p:spPr>
      </p:pic>
      <p:sp>
        <p:nvSpPr>
          <p:cNvPr id="37" name="Text 33"/>
          <p:cNvSpPr txBox="1"/>
          <p:nvPr/>
        </p:nvSpPr>
        <p:spPr>
          <a:xfrm>
            <a:off x="4206240" y="6355080"/>
            <a:ext cx="6812280" cy="320040"/>
          </a:xfrm>
          <a:prstGeom prst="rect">
            <a:avLst/>
          </a:prstGeom>
          <a:noFill/>
          <a:ln/>
        </p:spPr>
        <p:txBody>
          <a:bodyPr wrap="square" lIns="0" tIns="0" rIns="0" bIns="0" rtlCol="0" anchor="ctr"/>
          <a:lstStyle/>
          <a:p>
            <a:pPr algn="r" indent="0" marL="0">
              <a:buNone/>
            </a:pPr>
            <a:r>
              <a:rPr lang="en-US" sz="1300" b="1" i="1" dirty="0">
                <a:solidFill>
                  <a:srgbClr val="D8A73D"/>
                </a:solidFill>
                <a:latin typeface="Calibri" pitchFamily="34" charset="0"/>
                <a:ea typeface="Calibri" pitchFamily="34" charset="-122"/>
                <a:cs typeface="Calibri" pitchFamily="34" charset="-120"/>
              </a:rPr>
              <a:t>debugRecipeSlide()  ·  Debugging recipe</a:t>
            </a:r>
            <a:endParaRPr lang="en-US" sz="1300" dirty="0"/>
          </a:p>
        </p:txBody>
      </p:sp>
      <p:sp>
        <p:nvSpPr>
          <p:cNvPr id="38"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548640"/>
            <a:ext cx="5486400" cy="320040"/>
          </a:xfrm>
          <a:prstGeom prst="rect">
            <a:avLst/>
          </a:prstGeom>
          <a:noFill/>
          <a:ln/>
        </p:spPr>
        <p:txBody>
          <a:bodyPr wrap="square" lIns="0" tIns="0" rIns="0" bIns="0" rtlCol="0" anchor="ctr"/>
          <a:lstStyle/>
          <a:p>
            <a:pPr indent="0" marL="0">
              <a:buNone/>
            </a:pPr>
            <a:r>
              <a:rPr lang="en-US" sz="1400" b="1" spc="300" kern="0" dirty="0">
                <a:solidFill>
                  <a:srgbClr val="D8A73D"/>
                </a:solidFill>
                <a:latin typeface="Calibri" pitchFamily="34" charset="0"/>
                <a:ea typeface="Calibri" pitchFamily="34" charset="-122"/>
                <a:cs typeface="Calibri" pitchFamily="34" charset="-120"/>
              </a:rPr>
              <a:t>CHAPTER 1  ·  PART 1</a:t>
            </a:r>
            <a:endParaRPr lang="en-US" sz="1400" dirty="0"/>
          </a:p>
        </p:txBody>
      </p:sp>
      <p:sp>
        <p:nvSpPr>
          <p:cNvPr id="3" name="Text 1"/>
          <p:cNvSpPr txBox="1"/>
          <p:nvPr/>
        </p:nvSpPr>
        <p:spPr>
          <a:xfrm>
            <a:off x="548640" y="914400"/>
            <a:ext cx="5486400" cy="914400"/>
          </a:xfrm>
          <a:prstGeom prst="rect">
            <a:avLst/>
          </a:prstGeom>
          <a:noFill/>
          <a:ln/>
        </p:spPr>
        <p:txBody>
          <a:bodyPr wrap="square" lIns="0" tIns="0" rIns="0" bIns="0" rtlCol="0" anchor="ctr"/>
          <a:lstStyle/>
          <a:p>
            <a:pPr indent="0" marL="0">
              <a:buNone/>
            </a:pPr>
            <a:r>
              <a:rPr lang="en-US" sz="4800" b="1" dirty="0">
                <a:solidFill>
                  <a:srgbClr val="F5F5F3"/>
                </a:solidFill>
                <a:latin typeface="Cambria" pitchFamily="34" charset="0"/>
                <a:ea typeface="Cambria" pitchFamily="34" charset="-122"/>
                <a:cs typeface="Cambria" pitchFamily="34" charset="-120"/>
              </a:rPr>
              <a:t>Wake Up</a:t>
            </a:r>
            <a:endParaRPr lang="en-US" sz="4800" dirty="0"/>
          </a:p>
        </p:txBody>
      </p:sp>
      <p:sp>
        <p:nvSpPr>
          <p:cNvPr id="4" name="terminal"/>
          <p:cNvSpPr/>
          <p:nvPr/>
        </p:nvSpPr>
        <p:spPr>
          <a:xfrm>
            <a:off x="548640" y="2148840"/>
            <a:ext cx="5212080" cy="2788920"/>
          </a:xfrm>
          <a:prstGeom prst="roundRect">
            <a:avLst>
              <a:gd name="adj" fmla="val 2623"/>
            </a:avLst>
          </a:prstGeom>
          <a:solidFill>
            <a:srgbClr val="0D1310"/>
          </a:solidFill>
          <a:ln w="15875">
            <a:solidFill>
              <a:srgbClr val="2C4434"/>
            </a:solidFill>
            <a:prstDash val="solid"/>
          </a:ln>
        </p:spPr>
      </p:sp>
      <p:sp>
        <p:nvSpPr>
          <p:cNvPr id="5" name="Text 3"/>
          <p:cNvSpPr txBox="1"/>
          <p:nvPr/>
        </p:nvSpPr>
        <p:spPr>
          <a:xfrm>
            <a:off x="777240" y="2331720"/>
            <a:ext cx="4754880" cy="274320"/>
          </a:xfrm>
          <a:prstGeom prst="rect">
            <a:avLst/>
          </a:prstGeom>
          <a:noFill/>
          <a:ln/>
        </p:spPr>
        <p:txBody>
          <a:bodyPr wrap="square" lIns="0" tIns="0" rIns="0" bIns="0" rtlCol="0" anchor="ctr"/>
          <a:lstStyle/>
          <a:p>
            <a:pPr indent="0" marL="0">
              <a:buNone/>
            </a:pPr>
            <a:r>
              <a:rPr lang="en-US" sz="1200" b="1" spc="200" kern="0" dirty="0">
                <a:solidFill>
                  <a:srgbClr val="7FD99A"/>
                </a:solidFill>
                <a:latin typeface="Calibri" pitchFamily="34" charset="0"/>
                <a:ea typeface="Calibri" pitchFamily="34" charset="-122"/>
                <a:cs typeface="Calibri" pitchFamily="34" charset="-120"/>
              </a:rPr>
              <a:t>CRYO BAY</a:t>
            </a:r>
            <a:endParaRPr lang="en-US" sz="1200" dirty="0"/>
          </a:p>
        </p:txBody>
      </p:sp>
      <p:sp>
        <p:nvSpPr>
          <p:cNvPr id="6" name="Text 4"/>
          <p:cNvSpPr txBox="1"/>
          <p:nvPr/>
        </p:nvSpPr>
        <p:spPr>
          <a:xfrm>
            <a:off x="777240" y="2697480"/>
            <a:ext cx="4754880" cy="406400"/>
          </a:xfrm>
          <a:prstGeom prst="rect">
            <a:avLst/>
          </a:prstGeom>
          <a:noFill/>
          <a:ln/>
        </p:spPr>
        <p:txBody>
          <a:bodyPr wrap="square" lIns="0" tIns="0" rIns="0" bIns="0" rtlCol="0" anchor="ctr"/>
          <a:lstStyle/>
          <a:p>
            <a:pPr indent="0" marL="0">
              <a:buNone/>
            </a:pPr>
            <a:r>
              <a:rPr lang="en-US" sz="2000" dirty="0">
                <a:solidFill>
                  <a:srgbClr val="7FD99A"/>
                </a:solidFill>
                <a:latin typeface="Consolas" pitchFamily="34" charset="0"/>
                <a:ea typeface="Consolas" pitchFamily="34" charset="-122"/>
                <a:cs typeface="Consolas" pitchFamily="34" charset="-120"/>
              </a:rPr>
              <a:t>Every pod is frosted</a:t>
            </a:r>
            <a:endParaRPr lang="en-US" sz="2000" dirty="0"/>
          </a:p>
        </p:txBody>
      </p:sp>
      <p:sp>
        <p:nvSpPr>
          <p:cNvPr id="7" name="Text 5"/>
          <p:cNvSpPr txBox="1"/>
          <p:nvPr/>
        </p:nvSpPr>
        <p:spPr>
          <a:xfrm>
            <a:off x="777240" y="3103880"/>
            <a:ext cx="4754880" cy="406400"/>
          </a:xfrm>
          <a:prstGeom prst="rect">
            <a:avLst/>
          </a:prstGeom>
          <a:noFill/>
          <a:ln/>
        </p:spPr>
        <p:txBody>
          <a:bodyPr wrap="square" lIns="0" tIns="0" rIns="0" bIns="0" rtlCol="0" anchor="ctr"/>
          <a:lstStyle/>
          <a:p>
            <a:pPr indent="0" marL="0">
              <a:buNone/>
            </a:pPr>
            <a:r>
              <a:rPr lang="en-US" sz="2000" dirty="0">
                <a:solidFill>
                  <a:srgbClr val="7FD99A"/>
                </a:solidFill>
                <a:latin typeface="Consolas" pitchFamily="34" charset="0"/>
                <a:ea typeface="Consolas" pitchFamily="34" charset="-122"/>
                <a:cs typeface="Consolas" pitchFamily="34" charset="-120"/>
              </a:rPr>
              <a:t>over — except Pod 2.</a:t>
            </a:r>
            <a:endParaRPr lang="en-US" sz="2000" dirty="0"/>
          </a:p>
        </p:txBody>
      </p:sp>
      <p:sp>
        <p:nvSpPr>
          <p:cNvPr id="8" name="Text 6"/>
          <p:cNvSpPr txBox="1"/>
          <p:nvPr/>
        </p:nvSpPr>
        <p:spPr>
          <a:xfrm>
            <a:off x="777240" y="3510280"/>
            <a:ext cx="4754880" cy="406400"/>
          </a:xfrm>
          <a:prstGeom prst="rect">
            <a:avLst/>
          </a:prstGeom>
          <a:noFill/>
          <a:ln/>
        </p:spPr>
        <p:txBody>
          <a:bodyPr wrap="square" lIns="0" tIns="0" rIns="0" bIns="0" rtlCol="0" anchor="ctr"/>
          <a:lstStyle/>
          <a:p>
            <a:pPr indent="0" marL="0">
              <a:buNone/>
            </a:pPr>
            <a:endParaRPr lang="en-US" sz="2000" dirty="0"/>
          </a:p>
        </p:txBody>
      </p:sp>
      <p:sp>
        <p:nvSpPr>
          <p:cNvPr id="9" name="Text 7"/>
          <p:cNvSpPr txBox="1"/>
          <p:nvPr/>
        </p:nvSpPr>
        <p:spPr>
          <a:xfrm>
            <a:off x="777240" y="3916680"/>
            <a:ext cx="4754880" cy="406400"/>
          </a:xfrm>
          <a:prstGeom prst="rect">
            <a:avLst/>
          </a:prstGeom>
          <a:noFill/>
          <a:ln/>
        </p:spPr>
        <p:txBody>
          <a:bodyPr wrap="square" lIns="0" tIns="0" rIns="0" bIns="0" rtlCol="0" anchor="ctr"/>
          <a:lstStyle/>
          <a:p>
            <a:pPr indent="0" marL="0">
              <a:buNone/>
            </a:pPr>
            <a:r>
              <a:rPr lang="en-US" sz="2000" dirty="0">
                <a:solidFill>
                  <a:srgbClr val="7FD99A"/>
                </a:solidFill>
                <a:latin typeface="Consolas" pitchFamily="34" charset="0"/>
                <a:ea typeface="Consolas" pitchFamily="34" charset="-122"/>
                <a:cs typeface="Consolas" pitchFamily="34" charset="-120"/>
              </a:rPr>
              <a:t>Open. Empty.</a:t>
            </a:r>
            <a:endParaRPr lang="en-US" sz="2000" dirty="0"/>
          </a:p>
        </p:txBody>
      </p:sp>
      <p:sp>
        <p:nvSpPr>
          <p:cNvPr id="10" name="Text 8"/>
          <p:cNvSpPr txBox="1"/>
          <p:nvPr/>
        </p:nvSpPr>
        <p:spPr>
          <a:xfrm>
            <a:off x="777240" y="4323080"/>
            <a:ext cx="4754880" cy="406400"/>
          </a:xfrm>
          <a:prstGeom prst="rect">
            <a:avLst/>
          </a:prstGeom>
          <a:noFill/>
          <a:ln/>
        </p:spPr>
        <p:txBody>
          <a:bodyPr wrap="square" lIns="0" tIns="0" rIns="0" bIns="0" rtlCol="0" anchor="ctr"/>
          <a:lstStyle/>
          <a:p>
            <a:pPr indent="0" marL="0">
              <a:buNone/>
            </a:pPr>
            <a:r>
              <a:rPr lang="en-US" sz="2000" dirty="0">
                <a:solidFill>
                  <a:srgbClr val="7FD99A"/>
                </a:solidFill>
                <a:latin typeface="Consolas" pitchFamily="34" charset="0"/>
                <a:ea typeface="Consolas" pitchFamily="34" charset="-122"/>
                <a:cs typeface="Consolas" pitchFamily="34" charset="-120"/>
              </a:rPr>
              <a:t>Cracked from the inside.</a:t>
            </a:r>
            <a:endParaRPr lang="en-US" sz="2000" dirty="0"/>
          </a:p>
        </p:txBody>
      </p:sp>
      <p:sp>
        <p:nvSpPr>
          <p:cNvPr id="11" name="Shape 9"/>
          <p:cNvSpPr/>
          <p:nvPr/>
        </p:nvSpPr>
        <p:spPr>
          <a:xfrm>
            <a:off x="6172200" y="1417320"/>
            <a:ext cx="5468112" cy="4434840"/>
          </a:xfrm>
          <a:prstGeom prst="roundRect">
            <a:avLst>
              <a:gd name="adj" fmla="val 1649"/>
            </a:avLst>
          </a:prstGeom>
          <a:solidFill>
            <a:srgbClr val="2A2A32"/>
          </a:solidFill>
          <a:ln w="15875">
            <a:solidFill>
              <a:srgbClr val="3A3A44"/>
            </a:solidFill>
            <a:prstDash val="solid"/>
          </a:ln>
        </p:spPr>
      </p:sp>
      <p:sp>
        <p:nvSpPr>
          <p:cNvPr id="12" name="Text 10"/>
          <p:cNvSpPr txBox="1"/>
          <p:nvPr/>
        </p:nvSpPr>
        <p:spPr>
          <a:xfrm>
            <a:off x="6492240" y="1645920"/>
            <a:ext cx="2743200" cy="274320"/>
          </a:xfrm>
          <a:prstGeom prst="rect">
            <a:avLst/>
          </a:prstGeom>
          <a:noFill/>
          <a:ln/>
        </p:spPr>
        <p:txBody>
          <a:bodyPr wrap="square" lIns="0" tIns="0" rIns="0" bIns="0" rtlCol="0" anchor="ctr"/>
          <a:lstStyle/>
          <a:p>
            <a:pPr indent="0" marL="0">
              <a:buNone/>
            </a:pPr>
            <a:r>
              <a:rPr lang="en-US" sz="1300" b="1" spc="200" kern="0" dirty="0">
                <a:solidFill>
                  <a:srgbClr val="6E6E7A"/>
                </a:solidFill>
                <a:latin typeface="Calibri" pitchFamily="34" charset="0"/>
                <a:ea typeface="Calibri" pitchFamily="34" charset="-122"/>
                <a:cs typeface="Calibri" pitchFamily="34" charset="-120"/>
              </a:rPr>
              <a:t>YOUR TASK</a:t>
            </a:r>
            <a:endParaRPr lang="en-US" sz="1300" dirty="0"/>
          </a:p>
        </p:txBody>
      </p:sp>
      <p:sp>
        <p:nvSpPr>
          <p:cNvPr id="13" name="Text 11"/>
          <p:cNvSpPr txBox="1"/>
          <p:nvPr/>
        </p:nvSpPr>
        <p:spPr>
          <a:xfrm>
            <a:off x="6492240" y="1965960"/>
            <a:ext cx="4828032" cy="822960"/>
          </a:xfrm>
          <a:prstGeom prst="rect">
            <a:avLst/>
          </a:prstGeom>
          <a:noFill/>
          <a:ln/>
        </p:spPr>
        <p:txBody>
          <a:bodyPr wrap="square" lIns="0" tIns="0" rIns="0" bIns="0" rtlCol="0" anchor="ctr"/>
          <a:lstStyle/>
          <a:p>
            <a:pPr indent="0" marL="0">
              <a:buNone/>
            </a:pPr>
            <a:r>
              <a:rPr lang="en-US" sz="2600" dirty="0">
                <a:solidFill>
                  <a:srgbClr val="F5F5F3"/>
                </a:solidFill>
                <a:latin typeface="Calibri" pitchFamily="34" charset="0"/>
                <a:ea typeface="Calibri" pitchFamily="34" charset="-122"/>
                <a:cs typeface="Calibri" pitchFamily="34" charset="-120"/>
              </a:rPr>
              <a:t>Open </a:t>
            </a:r>
            <a:pPr indent="0" marL="0">
              <a:buNone/>
            </a:pPr>
            <a:r>
              <a:rPr lang="en-US" sz="2600" b="1" dirty="0">
                <a:solidFill>
                  <a:srgbClr val="D8A73D"/>
                </a:solidFill>
                <a:latin typeface="Calibri" pitchFamily="34" charset="0"/>
                <a:ea typeface="Calibri" pitchFamily="34" charset="-122"/>
                <a:cs typeface="Calibri" pitchFamily="34" charset="-120"/>
              </a:rPr>
              <a:t>Wake Up</a:t>
            </a:r>
            <a:pPr indent="0" marL="0">
              <a:buNone/>
            </a:pPr>
            <a:r>
              <a:rPr lang="en-US" sz="2600" dirty="0">
                <a:solidFill>
                  <a:srgbClr val="F5F5F3"/>
                </a:solidFill>
                <a:latin typeface="Calibri" pitchFamily="34" charset="0"/>
                <a:ea typeface="Calibri" pitchFamily="34" charset="-122"/>
                <a:cs typeface="Calibri" pitchFamily="34" charset="-120"/>
              </a:rPr>
              <a:t> from Google Classroom</a:t>
            </a:r>
            <a:endParaRPr lang="en-US" sz="2600" dirty="0"/>
          </a:p>
        </p:txBody>
      </p:sp>
      <p:sp>
        <p:nvSpPr>
          <p:cNvPr id="14" name="Shape 12"/>
          <p:cNvSpPr/>
          <p:nvPr/>
        </p:nvSpPr>
        <p:spPr>
          <a:xfrm>
            <a:off x="6492240" y="3063240"/>
            <a:ext cx="914400" cy="685800"/>
          </a:xfrm>
          <a:prstGeom prst="roundRect">
            <a:avLst>
              <a:gd name="adj" fmla="val 8000"/>
            </a:avLst>
          </a:prstGeom>
          <a:solidFill>
            <a:srgbClr val="1E1E24"/>
          </a:solidFill>
          <a:ln w="15875">
            <a:solidFill>
              <a:srgbClr val="D8A73D"/>
            </a:solidFill>
            <a:prstDash val="solid"/>
          </a:ln>
        </p:spPr>
      </p:sp>
      <p:sp>
        <p:nvSpPr>
          <p:cNvPr id="15" name="Text 13"/>
          <p:cNvSpPr txBox="1"/>
          <p:nvPr/>
        </p:nvSpPr>
        <p:spPr>
          <a:xfrm>
            <a:off x="6492240" y="3063240"/>
            <a:ext cx="914400" cy="685800"/>
          </a:xfrm>
          <a:prstGeom prst="rect">
            <a:avLst/>
          </a:prstGeom>
          <a:noFill/>
          <a:ln/>
        </p:spPr>
        <p:txBody>
          <a:bodyPr wrap="square" lIns="0" tIns="0" rIns="0" bIns="0" rtlCol="0" anchor="ctr"/>
          <a:lstStyle/>
          <a:p>
            <a:pPr algn="ctr" indent="0" marL="0">
              <a:buNone/>
            </a:pPr>
            <a:r>
              <a:rPr lang="en-US" sz="2800" b="1" dirty="0">
                <a:solidFill>
                  <a:srgbClr val="D8A73D"/>
                </a:solidFill>
                <a:latin typeface="Cambria" pitchFamily="34" charset="0"/>
                <a:ea typeface="Cambria" pitchFamily="34" charset="-122"/>
                <a:cs typeface="Cambria" pitchFamily="34" charset="-120"/>
              </a:rPr>
              <a:t>P</a:t>
            </a:r>
            <a:endParaRPr lang="en-US" sz="2800" dirty="0"/>
          </a:p>
        </p:txBody>
      </p:sp>
      <p:sp>
        <p:nvSpPr>
          <p:cNvPr id="16" name="Text 14"/>
          <p:cNvSpPr txBox="1"/>
          <p:nvPr/>
        </p:nvSpPr>
        <p:spPr>
          <a:xfrm>
            <a:off x="6400800" y="3794760"/>
            <a:ext cx="1097280" cy="274320"/>
          </a:xfrm>
          <a:prstGeom prst="rect">
            <a:avLst/>
          </a:prstGeom>
          <a:noFill/>
          <a:ln/>
        </p:spPr>
        <p:txBody>
          <a:bodyPr wrap="square" lIns="0" tIns="0" rIns="0" bIns="0" rtlCol="0" anchor="ctr"/>
          <a:lstStyle/>
          <a:p>
            <a:pPr algn="ctr" indent="0" marL="0">
              <a:buNone/>
            </a:pPr>
            <a:r>
              <a:rPr lang="en-US" sz="1200" dirty="0">
                <a:solidFill>
                  <a:srgbClr val="A9A9B4"/>
                </a:solidFill>
                <a:latin typeface="Calibri" pitchFamily="34" charset="0"/>
                <a:ea typeface="Calibri" pitchFamily="34" charset="-122"/>
                <a:cs typeface="Calibri" pitchFamily="34" charset="-120"/>
              </a:rPr>
              <a:t>Predict</a:t>
            </a:r>
            <a:endParaRPr lang="en-US" sz="1200" dirty="0"/>
          </a:p>
        </p:txBody>
      </p:sp>
      <p:sp>
        <p:nvSpPr>
          <p:cNvPr id="17" name="Shape 15"/>
          <p:cNvSpPr/>
          <p:nvPr/>
        </p:nvSpPr>
        <p:spPr>
          <a:xfrm>
            <a:off x="7470648" y="3063240"/>
            <a:ext cx="914400" cy="685800"/>
          </a:xfrm>
          <a:prstGeom prst="roundRect">
            <a:avLst>
              <a:gd name="adj" fmla="val 8000"/>
            </a:avLst>
          </a:prstGeom>
          <a:solidFill>
            <a:srgbClr val="1E1E24"/>
          </a:solidFill>
          <a:ln w="15875">
            <a:solidFill>
              <a:srgbClr val="D8A73D"/>
            </a:solidFill>
            <a:prstDash val="solid"/>
          </a:ln>
        </p:spPr>
      </p:sp>
      <p:sp>
        <p:nvSpPr>
          <p:cNvPr id="18" name="Text 16"/>
          <p:cNvSpPr txBox="1"/>
          <p:nvPr/>
        </p:nvSpPr>
        <p:spPr>
          <a:xfrm>
            <a:off x="7470648" y="3063240"/>
            <a:ext cx="914400" cy="685800"/>
          </a:xfrm>
          <a:prstGeom prst="rect">
            <a:avLst/>
          </a:prstGeom>
          <a:noFill/>
          <a:ln/>
        </p:spPr>
        <p:txBody>
          <a:bodyPr wrap="square" lIns="0" tIns="0" rIns="0" bIns="0" rtlCol="0" anchor="ctr"/>
          <a:lstStyle/>
          <a:p>
            <a:pPr algn="ctr" indent="0" marL="0">
              <a:buNone/>
            </a:pPr>
            <a:r>
              <a:rPr lang="en-US" sz="2800" b="1" dirty="0">
                <a:solidFill>
                  <a:srgbClr val="D8A73D"/>
                </a:solidFill>
                <a:latin typeface="Cambria" pitchFamily="34" charset="0"/>
                <a:ea typeface="Cambria" pitchFamily="34" charset="-122"/>
                <a:cs typeface="Cambria" pitchFamily="34" charset="-120"/>
              </a:rPr>
              <a:t>R</a:t>
            </a:r>
            <a:endParaRPr lang="en-US" sz="2800" dirty="0"/>
          </a:p>
        </p:txBody>
      </p:sp>
      <p:sp>
        <p:nvSpPr>
          <p:cNvPr id="19" name="Text 17"/>
          <p:cNvSpPr txBox="1"/>
          <p:nvPr/>
        </p:nvSpPr>
        <p:spPr>
          <a:xfrm>
            <a:off x="7379208" y="3794760"/>
            <a:ext cx="1097280" cy="274320"/>
          </a:xfrm>
          <a:prstGeom prst="rect">
            <a:avLst/>
          </a:prstGeom>
          <a:noFill/>
          <a:ln/>
        </p:spPr>
        <p:txBody>
          <a:bodyPr wrap="square" lIns="0" tIns="0" rIns="0" bIns="0" rtlCol="0" anchor="ctr"/>
          <a:lstStyle/>
          <a:p>
            <a:pPr algn="ctr" indent="0" marL="0">
              <a:buNone/>
            </a:pPr>
            <a:r>
              <a:rPr lang="en-US" sz="1200" dirty="0">
                <a:solidFill>
                  <a:srgbClr val="A9A9B4"/>
                </a:solidFill>
                <a:latin typeface="Calibri" pitchFamily="34" charset="0"/>
                <a:ea typeface="Calibri" pitchFamily="34" charset="-122"/>
                <a:cs typeface="Calibri" pitchFamily="34" charset="-120"/>
              </a:rPr>
              <a:t>Run</a:t>
            </a:r>
            <a:endParaRPr lang="en-US" sz="1200" dirty="0"/>
          </a:p>
        </p:txBody>
      </p:sp>
      <p:sp>
        <p:nvSpPr>
          <p:cNvPr id="20" name="Shape 18"/>
          <p:cNvSpPr/>
          <p:nvPr/>
        </p:nvSpPr>
        <p:spPr>
          <a:xfrm>
            <a:off x="8449056" y="3063240"/>
            <a:ext cx="914400" cy="685800"/>
          </a:xfrm>
          <a:prstGeom prst="roundRect">
            <a:avLst>
              <a:gd name="adj" fmla="val 8000"/>
            </a:avLst>
          </a:prstGeom>
          <a:solidFill>
            <a:srgbClr val="1E1E24"/>
          </a:solidFill>
          <a:ln w="15875">
            <a:solidFill>
              <a:srgbClr val="D8A73D"/>
            </a:solidFill>
            <a:prstDash val="solid"/>
          </a:ln>
        </p:spPr>
      </p:sp>
      <p:sp>
        <p:nvSpPr>
          <p:cNvPr id="21" name="Text 19"/>
          <p:cNvSpPr txBox="1"/>
          <p:nvPr/>
        </p:nvSpPr>
        <p:spPr>
          <a:xfrm>
            <a:off x="8449056" y="3063240"/>
            <a:ext cx="914400" cy="685800"/>
          </a:xfrm>
          <a:prstGeom prst="rect">
            <a:avLst/>
          </a:prstGeom>
          <a:noFill/>
          <a:ln/>
        </p:spPr>
        <p:txBody>
          <a:bodyPr wrap="square" lIns="0" tIns="0" rIns="0" bIns="0" rtlCol="0" anchor="ctr"/>
          <a:lstStyle/>
          <a:p>
            <a:pPr algn="ctr" indent="0" marL="0">
              <a:buNone/>
            </a:pPr>
            <a:r>
              <a:rPr lang="en-US" sz="2800" b="1" dirty="0">
                <a:solidFill>
                  <a:srgbClr val="D8A73D"/>
                </a:solidFill>
                <a:latin typeface="Cambria" pitchFamily="34" charset="0"/>
                <a:ea typeface="Cambria" pitchFamily="34" charset="-122"/>
                <a:cs typeface="Cambria" pitchFamily="34" charset="-120"/>
              </a:rPr>
              <a:t>I</a:t>
            </a:r>
            <a:endParaRPr lang="en-US" sz="2800" dirty="0"/>
          </a:p>
        </p:txBody>
      </p:sp>
      <p:sp>
        <p:nvSpPr>
          <p:cNvPr id="22" name="Text 20"/>
          <p:cNvSpPr txBox="1"/>
          <p:nvPr/>
        </p:nvSpPr>
        <p:spPr>
          <a:xfrm>
            <a:off x="8357616" y="3794760"/>
            <a:ext cx="1097280" cy="274320"/>
          </a:xfrm>
          <a:prstGeom prst="rect">
            <a:avLst/>
          </a:prstGeom>
          <a:noFill/>
          <a:ln/>
        </p:spPr>
        <p:txBody>
          <a:bodyPr wrap="square" lIns="0" tIns="0" rIns="0" bIns="0" rtlCol="0" anchor="ctr"/>
          <a:lstStyle/>
          <a:p>
            <a:pPr algn="ctr" indent="0" marL="0">
              <a:buNone/>
            </a:pPr>
            <a:r>
              <a:rPr lang="en-US" sz="1200" dirty="0">
                <a:solidFill>
                  <a:srgbClr val="A9A9B4"/>
                </a:solidFill>
                <a:latin typeface="Calibri" pitchFamily="34" charset="0"/>
                <a:ea typeface="Calibri" pitchFamily="34" charset="-122"/>
                <a:cs typeface="Calibri" pitchFamily="34" charset="-120"/>
              </a:rPr>
              <a:t>Investigate</a:t>
            </a:r>
            <a:endParaRPr lang="en-US" sz="1200" dirty="0"/>
          </a:p>
        </p:txBody>
      </p:sp>
      <p:sp>
        <p:nvSpPr>
          <p:cNvPr id="23" name="Shape 21"/>
          <p:cNvSpPr/>
          <p:nvPr/>
        </p:nvSpPr>
        <p:spPr>
          <a:xfrm>
            <a:off x="9427464" y="3063240"/>
            <a:ext cx="914400" cy="685800"/>
          </a:xfrm>
          <a:prstGeom prst="roundRect">
            <a:avLst>
              <a:gd name="adj" fmla="val 8000"/>
            </a:avLst>
          </a:prstGeom>
          <a:solidFill>
            <a:srgbClr val="1E1E24"/>
          </a:solidFill>
          <a:ln w="15875">
            <a:solidFill>
              <a:srgbClr val="D8A73D"/>
            </a:solidFill>
            <a:prstDash val="solid"/>
          </a:ln>
        </p:spPr>
      </p:sp>
      <p:sp>
        <p:nvSpPr>
          <p:cNvPr id="24" name="Text 22"/>
          <p:cNvSpPr txBox="1"/>
          <p:nvPr/>
        </p:nvSpPr>
        <p:spPr>
          <a:xfrm>
            <a:off x="9427464" y="3063240"/>
            <a:ext cx="914400" cy="685800"/>
          </a:xfrm>
          <a:prstGeom prst="rect">
            <a:avLst/>
          </a:prstGeom>
          <a:noFill/>
          <a:ln/>
        </p:spPr>
        <p:txBody>
          <a:bodyPr wrap="square" lIns="0" tIns="0" rIns="0" bIns="0" rtlCol="0" anchor="ctr"/>
          <a:lstStyle/>
          <a:p>
            <a:pPr algn="ctr" indent="0" marL="0">
              <a:buNone/>
            </a:pPr>
            <a:r>
              <a:rPr lang="en-US" sz="2800" b="1" dirty="0">
                <a:solidFill>
                  <a:srgbClr val="D8A73D"/>
                </a:solidFill>
                <a:latin typeface="Cambria" pitchFamily="34" charset="0"/>
                <a:ea typeface="Cambria" pitchFamily="34" charset="-122"/>
                <a:cs typeface="Cambria" pitchFamily="34" charset="-120"/>
              </a:rPr>
              <a:t>M</a:t>
            </a:r>
            <a:endParaRPr lang="en-US" sz="2800" dirty="0"/>
          </a:p>
        </p:txBody>
      </p:sp>
      <p:sp>
        <p:nvSpPr>
          <p:cNvPr id="25" name="Text 23"/>
          <p:cNvSpPr txBox="1"/>
          <p:nvPr/>
        </p:nvSpPr>
        <p:spPr>
          <a:xfrm>
            <a:off x="9336024" y="3794760"/>
            <a:ext cx="1097280" cy="274320"/>
          </a:xfrm>
          <a:prstGeom prst="rect">
            <a:avLst/>
          </a:prstGeom>
          <a:noFill/>
          <a:ln/>
        </p:spPr>
        <p:txBody>
          <a:bodyPr wrap="square" lIns="0" tIns="0" rIns="0" bIns="0" rtlCol="0" anchor="ctr"/>
          <a:lstStyle/>
          <a:p>
            <a:pPr algn="ctr" indent="0" marL="0">
              <a:buNone/>
            </a:pPr>
            <a:r>
              <a:rPr lang="en-US" sz="1200" dirty="0">
                <a:solidFill>
                  <a:srgbClr val="A9A9B4"/>
                </a:solidFill>
                <a:latin typeface="Calibri" pitchFamily="34" charset="0"/>
                <a:ea typeface="Calibri" pitchFamily="34" charset="-122"/>
                <a:cs typeface="Calibri" pitchFamily="34" charset="-120"/>
              </a:rPr>
              <a:t>Modify</a:t>
            </a:r>
            <a:endParaRPr lang="en-US" sz="1200" dirty="0"/>
          </a:p>
        </p:txBody>
      </p:sp>
      <p:sp>
        <p:nvSpPr>
          <p:cNvPr id="26" name="Shape 24"/>
          <p:cNvSpPr/>
          <p:nvPr/>
        </p:nvSpPr>
        <p:spPr>
          <a:xfrm>
            <a:off x="10405872" y="3063240"/>
            <a:ext cx="914400" cy="685800"/>
          </a:xfrm>
          <a:prstGeom prst="roundRect">
            <a:avLst>
              <a:gd name="adj" fmla="val 8000"/>
            </a:avLst>
          </a:prstGeom>
          <a:solidFill>
            <a:srgbClr val="1E1E24"/>
          </a:solidFill>
          <a:ln w="15875">
            <a:solidFill>
              <a:srgbClr val="D8A73D"/>
            </a:solidFill>
            <a:prstDash val="solid"/>
          </a:ln>
        </p:spPr>
      </p:sp>
      <p:sp>
        <p:nvSpPr>
          <p:cNvPr id="27" name="Text 25"/>
          <p:cNvSpPr txBox="1"/>
          <p:nvPr/>
        </p:nvSpPr>
        <p:spPr>
          <a:xfrm>
            <a:off x="10405872" y="3063240"/>
            <a:ext cx="914400" cy="685800"/>
          </a:xfrm>
          <a:prstGeom prst="rect">
            <a:avLst/>
          </a:prstGeom>
          <a:noFill/>
          <a:ln/>
        </p:spPr>
        <p:txBody>
          <a:bodyPr wrap="square" lIns="0" tIns="0" rIns="0" bIns="0" rtlCol="0" anchor="ctr"/>
          <a:lstStyle/>
          <a:p>
            <a:pPr algn="ctr" indent="0" marL="0">
              <a:buNone/>
            </a:pPr>
            <a:r>
              <a:rPr lang="en-US" sz="2800" b="1" dirty="0">
                <a:solidFill>
                  <a:srgbClr val="D8A73D"/>
                </a:solidFill>
                <a:latin typeface="Cambria" pitchFamily="34" charset="0"/>
                <a:ea typeface="Cambria" pitchFamily="34" charset="-122"/>
                <a:cs typeface="Cambria" pitchFamily="34" charset="-120"/>
              </a:rPr>
              <a:t>M</a:t>
            </a:r>
            <a:endParaRPr lang="en-US" sz="2800" dirty="0"/>
          </a:p>
        </p:txBody>
      </p:sp>
      <p:sp>
        <p:nvSpPr>
          <p:cNvPr id="28" name="Text 26"/>
          <p:cNvSpPr txBox="1"/>
          <p:nvPr/>
        </p:nvSpPr>
        <p:spPr>
          <a:xfrm>
            <a:off x="10314432" y="3794760"/>
            <a:ext cx="1097280" cy="274320"/>
          </a:xfrm>
          <a:prstGeom prst="rect">
            <a:avLst/>
          </a:prstGeom>
          <a:noFill/>
          <a:ln/>
        </p:spPr>
        <p:txBody>
          <a:bodyPr wrap="square" lIns="0" tIns="0" rIns="0" bIns="0" rtlCol="0" anchor="ctr"/>
          <a:lstStyle/>
          <a:p>
            <a:pPr algn="ctr" indent="0" marL="0">
              <a:buNone/>
            </a:pPr>
            <a:r>
              <a:rPr lang="en-US" sz="1200" dirty="0">
                <a:solidFill>
                  <a:srgbClr val="A9A9B4"/>
                </a:solidFill>
                <a:latin typeface="Calibri" pitchFamily="34" charset="0"/>
                <a:ea typeface="Calibri" pitchFamily="34" charset="-122"/>
                <a:cs typeface="Calibri" pitchFamily="34" charset="-120"/>
              </a:rPr>
              <a:t>Make</a:t>
            </a:r>
            <a:endParaRPr lang="en-US" sz="1200" dirty="0"/>
          </a:p>
        </p:txBody>
      </p:sp>
      <p:sp>
        <p:nvSpPr>
          <p:cNvPr id="29" name="Text 27"/>
          <p:cNvSpPr txBox="1"/>
          <p:nvPr/>
        </p:nvSpPr>
        <p:spPr>
          <a:xfrm>
            <a:off x="6492240" y="4343400"/>
            <a:ext cx="4828032" cy="1280160"/>
          </a:xfrm>
          <a:prstGeom prst="rect">
            <a:avLst/>
          </a:prstGeom>
          <a:noFill/>
          <a:ln/>
        </p:spPr>
        <p:txBody>
          <a:bodyPr wrap="square" lIns="0" tIns="0" rIns="0" bIns="0" rtlCol="0" anchor="ctr"/>
          <a:lstStyle/>
          <a:p>
            <a:pPr indent="0" marL="0">
              <a:buNone/>
            </a:pPr>
            <a:r>
              <a:rPr lang="en-US" sz="1900" b="1" dirty="0">
                <a:solidFill>
                  <a:srgbClr val="D8A73D"/>
                </a:solidFill>
                <a:latin typeface="Calibri" pitchFamily="34" charset="0"/>
                <a:ea typeface="Calibri" pitchFamily="34" charset="-122"/>
                <a:cs typeface="Calibri" pitchFamily="34" charset="-120"/>
              </a:rPr>
              <a:t>Modification 1 is your call. </a:t>
            </a:r>
            <a:pPr indent="0" marL="0">
              <a:buNone/>
            </a:pPr>
            <a:r>
              <a:rPr lang="en-US" sz="1900" dirty="0">
                <a:solidFill>
                  <a:srgbClr val="F5F5F3"/>
                </a:solidFill>
                <a:latin typeface="Calibri" pitchFamily="34" charset="0"/>
                <a:ea typeface="Calibri" pitchFamily="34" charset="-122"/>
                <a:cs typeface="Calibri" pitchFamily="34" charset="-120"/>
              </a:rPr>
              <a:t>It changes the story, not your score.</a:t>
            </a:r>
            <a:endParaRPr lang="en-US" sz="1900" dirty="0"/>
          </a:p>
        </p:txBody>
      </p:sp>
      <p:sp>
        <p:nvSpPr>
          <p:cNvPr id="30" name="Shape 28"/>
          <p:cNvSpPr/>
          <p:nvPr/>
        </p:nvSpPr>
        <p:spPr>
          <a:xfrm>
            <a:off x="10131552" y="1627632"/>
            <a:ext cx="1280160" cy="329184"/>
          </a:xfrm>
          <a:prstGeom prst="roundRect">
            <a:avLst>
              <a:gd name="adj" fmla="val 50000"/>
            </a:avLst>
          </a:prstGeom>
          <a:solidFill>
            <a:srgbClr val="1E1E24"/>
          </a:solidFill>
          <a:ln w="15875">
            <a:solidFill>
              <a:srgbClr val="D8A73D"/>
            </a:solidFill>
            <a:prstDash val="solid"/>
          </a:ln>
        </p:spPr>
      </p:sp>
      <p:sp>
        <p:nvSpPr>
          <p:cNvPr id="31" name="Text 29"/>
          <p:cNvSpPr txBox="1"/>
          <p:nvPr/>
        </p:nvSpPr>
        <p:spPr>
          <a:xfrm>
            <a:off x="10131552" y="1627632"/>
            <a:ext cx="1280160" cy="329184"/>
          </a:xfrm>
          <a:prstGeom prst="rect">
            <a:avLst/>
          </a:prstGeom>
          <a:noFill/>
          <a:ln/>
        </p:spPr>
        <p:txBody>
          <a:bodyPr wrap="square" lIns="0" tIns="0" rIns="0" bIns="0" rtlCol="0" anchor="ctr"/>
          <a:lstStyle/>
          <a:p>
            <a:pPr algn="ctr" indent="0" marL="0">
              <a:buNone/>
            </a:pPr>
            <a:r>
              <a:rPr lang="en-US" sz="1400" b="1" spc="100" kern="0" dirty="0">
                <a:solidFill>
                  <a:srgbClr val="D8A73D"/>
                </a:solidFill>
                <a:latin typeface="Calibri" pitchFamily="34" charset="0"/>
                <a:ea typeface="Calibri" pitchFamily="34" charset="-122"/>
                <a:cs typeface="Calibri" pitchFamily="34" charset="-120"/>
              </a:rPr>
              <a:t>⏱  ≈20 MIN</a:t>
            </a:r>
            <a:endParaRPr lang="en-US" sz="1400" dirty="0"/>
          </a:p>
        </p:txBody>
      </p:sp>
      <p:pic>
        <p:nvPicPr>
          <p:cNvPr id="32" name="Image 0" descr="Deliberate practice">    </p:cNvPr>
          <p:cNvPicPr>
            <a:picLocks noChangeAspect="1"/>
          </p:cNvPicPr>
          <p:nvPr/>
        </p:nvPicPr>
        <p:blipFill>
          <a:blip r:embed="rId1"/>
          <a:stretch>
            <a:fillRect/>
          </a:stretch>
        </p:blipFill>
        <p:spPr>
          <a:xfrm>
            <a:off x="10972800" y="384048"/>
            <a:ext cx="731520" cy="731520"/>
          </a:xfrm>
          <a:prstGeom prst="rect">
            <a:avLst/>
          </a:prstGeom>
        </p:spPr>
      </p:pic>
      <p:sp>
        <p:nvSpPr>
          <p:cNvPr id="34" name="Text 30"/>
          <p:cNvSpPr txBox="1"/>
          <p:nvPr/>
        </p:nvSpPr>
        <p:spPr>
          <a:xfrm>
            <a:off x="4206240" y="6355080"/>
            <a:ext cx="6812280" cy="320040"/>
          </a:xfrm>
          <a:prstGeom prst="rect">
            <a:avLst/>
          </a:prstGeom>
          <a:noFill/>
          <a:ln/>
        </p:spPr>
        <p:txBody>
          <a:bodyPr wrap="square" lIns="0" tIns="0" rIns="0" bIns="0" rtlCol="0" anchor="ctr"/>
          <a:lstStyle/>
          <a:p>
            <a:pPr algn="r" indent="0" marL="0">
              <a:buNone/>
            </a:pPr>
            <a:r>
              <a:rPr lang="en-US" sz="1300" b="1" i="1" dirty="0">
                <a:solidFill>
                  <a:srgbClr val="D8A73D"/>
                </a:solidFill>
                <a:latin typeface="Calibri" pitchFamily="34" charset="0"/>
                <a:ea typeface="Calibri" pitchFamily="34" charset="-122"/>
                <a:cs typeface="Calibri" pitchFamily="34" charset="-120"/>
              </a:rPr>
              <a:t>chapterSlide()  ·  Chapter card + task</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Capitals matter</a:t>
            </a:r>
            <a:endParaRPr lang="en-US" sz="3600" dirty="0"/>
          </a:p>
        </p:txBody>
      </p:sp>
      <p:sp>
        <p:nvSpPr>
          <p:cNvPr id="3" name="code"/>
          <p:cNvSpPr/>
          <p:nvPr/>
        </p:nvSpPr>
        <p:spPr>
          <a:xfrm>
            <a:off x="548640" y="1600200"/>
            <a:ext cx="7498080" cy="1324356"/>
          </a:xfrm>
          <a:prstGeom prst="roundRect">
            <a:avLst>
              <a:gd name="adj" fmla="val 5524"/>
            </a:avLst>
          </a:prstGeom>
          <a:solidFill>
            <a:srgbClr val="111115"/>
          </a:solidFill>
          <a:ln w="15875">
            <a:solidFill>
              <a:srgbClr val="3A3A44"/>
            </a:solidFill>
            <a:prstDash val="solid"/>
          </a:ln>
        </p:spPr>
      </p:sp>
      <p:sp>
        <p:nvSpPr>
          <p:cNvPr id="4" name="Text 2"/>
          <p:cNvSpPr txBox="1"/>
          <p:nvPr/>
        </p:nvSpPr>
        <p:spPr>
          <a:xfrm>
            <a:off x="658368" y="1801368"/>
            <a:ext cx="274320" cy="461010"/>
          </a:xfrm>
          <a:prstGeom prst="rect">
            <a:avLst/>
          </a:prstGeom>
          <a:noFill/>
          <a:ln/>
        </p:spPr>
        <p:txBody>
          <a:bodyPr wrap="square" lIns="0" tIns="0" rIns="0" bIns="0" rtlCol="0" anchor="ctr"/>
          <a:lstStyle/>
          <a:p>
            <a:pPr algn="r" indent="0" marL="0">
              <a:buNone/>
            </a:pPr>
            <a:r>
              <a:rPr lang="en-US" sz="1800" dirty="0">
                <a:solidFill>
                  <a:srgbClr val="6E6E7A"/>
                </a:solidFill>
                <a:latin typeface="Consolas" pitchFamily="34" charset="0"/>
                <a:ea typeface="Consolas" pitchFamily="34" charset="-122"/>
                <a:cs typeface="Consolas" pitchFamily="34" charset="-120"/>
              </a:rPr>
              <a:t>1</a:t>
            </a:r>
            <a:endParaRPr lang="en-US" sz="1800" dirty="0"/>
          </a:p>
        </p:txBody>
      </p:sp>
      <p:sp>
        <p:nvSpPr>
          <p:cNvPr id="5" name="Text 3"/>
          <p:cNvSpPr txBox="1"/>
          <p:nvPr/>
        </p:nvSpPr>
        <p:spPr>
          <a:xfrm>
            <a:off x="1188720" y="1801368"/>
            <a:ext cx="6766560" cy="461010"/>
          </a:xfrm>
          <a:prstGeom prst="rect">
            <a:avLst/>
          </a:prstGeom>
          <a:noFill/>
          <a:ln/>
        </p:spPr>
        <p:txBody>
          <a:bodyPr wrap="square" lIns="0" tIns="0" rIns="0" bIns="0" rtlCol="0" anchor="ctr"/>
          <a:lstStyle/>
          <a:p>
            <a:pPr indent="0" marL="0">
              <a:buNone/>
            </a:pPr>
            <a:r>
              <a:rPr lang="en-US" sz="2200" dirty="0">
                <a:solidFill>
                  <a:srgbClr val="F5F5F3"/>
                </a:solidFill>
                <a:latin typeface="Consolas" pitchFamily="34" charset="0"/>
                <a:ea typeface="Consolas" pitchFamily="34" charset="-122"/>
                <a:cs typeface="Consolas" pitchFamily="34" charset="-120"/>
              </a:rPr>
              <a:t>name</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E8C878"/>
                </a:solidFill>
                <a:latin typeface="Consolas" pitchFamily="34" charset="0"/>
                <a:ea typeface="Consolas" pitchFamily="34" charset="-122"/>
                <a:cs typeface="Consolas" pitchFamily="34" charset="-120"/>
              </a:rPr>
              <a:t>input</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E69F00"/>
                </a:solidFill>
                <a:latin typeface="Consolas" pitchFamily="34" charset="0"/>
                <a:ea typeface="Consolas" pitchFamily="34" charset="-122"/>
                <a:cs typeface="Consolas" pitchFamily="34" charset="-120"/>
              </a:rPr>
              <a:t>"Enter your name: "</a:t>
            </a:r>
            <a:pPr indent="0" marL="0">
              <a:buNone/>
            </a:pPr>
            <a:r>
              <a:rPr lang="en-US" sz="2200" dirty="0">
                <a:solidFill>
                  <a:srgbClr val="A9A9B4"/>
                </a:solidFill>
                <a:latin typeface="Consolas" pitchFamily="34" charset="0"/>
                <a:ea typeface="Consolas" pitchFamily="34" charset="-122"/>
                <a:cs typeface="Consolas" pitchFamily="34" charset="-120"/>
              </a:rPr>
              <a:t>)</a:t>
            </a:r>
            <a:endParaRPr lang="en-US" sz="2200" dirty="0"/>
          </a:p>
        </p:txBody>
      </p:sp>
      <p:sp>
        <p:nvSpPr>
          <p:cNvPr id="6" name="Shape 4"/>
          <p:cNvSpPr/>
          <p:nvPr/>
        </p:nvSpPr>
        <p:spPr>
          <a:xfrm>
            <a:off x="603504" y="2262378"/>
            <a:ext cx="7388352" cy="461010"/>
          </a:xfrm>
          <a:prstGeom prst="rect">
            <a:avLst/>
          </a:prstGeom>
          <a:solidFill>
            <a:srgbClr val="2B2618"/>
          </a:solidFill>
          <a:ln/>
        </p:spPr>
      </p:sp>
      <p:sp>
        <p:nvSpPr>
          <p:cNvPr id="7" name="Text 5"/>
          <p:cNvSpPr txBox="1"/>
          <p:nvPr/>
        </p:nvSpPr>
        <p:spPr>
          <a:xfrm>
            <a:off x="658368" y="2262378"/>
            <a:ext cx="274320" cy="461010"/>
          </a:xfrm>
          <a:prstGeom prst="rect">
            <a:avLst/>
          </a:prstGeom>
          <a:noFill/>
          <a:ln/>
        </p:spPr>
        <p:txBody>
          <a:bodyPr wrap="square" lIns="0" tIns="0" rIns="0" bIns="0" rtlCol="0" anchor="ctr"/>
          <a:lstStyle/>
          <a:p>
            <a:pPr algn="r" indent="0" marL="0">
              <a:buNone/>
            </a:pPr>
            <a:r>
              <a:rPr lang="en-US" sz="1800" dirty="0">
                <a:solidFill>
                  <a:srgbClr val="6E6E7A"/>
                </a:solidFill>
                <a:latin typeface="Consolas" pitchFamily="34" charset="0"/>
                <a:ea typeface="Consolas" pitchFamily="34" charset="-122"/>
                <a:cs typeface="Consolas" pitchFamily="34" charset="-120"/>
              </a:rPr>
              <a:t>2</a:t>
            </a:r>
            <a:endParaRPr lang="en-US" sz="1800" dirty="0"/>
          </a:p>
        </p:txBody>
      </p:sp>
      <p:sp>
        <p:nvSpPr>
          <p:cNvPr id="8" name="Text 6"/>
          <p:cNvSpPr txBox="1"/>
          <p:nvPr/>
        </p:nvSpPr>
        <p:spPr>
          <a:xfrm>
            <a:off x="1188720" y="2262378"/>
            <a:ext cx="6766560" cy="461010"/>
          </a:xfrm>
          <a:prstGeom prst="rect">
            <a:avLst/>
          </a:prstGeom>
          <a:noFill/>
          <a:ln/>
        </p:spPr>
        <p:txBody>
          <a:bodyPr wrap="square" lIns="0" tIns="0" rIns="0" bIns="0" rtlCol="0" anchor="ctr"/>
          <a:lstStyle/>
          <a:p>
            <a:pPr indent="0" marL="0">
              <a:buNone/>
            </a:pPr>
            <a:r>
              <a:rPr lang="en-US" sz="2200" dirty="0">
                <a:solidFill>
                  <a:srgbClr val="E8C878"/>
                </a:solidFill>
                <a:latin typeface="Consolas" pitchFamily="34" charset="0"/>
                <a:ea typeface="Consolas" pitchFamily="34" charset="-122"/>
                <a:cs typeface="Consolas" pitchFamily="34" charset="-120"/>
              </a:rPr>
              <a:t>print</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E69F00"/>
                </a:solidFill>
                <a:latin typeface="Consolas" pitchFamily="34" charset="0"/>
                <a:ea typeface="Consolas" pitchFamily="34" charset="-122"/>
                <a:cs typeface="Consolas" pitchFamily="34" charset="-120"/>
              </a:rPr>
              <a:t>"Access granted to "</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F5F5F3"/>
                </a:solidFill>
                <a:latin typeface="Consolas" pitchFamily="34" charset="0"/>
                <a:ea typeface="Consolas" pitchFamily="34" charset="-122"/>
                <a:cs typeface="Consolas" pitchFamily="34" charset="-120"/>
              </a:rPr>
              <a:t>Name</a:t>
            </a:r>
            <a:pPr indent="0" marL="0">
              <a:buNone/>
            </a:pPr>
            <a:r>
              <a:rPr lang="en-US" sz="2200" dirty="0">
                <a:solidFill>
                  <a:srgbClr val="A9A9B4"/>
                </a:solidFill>
                <a:latin typeface="Consolas" pitchFamily="34" charset="0"/>
                <a:ea typeface="Consolas" pitchFamily="34" charset="-122"/>
                <a:cs typeface="Consolas" pitchFamily="34" charset="-120"/>
              </a:rPr>
              <a:t>)</a:t>
            </a:r>
            <a:endParaRPr lang="en-US" sz="2200" dirty="0"/>
          </a:p>
        </p:txBody>
      </p:sp>
      <p:sp>
        <p:nvSpPr>
          <p:cNvPr id="9" name="terminal"/>
          <p:cNvSpPr/>
          <p:nvPr/>
        </p:nvSpPr>
        <p:spPr>
          <a:xfrm>
            <a:off x="548640" y="3153156"/>
            <a:ext cx="11091672" cy="1143000"/>
          </a:xfrm>
          <a:prstGeom prst="roundRect">
            <a:avLst>
              <a:gd name="adj" fmla="val 6400"/>
            </a:avLst>
          </a:prstGeom>
          <a:solidFill>
            <a:srgbClr val="0A0A0D"/>
          </a:solidFill>
          <a:ln w="15875">
            <a:solidFill>
              <a:srgbClr val="3A3A44"/>
            </a:solidFill>
            <a:prstDash val="solid"/>
          </a:ln>
        </p:spPr>
      </p:sp>
      <p:sp>
        <p:nvSpPr>
          <p:cNvPr id="10" name="Text 8"/>
          <p:cNvSpPr txBox="1"/>
          <p:nvPr/>
        </p:nvSpPr>
        <p:spPr>
          <a:xfrm>
            <a:off x="777240" y="3336036"/>
            <a:ext cx="10634472" cy="274320"/>
          </a:xfrm>
          <a:prstGeom prst="rect">
            <a:avLst/>
          </a:prstGeom>
          <a:noFill/>
          <a:ln/>
        </p:spPr>
        <p:txBody>
          <a:bodyPr wrap="square" lIns="0" tIns="0" rIns="0" bIns="0" rtlCol="0" anchor="ctr"/>
          <a:lstStyle/>
          <a:p>
            <a:pPr indent="0" marL="0">
              <a:buNone/>
            </a:pPr>
            <a:r>
              <a:rPr lang="en-US" sz="1200" b="1" spc="200" kern="0" dirty="0">
                <a:solidFill>
                  <a:srgbClr val="A9A9B4"/>
                </a:solidFill>
                <a:latin typeface="Calibri" pitchFamily="34" charset="0"/>
                <a:ea typeface="Calibri" pitchFamily="34" charset="-122"/>
                <a:cs typeface="Calibri" pitchFamily="34" charset="-120"/>
              </a:rPr>
              <a:t>ERROR — LAST LINE</a:t>
            </a:r>
            <a:endParaRPr lang="en-US" sz="1200" dirty="0"/>
          </a:p>
        </p:txBody>
      </p:sp>
      <p:sp>
        <p:nvSpPr>
          <p:cNvPr id="11" name="Text 9"/>
          <p:cNvSpPr txBox="1"/>
          <p:nvPr/>
        </p:nvSpPr>
        <p:spPr>
          <a:xfrm>
            <a:off x="777240" y="3701796"/>
            <a:ext cx="10634472" cy="365760"/>
          </a:xfrm>
          <a:prstGeom prst="rect">
            <a:avLst/>
          </a:prstGeom>
          <a:noFill/>
          <a:ln/>
        </p:spPr>
        <p:txBody>
          <a:bodyPr wrap="square" lIns="0" tIns="0" rIns="0" bIns="0" rtlCol="0" anchor="ctr"/>
          <a:lstStyle/>
          <a:p>
            <a:pPr indent="0" marL="0">
              <a:buNone/>
            </a:pPr>
            <a:r>
              <a:rPr lang="en-US" sz="1800" b="1" dirty="0">
                <a:solidFill>
                  <a:srgbClr val="FF6B6B"/>
                </a:solidFill>
                <a:latin typeface="Consolas" pitchFamily="34" charset="0"/>
                <a:ea typeface="Consolas" pitchFamily="34" charset="-122"/>
                <a:cs typeface="Consolas" pitchFamily="34" charset="-120"/>
              </a:rPr>
              <a:t>NameError: </a:t>
            </a:r>
            <a:pPr indent="0" marL="0">
              <a:buNone/>
            </a:pPr>
            <a:r>
              <a:rPr lang="en-US" sz="1800" dirty="0">
                <a:solidFill>
                  <a:srgbClr val="FF6B6B"/>
                </a:solidFill>
                <a:latin typeface="Consolas" pitchFamily="34" charset="0"/>
                <a:ea typeface="Consolas" pitchFamily="34" charset="-122"/>
                <a:cs typeface="Consolas" pitchFamily="34" charset="-120"/>
              </a:rPr>
              <a:t>name 'Name' is not defined. Did you mean: 'name'?</a:t>
            </a:r>
            <a:endParaRPr lang="en-US" sz="1800" dirty="0"/>
          </a:p>
        </p:txBody>
      </p:sp>
      <p:sp>
        <p:nvSpPr>
          <p:cNvPr id="12" name="Text 10"/>
          <p:cNvSpPr txBox="1"/>
          <p:nvPr/>
        </p:nvSpPr>
        <p:spPr>
          <a:xfrm>
            <a:off x="8412480" y="1554480"/>
            <a:ext cx="2743200" cy="274320"/>
          </a:xfrm>
          <a:prstGeom prst="rect">
            <a:avLst/>
          </a:prstGeom>
          <a:noFill/>
          <a:ln/>
        </p:spPr>
        <p:txBody>
          <a:bodyPr wrap="square" lIns="0" tIns="0" rIns="0" bIns="0" rtlCol="0" anchor="ctr"/>
          <a:lstStyle/>
          <a:p>
            <a:pPr indent="0" marL="0">
              <a:buNone/>
            </a:pPr>
            <a:r>
              <a:rPr lang="en-US" sz="1300" b="1" spc="200" kern="0" dirty="0">
                <a:solidFill>
                  <a:srgbClr val="6E6E7A"/>
                </a:solidFill>
                <a:latin typeface="Calibri" pitchFamily="34" charset="0"/>
                <a:ea typeface="Calibri" pitchFamily="34" charset="-122"/>
                <a:cs typeface="Calibri" pitchFamily="34" charset="-120"/>
              </a:rPr>
              <a:t>IN MEMORY</a:t>
            </a:r>
            <a:endParaRPr lang="en-US" sz="1300" dirty="0"/>
          </a:p>
        </p:txBody>
      </p:sp>
      <p:sp>
        <p:nvSpPr>
          <p:cNvPr id="13" name="Shape 11"/>
          <p:cNvSpPr/>
          <p:nvPr/>
        </p:nvSpPr>
        <p:spPr>
          <a:xfrm>
            <a:off x="8412480" y="2103120"/>
            <a:ext cx="2743200" cy="868680"/>
          </a:xfrm>
          <a:prstGeom prst="roundRect">
            <a:avLst>
              <a:gd name="adj" fmla="val 6316"/>
            </a:avLst>
          </a:prstGeom>
          <a:solidFill>
            <a:srgbClr val="111115"/>
          </a:solidFill>
          <a:ln w="25400">
            <a:solidFill>
              <a:srgbClr val="E69F00"/>
            </a:solidFill>
            <a:prstDash val="solid"/>
          </a:ln>
        </p:spPr>
      </p:sp>
      <p:sp>
        <p:nvSpPr>
          <p:cNvPr id="14" name="Shape 12"/>
          <p:cNvSpPr/>
          <p:nvPr/>
        </p:nvSpPr>
        <p:spPr>
          <a:xfrm>
            <a:off x="8549640" y="1920240"/>
            <a:ext cx="1481328" cy="347472"/>
          </a:xfrm>
          <a:prstGeom prst="roundRect">
            <a:avLst>
              <a:gd name="adj" fmla="val 13158"/>
            </a:avLst>
          </a:prstGeom>
          <a:solidFill>
            <a:srgbClr val="E69F00"/>
          </a:solidFill>
          <a:ln/>
        </p:spPr>
      </p:sp>
      <p:sp>
        <p:nvSpPr>
          <p:cNvPr id="15" name="Text 13"/>
          <p:cNvSpPr txBox="1"/>
          <p:nvPr/>
        </p:nvSpPr>
        <p:spPr>
          <a:xfrm>
            <a:off x="8549640" y="1920240"/>
            <a:ext cx="1481328" cy="347472"/>
          </a:xfrm>
          <a:prstGeom prst="rect">
            <a:avLst/>
          </a:prstGeom>
          <a:noFill/>
          <a:ln/>
        </p:spPr>
        <p:txBody>
          <a:bodyPr wrap="square" lIns="0" tIns="0" rIns="0" bIns="0" rtlCol="0" anchor="ctr"/>
          <a:lstStyle/>
          <a:p>
            <a:pPr algn="ctr" indent="0" marL="0">
              <a:buNone/>
            </a:pPr>
            <a:r>
              <a:rPr lang="en-US" sz="1400" b="1" dirty="0">
                <a:solidFill>
                  <a:srgbClr val="111115"/>
                </a:solidFill>
                <a:latin typeface="Consolas" pitchFamily="34" charset="0"/>
                <a:ea typeface="Consolas" pitchFamily="34" charset="-122"/>
                <a:cs typeface="Consolas" pitchFamily="34" charset="-120"/>
              </a:rPr>
              <a:t>name  ·  str</a:t>
            </a:r>
            <a:endParaRPr lang="en-US" sz="1400" dirty="0"/>
          </a:p>
        </p:txBody>
      </p:sp>
      <p:sp>
        <p:nvSpPr>
          <p:cNvPr id="16" name="Text 14"/>
          <p:cNvSpPr txBox="1"/>
          <p:nvPr/>
        </p:nvSpPr>
        <p:spPr>
          <a:xfrm>
            <a:off x="8503920" y="2286000"/>
            <a:ext cx="2560320" cy="640080"/>
          </a:xfrm>
          <a:prstGeom prst="rect">
            <a:avLst/>
          </a:prstGeom>
          <a:noFill/>
          <a:ln/>
        </p:spPr>
        <p:txBody>
          <a:bodyPr wrap="square" lIns="0" tIns="0" rIns="0" bIns="0" rtlCol="0" anchor="ctr"/>
          <a:lstStyle/>
          <a:p>
            <a:pPr algn="ctr" indent="0" marL="0">
              <a:buNone/>
            </a:pPr>
            <a:r>
              <a:rPr lang="en-US" sz="2600" dirty="0">
                <a:solidFill>
                  <a:srgbClr val="F5F5F3"/>
                </a:solidFill>
                <a:latin typeface="Consolas" pitchFamily="34" charset="0"/>
                <a:ea typeface="Consolas" pitchFamily="34" charset="-122"/>
                <a:cs typeface="Consolas" pitchFamily="34" charset="-120"/>
              </a:rPr>
              <a:t>"Riley"</a:t>
            </a:r>
            <a:endParaRPr lang="en-US" sz="2600" dirty="0"/>
          </a:p>
        </p:txBody>
      </p:sp>
      <p:sp>
        <p:nvSpPr>
          <p:cNvPr id="17" name="Shape 15"/>
          <p:cNvSpPr/>
          <p:nvPr/>
        </p:nvSpPr>
        <p:spPr>
          <a:xfrm>
            <a:off x="548640" y="4572000"/>
            <a:ext cx="11091672" cy="1188720"/>
          </a:xfrm>
          <a:prstGeom prst="roundRect">
            <a:avLst>
              <a:gd name="adj" fmla="val 6154"/>
            </a:avLst>
          </a:prstGeom>
          <a:solidFill>
            <a:srgbClr val="1E1E24"/>
          </a:solidFill>
          <a:ln w="25400">
            <a:solidFill>
              <a:srgbClr val="D8A73D"/>
            </a:solidFill>
            <a:prstDash val="solid"/>
          </a:ln>
        </p:spPr>
      </p:sp>
      <p:sp>
        <p:nvSpPr>
          <p:cNvPr id="18" name="Text 16"/>
          <p:cNvSpPr txBox="1"/>
          <p:nvPr/>
        </p:nvSpPr>
        <p:spPr>
          <a:xfrm>
            <a:off x="914400" y="4572000"/>
            <a:ext cx="10332720" cy="1188720"/>
          </a:xfrm>
          <a:prstGeom prst="rect">
            <a:avLst/>
          </a:prstGeom>
          <a:noFill/>
          <a:ln/>
        </p:spPr>
        <p:txBody>
          <a:bodyPr wrap="square" lIns="0" tIns="0" rIns="0" bIns="0" rtlCol="0" anchor="ctr"/>
          <a:lstStyle/>
          <a:p>
            <a:pPr indent="0" marL="0">
              <a:buNone/>
            </a:pPr>
            <a:r>
              <a:rPr lang="en-US" sz="2400" b="1" dirty="0">
                <a:solidFill>
                  <a:srgbClr val="FF6B6B"/>
                </a:solidFill>
                <a:latin typeface="Consolas" pitchFamily="34" charset="0"/>
                <a:ea typeface="Consolas" pitchFamily="34" charset="-122"/>
                <a:cs typeface="Consolas" pitchFamily="34" charset="-120"/>
              </a:rPr>
              <a:t>Name</a:t>
            </a:r>
            <a:pPr indent="0" marL="0">
              <a:buNone/>
            </a:pPr>
            <a:r>
              <a:rPr lang="en-US" sz="2400" dirty="0">
                <a:solidFill>
                  <a:srgbClr val="F5F5F3"/>
                </a:solidFill>
                <a:latin typeface="Calibri" pitchFamily="34" charset="0"/>
                <a:ea typeface="Calibri" pitchFamily="34" charset="-122"/>
                <a:cs typeface="Calibri" pitchFamily="34" charset="-120"/>
              </a:rPr>
              <a:t>  and  </a:t>
            </a:r>
            <a:pPr indent="0" marL="0">
              <a:buNone/>
            </a:pPr>
            <a:r>
              <a:rPr lang="en-US" sz="2400" b="1" dirty="0">
                <a:solidFill>
                  <a:srgbClr val="7FD99A"/>
                </a:solidFill>
                <a:latin typeface="Consolas" pitchFamily="34" charset="0"/>
                <a:ea typeface="Consolas" pitchFamily="34" charset="-122"/>
                <a:cs typeface="Consolas" pitchFamily="34" charset="-120"/>
              </a:rPr>
              <a:t>name</a:t>
            </a:r>
            <a:pPr indent="0" marL="0">
              <a:buNone/>
            </a:pPr>
            <a:r>
              <a:rPr lang="en-US" sz="2400" dirty="0">
                <a:solidFill>
                  <a:srgbClr val="F5F5F3"/>
                </a:solidFill>
                <a:latin typeface="Calibri" pitchFamily="34" charset="0"/>
                <a:ea typeface="Calibri" pitchFamily="34" charset="-122"/>
                <a:cs typeface="Calibri" pitchFamily="34" charset="-120"/>
              </a:rPr>
              <a:t>  are two different names. Python only knows the one you stored.</a:t>
            </a:r>
            <a:endParaRPr lang="en-US" sz="2400" dirty="0"/>
          </a:p>
        </p:txBody>
      </p:sp>
      <p:pic>
        <p:nvPicPr>
          <p:cNvPr id="19" name="Image 0" descr="Feedback">    </p:cNvPr>
          <p:cNvPicPr>
            <a:picLocks noChangeAspect="1"/>
          </p:cNvPicPr>
          <p:nvPr/>
        </p:nvPicPr>
        <p:blipFill>
          <a:blip r:embed="rId1"/>
          <a:stretch>
            <a:fillRect/>
          </a:stretch>
        </p:blipFill>
        <p:spPr>
          <a:xfrm>
            <a:off x="10972800" y="384048"/>
            <a:ext cx="731520" cy="731520"/>
          </a:xfrm>
          <a:prstGeom prst="rect">
            <a:avLst/>
          </a:prstGeom>
        </p:spPr>
      </p:pic>
      <p:sp>
        <p:nvSpPr>
          <p:cNvPr id="21" name="Text 17"/>
          <p:cNvSpPr txBox="1"/>
          <p:nvPr/>
        </p:nvSpPr>
        <p:spPr>
          <a:xfrm>
            <a:off x="4206240" y="6355080"/>
            <a:ext cx="6812280" cy="320040"/>
          </a:xfrm>
          <a:prstGeom prst="rect">
            <a:avLst/>
          </a:prstGeom>
          <a:noFill/>
          <a:ln/>
        </p:spPr>
        <p:txBody>
          <a:bodyPr wrap="square" lIns="0" tIns="0" rIns="0" bIns="0" rtlCol="0" anchor="ctr"/>
          <a:lstStyle/>
          <a:p>
            <a:pPr algn="r" indent="0" marL="0">
              <a:buNone/>
            </a:pPr>
            <a:r>
              <a:rPr lang="en-US" sz="1300" b="1" i="1" dirty="0">
                <a:solidFill>
                  <a:srgbClr val="D8A73D"/>
                </a:solidFill>
                <a:latin typeface="Calibri" pitchFamily="34" charset="0"/>
                <a:ea typeface="Calibri" pitchFamily="34" charset="-122"/>
                <a:cs typeface="Calibri" pitchFamily="34" charset="-120"/>
              </a:rPr>
              <a:t>errorFeedbackSlide()  ·  Common error feedback</a:t>
            </a:r>
            <a:endParaRPr lang="en-US" sz="13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True or False?</a:t>
            </a:r>
            <a:endParaRPr lang="en-US" sz="3600" dirty="0"/>
          </a:p>
        </p:txBody>
      </p:sp>
      <p:sp>
        <p:nvSpPr>
          <p:cNvPr id="3" name="Shape 1"/>
          <p:cNvSpPr/>
          <p:nvPr/>
        </p:nvSpPr>
        <p:spPr>
          <a:xfrm>
            <a:off x="548640" y="1554480"/>
            <a:ext cx="3511296" cy="1325880"/>
          </a:xfrm>
          <a:prstGeom prst="roundRect">
            <a:avLst>
              <a:gd name="adj" fmla="val 5517"/>
            </a:avLst>
          </a:prstGeom>
          <a:solidFill>
            <a:srgbClr val="111115"/>
          </a:solidFill>
          <a:ln w="15875">
            <a:solidFill>
              <a:srgbClr val="3A3A44"/>
            </a:solidFill>
            <a:prstDash val="solid"/>
          </a:ln>
        </p:spPr>
      </p:sp>
      <p:sp>
        <p:nvSpPr>
          <p:cNvPr id="4" name="Shape 2"/>
          <p:cNvSpPr/>
          <p:nvPr/>
        </p:nvSpPr>
        <p:spPr>
          <a:xfrm>
            <a:off x="713232" y="1719072"/>
            <a:ext cx="384048" cy="384048"/>
          </a:xfrm>
          <a:prstGeom prst="ellipse">
            <a:avLst/>
          </a:prstGeom>
          <a:solidFill>
            <a:srgbClr val="D8A73D"/>
          </a:solidFill>
          <a:ln/>
        </p:spPr>
      </p:sp>
      <p:sp>
        <p:nvSpPr>
          <p:cNvPr id="5" name="Text 3"/>
          <p:cNvSpPr txBox="1"/>
          <p:nvPr/>
        </p:nvSpPr>
        <p:spPr>
          <a:xfrm>
            <a:off x="713232" y="1719072"/>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1</a:t>
            </a:r>
            <a:endParaRPr lang="en-US" sz="1600" dirty="0"/>
          </a:p>
        </p:txBody>
      </p:sp>
      <p:sp>
        <p:nvSpPr>
          <p:cNvPr id="6" name="Text 4"/>
          <p:cNvSpPr txBox="1"/>
          <p:nvPr/>
        </p:nvSpPr>
        <p:spPr>
          <a:xfrm>
            <a:off x="1188720" y="1554480"/>
            <a:ext cx="2688336" cy="1325880"/>
          </a:xfrm>
          <a:prstGeom prst="rect">
            <a:avLst/>
          </a:prstGeom>
          <a:noFill/>
          <a:ln/>
        </p:spPr>
        <p:txBody>
          <a:bodyPr wrap="square" lIns="0" tIns="0" rIns="0" bIns="0" rtlCol="0" anchor="ctr"/>
          <a:lstStyle/>
          <a:p>
            <a:pPr algn="ctr" indent="0" marL="0">
              <a:buNone/>
            </a:pPr>
            <a:r>
              <a:rPr lang="en-US" sz="3400" dirty="0">
                <a:solidFill>
                  <a:srgbClr val="56B4E9"/>
                </a:solidFill>
                <a:latin typeface="Consolas" pitchFamily="34" charset="0"/>
                <a:ea typeface="Consolas" pitchFamily="34" charset="-122"/>
                <a:cs typeface="Consolas" pitchFamily="34" charset="-120"/>
              </a:rPr>
              <a:t>8</a:t>
            </a:r>
            <a:pPr algn="ctr" indent="0" marL="0">
              <a:buNone/>
            </a:pPr>
            <a:r>
              <a:rPr lang="en-US" sz="3400" dirty="0">
                <a:solidFill>
                  <a:srgbClr val="F5F5F3"/>
                </a:solidFill>
                <a:latin typeface="Consolas" pitchFamily="34" charset="0"/>
                <a:ea typeface="Consolas" pitchFamily="34" charset="-122"/>
                <a:cs typeface="Consolas" pitchFamily="34" charset="-120"/>
              </a:rPr>
              <a:t> </a:t>
            </a:r>
            <a:pPr algn="ctr" indent="0" marL="0">
              <a:buNone/>
            </a:pPr>
            <a:r>
              <a:rPr lang="en-US" sz="3400" b="1" dirty="0">
                <a:solidFill>
                  <a:srgbClr val="F5F5F3"/>
                </a:solidFill>
                <a:latin typeface="Consolas" pitchFamily="34" charset="0"/>
                <a:ea typeface="Consolas" pitchFamily="34" charset="-122"/>
                <a:cs typeface="Consolas" pitchFamily="34" charset="-120"/>
              </a:rPr>
              <a:t>&gt;</a:t>
            </a:r>
            <a:pPr algn="ctr" indent="0" marL="0">
              <a:buNone/>
            </a:pPr>
            <a:r>
              <a:rPr lang="en-US" sz="3400" dirty="0">
                <a:solidFill>
                  <a:srgbClr val="F5F5F3"/>
                </a:solidFill>
                <a:latin typeface="Consolas" pitchFamily="34" charset="0"/>
                <a:ea typeface="Consolas" pitchFamily="34" charset="-122"/>
                <a:cs typeface="Consolas" pitchFamily="34" charset="-120"/>
              </a:rPr>
              <a:t> </a:t>
            </a:r>
            <a:pPr algn="ctr" indent="0" marL="0">
              <a:buNone/>
            </a:pPr>
            <a:r>
              <a:rPr lang="en-US" sz="3400" dirty="0">
                <a:solidFill>
                  <a:srgbClr val="56B4E9"/>
                </a:solidFill>
                <a:latin typeface="Consolas" pitchFamily="34" charset="0"/>
                <a:ea typeface="Consolas" pitchFamily="34" charset="-122"/>
                <a:cs typeface="Consolas" pitchFamily="34" charset="-120"/>
              </a:rPr>
              <a:t>3</a:t>
            </a:r>
            <a:endParaRPr lang="en-US" sz="3400" dirty="0"/>
          </a:p>
        </p:txBody>
      </p:sp>
      <p:sp>
        <p:nvSpPr>
          <p:cNvPr id="7" name="Shape 5"/>
          <p:cNvSpPr/>
          <p:nvPr/>
        </p:nvSpPr>
        <p:spPr>
          <a:xfrm>
            <a:off x="4334256" y="1554480"/>
            <a:ext cx="3511296" cy="1325880"/>
          </a:xfrm>
          <a:prstGeom prst="roundRect">
            <a:avLst>
              <a:gd name="adj" fmla="val 5517"/>
            </a:avLst>
          </a:prstGeom>
          <a:solidFill>
            <a:srgbClr val="111115"/>
          </a:solidFill>
          <a:ln w="15875">
            <a:solidFill>
              <a:srgbClr val="3A3A44"/>
            </a:solidFill>
            <a:prstDash val="solid"/>
          </a:ln>
        </p:spPr>
      </p:sp>
      <p:sp>
        <p:nvSpPr>
          <p:cNvPr id="8" name="Shape 6"/>
          <p:cNvSpPr/>
          <p:nvPr/>
        </p:nvSpPr>
        <p:spPr>
          <a:xfrm>
            <a:off x="4498848" y="1719072"/>
            <a:ext cx="384048" cy="384048"/>
          </a:xfrm>
          <a:prstGeom prst="ellipse">
            <a:avLst/>
          </a:prstGeom>
          <a:solidFill>
            <a:srgbClr val="D8A73D"/>
          </a:solidFill>
          <a:ln/>
        </p:spPr>
      </p:sp>
      <p:sp>
        <p:nvSpPr>
          <p:cNvPr id="9" name="Text 7"/>
          <p:cNvSpPr txBox="1"/>
          <p:nvPr/>
        </p:nvSpPr>
        <p:spPr>
          <a:xfrm>
            <a:off x="4498848" y="1719072"/>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2</a:t>
            </a:r>
            <a:endParaRPr lang="en-US" sz="1600" dirty="0"/>
          </a:p>
        </p:txBody>
      </p:sp>
      <p:sp>
        <p:nvSpPr>
          <p:cNvPr id="10" name="Text 8"/>
          <p:cNvSpPr txBox="1"/>
          <p:nvPr/>
        </p:nvSpPr>
        <p:spPr>
          <a:xfrm>
            <a:off x="4974336" y="1554480"/>
            <a:ext cx="2688336" cy="1325880"/>
          </a:xfrm>
          <a:prstGeom prst="rect">
            <a:avLst/>
          </a:prstGeom>
          <a:noFill/>
          <a:ln/>
        </p:spPr>
        <p:txBody>
          <a:bodyPr wrap="square" lIns="0" tIns="0" rIns="0" bIns="0" rtlCol="0" anchor="ctr"/>
          <a:lstStyle/>
          <a:p>
            <a:pPr algn="ctr" indent="0" marL="0">
              <a:buNone/>
            </a:pPr>
            <a:r>
              <a:rPr lang="en-US" sz="3400" dirty="0">
                <a:solidFill>
                  <a:srgbClr val="56B4E9"/>
                </a:solidFill>
                <a:latin typeface="Consolas" pitchFamily="34" charset="0"/>
                <a:ea typeface="Consolas" pitchFamily="34" charset="-122"/>
                <a:cs typeface="Consolas" pitchFamily="34" charset="-120"/>
              </a:rPr>
              <a:t>4</a:t>
            </a:r>
            <a:pPr algn="ctr" indent="0" marL="0">
              <a:buNone/>
            </a:pPr>
            <a:r>
              <a:rPr lang="en-US" sz="3400" dirty="0">
                <a:solidFill>
                  <a:srgbClr val="F5F5F3"/>
                </a:solidFill>
                <a:latin typeface="Consolas" pitchFamily="34" charset="0"/>
                <a:ea typeface="Consolas" pitchFamily="34" charset="-122"/>
                <a:cs typeface="Consolas" pitchFamily="34" charset="-120"/>
              </a:rPr>
              <a:t> </a:t>
            </a:r>
            <a:pPr algn="ctr" indent="0" marL="0">
              <a:buNone/>
            </a:pPr>
            <a:r>
              <a:rPr lang="en-US" sz="3400" b="1" dirty="0">
                <a:solidFill>
                  <a:srgbClr val="F5F5F3"/>
                </a:solidFill>
                <a:latin typeface="Consolas" pitchFamily="34" charset="0"/>
                <a:ea typeface="Consolas" pitchFamily="34" charset="-122"/>
                <a:cs typeface="Consolas" pitchFamily="34" charset="-120"/>
              </a:rPr>
              <a:t>&gt;=</a:t>
            </a:r>
            <a:pPr algn="ctr" indent="0" marL="0">
              <a:buNone/>
            </a:pPr>
            <a:r>
              <a:rPr lang="en-US" sz="3400" dirty="0">
                <a:solidFill>
                  <a:srgbClr val="F5F5F3"/>
                </a:solidFill>
                <a:latin typeface="Consolas" pitchFamily="34" charset="0"/>
                <a:ea typeface="Consolas" pitchFamily="34" charset="-122"/>
                <a:cs typeface="Consolas" pitchFamily="34" charset="-120"/>
              </a:rPr>
              <a:t> </a:t>
            </a:r>
            <a:pPr algn="ctr" indent="0" marL="0">
              <a:buNone/>
            </a:pPr>
            <a:r>
              <a:rPr lang="en-US" sz="3400" dirty="0">
                <a:solidFill>
                  <a:srgbClr val="56B4E9"/>
                </a:solidFill>
                <a:latin typeface="Consolas" pitchFamily="34" charset="0"/>
                <a:ea typeface="Consolas" pitchFamily="34" charset="-122"/>
                <a:cs typeface="Consolas" pitchFamily="34" charset="-120"/>
              </a:rPr>
              <a:t>4</a:t>
            </a:r>
            <a:endParaRPr lang="en-US" sz="3400" dirty="0"/>
          </a:p>
        </p:txBody>
      </p:sp>
      <p:sp>
        <p:nvSpPr>
          <p:cNvPr id="11" name="Shape 9"/>
          <p:cNvSpPr/>
          <p:nvPr/>
        </p:nvSpPr>
        <p:spPr>
          <a:xfrm>
            <a:off x="8119872" y="1554480"/>
            <a:ext cx="3511296" cy="1325880"/>
          </a:xfrm>
          <a:prstGeom prst="roundRect">
            <a:avLst>
              <a:gd name="adj" fmla="val 5517"/>
            </a:avLst>
          </a:prstGeom>
          <a:solidFill>
            <a:srgbClr val="111115"/>
          </a:solidFill>
          <a:ln w="15875">
            <a:solidFill>
              <a:srgbClr val="3A3A44"/>
            </a:solidFill>
            <a:prstDash val="solid"/>
          </a:ln>
        </p:spPr>
      </p:sp>
      <p:sp>
        <p:nvSpPr>
          <p:cNvPr id="12" name="Shape 10"/>
          <p:cNvSpPr/>
          <p:nvPr/>
        </p:nvSpPr>
        <p:spPr>
          <a:xfrm>
            <a:off x="8284464" y="1719072"/>
            <a:ext cx="384048" cy="384048"/>
          </a:xfrm>
          <a:prstGeom prst="ellipse">
            <a:avLst/>
          </a:prstGeom>
          <a:solidFill>
            <a:srgbClr val="D8A73D"/>
          </a:solidFill>
          <a:ln/>
        </p:spPr>
      </p:sp>
      <p:sp>
        <p:nvSpPr>
          <p:cNvPr id="13" name="Text 11"/>
          <p:cNvSpPr txBox="1"/>
          <p:nvPr/>
        </p:nvSpPr>
        <p:spPr>
          <a:xfrm>
            <a:off x="8284464" y="1719072"/>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3</a:t>
            </a:r>
            <a:endParaRPr lang="en-US" sz="1600" dirty="0"/>
          </a:p>
        </p:txBody>
      </p:sp>
      <p:sp>
        <p:nvSpPr>
          <p:cNvPr id="14" name="Text 12"/>
          <p:cNvSpPr txBox="1"/>
          <p:nvPr/>
        </p:nvSpPr>
        <p:spPr>
          <a:xfrm>
            <a:off x="8759952" y="1554480"/>
            <a:ext cx="2688336" cy="1325880"/>
          </a:xfrm>
          <a:prstGeom prst="rect">
            <a:avLst/>
          </a:prstGeom>
          <a:noFill/>
          <a:ln/>
        </p:spPr>
        <p:txBody>
          <a:bodyPr wrap="square" lIns="0" tIns="0" rIns="0" bIns="0" rtlCol="0" anchor="ctr"/>
          <a:lstStyle/>
          <a:p>
            <a:pPr algn="ctr" indent="0" marL="0">
              <a:buNone/>
            </a:pPr>
            <a:r>
              <a:rPr lang="en-US" sz="3400" dirty="0">
                <a:solidFill>
                  <a:srgbClr val="56B4E9"/>
                </a:solidFill>
                <a:latin typeface="Consolas" pitchFamily="34" charset="0"/>
                <a:ea typeface="Consolas" pitchFamily="34" charset="-122"/>
                <a:cs typeface="Consolas" pitchFamily="34" charset="-120"/>
              </a:rPr>
              <a:t>10</a:t>
            </a:r>
            <a:pPr algn="ctr" indent="0" marL="0">
              <a:buNone/>
            </a:pPr>
            <a:r>
              <a:rPr lang="en-US" sz="3400" dirty="0">
                <a:solidFill>
                  <a:srgbClr val="F5F5F3"/>
                </a:solidFill>
                <a:latin typeface="Consolas" pitchFamily="34" charset="0"/>
                <a:ea typeface="Consolas" pitchFamily="34" charset="-122"/>
                <a:cs typeface="Consolas" pitchFamily="34" charset="-120"/>
              </a:rPr>
              <a:t> </a:t>
            </a:r>
            <a:pPr algn="ctr" indent="0" marL="0">
              <a:buNone/>
            </a:pPr>
            <a:r>
              <a:rPr lang="en-US" sz="3400" b="1" dirty="0">
                <a:solidFill>
                  <a:srgbClr val="F5F5F3"/>
                </a:solidFill>
                <a:latin typeface="Consolas" pitchFamily="34" charset="0"/>
                <a:ea typeface="Consolas" pitchFamily="34" charset="-122"/>
                <a:cs typeface="Consolas" pitchFamily="34" charset="-120"/>
              </a:rPr>
              <a:t>&lt;</a:t>
            </a:r>
            <a:pPr algn="ctr" indent="0" marL="0">
              <a:buNone/>
            </a:pPr>
            <a:r>
              <a:rPr lang="en-US" sz="3400" dirty="0">
                <a:solidFill>
                  <a:srgbClr val="F5F5F3"/>
                </a:solidFill>
                <a:latin typeface="Consolas" pitchFamily="34" charset="0"/>
                <a:ea typeface="Consolas" pitchFamily="34" charset="-122"/>
                <a:cs typeface="Consolas" pitchFamily="34" charset="-120"/>
              </a:rPr>
              <a:t> </a:t>
            </a:r>
            <a:pPr algn="ctr" indent="0" marL="0">
              <a:buNone/>
            </a:pPr>
            <a:r>
              <a:rPr lang="en-US" sz="3400" dirty="0">
                <a:solidFill>
                  <a:srgbClr val="56B4E9"/>
                </a:solidFill>
                <a:latin typeface="Consolas" pitchFamily="34" charset="0"/>
                <a:ea typeface="Consolas" pitchFamily="34" charset="-122"/>
                <a:cs typeface="Consolas" pitchFamily="34" charset="-120"/>
              </a:rPr>
              <a:t>2</a:t>
            </a:r>
            <a:endParaRPr lang="en-US" sz="3400" dirty="0"/>
          </a:p>
        </p:txBody>
      </p:sp>
      <p:sp>
        <p:nvSpPr>
          <p:cNvPr id="15" name="Shape 13"/>
          <p:cNvSpPr/>
          <p:nvPr/>
        </p:nvSpPr>
        <p:spPr>
          <a:xfrm>
            <a:off x="548640" y="3108960"/>
            <a:ext cx="3511296" cy="1325880"/>
          </a:xfrm>
          <a:prstGeom prst="roundRect">
            <a:avLst>
              <a:gd name="adj" fmla="val 5517"/>
            </a:avLst>
          </a:prstGeom>
          <a:solidFill>
            <a:srgbClr val="111115"/>
          </a:solidFill>
          <a:ln w="15875">
            <a:solidFill>
              <a:srgbClr val="3A3A44"/>
            </a:solidFill>
            <a:prstDash val="solid"/>
          </a:ln>
        </p:spPr>
      </p:sp>
      <p:sp>
        <p:nvSpPr>
          <p:cNvPr id="16" name="Shape 14"/>
          <p:cNvSpPr/>
          <p:nvPr/>
        </p:nvSpPr>
        <p:spPr>
          <a:xfrm>
            <a:off x="713232" y="3273552"/>
            <a:ext cx="384048" cy="384048"/>
          </a:xfrm>
          <a:prstGeom prst="ellipse">
            <a:avLst/>
          </a:prstGeom>
          <a:solidFill>
            <a:srgbClr val="D8A73D"/>
          </a:solidFill>
          <a:ln/>
        </p:spPr>
      </p:sp>
      <p:sp>
        <p:nvSpPr>
          <p:cNvPr id="17" name="Text 15"/>
          <p:cNvSpPr txBox="1"/>
          <p:nvPr/>
        </p:nvSpPr>
        <p:spPr>
          <a:xfrm>
            <a:off x="713232" y="3273552"/>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4</a:t>
            </a:r>
            <a:endParaRPr lang="en-US" sz="1600" dirty="0"/>
          </a:p>
        </p:txBody>
      </p:sp>
      <p:sp>
        <p:nvSpPr>
          <p:cNvPr id="18" name="Text 16"/>
          <p:cNvSpPr txBox="1"/>
          <p:nvPr/>
        </p:nvSpPr>
        <p:spPr>
          <a:xfrm>
            <a:off x="1188720" y="3108960"/>
            <a:ext cx="2688336" cy="1325880"/>
          </a:xfrm>
          <a:prstGeom prst="rect">
            <a:avLst/>
          </a:prstGeom>
          <a:noFill/>
          <a:ln/>
        </p:spPr>
        <p:txBody>
          <a:bodyPr wrap="square" lIns="0" tIns="0" rIns="0" bIns="0" rtlCol="0" anchor="ctr"/>
          <a:lstStyle/>
          <a:p>
            <a:pPr algn="ctr" indent="0" marL="0">
              <a:buNone/>
            </a:pPr>
            <a:r>
              <a:rPr lang="en-US" sz="3400" dirty="0">
                <a:solidFill>
                  <a:srgbClr val="56B4E9"/>
                </a:solidFill>
                <a:latin typeface="Consolas" pitchFamily="34" charset="0"/>
                <a:ea typeface="Consolas" pitchFamily="34" charset="-122"/>
                <a:cs typeface="Consolas" pitchFamily="34" charset="-120"/>
              </a:rPr>
              <a:t>7</a:t>
            </a:r>
            <a:pPr algn="ctr" indent="0" marL="0">
              <a:buNone/>
            </a:pPr>
            <a:r>
              <a:rPr lang="en-US" sz="3400" dirty="0">
                <a:solidFill>
                  <a:srgbClr val="F5F5F3"/>
                </a:solidFill>
                <a:latin typeface="Consolas" pitchFamily="34" charset="0"/>
                <a:ea typeface="Consolas" pitchFamily="34" charset="-122"/>
                <a:cs typeface="Consolas" pitchFamily="34" charset="-120"/>
              </a:rPr>
              <a:t> </a:t>
            </a:r>
            <a:pPr algn="ctr" indent="0" marL="0">
              <a:buNone/>
            </a:pPr>
            <a:r>
              <a:rPr lang="en-US" sz="3400" b="1" dirty="0">
                <a:solidFill>
                  <a:srgbClr val="F5F5F3"/>
                </a:solidFill>
                <a:latin typeface="Consolas" pitchFamily="34" charset="0"/>
                <a:ea typeface="Consolas" pitchFamily="34" charset="-122"/>
                <a:cs typeface="Consolas" pitchFamily="34" charset="-120"/>
              </a:rPr>
              <a:t>==</a:t>
            </a:r>
            <a:pPr algn="ctr" indent="0" marL="0">
              <a:buNone/>
            </a:pPr>
            <a:r>
              <a:rPr lang="en-US" sz="3400" dirty="0">
                <a:solidFill>
                  <a:srgbClr val="F5F5F3"/>
                </a:solidFill>
                <a:latin typeface="Consolas" pitchFamily="34" charset="0"/>
                <a:ea typeface="Consolas" pitchFamily="34" charset="-122"/>
                <a:cs typeface="Consolas" pitchFamily="34" charset="-120"/>
              </a:rPr>
              <a:t> </a:t>
            </a:r>
            <a:pPr algn="ctr" indent="0" marL="0">
              <a:buNone/>
            </a:pPr>
            <a:r>
              <a:rPr lang="en-US" sz="3400" dirty="0">
                <a:solidFill>
                  <a:srgbClr val="56B4E9"/>
                </a:solidFill>
                <a:latin typeface="Consolas" pitchFamily="34" charset="0"/>
                <a:ea typeface="Consolas" pitchFamily="34" charset="-122"/>
                <a:cs typeface="Consolas" pitchFamily="34" charset="-120"/>
              </a:rPr>
              <a:t>7</a:t>
            </a:r>
            <a:endParaRPr lang="en-US" sz="3400" dirty="0"/>
          </a:p>
        </p:txBody>
      </p:sp>
      <p:sp>
        <p:nvSpPr>
          <p:cNvPr id="19" name="Shape 17"/>
          <p:cNvSpPr/>
          <p:nvPr/>
        </p:nvSpPr>
        <p:spPr>
          <a:xfrm>
            <a:off x="4334256" y="3108960"/>
            <a:ext cx="3511296" cy="1325880"/>
          </a:xfrm>
          <a:prstGeom prst="roundRect">
            <a:avLst>
              <a:gd name="adj" fmla="val 5517"/>
            </a:avLst>
          </a:prstGeom>
          <a:solidFill>
            <a:srgbClr val="111115"/>
          </a:solidFill>
          <a:ln w="15875">
            <a:solidFill>
              <a:srgbClr val="3A3A44"/>
            </a:solidFill>
            <a:prstDash val="solid"/>
          </a:ln>
        </p:spPr>
      </p:sp>
      <p:sp>
        <p:nvSpPr>
          <p:cNvPr id="20" name="Shape 18"/>
          <p:cNvSpPr/>
          <p:nvPr/>
        </p:nvSpPr>
        <p:spPr>
          <a:xfrm>
            <a:off x="4498848" y="3273552"/>
            <a:ext cx="384048" cy="384048"/>
          </a:xfrm>
          <a:prstGeom prst="ellipse">
            <a:avLst/>
          </a:prstGeom>
          <a:solidFill>
            <a:srgbClr val="D8A73D"/>
          </a:solidFill>
          <a:ln/>
        </p:spPr>
      </p:sp>
      <p:sp>
        <p:nvSpPr>
          <p:cNvPr id="21" name="Text 19"/>
          <p:cNvSpPr txBox="1"/>
          <p:nvPr/>
        </p:nvSpPr>
        <p:spPr>
          <a:xfrm>
            <a:off x="4498848" y="3273552"/>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5</a:t>
            </a:r>
            <a:endParaRPr lang="en-US" sz="1600" dirty="0"/>
          </a:p>
        </p:txBody>
      </p:sp>
      <p:sp>
        <p:nvSpPr>
          <p:cNvPr id="22" name="Text 20"/>
          <p:cNvSpPr txBox="1"/>
          <p:nvPr/>
        </p:nvSpPr>
        <p:spPr>
          <a:xfrm>
            <a:off x="4974336" y="3108960"/>
            <a:ext cx="2688336" cy="1325880"/>
          </a:xfrm>
          <a:prstGeom prst="rect">
            <a:avLst/>
          </a:prstGeom>
          <a:noFill/>
          <a:ln/>
        </p:spPr>
        <p:txBody>
          <a:bodyPr wrap="square" lIns="0" tIns="0" rIns="0" bIns="0" rtlCol="0" anchor="ctr"/>
          <a:lstStyle/>
          <a:p>
            <a:pPr algn="ctr" indent="0" marL="0">
              <a:buNone/>
            </a:pPr>
            <a:r>
              <a:rPr lang="en-US" sz="3400" dirty="0">
                <a:solidFill>
                  <a:srgbClr val="56B4E9"/>
                </a:solidFill>
                <a:latin typeface="Consolas" pitchFamily="34" charset="0"/>
                <a:ea typeface="Consolas" pitchFamily="34" charset="-122"/>
                <a:cs typeface="Consolas" pitchFamily="34" charset="-120"/>
              </a:rPr>
              <a:t>5</a:t>
            </a:r>
            <a:pPr algn="ctr" indent="0" marL="0">
              <a:buNone/>
            </a:pPr>
            <a:r>
              <a:rPr lang="en-US" sz="3400" dirty="0">
                <a:solidFill>
                  <a:srgbClr val="F5F5F3"/>
                </a:solidFill>
                <a:latin typeface="Consolas" pitchFamily="34" charset="0"/>
                <a:ea typeface="Consolas" pitchFamily="34" charset="-122"/>
                <a:cs typeface="Consolas" pitchFamily="34" charset="-120"/>
              </a:rPr>
              <a:t> </a:t>
            </a:r>
            <a:pPr algn="ctr" indent="0" marL="0">
              <a:buNone/>
            </a:pPr>
            <a:r>
              <a:rPr lang="en-US" sz="3400" b="1" dirty="0">
                <a:solidFill>
                  <a:srgbClr val="F5F5F3"/>
                </a:solidFill>
                <a:latin typeface="Consolas" pitchFamily="34" charset="0"/>
                <a:ea typeface="Consolas" pitchFamily="34" charset="-122"/>
                <a:cs typeface="Consolas" pitchFamily="34" charset="-120"/>
              </a:rPr>
              <a:t>&gt;</a:t>
            </a:r>
            <a:pPr algn="ctr" indent="0" marL="0">
              <a:buNone/>
            </a:pPr>
            <a:r>
              <a:rPr lang="en-US" sz="3400" dirty="0">
                <a:solidFill>
                  <a:srgbClr val="F5F5F3"/>
                </a:solidFill>
                <a:latin typeface="Consolas" pitchFamily="34" charset="0"/>
                <a:ea typeface="Consolas" pitchFamily="34" charset="-122"/>
                <a:cs typeface="Consolas" pitchFamily="34" charset="-120"/>
              </a:rPr>
              <a:t> </a:t>
            </a:r>
            <a:pPr algn="ctr" indent="0" marL="0">
              <a:buNone/>
            </a:pPr>
            <a:r>
              <a:rPr lang="en-US" sz="3400" dirty="0">
                <a:solidFill>
                  <a:srgbClr val="56B4E9"/>
                </a:solidFill>
                <a:latin typeface="Consolas" pitchFamily="34" charset="0"/>
                <a:ea typeface="Consolas" pitchFamily="34" charset="-122"/>
                <a:cs typeface="Consolas" pitchFamily="34" charset="-120"/>
              </a:rPr>
              <a:t>5</a:t>
            </a:r>
            <a:endParaRPr lang="en-US" sz="3400" dirty="0"/>
          </a:p>
        </p:txBody>
      </p:sp>
      <p:sp>
        <p:nvSpPr>
          <p:cNvPr id="23" name="Shape 21"/>
          <p:cNvSpPr/>
          <p:nvPr/>
        </p:nvSpPr>
        <p:spPr>
          <a:xfrm>
            <a:off x="8119872" y="3108960"/>
            <a:ext cx="3511296" cy="1325880"/>
          </a:xfrm>
          <a:prstGeom prst="roundRect">
            <a:avLst>
              <a:gd name="adj" fmla="val 5517"/>
            </a:avLst>
          </a:prstGeom>
          <a:solidFill>
            <a:srgbClr val="111115"/>
          </a:solidFill>
          <a:ln w="15875">
            <a:solidFill>
              <a:srgbClr val="3A3A44"/>
            </a:solidFill>
            <a:prstDash val="solid"/>
          </a:ln>
        </p:spPr>
      </p:sp>
      <p:sp>
        <p:nvSpPr>
          <p:cNvPr id="24" name="Shape 22"/>
          <p:cNvSpPr/>
          <p:nvPr/>
        </p:nvSpPr>
        <p:spPr>
          <a:xfrm>
            <a:off x="8284464" y="3273552"/>
            <a:ext cx="384048" cy="384048"/>
          </a:xfrm>
          <a:prstGeom prst="ellipse">
            <a:avLst/>
          </a:prstGeom>
          <a:solidFill>
            <a:srgbClr val="D8A73D"/>
          </a:solidFill>
          <a:ln/>
        </p:spPr>
      </p:sp>
      <p:sp>
        <p:nvSpPr>
          <p:cNvPr id="25" name="Text 23"/>
          <p:cNvSpPr txBox="1"/>
          <p:nvPr/>
        </p:nvSpPr>
        <p:spPr>
          <a:xfrm>
            <a:off x="8284464" y="3273552"/>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6</a:t>
            </a:r>
            <a:endParaRPr lang="en-US" sz="1600" dirty="0"/>
          </a:p>
        </p:txBody>
      </p:sp>
      <p:sp>
        <p:nvSpPr>
          <p:cNvPr id="26" name="Text 24"/>
          <p:cNvSpPr txBox="1"/>
          <p:nvPr/>
        </p:nvSpPr>
        <p:spPr>
          <a:xfrm>
            <a:off x="8759952" y="3108960"/>
            <a:ext cx="2688336" cy="1325880"/>
          </a:xfrm>
          <a:prstGeom prst="rect">
            <a:avLst/>
          </a:prstGeom>
          <a:noFill/>
          <a:ln/>
        </p:spPr>
        <p:txBody>
          <a:bodyPr wrap="square" lIns="0" tIns="0" rIns="0" bIns="0" rtlCol="0" anchor="ctr"/>
          <a:lstStyle/>
          <a:p>
            <a:pPr algn="ctr" indent="0" marL="0">
              <a:buNone/>
            </a:pPr>
            <a:r>
              <a:rPr lang="en-US" sz="3400" dirty="0">
                <a:solidFill>
                  <a:srgbClr val="56B4E9"/>
                </a:solidFill>
                <a:latin typeface="Consolas" pitchFamily="34" charset="0"/>
                <a:ea typeface="Consolas" pitchFamily="34" charset="-122"/>
                <a:cs typeface="Consolas" pitchFamily="34" charset="-120"/>
              </a:rPr>
              <a:t>9</a:t>
            </a:r>
            <a:pPr algn="ctr" indent="0" marL="0">
              <a:buNone/>
            </a:pPr>
            <a:r>
              <a:rPr lang="en-US" sz="3400" dirty="0">
                <a:solidFill>
                  <a:srgbClr val="F5F5F3"/>
                </a:solidFill>
                <a:latin typeface="Consolas" pitchFamily="34" charset="0"/>
                <a:ea typeface="Consolas" pitchFamily="34" charset="-122"/>
                <a:cs typeface="Consolas" pitchFamily="34" charset="-120"/>
              </a:rPr>
              <a:t> </a:t>
            </a:r>
            <a:pPr algn="ctr" indent="0" marL="0">
              <a:buNone/>
            </a:pPr>
            <a:r>
              <a:rPr lang="en-US" sz="3400" b="1" dirty="0">
                <a:solidFill>
                  <a:srgbClr val="F5F5F3"/>
                </a:solidFill>
                <a:latin typeface="Consolas" pitchFamily="34" charset="0"/>
                <a:ea typeface="Consolas" pitchFamily="34" charset="-122"/>
                <a:cs typeface="Consolas" pitchFamily="34" charset="-120"/>
              </a:rPr>
              <a:t>&lt;=</a:t>
            </a:r>
            <a:pPr algn="ctr" indent="0" marL="0">
              <a:buNone/>
            </a:pPr>
            <a:r>
              <a:rPr lang="en-US" sz="3400" dirty="0">
                <a:solidFill>
                  <a:srgbClr val="F5F5F3"/>
                </a:solidFill>
                <a:latin typeface="Consolas" pitchFamily="34" charset="0"/>
                <a:ea typeface="Consolas" pitchFamily="34" charset="-122"/>
                <a:cs typeface="Consolas" pitchFamily="34" charset="-120"/>
              </a:rPr>
              <a:t> </a:t>
            </a:r>
            <a:pPr algn="ctr" indent="0" marL="0">
              <a:buNone/>
            </a:pPr>
            <a:r>
              <a:rPr lang="en-US" sz="3400" dirty="0">
                <a:solidFill>
                  <a:srgbClr val="56B4E9"/>
                </a:solidFill>
                <a:latin typeface="Consolas" pitchFamily="34" charset="0"/>
                <a:ea typeface="Consolas" pitchFamily="34" charset="-122"/>
                <a:cs typeface="Consolas" pitchFamily="34" charset="-120"/>
              </a:rPr>
              <a:t>6</a:t>
            </a:r>
            <a:endParaRPr lang="en-US" sz="3400" dirty="0"/>
          </a:p>
        </p:txBody>
      </p:sp>
      <p:sp>
        <p:nvSpPr>
          <p:cNvPr id="27" name="Shape 25"/>
          <p:cNvSpPr/>
          <p:nvPr/>
        </p:nvSpPr>
        <p:spPr>
          <a:xfrm>
            <a:off x="548640" y="4800600"/>
            <a:ext cx="11091672" cy="1097280"/>
          </a:xfrm>
          <a:prstGeom prst="roundRect">
            <a:avLst>
              <a:gd name="adj" fmla="val 6667"/>
            </a:avLst>
          </a:prstGeom>
          <a:solidFill>
            <a:srgbClr val="1E1E24"/>
          </a:solidFill>
          <a:ln w="25400">
            <a:solidFill>
              <a:srgbClr val="D8A73D"/>
            </a:solidFill>
            <a:prstDash val="solid"/>
          </a:ln>
        </p:spPr>
      </p:sp>
      <p:sp>
        <p:nvSpPr>
          <p:cNvPr id="28" name="Text 26"/>
          <p:cNvSpPr txBox="1"/>
          <p:nvPr/>
        </p:nvSpPr>
        <p:spPr>
          <a:xfrm>
            <a:off x="914400" y="4800600"/>
            <a:ext cx="10332720" cy="1097280"/>
          </a:xfrm>
          <a:prstGeom prst="rect">
            <a:avLst/>
          </a:prstGeom>
          <a:noFill/>
          <a:ln/>
        </p:spPr>
        <p:txBody>
          <a:bodyPr wrap="square" lIns="0" tIns="0" rIns="0" bIns="0" rtlCol="0" anchor="ctr"/>
          <a:lstStyle/>
          <a:p>
            <a:pPr indent="0" marL="0">
              <a:buNone/>
            </a:pPr>
            <a:r>
              <a:rPr lang="en-US" sz="2400" b="1" dirty="0">
                <a:solidFill>
                  <a:srgbClr val="D8A73D"/>
                </a:solidFill>
                <a:latin typeface="Calibri" pitchFamily="34" charset="0"/>
                <a:ea typeface="Calibri" pitchFamily="34" charset="-122"/>
                <a:cs typeface="Calibri" pitchFamily="34" charset="-120"/>
              </a:rPr>
              <a:t>On your board: </a:t>
            </a:r>
            <a:pPr indent="0" marL="0">
              <a:buNone/>
            </a:pPr>
            <a:r>
              <a:rPr lang="en-US" sz="2400" dirty="0">
                <a:solidFill>
                  <a:srgbClr val="F5F5F3"/>
                </a:solidFill>
                <a:latin typeface="Calibri" pitchFamily="34" charset="0"/>
                <a:ea typeface="Calibri" pitchFamily="34" charset="-122"/>
                <a:cs typeface="Calibri" pitchFamily="34" charset="-120"/>
              </a:rPr>
              <a:t>write T or F for all six. Boards up together.</a:t>
            </a:r>
            <a:endParaRPr lang="en-US" sz="2400" dirty="0"/>
          </a:p>
        </p:txBody>
      </p:sp>
      <p:sp>
        <p:nvSpPr>
          <p:cNvPr id="29" name="Shape 27"/>
          <p:cNvSpPr/>
          <p:nvPr/>
        </p:nvSpPr>
        <p:spPr>
          <a:xfrm>
            <a:off x="9464040" y="566928"/>
            <a:ext cx="1280160" cy="329184"/>
          </a:xfrm>
          <a:prstGeom prst="roundRect">
            <a:avLst>
              <a:gd name="adj" fmla="val 50000"/>
            </a:avLst>
          </a:prstGeom>
          <a:solidFill>
            <a:srgbClr val="1E1E24"/>
          </a:solidFill>
          <a:ln w="15875">
            <a:solidFill>
              <a:srgbClr val="D8A73D"/>
            </a:solidFill>
            <a:prstDash val="solid"/>
          </a:ln>
        </p:spPr>
      </p:sp>
      <p:sp>
        <p:nvSpPr>
          <p:cNvPr id="30" name="Text 28"/>
          <p:cNvSpPr txBox="1"/>
          <p:nvPr/>
        </p:nvSpPr>
        <p:spPr>
          <a:xfrm>
            <a:off x="9464040" y="566928"/>
            <a:ext cx="1280160" cy="329184"/>
          </a:xfrm>
          <a:prstGeom prst="rect">
            <a:avLst/>
          </a:prstGeom>
          <a:noFill/>
          <a:ln/>
        </p:spPr>
        <p:txBody>
          <a:bodyPr wrap="square" lIns="0" tIns="0" rIns="0" bIns="0" rtlCol="0" anchor="ctr"/>
          <a:lstStyle/>
          <a:p>
            <a:pPr algn="ctr" indent="0" marL="0">
              <a:buNone/>
            </a:pPr>
            <a:r>
              <a:rPr lang="en-US" sz="1400" b="1" spc="100" kern="0" dirty="0">
                <a:solidFill>
                  <a:srgbClr val="D8A73D"/>
                </a:solidFill>
                <a:latin typeface="Calibri" pitchFamily="34" charset="0"/>
                <a:ea typeface="Calibri" pitchFamily="34" charset="-122"/>
                <a:cs typeface="Calibri" pitchFamily="34" charset="-120"/>
              </a:rPr>
              <a:t>⏱  2 MIN</a:t>
            </a:r>
            <a:endParaRPr lang="en-US" sz="1400" dirty="0"/>
          </a:p>
        </p:txBody>
      </p:sp>
      <p:pic>
        <p:nvPicPr>
          <p:cNvPr id="31" name="Image 0" descr="Deliberate practice">    </p:cNvPr>
          <p:cNvPicPr>
            <a:picLocks noChangeAspect="1"/>
          </p:cNvPicPr>
          <p:nvPr/>
        </p:nvPicPr>
        <p:blipFill>
          <a:blip r:embed="rId1"/>
          <a:stretch>
            <a:fillRect/>
          </a:stretch>
        </p:blipFill>
        <p:spPr>
          <a:xfrm>
            <a:off x="10972800" y="384048"/>
            <a:ext cx="731520" cy="731520"/>
          </a:xfrm>
          <a:prstGeom prst="rect">
            <a:avLst/>
          </a:prstGeom>
        </p:spPr>
      </p:pic>
      <p:sp>
        <p:nvSpPr>
          <p:cNvPr id="33" name="Text 29"/>
          <p:cNvSpPr txBox="1"/>
          <p:nvPr/>
        </p:nvSpPr>
        <p:spPr>
          <a:xfrm>
            <a:off x="4206240" y="6355080"/>
            <a:ext cx="6812280" cy="320040"/>
          </a:xfrm>
          <a:prstGeom prst="rect">
            <a:avLst/>
          </a:prstGeom>
          <a:noFill/>
          <a:ln/>
        </p:spPr>
        <p:txBody>
          <a:bodyPr wrap="square" lIns="0" tIns="0" rIns="0" bIns="0" rtlCol="0" anchor="ctr"/>
          <a:lstStyle/>
          <a:p>
            <a:pPr algn="r" indent="0" marL="0">
              <a:buNone/>
            </a:pPr>
            <a:r>
              <a:rPr lang="en-US" sz="1300" b="1" i="1" dirty="0">
                <a:solidFill>
                  <a:srgbClr val="D8A73D"/>
                </a:solidFill>
                <a:latin typeface="Calibri" pitchFamily="34" charset="0"/>
                <a:ea typeface="Calibri" pitchFamily="34" charset="-122"/>
                <a:cs typeface="Calibri" pitchFamily="34" charset="-120"/>
              </a:rPr>
              <a:t>trueFalseSlide()  ·  True or False? grid</a:t>
            </a:r>
            <a:endParaRPr lang="en-US" sz="1300" dirty="0"/>
          </a:p>
        </p:txBody>
      </p:sp>
      <p:sp>
        <p:nvSpPr>
          <p:cNvPr id="34"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What is printed?</a:t>
            </a:r>
            <a:endParaRPr lang="en-US" sz="3600" dirty="0"/>
          </a:p>
        </p:txBody>
      </p:sp>
      <p:sp>
        <p:nvSpPr>
          <p:cNvPr id="3" name="code"/>
          <p:cNvSpPr/>
          <p:nvPr/>
        </p:nvSpPr>
        <p:spPr>
          <a:xfrm>
            <a:off x="548640" y="1554480"/>
            <a:ext cx="4846320" cy="3803904"/>
          </a:xfrm>
          <a:prstGeom prst="roundRect">
            <a:avLst>
              <a:gd name="adj" fmla="val 1923"/>
            </a:avLst>
          </a:prstGeom>
          <a:solidFill>
            <a:srgbClr val="111115"/>
          </a:solidFill>
          <a:ln w="15875">
            <a:solidFill>
              <a:srgbClr val="3A3A44"/>
            </a:solidFill>
            <a:prstDash val="solid"/>
          </a:ln>
        </p:spPr>
      </p:sp>
      <p:sp>
        <p:nvSpPr>
          <p:cNvPr id="4" name="Text 2"/>
          <p:cNvSpPr txBox="1"/>
          <p:nvPr/>
        </p:nvSpPr>
        <p:spPr>
          <a:xfrm>
            <a:off x="658368" y="1755648"/>
            <a:ext cx="274320" cy="566928"/>
          </a:xfrm>
          <a:prstGeom prst="rect">
            <a:avLst/>
          </a:prstGeom>
          <a:noFill/>
          <a:ln/>
        </p:spPr>
        <p:txBody>
          <a:bodyPr wrap="square" lIns="0" tIns="0" rIns="0" bIns="0" rtlCol="0" anchor="ctr"/>
          <a:lstStyle/>
          <a:p>
            <a:pPr algn="r" indent="0" marL="0">
              <a:buNone/>
            </a:pPr>
            <a:r>
              <a:rPr lang="en-US" sz="2000" dirty="0">
                <a:solidFill>
                  <a:srgbClr val="6E6E7A"/>
                </a:solidFill>
                <a:latin typeface="Consolas" pitchFamily="34" charset="0"/>
                <a:ea typeface="Consolas" pitchFamily="34" charset="-122"/>
                <a:cs typeface="Consolas" pitchFamily="34" charset="-120"/>
              </a:rPr>
              <a:t>1</a:t>
            </a:r>
            <a:endParaRPr lang="en-US" sz="2000" dirty="0"/>
          </a:p>
        </p:txBody>
      </p:sp>
      <p:sp>
        <p:nvSpPr>
          <p:cNvPr id="5" name="Text 3"/>
          <p:cNvSpPr txBox="1"/>
          <p:nvPr/>
        </p:nvSpPr>
        <p:spPr>
          <a:xfrm>
            <a:off x="1188720" y="1755648"/>
            <a:ext cx="4114800" cy="566928"/>
          </a:xfrm>
          <a:prstGeom prst="rect">
            <a:avLst/>
          </a:prstGeom>
          <a:noFill/>
          <a:ln/>
        </p:spPr>
        <p:txBody>
          <a:bodyPr wrap="square" lIns="0" tIns="0" rIns="0" bIns="0" rtlCol="0" anchor="ctr"/>
          <a:lstStyle/>
          <a:p>
            <a:pPr indent="0" marL="0">
              <a:buNone/>
            </a:pPr>
            <a:r>
              <a:rPr lang="en-US" sz="2400" dirty="0">
                <a:solidFill>
                  <a:srgbClr val="F5F5F3"/>
                </a:solidFill>
                <a:latin typeface="Consolas" pitchFamily="34" charset="0"/>
                <a:ea typeface="Consolas" pitchFamily="34" charset="-122"/>
                <a:cs typeface="Consolas" pitchFamily="34" charset="-120"/>
              </a:rPr>
              <a:t>distance</a:t>
            </a:r>
            <a:pPr indent="0" marL="0">
              <a:buNone/>
            </a:pPr>
            <a:r>
              <a:rPr lang="en-US" sz="2400" dirty="0">
                <a:solidFill>
                  <a:srgbClr val="F5F5F3"/>
                </a:solidFill>
                <a:latin typeface="Consolas" pitchFamily="34" charset="0"/>
                <a:ea typeface="Consolas" pitchFamily="34" charset="-122"/>
                <a:cs typeface="Consolas" pitchFamily="34" charset="-120"/>
              </a:rPr>
              <a:t> </a:t>
            </a:r>
            <a:pPr indent="0" marL="0">
              <a:buNone/>
            </a:pPr>
            <a:r>
              <a:rPr lang="en-US" sz="2400" dirty="0">
                <a:solidFill>
                  <a:srgbClr val="A9A9B4"/>
                </a:solidFill>
                <a:latin typeface="Consolas" pitchFamily="34" charset="0"/>
                <a:ea typeface="Consolas" pitchFamily="34" charset="-122"/>
                <a:cs typeface="Consolas" pitchFamily="34" charset="-120"/>
              </a:rPr>
              <a:t>=</a:t>
            </a:r>
            <a:pPr indent="0" marL="0">
              <a:buNone/>
            </a:pPr>
            <a:r>
              <a:rPr lang="en-US" sz="2400" dirty="0">
                <a:solidFill>
                  <a:srgbClr val="F5F5F3"/>
                </a:solidFill>
                <a:latin typeface="Consolas" pitchFamily="34" charset="0"/>
                <a:ea typeface="Consolas" pitchFamily="34" charset="-122"/>
                <a:cs typeface="Consolas" pitchFamily="34" charset="-120"/>
              </a:rPr>
              <a:t> </a:t>
            </a:r>
            <a:pPr indent="0" marL="0">
              <a:buNone/>
            </a:pPr>
            <a:r>
              <a:rPr lang="en-US" sz="2400" dirty="0">
                <a:solidFill>
                  <a:srgbClr val="56B4E9"/>
                </a:solidFill>
                <a:latin typeface="Consolas" pitchFamily="34" charset="0"/>
                <a:ea typeface="Consolas" pitchFamily="34" charset="-122"/>
                <a:cs typeface="Consolas" pitchFamily="34" charset="-120"/>
              </a:rPr>
              <a:t>30</a:t>
            </a:r>
            <a:endParaRPr lang="en-US" sz="2400" dirty="0"/>
          </a:p>
        </p:txBody>
      </p:sp>
      <p:sp>
        <p:nvSpPr>
          <p:cNvPr id="6" name="Text 4"/>
          <p:cNvSpPr txBox="1"/>
          <p:nvPr/>
        </p:nvSpPr>
        <p:spPr>
          <a:xfrm>
            <a:off x="658368" y="2322576"/>
            <a:ext cx="274320" cy="566928"/>
          </a:xfrm>
          <a:prstGeom prst="rect">
            <a:avLst/>
          </a:prstGeom>
          <a:noFill/>
          <a:ln/>
        </p:spPr>
        <p:txBody>
          <a:bodyPr wrap="square" lIns="0" tIns="0" rIns="0" bIns="0" rtlCol="0" anchor="ctr"/>
          <a:lstStyle/>
          <a:p>
            <a:pPr algn="r" indent="0" marL="0">
              <a:buNone/>
            </a:pPr>
            <a:r>
              <a:rPr lang="en-US" sz="2000" dirty="0">
                <a:solidFill>
                  <a:srgbClr val="6E6E7A"/>
                </a:solidFill>
                <a:latin typeface="Consolas" pitchFamily="34" charset="0"/>
                <a:ea typeface="Consolas" pitchFamily="34" charset="-122"/>
                <a:cs typeface="Consolas" pitchFamily="34" charset="-120"/>
              </a:rPr>
              <a:t>2</a:t>
            </a:r>
            <a:endParaRPr lang="en-US" sz="2000" dirty="0"/>
          </a:p>
        </p:txBody>
      </p:sp>
      <p:sp>
        <p:nvSpPr>
          <p:cNvPr id="7" name="Text 5"/>
          <p:cNvSpPr txBox="1"/>
          <p:nvPr/>
        </p:nvSpPr>
        <p:spPr>
          <a:xfrm>
            <a:off x="1188720" y="2322576"/>
            <a:ext cx="4114800" cy="566928"/>
          </a:xfrm>
          <a:prstGeom prst="rect">
            <a:avLst/>
          </a:prstGeom>
          <a:noFill/>
          <a:ln/>
        </p:spPr>
        <p:txBody>
          <a:bodyPr wrap="square" lIns="0" tIns="0" rIns="0" bIns="0" rtlCol="0" anchor="ctr"/>
          <a:lstStyle/>
          <a:p>
            <a:pPr indent="0" marL="0">
              <a:buNone/>
            </a:pPr>
            <a:r>
              <a:rPr lang="en-US" sz="2400" b="1" dirty="0">
                <a:solidFill>
                  <a:srgbClr val="F5F5F3"/>
                </a:solidFill>
                <a:latin typeface="Consolas" pitchFamily="34" charset="0"/>
                <a:ea typeface="Consolas" pitchFamily="34" charset="-122"/>
                <a:cs typeface="Consolas" pitchFamily="34" charset="-120"/>
              </a:rPr>
              <a:t>if</a:t>
            </a:r>
            <a:pPr indent="0" marL="0">
              <a:buNone/>
            </a:pPr>
            <a:r>
              <a:rPr lang="en-US" sz="2400" dirty="0">
                <a:solidFill>
                  <a:srgbClr val="F5F5F3"/>
                </a:solidFill>
                <a:latin typeface="Consolas" pitchFamily="34" charset="0"/>
                <a:ea typeface="Consolas" pitchFamily="34" charset="-122"/>
                <a:cs typeface="Consolas" pitchFamily="34" charset="-120"/>
              </a:rPr>
              <a:t> </a:t>
            </a:r>
            <a:pPr indent="0" marL="0">
              <a:buNone/>
            </a:pPr>
            <a:r>
              <a:rPr lang="en-US" sz="2400" dirty="0">
                <a:solidFill>
                  <a:srgbClr val="F5F5F3"/>
                </a:solidFill>
                <a:latin typeface="Consolas" pitchFamily="34" charset="0"/>
                <a:ea typeface="Consolas" pitchFamily="34" charset="-122"/>
                <a:cs typeface="Consolas" pitchFamily="34" charset="-120"/>
              </a:rPr>
              <a:t>distance</a:t>
            </a:r>
            <a:pPr indent="0" marL="0">
              <a:buNone/>
            </a:pPr>
            <a:r>
              <a:rPr lang="en-US" sz="2400" dirty="0">
                <a:solidFill>
                  <a:srgbClr val="F5F5F3"/>
                </a:solidFill>
                <a:latin typeface="Consolas" pitchFamily="34" charset="0"/>
                <a:ea typeface="Consolas" pitchFamily="34" charset="-122"/>
                <a:cs typeface="Consolas" pitchFamily="34" charset="-120"/>
              </a:rPr>
              <a:t> </a:t>
            </a:r>
            <a:pPr indent="0" marL="0">
              <a:buNone/>
            </a:pPr>
            <a:r>
              <a:rPr lang="en-US" sz="2400" b="1" dirty="0">
                <a:solidFill>
                  <a:srgbClr val="F5F5F3"/>
                </a:solidFill>
                <a:latin typeface="Consolas" pitchFamily="34" charset="0"/>
                <a:ea typeface="Consolas" pitchFamily="34" charset="-122"/>
                <a:cs typeface="Consolas" pitchFamily="34" charset="-120"/>
              </a:rPr>
              <a:t>&gt;=</a:t>
            </a:r>
            <a:pPr indent="0" marL="0">
              <a:buNone/>
            </a:pPr>
            <a:r>
              <a:rPr lang="en-US" sz="2400" dirty="0">
                <a:solidFill>
                  <a:srgbClr val="F5F5F3"/>
                </a:solidFill>
                <a:latin typeface="Consolas" pitchFamily="34" charset="0"/>
                <a:ea typeface="Consolas" pitchFamily="34" charset="-122"/>
                <a:cs typeface="Consolas" pitchFamily="34" charset="-120"/>
              </a:rPr>
              <a:t> </a:t>
            </a:r>
            <a:pPr indent="0" marL="0">
              <a:buNone/>
            </a:pPr>
            <a:r>
              <a:rPr lang="en-US" sz="2400" dirty="0">
                <a:solidFill>
                  <a:srgbClr val="56B4E9"/>
                </a:solidFill>
                <a:latin typeface="Consolas" pitchFamily="34" charset="0"/>
                <a:ea typeface="Consolas" pitchFamily="34" charset="-122"/>
                <a:cs typeface="Consolas" pitchFamily="34" charset="-120"/>
              </a:rPr>
              <a:t>50</a:t>
            </a:r>
            <a:pPr indent="0" marL="0">
              <a:buNone/>
            </a:pPr>
            <a:r>
              <a:rPr lang="en-US" sz="2400" dirty="0">
                <a:solidFill>
                  <a:srgbClr val="A9A9B4"/>
                </a:solidFill>
                <a:latin typeface="Consolas" pitchFamily="34" charset="0"/>
                <a:ea typeface="Consolas" pitchFamily="34" charset="-122"/>
                <a:cs typeface="Consolas" pitchFamily="34" charset="-120"/>
              </a:rPr>
              <a:t>:</a:t>
            </a:r>
            <a:endParaRPr lang="en-US" sz="2400" dirty="0"/>
          </a:p>
        </p:txBody>
      </p:sp>
      <p:sp>
        <p:nvSpPr>
          <p:cNvPr id="8" name="Text 6"/>
          <p:cNvSpPr txBox="1"/>
          <p:nvPr/>
        </p:nvSpPr>
        <p:spPr>
          <a:xfrm>
            <a:off x="658368" y="2889504"/>
            <a:ext cx="274320" cy="566928"/>
          </a:xfrm>
          <a:prstGeom prst="rect">
            <a:avLst/>
          </a:prstGeom>
          <a:noFill/>
          <a:ln/>
        </p:spPr>
        <p:txBody>
          <a:bodyPr wrap="square" lIns="0" tIns="0" rIns="0" bIns="0" rtlCol="0" anchor="ctr"/>
          <a:lstStyle/>
          <a:p>
            <a:pPr algn="r" indent="0" marL="0">
              <a:buNone/>
            </a:pPr>
            <a:r>
              <a:rPr lang="en-US" sz="2000" dirty="0">
                <a:solidFill>
                  <a:srgbClr val="6E6E7A"/>
                </a:solidFill>
                <a:latin typeface="Consolas" pitchFamily="34" charset="0"/>
                <a:ea typeface="Consolas" pitchFamily="34" charset="-122"/>
                <a:cs typeface="Consolas" pitchFamily="34" charset="-120"/>
              </a:rPr>
              <a:t>3</a:t>
            </a:r>
            <a:endParaRPr lang="en-US" sz="2000" dirty="0"/>
          </a:p>
        </p:txBody>
      </p:sp>
      <p:sp>
        <p:nvSpPr>
          <p:cNvPr id="9" name="Text 7"/>
          <p:cNvSpPr txBox="1"/>
          <p:nvPr/>
        </p:nvSpPr>
        <p:spPr>
          <a:xfrm>
            <a:off x="1188720" y="2889504"/>
            <a:ext cx="4114800" cy="566928"/>
          </a:xfrm>
          <a:prstGeom prst="rect">
            <a:avLst/>
          </a:prstGeom>
          <a:noFill/>
          <a:ln/>
        </p:spPr>
        <p:txBody>
          <a:bodyPr wrap="square" lIns="0" tIns="0" rIns="0" bIns="0" rtlCol="0" anchor="ctr"/>
          <a:lstStyle/>
          <a:p>
            <a:pPr indent="0" marL="0">
              <a:buNone/>
            </a:pPr>
            <a:r>
              <a:rPr lang="en-US" sz="2400" dirty="0">
                <a:solidFill>
                  <a:srgbClr val="F5F5F3"/>
                </a:solidFill>
                <a:latin typeface="Consolas" pitchFamily="34" charset="0"/>
                <a:ea typeface="Consolas" pitchFamily="34" charset="-122"/>
                <a:cs typeface="Consolas" pitchFamily="34" charset="-120"/>
              </a:rPr>
              <a:t>    </a:t>
            </a:r>
            <a:pPr indent="0" marL="0">
              <a:buNone/>
            </a:pPr>
            <a:r>
              <a:rPr lang="en-US" sz="2400" dirty="0">
                <a:solidFill>
                  <a:srgbClr val="E8C878"/>
                </a:solidFill>
                <a:latin typeface="Consolas" pitchFamily="34" charset="0"/>
                <a:ea typeface="Consolas" pitchFamily="34" charset="-122"/>
                <a:cs typeface="Consolas" pitchFamily="34" charset="-120"/>
              </a:rPr>
              <a:t>print</a:t>
            </a:r>
            <a:pPr indent="0" marL="0">
              <a:buNone/>
            </a:pPr>
            <a:r>
              <a:rPr lang="en-US" sz="2400" dirty="0">
                <a:solidFill>
                  <a:srgbClr val="A9A9B4"/>
                </a:solidFill>
                <a:latin typeface="Consolas" pitchFamily="34" charset="0"/>
                <a:ea typeface="Consolas" pitchFamily="34" charset="-122"/>
                <a:cs typeface="Consolas" pitchFamily="34" charset="-120"/>
              </a:rPr>
              <a:t>(</a:t>
            </a:r>
            <a:pPr indent="0" marL="0">
              <a:buNone/>
            </a:pPr>
            <a:r>
              <a:rPr lang="en-US" sz="2400" dirty="0">
                <a:solidFill>
                  <a:srgbClr val="E69F00"/>
                </a:solidFill>
                <a:latin typeface="Consolas" pitchFamily="34" charset="0"/>
                <a:ea typeface="Consolas" pitchFamily="34" charset="-122"/>
                <a:cs typeface="Consolas" pitchFamily="34" charset="-120"/>
              </a:rPr>
              <a:t>"All clear"</a:t>
            </a:r>
            <a:pPr indent="0" marL="0">
              <a:buNone/>
            </a:pPr>
            <a:r>
              <a:rPr lang="en-US" sz="2400" dirty="0">
                <a:solidFill>
                  <a:srgbClr val="A9A9B4"/>
                </a:solidFill>
                <a:latin typeface="Consolas" pitchFamily="34" charset="0"/>
                <a:ea typeface="Consolas" pitchFamily="34" charset="-122"/>
                <a:cs typeface="Consolas" pitchFamily="34" charset="-120"/>
              </a:rPr>
              <a:t>)</a:t>
            </a:r>
            <a:endParaRPr lang="en-US" sz="2400" dirty="0"/>
          </a:p>
        </p:txBody>
      </p:sp>
      <p:sp>
        <p:nvSpPr>
          <p:cNvPr id="10" name="Text 8"/>
          <p:cNvSpPr txBox="1"/>
          <p:nvPr/>
        </p:nvSpPr>
        <p:spPr>
          <a:xfrm>
            <a:off x="658368" y="3456432"/>
            <a:ext cx="274320" cy="566928"/>
          </a:xfrm>
          <a:prstGeom prst="rect">
            <a:avLst/>
          </a:prstGeom>
          <a:noFill/>
          <a:ln/>
        </p:spPr>
        <p:txBody>
          <a:bodyPr wrap="square" lIns="0" tIns="0" rIns="0" bIns="0" rtlCol="0" anchor="ctr"/>
          <a:lstStyle/>
          <a:p>
            <a:pPr algn="r" indent="0" marL="0">
              <a:buNone/>
            </a:pPr>
            <a:r>
              <a:rPr lang="en-US" sz="2000" dirty="0">
                <a:solidFill>
                  <a:srgbClr val="6E6E7A"/>
                </a:solidFill>
                <a:latin typeface="Consolas" pitchFamily="34" charset="0"/>
                <a:ea typeface="Consolas" pitchFamily="34" charset="-122"/>
                <a:cs typeface="Consolas" pitchFamily="34" charset="-120"/>
              </a:rPr>
              <a:t>4</a:t>
            </a:r>
            <a:endParaRPr lang="en-US" sz="2000" dirty="0"/>
          </a:p>
        </p:txBody>
      </p:sp>
      <p:sp>
        <p:nvSpPr>
          <p:cNvPr id="11" name="Text 9"/>
          <p:cNvSpPr txBox="1"/>
          <p:nvPr/>
        </p:nvSpPr>
        <p:spPr>
          <a:xfrm>
            <a:off x="1188720" y="3456432"/>
            <a:ext cx="4114800" cy="566928"/>
          </a:xfrm>
          <a:prstGeom prst="rect">
            <a:avLst/>
          </a:prstGeom>
          <a:noFill/>
          <a:ln/>
        </p:spPr>
        <p:txBody>
          <a:bodyPr wrap="square" lIns="0" tIns="0" rIns="0" bIns="0" rtlCol="0" anchor="ctr"/>
          <a:lstStyle/>
          <a:p>
            <a:pPr indent="0" marL="0">
              <a:buNone/>
            </a:pPr>
            <a:r>
              <a:rPr lang="en-US" sz="2400" b="1" dirty="0">
                <a:solidFill>
                  <a:srgbClr val="F5F5F3"/>
                </a:solidFill>
                <a:latin typeface="Consolas" pitchFamily="34" charset="0"/>
                <a:ea typeface="Consolas" pitchFamily="34" charset="-122"/>
                <a:cs typeface="Consolas" pitchFamily="34" charset="-120"/>
              </a:rPr>
              <a:t>else</a:t>
            </a:r>
            <a:pPr indent="0" marL="0">
              <a:buNone/>
            </a:pPr>
            <a:r>
              <a:rPr lang="en-US" sz="2400" dirty="0">
                <a:solidFill>
                  <a:srgbClr val="A9A9B4"/>
                </a:solidFill>
                <a:latin typeface="Consolas" pitchFamily="34" charset="0"/>
                <a:ea typeface="Consolas" pitchFamily="34" charset="-122"/>
                <a:cs typeface="Consolas" pitchFamily="34" charset="-120"/>
              </a:rPr>
              <a:t>:</a:t>
            </a:r>
            <a:endParaRPr lang="en-US" sz="2400" dirty="0"/>
          </a:p>
        </p:txBody>
      </p:sp>
      <p:sp>
        <p:nvSpPr>
          <p:cNvPr id="12" name="Text 10"/>
          <p:cNvSpPr txBox="1"/>
          <p:nvPr/>
        </p:nvSpPr>
        <p:spPr>
          <a:xfrm>
            <a:off x="658368" y="4023360"/>
            <a:ext cx="274320" cy="566928"/>
          </a:xfrm>
          <a:prstGeom prst="rect">
            <a:avLst/>
          </a:prstGeom>
          <a:noFill/>
          <a:ln/>
        </p:spPr>
        <p:txBody>
          <a:bodyPr wrap="square" lIns="0" tIns="0" rIns="0" bIns="0" rtlCol="0" anchor="ctr"/>
          <a:lstStyle/>
          <a:p>
            <a:pPr algn="r" indent="0" marL="0">
              <a:buNone/>
            </a:pPr>
            <a:r>
              <a:rPr lang="en-US" sz="2000" dirty="0">
                <a:solidFill>
                  <a:srgbClr val="6E6E7A"/>
                </a:solidFill>
                <a:latin typeface="Consolas" pitchFamily="34" charset="0"/>
                <a:ea typeface="Consolas" pitchFamily="34" charset="-122"/>
                <a:cs typeface="Consolas" pitchFamily="34" charset="-120"/>
              </a:rPr>
              <a:t>5</a:t>
            </a:r>
            <a:endParaRPr lang="en-US" sz="2000" dirty="0"/>
          </a:p>
        </p:txBody>
      </p:sp>
      <p:sp>
        <p:nvSpPr>
          <p:cNvPr id="13" name="Text 11"/>
          <p:cNvSpPr txBox="1"/>
          <p:nvPr/>
        </p:nvSpPr>
        <p:spPr>
          <a:xfrm>
            <a:off x="1188720" y="4023360"/>
            <a:ext cx="4114800" cy="566928"/>
          </a:xfrm>
          <a:prstGeom prst="rect">
            <a:avLst/>
          </a:prstGeom>
          <a:noFill/>
          <a:ln/>
        </p:spPr>
        <p:txBody>
          <a:bodyPr wrap="square" lIns="0" tIns="0" rIns="0" bIns="0" rtlCol="0" anchor="ctr"/>
          <a:lstStyle/>
          <a:p>
            <a:pPr indent="0" marL="0">
              <a:buNone/>
            </a:pPr>
            <a:r>
              <a:rPr lang="en-US" sz="2400" dirty="0">
                <a:solidFill>
                  <a:srgbClr val="F5F5F3"/>
                </a:solidFill>
                <a:latin typeface="Consolas" pitchFamily="34" charset="0"/>
                <a:ea typeface="Consolas" pitchFamily="34" charset="-122"/>
                <a:cs typeface="Consolas" pitchFamily="34" charset="-120"/>
              </a:rPr>
              <a:t>    </a:t>
            </a:r>
            <a:pPr indent="0" marL="0">
              <a:buNone/>
            </a:pPr>
            <a:r>
              <a:rPr lang="en-US" sz="2400" dirty="0">
                <a:solidFill>
                  <a:srgbClr val="E8C878"/>
                </a:solidFill>
                <a:latin typeface="Consolas" pitchFamily="34" charset="0"/>
                <a:ea typeface="Consolas" pitchFamily="34" charset="-122"/>
                <a:cs typeface="Consolas" pitchFamily="34" charset="-120"/>
              </a:rPr>
              <a:t>print</a:t>
            </a:r>
            <a:pPr indent="0" marL="0">
              <a:buNone/>
            </a:pPr>
            <a:r>
              <a:rPr lang="en-US" sz="2400" dirty="0">
                <a:solidFill>
                  <a:srgbClr val="A9A9B4"/>
                </a:solidFill>
                <a:latin typeface="Consolas" pitchFamily="34" charset="0"/>
                <a:ea typeface="Consolas" pitchFamily="34" charset="-122"/>
                <a:cs typeface="Consolas" pitchFamily="34" charset="-120"/>
              </a:rPr>
              <a:t>(</a:t>
            </a:r>
            <a:pPr indent="0" marL="0">
              <a:buNone/>
            </a:pPr>
            <a:r>
              <a:rPr lang="en-US" sz="2400" dirty="0">
                <a:solidFill>
                  <a:srgbClr val="E69F00"/>
                </a:solidFill>
                <a:latin typeface="Consolas" pitchFamily="34" charset="0"/>
                <a:ea typeface="Consolas" pitchFamily="34" charset="-122"/>
                <a:cs typeface="Consolas" pitchFamily="34" charset="-120"/>
              </a:rPr>
              <a:t>"Too close"</a:t>
            </a:r>
            <a:pPr indent="0" marL="0">
              <a:buNone/>
            </a:pPr>
            <a:r>
              <a:rPr lang="en-US" sz="2400" dirty="0">
                <a:solidFill>
                  <a:srgbClr val="A9A9B4"/>
                </a:solidFill>
                <a:latin typeface="Consolas" pitchFamily="34" charset="0"/>
                <a:ea typeface="Consolas" pitchFamily="34" charset="-122"/>
                <a:cs typeface="Consolas" pitchFamily="34" charset="-120"/>
              </a:rPr>
              <a:t>)</a:t>
            </a:r>
            <a:endParaRPr lang="en-US" sz="2400" dirty="0"/>
          </a:p>
        </p:txBody>
      </p:sp>
      <p:sp>
        <p:nvSpPr>
          <p:cNvPr id="14" name="Text 12"/>
          <p:cNvSpPr txBox="1"/>
          <p:nvPr/>
        </p:nvSpPr>
        <p:spPr>
          <a:xfrm>
            <a:off x="658368" y="4590288"/>
            <a:ext cx="274320" cy="566928"/>
          </a:xfrm>
          <a:prstGeom prst="rect">
            <a:avLst/>
          </a:prstGeom>
          <a:noFill/>
          <a:ln/>
        </p:spPr>
        <p:txBody>
          <a:bodyPr wrap="square" lIns="0" tIns="0" rIns="0" bIns="0" rtlCol="0" anchor="ctr"/>
          <a:lstStyle/>
          <a:p>
            <a:pPr algn="r" indent="0" marL="0">
              <a:buNone/>
            </a:pPr>
            <a:r>
              <a:rPr lang="en-US" sz="2000" dirty="0">
                <a:solidFill>
                  <a:srgbClr val="6E6E7A"/>
                </a:solidFill>
                <a:latin typeface="Consolas" pitchFamily="34" charset="0"/>
                <a:ea typeface="Consolas" pitchFamily="34" charset="-122"/>
                <a:cs typeface="Consolas" pitchFamily="34" charset="-120"/>
              </a:rPr>
              <a:t>6</a:t>
            </a:r>
            <a:endParaRPr lang="en-US" sz="2000" dirty="0"/>
          </a:p>
        </p:txBody>
      </p:sp>
      <p:sp>
        <p:nvSpPr>
          <p:cNvPr id="15" name="Text 13"/>
          <p:cNvSpPr txBox="1"/>
          <p:nvPr/>
        </p:nvSpPr>
        <p:spPr>
          <a:xfrm>
            <a:off x="1188720" y="4590288"/>
            <a:ext cx="4114800" cy="566928"/>
          </a:xfrm>
          <a:prstGeom prst="rect">
            <a:avLst/>
          </a:prstGeom>
          <a:noFill/>
          <a:ln/>
        </p:spPr>
        <p:txBody>
          <a:bodyPr wrap="square" lIns="0" tIns="0" rIns="0" bIns="0" rtlCol="0" anchor="ctr"/>
          <a:lstStyle/>
          <a:p>
            <a:pPr indent="0" marL="0">
              <a:buNone/>
            </a:pPr>
            <a:r>
              <a:rPr lang="en-US" sz="2400" dirty="0">
                <a:solidFill>
                  <a:srgbClr val="E8C878"/>
                </a:solidFill>
                <a:latin typeface="Consolas" pitchFamily="34" charset="0"/>
                <a:ea typeface="Consolas" pitchFamily="34" charset="-122"/>
                <a:cs typeface="Consolas" pitchFamily="34" charset="-120"/>
              </a:rPr>
              <a:t>print</a:t>
            </a:r>
            <a:pPr indent="0" marL="0">
              <a:buNone/>
            </a:pPr>
            <a:r>
              <a:rPr lang="en-US" sz="2400" dirty="0">
                <a:solidFill>
                  <a:srgbClr val="A9A9B4"/>
                </a:solidFill>
                <a:latin typeface="Consolas" pitchFamily="34" charset="0"/>
                <a:ea typeface="Consolas" pitchFamily="34" charset="-122"/>
                <a:cs typeface="Consolas" pitchFamily="34" charset="-120"/>
              </a:rPr>
              <a:t>(</a:t>
            </a:r>
            <a:pPr indent="0" marL="0">
              <a:buNone/>
            </a:pPr>
            <a:r>
              <a:rPr lang="en-US" sz="2400" dirty="0">
                <a:solidFill>
                  <a:srgbClr val="E69F00"/>
                </a:solidFill>
                <a:latin typeface="Consolas" pitchFamily="34" charset="0"/>
                <a:ea typeface="Consolas" pitchFamily="34" charset="-122"/>
                <a:cs typeface="Consolas" pitchFamily="34" charset="-120"/>
              </a:rPr>
              <a:t>"Scan complete"</a:t>
            </a:r>
            <a:pPr indent="0" marL="0">
              <a:buNone/>
            </a:pPr>
            <a:r>
              <a:rPr lang="en-US" sz="2400" dirty="0">
                <a:solidFill>
                  <a:srgbClr val="A9A9B4"/>
                </a:solidFill>
                <a:latin typeface="Consolas" pitchFamily="34" charset="0"/>
                <a:ea typeface="Consolas" pitchFamily="34" charset="-122"/>
                <a:cs typeface="Consolas" pitchFamily="34" charset="-120"/>
              </a:rPr>
              <a:t>)</a:t>
            </a:r>
            <a:endParaRPr lang="en-US" sz="2400" dirty="0"/>
          </a:p>
        </p:txBody>
      </p:sp>
      <p:sp>
        <p:nvSpPr>
          <p:cNvPr id="16" name="click1"/>
          <p:cNvSpPr/>
          <p:nvPr/>
        </p:nvSpPr>
        <p:spPr>
          <a:xfrm>
            <a:off x="5623560" y="1874520"/>
            <a:ext cx="329184" cy="329184"/>
          </a:xfrm>
          <a:prstGeom prst="ellipse">
            <a:avLst/>
          </a:prstGeom>
          <a:solidFill>
            <a:srgbClr val="D8A73D"/>
          </a:solidFill>
          <a:ln/>
        </p:spPr>
      </p:sp>
      <p:sp>
        <p:nvSpPr>
          <p:cNvPr id="17" name="click1"/>
          <p:cNvSpPr txBox="1"/>
          <p:nvPr/>
        </p:nvSpPr>
        <p:spPr>
          <a:xfrm>
            <a:off x="5623560" y="1874520"/>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1</a:t>
            </a:r>
            <a:endParaRPr lang="en-US" sz="1600" dirty="0"/>
          </a:p>
        </p:txBody>
      </p:sp>
      <p:sp>
        <p:nvSpPr>
          <p:cNvPr id="18" name="click1"/>
          <p:cNvSpPr/>
          <p:nvPr/>
        </p:nvSpPr>
        <p:spPr>
          <a:xfrm>
            <a:off x="6099048" y="1810512"/>
            <a:ext cx="2148840" cy="475488"/>
          </a:xfrm>
          <a:prstGeom prst="roundRect">
            <a:avLst>
              <a:gd name="adj" fmla="val 11538"/>
            </a:avLst>
          </a:prstGeom>
          <a:solidFill>
            <a:srgbClr val="111115"/>
          </a:solidFill>
          <a:ln w="25400">
            <a:solidFill>
              <a:srgbClr val="56B4E9"/>
            </a:solidFill>
            <a:prstDash val="solid"/>
          </a:ln>
        </p:spPr>
      </p:sp>
      <p:sp>
        <p:nvSpPr>
          <p:cNvPr id="19" name="click1"/>
          <p:cNvSpPr/>
          <p:nvPr/>
        </p:nvSpPr>
        <p:spPr>
          <a:xfrm>
            <a:off x="6236208" y="1627632"/>
            <a:ext cx="1883664" cy="347472"/>
          </a:xfrm>
          <a:prstGeom prst="roundRect">
            <a:avLst>
              <a:gd name="adj" fmla="val 13158"/>
            </a:avLst>
          </a:prstGeom>
          <a:solidFill>
            <a:srgbClr val="56B4E9"/>
          </a:solidFill>
          <a:ln/>
        </p:spPr>
      </p:sp>
      <p:sp>
        <p:nvSpPr>
          <p:cNvPr id="20" name="click1"/>
          <p:cNvSpPr txBox="1"/>
          <p:nvPr/>
        </p:nvSpPr>
        <p:spPr>
          <a:xfrm>
            <a:off x="6236208" y="1627632"/>
            <a:ext cx="1883664" cy="347472"/>
          </a:xfrm>
          <a:prstGeom prst="rect">
            <a:avLst/>
          </a:prstGeom>
          <a:noFill/>
          <a:ln/>
        </p:spPr>
        <p:txBody>
          <a:bodyPr wrap="square" lIns="0" tIns="0" rIns="0" bIns="0" rtlCol="0" anchor="ctr"/>
          <a:lstStyle/>
          <a:p>
            <a:pPr algn="ctr" indent="0" marL="0">
              <a:buNone/>
            </a:pPr>
            <a:r>
              <a:rPr lang="en-US" sz="1400" b="1" dirty="0">
                <a:solidFill>
                  <a:srgbClr val="111115"/>
                </a:solidFill>
                <a:latin typeface="Consolas" pitchFamily="34" charset="0"/>
                <a:ea typeface="Consolas" pitchFamily="34" charset="-122"/>
                <a:cs typeface="Consolas" pitchFamily="34" charset="-120"/>
              </a:rPr>
              <a:t>distance  ·  int</a:t>
            </a:r>
            <a:endParaRPr lang="en-US" sz="1400" dirty="0"/>
          </a:p>
        </p:txBody>
      </p:sp>
      <p:sp>
        <p:nvSpPr>
          <p:cNvPr id="21" name="click1"/>
          <p:cNvSpPr txBox="1"/>
          <p:nvPr/>
        </p:nvSpPr>
        <p:spPr>
          <a:xfrm>
            <a:off x="6190488" y="1993392"/>
            <a:ext cx="1965960" cy="246888"/>
          </a:xfrm>
          <a:prstGeom prst="rect">
            <a:avLst/>
          </a:prstGeom>
          <a:noFill/>
          <a:ln/>
        </p:spPr>
        <p:txBody>
          <a:bodyPr wrap="square" lIns="0" tIns="0" rIns="0" bIns="0" rtlCol="0" anchor="ctr"/>
          <a:lstStyle/>
          <a:p>
            <a:pPr algn="ctr" indent="0" marL="0">
              <a:buNone/>
            </a:pPr>
            <a:r>
              <a:rPr lang="en-US" sz="2000" dirty="0">
                <a:solidFill>
                  <a:srgbClr val="F5F5F3"/>
                </a:solidFill>
                <a:latin typeface="Consolas" pitchFamily="34" charset="0"/>
                <a:ea typeface="Consolas" pitchFamily="34" charset="-122"/>
                <a:cs typeface="Consolas" pitchFamily="34" charset="-120"/>
              </a:rPr>
              <a:t>30</a:t>
            </a:r>
            <a:endParaRPr lang="en-US" sz="2000" dirty="0"/>
          </a:p>
        </p:txBody>
      </p:sp>
      <p:sp>
        <p:nvSpPr>
          <p:cNvPr id="22" name="click2"/>
          <p:cNvSpPr/>
          <p:nvPr/>
        </p:nvSpPr>
        <p:spPr>
          <a:xfrm>
            <a:off x="5623560" y="2441448"/>
            <a:ext cx="329184" cy="329184"/>
          </a:xfrm>
          <a:prstGeom prst="ellipse">
            <a:avLst/>
          </a:prstGeom>
          <a:solidFill>
            <a:srgbClr val="D8A73D"/>
          </a:solidFill>
          <a:ln/>
        </p:spPr>
      </p:sp>
      <p:sp>
        <p:nvSpPr>
          <p:cNvPr id="23" name="click2"/>
          <p:cNvSpPr txBox="1"/>
          <p:nvPr/>
        </p:nvSpPr>
        <p:spPr>
          <a:xfrm>
            <a:off x="5623560" y="2441448"/>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2</a:t>
            </a:r>
            <a:endParaRPr lang="en-US" sz="1600" dirty="0"/>
          </a:p>
        </p:txBody>
      </p:sp>
      <p:sp>
        <p:nvSpPr>
          <p:cNvPr id="24" name="click2"/>
          <p:cNvSpPr txBox="1"/>
          <p:nvPr/>
        </p:nvSpPr>
        <p:spPr>
          <a:xfrm>
            <a:off x="6053328" y="2322576"/>
            <a:ext cx="1417320" cy="566928"/>
          </a:xfrm>
          <a:prstGeom prst="rect">
            <a:avLst/>
          </a:prstGeom>
          <a:noFill/>
          <a:ln/>
        </p:spPr>
        <p:txBody>
          <a:bodyPr wrap="square" lIns="0" tIns="0" rIns="0" bIns="0" rtlCol="0" anchor="ctr"/>
          <a:lstStyle/>
          <a:p>
            <a:pPr indent="0" marL="0">
              <a:buNone/>
            </a:pPr>
            <a:r>
              <a:rPr lang="en-US" sz="2200" dirty="0">
                <a:solidFill>
                  <a:srgbClr val="56B4E9"/>
                </a:solidFill>
                <a:latin typeface="Consolas" pitchFamily="34" charset="0"/>
                <a:ea typeface="Consolas" pitchFamily="34" charset="-122"/>
                <a:cs typeface="Consolas" pitchFamily="34" charset="-120"/>
              </a:rPr>
              <a:t>30</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b="1" dirty="0">
                <a:solidFill>
                  <a:srgbClr val="F5F5F3"/>
                </a:solidFill>
                <a:latin typeface="Consolas" pitchFamily="34" charset="0"/>
                <a:ea typeface="Consolas" pitchFamily="34" charset="-122"/>
                <a:cs typeface="Consolas" pitchFamily="34" charset="-120"/>
              </a:rPr>
              <a:t>&gt;=</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56B4E9"/>
                </a:solidFill>
                <a:latin typeface="Consolas" pitchFamily="34" charset="0"/>
                <a:ea typeface="Consolas" pitchFamily="34" charset="-122"/>
                <a:cs typeface="Consolas" pitchFamily="34" charset="-120"/>
              </a:rPr>
              <a:t>50</a:t>
            </a:r>
            <a:endParaRPr lang="en-US" sz="2200" dirty="0"/>
          </a:p>
        </p:txBody>
      </p:sp>
      <p:sp>
        <p:nvSpPr>
          <p:cNvPr id="25" name="click2"/>
          <p:cNvSpPr/>
          <p:nvPr/>
        </p:nvSpPr>
        <p:spPr>
          <a:xfrm>
            <a:off x="7516368" y="2606040"/>
            <a:ext cx="365760" cy="0"/>
          </a:xfrm>
          <a:prstGeom prst="line">
            <a:avLst/>
          </a:prstGeom>
          <a:noFill/>
          <a:ln w="28575">
            <a:solidFill>
              <a:srgbClr val="A9A9B4"/>
            </a:solidFill>
            <a:prstDash val="solid"/>
            <a:tailEnd type="triangle"/>
          </a:ln>
        </p:spPr>
      </p:sp>
      <p:sp>
        <p:nvSpPr>
          <p:cNvPr id="26" name="click2"/>
          <p:cNvSpPr/>
          <p:nvPr/>
        </p:nvSpPr>
        <p:spPr>
          <a:xfrm>
            <a:off x="7973568" y="2386584"/>
            <a:ext cx="868680" cy="438912"/>
          </a:xfrm>
          <a:prstGeom prst="roundRect">
            <a:avLst>
              <a:gd name="adj" fmla="val 16667"/>
            </a:avLst>
          </a:prstGeom>
          <a:solidFill>
            <a:srgbClr val="1E1E24"/>
          </a:solidFill>
          <a:ln w="19050">
            <a:solidFill>
              <a:srgbClr val="A9A9B4"/>
            </a:solidFill>
            <a:prstDash val="solid"/>
          </a:ln>
        </p:spPr>
      </p:sp>
      <p:sp>
        <p:nvSpPr>
          <p:cNvPr id="27" name="click2"/>
          <p:cNvSpPr txBox="1"/>
          <p:nvPr/>
        </p:nvSpPr>
        <p:spPr>
          <a:xfrm>
            <a:off x="7973568" y="2386584"/>
            <a:ext cx="868680" cy="438912"/>
          </a:xfrm>
          <a:prstGeom prst="rect">
            <a:avLst/>
          </a:prstGeom>
          <a:noFill/>
          <a:ln/>
        </p:spPr>
        <p:txBody>
          <a:bodyPr wrap="square" lIns="0" tIns="0" rIns="0" bIns="0" rtlCol="0" anchor="ctr"/>
          <a:lstStyle/>
          <a:p>
            <a:pPr algn="ctr" indent="0" marL="0">
              <a:buNone/>
            </a:pPr>
            <a:r>
              <a:rPr lang="en-US" sz="2000" b="1" dirty="0">
                <a:solidFill>
                  <a:srgbClr val="F5F5F3"/>
                </a:solidFill>
                <a:latin typeface="Consolas" pitchFamily="34" charset="0"/>
                <a:ea typeface="Consolas" pitchFamily="34" charset="-122"/>
                <a:cs typeface="Consolas" pitchFamily="34" charset="-120"/>
              </a:rPr>
              <a:t>False</a:t>
            </a:r>
            <a:endParaRPr lang="en-US" sz="2000" dirty="0"/>
          </a:p>
        </p:txBody>
      </p:sp>
      <p:sp>
        <p:nvSpPr>
          <p:cNvPr id="28" name="click3"/>
          <p:cNvSpPr/>
          <p:nvPr/>
        </p:nvSpPr>
        <p:spPr>
          <a:xfrm>
            <a:off x="5623560" y="3008376"/>
            <a:ext cx="329184" cy="329184"/>
          </a:xfrm>
          <a:prstGeom prst="ellipse">
            <a:avLst/>
          </a:prstGeom>
          <a:solidFill>
            <a:srgbClr val="D8A73D"/>
          </a:solidFill>
          <a:ln/>
        </p:spPr>
      </p:sp>
      <p:sp>
        <p:nvSpPr>
          <p:cNvPr id="29" name="click3"/>
          <p:cNvSpPr txBox="1"/>
          <p:nvPr/>
        </p:nvSpPr>
        <p:spPr>
          <a:xfrm>
            <a:off x="5623560" y="3008376"/>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3</a:t>
            </a:r>
            <a:endParaRPr lang="en-US" sz="1600" dirty="0"/>
          </a:p>
        </p:txBody>
      </p:sp>
      <p:sp>
        <p:nvSpPr>
          <p:cNvPr id="30" name="click3"/>
          <p:cNvSpPr txBox="1"/>
          <p:nvPr/>
        </p:nvSpPr>
        <p:spPr>
          <a:xfrm>
            <a:off x="6053328" y="4023360"/>
            <a:ext cx="2651760" cy="566928"/>
          </a:xfrm>
          <a:prstGeom prst="rect">
            <a:avLst/>
          </a:prstGeom>
          <a:noFill/>
          <a:ln/>
        </p:spPr>
        <p:txBody>
          <a:bodyPr wrap="square" lIns="0" tIns="0" rIns="0" bIns="0" rtlCol="0" anchor="ctr"/>
          <a:lstStyle/>
          <a:p>
            <a:pPr indent="0" marL="0">
              <a:buNone/>
            </a:pPr>
            <a:r>
              <a:rPr lang="en-US" sz="2000" b="1" dirty="0">
                <a:solidFill>
                  <a:srgbClr val="7FD99A"/>
                </a:solidFill>
                <a:latin typeface="Calibri" pitchFamily="34" charset="0"/>
                <a:ea typeface="Calibri" pitchFamily="34" charset="-122"/>
                <a:cs typeface="Calibri" pitchFamily="34" charset="-120"/>
              </a:rPr>
              <a:t>✓ runs</a:t>
            </a:r>
            <a:endParaRPr lang="en-US" sz="2000" dirty="0"/>
          </a:p>
        </p:txBody>
      </p:sp>
      <p:sp>
        <p:nvSpPr>
          <p:cNvPr id="31" name="click3"/>
          <p:cNvSpPr txBox="1"/>
          <p:nvPr/>
        </p:nvSpPr>
        <p:spPr>
          <a:xfrm>
            <a:off x="6053328" y="2889504"/>
            <a:ext cx="2651760" cy="566928"/>
          </a:xfrm>
          <a:prstGeom prst="rect">
            <a:avLst/>
          </a:prstGeom>
          <a:noFill/>
          <a:ln/>
        </p:spPr>
        <p:txBody>
          <a:bodyPr wrap="square" lIns="0" tIns="0" rIns="0" bIns="0" rtlCol="0" anchor="ctr"/>
          <a:lstStyle/>
          <a:p>
            <a:pPr indent="0" marL="0">
              <a:buNone/>
            </a:pPr>
            <a:r>
              <a:rPr lang="en-US" sz="2000" i="1" dirty="0">
                <a:solidFill>
                  <a:srgbClr val="6E6E7A"/>
                </a:solidFill>
                <a:latin typeface="Calibri" pitchFamily="34" charset="0"/>
                <a:ea typeface="Calibri" pitchFamily="34" charset="-122"/>
                <a:cs typeface="Calibri" pitchFamily="34" charset="-120"/>
              </a:rPr>
              <a:t>skipped</a:t>
            </a:r>
            <a:endParaRPr lang="en-US" sz="2000" dirty="0"/>
          </a:p>
        </p:txBody>
      </p:sp>
      <p:sp>
        <p:nvSpPr>
          <p:cNvPr id="32" name="click3"/>
          <p:cNvSpPr txBox="1"/>
          <p:nvPr/>
        </p:nvSpPr>
        <p:spPr>
          <a:xfrm>
            <a:off x="6053328" y="4590288"/>
            <a:ext cx="2651760" cy="566928"/>
          </a:xfrm>
          <a:prstGeom prst="rect">
            <a:avLst/>
          </a:prstGeom>
          <a:noFill/>
          <a:ln/>
        </p:spPr>
        <p:txBody>
          <a:bodyPr wrap="square" lIns="0" tIns="0" rIns="0" bIns="0" rtlCol="0" anchor="ctr"/>
          <a:lstStyle/>
          <a:p>
            <a:pPr indent="0" marL="0">
              <a:buNone/>
            </a:pPr>
            <a:r>
              <a:rPr lang="en-US" sz="2000" b="1" dirty="0">
                <a:solidFill>
                  <a:srgbClr val="D8A73D"/>
                </a:solidFill>
                <a:latin typeface="Calibri" pitchFamily="34" charset="0"/>
                <a:ea typeface="Calibri" pitchFamily="34" charset="-122"/>
                <a:cs typeface="Calibri" pitchFamily="34" charset="-120"/>
              </a:rPr>
              <a:t>✓ runs every time</a:t>
            </a:r>
            <a:endParaRPr lang="en-US" sz="2000" dirty="0"/>
          </a:p>
        </p:txBody>
      </p:sp>
      <p:sp>
        <p:nvSpPr>
          <p:cNvPr id="33" name="click4"/>
          <p:cNvSpPr/>
          <p:nvPr/>
        </p:nvSpPr>
        <p:spPr>
          <a:xfrm>
            <a:off x="9098280" y="1554480"/>
            <a:ext cx="329184" cy="329184"/>
          </a:xfrm>
          <a:prstGeom prst="ellipse">
            <a:avLst/>
          </a:prstGeom>
          <a:solidFill>
            <a:srgbClr val="D8A73D"/>
          </a:solidFill>
          <a:ln/>
        </p:spPr>
      </p:sp>
      <p:sp>
        <p:nvSpPr>
          <p:cNvPr id="34" name="click4"/>
          <p:cNvSpPr txBox="1"/>
          <p:nvPr/>
        </p:nvSpPr>
        <p:spPr>
          <a:xfrm>
            <a:off x="9098280" y="1554480"/>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4</a:t>
            </a:r>
            <a:endParaRPr lang="en-US" sz="1600" dirty="0"/>
          </a:p>
        </p:txBody>
      </p:sp>
      <p:sp>
        <p:nvSpPr>
          <p:cNvPr id="35" name="click4"/>
          <p:cNvSpPr txBox="1"/>
          <p:nvPr/>
        </p:nvSpPr>
        <p:spPr>
          <a:xfrm>
            <a:off x="9555480" y="1554480"/>
            <a:ext cx="2084832" cy="329184"/>
          </a:xfrm>
          <a:prstGeom prst="rect">
            <a:avLst/>
          </a:prstGeom>
          <a:noFill/>
          <a:ln/>
        </p:spPr>
        <p:txBody>
          <a:bodyPr wrap="square" lIns="0" tIns="0" rIns="0" bIns="0" rtlCol="0" anchor="ctr"/>
          <a:lstStyle/>
          <a:p>
            <a:pPr indent="0" marL="0">
              <a:buNone/>
            </a:pPr>
            <a:r>
              <a:rPr lang="en-US" sz="1300" b="1" spc="200" kern="0" dirty="0">
                <a:solidFill>
                  <a:srgbClr val="6E6E7A"/>
                </a:solidFill>
                <a:latin typeface="Calibri" pitchFamily="34" charset="0"/>
                <a:ea typeface="Calibri" pitchFamily="34" charset="-122"/>
                <a:cs typeface="Calibri" pitchFamily="34" charset="-120"/>
              </a:rPr>
              <a:t>WHAT IS PRINTED</a:t>
            </a:r>
            <a:endParaRPr lang="en-US" sz="1300" dirty="0"/>
          </a:p>
        </p:txBody>
      </p:sp>
      <p:sp>
        <p:nvSpPr>
          <p:cNvPr id="36" name="click4 · terminal"/>
          <p:cNvSpPr/>
          <p:nvPr/>
        </p:nvSpPr>
        <p:spPr>
          <a:xfrm>
            <a:off x="9098280" y="2011680"/>
            <a:ext cx="2542032" cy="1270000"/>
          </a:xfrm>
          <a:prstGeom prst="roundRect">
            <a:avLst>
              <a:gd name="adj" fmla="val 5760"/>
            </a:avLst>
          </a:prstGeom>
          <a:solidFill>
            <a:srgbClr val="0A0A0D"/>
          </a:solidFill>
          <a:ln w="15875">
            <a:solidFill>
              <a:srgbClr val="3A3A44"/>
            </a:solidFill>
            <a:prstDash val="solid"/>
          </a:ln>
        </p:spPr>
      </p:sp>
      <p:sp>
        <p:nvSpPr>
          <p:cNvPr id="37" name="click4"/>
          <p:cNvSpPr txBox="1"/>
          <p:nvPr/>
        </p:nvSpPr>
        <p:spPr>
          <a:xfrm>
            <a:off x="9326880" y="2240280"/>
            <a:ext cx="2084832" cy="406400"/>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Too close</a:t>
            </a:r>
            <a:endParaRPr lang="en-US" sz="2000" dirty="0"/>
          </a:p>
        </p:txBody>
      </p:sp>
      <p:sp>
        <p:nvSpPr>
          <p:cNvPr id="38" name="click4"/>
          <p:cNvSpPr txBox="1"/>
          <p:nvPr/>
        </p:nvSpPr>
        <p:spPr>
          <a:xfrm>
            <a:off x="9326880" y="2646680"/>
            <a:ext cx="2084832" cy="406400"/>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Scan complete</a:t>
            </a:r>
            <a:endParaRPr lang="en-US" sz="2000" dirty="0"/>
          </a:p>
        </p:txBody>
      </p:sp>
      <p:sp>
        <p:nvSpPr>
          <p:cNvPr id="39" name="Shape 37"/>
          <p:cNvSpPr/>
          <p:nvPr/>
        </p:nvSpPr>
        <p:spPr>
          <a:xfrm>
            <a:off x="548640" y="5559552"/>
            <a:ext cx="11091672" cy="566928"/>
          </a:xfrm>
          <a:prstGeom prst="roundRect">
            <a:avLst>
              <a:gd name="adj" fmla="val 12903"/>
            </a:avLst>
          </a:prstGeom>
          <a:solidFill>
            <a:srgbClr val="2A2A32"/>
          </a:solidFill>
          <a:ln/>
        </p:spPr>
      </p:sp>
      <p:sp>
        <p:nvSpPr>
          <p:cNvPr id="40" name="Shape 38"/>
          <p:cNvSpPr/>
          <p:nvPr/>
        </p:nvSpPr>
        <p:spPr>
          <a:xfrm>
            <a:off x="731520" y="5678424"/>
            <a:ext cx="329184" cy="329184"/>
          </a:xfrm>
          <a:prstGeom prst="ellipse">
            <a:avLst/>
          </a:prstGeom>
          <a:solidFill>
            <a:srgbClr val="D8A73D"/>
          </a:solidFill>
          <a:ln/>
        </p:spPr>
      </p:sp>
      <p:sp>
        <p:nvSpPr>
          <p:cNvPr id="41" name="Text 39"/>
          <p:cNvSpPr txBox="1"/>
          <p:nvPr/>
        </p:nvSpPr>
        <p:spPr>
          <a:xfrm>
            <a:off x="731520" y="5678424"/>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1</a:t>
            </a:r>
            <a:endParaRPr lang="en-US" sz="1600" dirty="0"/>
          </a:p>
        </p:txBody>
      </p:sp>
      <p:sp>
        <p:nvSpPr>
          <p:cNvPr id="42" name="Text 40"/>
          <p:cNvSpPr txBox="1"/>
          <p:nvPr/>
        </p:nvSpPr>
        <p:spPr>
          <a:xfrm>
            <a:off x="1170432" y="5559552"/>
            <a:ext cx="2087118" cy="566928"/>
          </a:xfrm>
          <a:prstGeom prst="rect">
            <a:avLst/>
          </a:prstGeom>
          <a:noFill/>
          <a:ln/>
        </p:spPr>
        <p:txBody>
          <a:bodyPr wrap="square" lIns="0" tIns="0" rIns="0" bIns="0" rtlCol="0" anchor="ctr"/>
          <a:lstStyle/>
          <a:p>
            <a:pPr indent="0" marL="0">
              <a:buNone/>
            </a:pPr>
            <a:r>
              <a:rPr lang="en-US" sz="1800" dirty="0">
                <a:solidFill>
                  <a:srgbClr val="F5F5F3"/>
                </a:solidFill>
                <a:latin typeface="Calibri" pitchFamily="34" charset="0"/>
                <a:ea typeface="Calibri" pitchFamily="34" charset="-122"/>
                <a:cs typeface="Calibri" pitchFamily="34" charset="-120"/>
              </a:rPr>
              <a:t>Look in the box</a:t>
            </a:r>
            <a:endParaRPr lang="en-US" sz="1800" dirty="0"/>
          </a:p>
        </p:txBody>
      </p:sp>
      <p:sp>
        <p:nvSpPr>
          <p:cNvPr id="43" name="Shape 41"/>
          <p:cNvSpPr/>
          <p:nvPr/>
        </p:nvSpPr>
        <p:spPr>
          <a:xfrm>
            <a:off x="3504438" y="5678424"/>
            <a:ext cx="329184" cy="329184"/>
          </a:xfrm>
          <a:prstGeom prst="ellipse">
            <a:avLst/>
          </a:prstGeom>
          <a:solidFill>
            <a:srgbClr val="D8A73D"/>
          </a:solidFill>
          <a:ln/>
        </p:spPr>
      </p:sp>
      <p:sp>
        <p:nvSpPr>
          <p:cNvPr id="44" name="Text 42"/>
          <p:cNvSpPr txBox="1"/>
          <p:nvPr/>
        </p:nvSpPr>
        <p:spPr>
          <a:xfrm>
            <a:off x="3504438" y="5678424"/>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2</a:t>
            </a:r>
            <a:endParaRPr lang="en-US" sz="1600" dirty="0"/>
          </a:p>
        </p:txBody>
      </p:sp>
      <p:sp>
        <p:nvSpPr>
          <p:cNvPr id="45" name="Text 43"/>
          <p:cNvSpPr txBox="1"/>
          <p:nvPr/>
        </p:nvSpPr>
        <p:spPr>
          <a:xfrm>
            <a:off x="3943350" y="5559552"/>
            <a:ext cx="2087118" cy="566928"/>
          </a:xfrm>
          <a:prstGeom prst="rect">
            <a:avLst/>
          </a:prstGeom>
          <a:noFill/>
          <a:ln/>
        </p:spPr>
        <p:txBody>
          <a:bodyPr wrap="square" lIns="0" tIns="0" rIns="0" bIns="0" rtlCol="0" anchor="ctr"/>
          <a:lstStyle/>
          <a:p>
            <a:pPr indent="0" marL="0">
              <a:buNone/>
            </a:pPr>
            <a:r>
              <a:rPr lang="en-US" sz="1800" dirty="0">
                <a:solidFill>
                  <a:srgbClr val="F5F5F3"/>
                </a:solidFill>
                <a:latin typeface="Calibri" pitchFamily="34" charset="0"/>
                <a:ea typeface="Calibri" pitchFamily="34" charset="-122"/>
                <a:cs typeface="Calibri" pitchFamily="34" charset="-120"/>
              </a:rPr>
              <a:t>True or False?</a:t>
            </a:r>
            <a:endParaRPr lang="en-US" sz="1800" dirty="0"/>
          </a:p>
        </p:txBody>
      </p:sp>
      <p:sp>
        <p:nvSpPr>
          <p:cNvPr id="46" name="Shape 44"/>
          <p:cNvSpPr/>
          <p:nvPr/>
        </p:nvSpPr>
        <p:spPr>
          <a:xfrm>
            <a:off x="6277356" y="5678424"/>
            <a:ext cx="329184" cy="329184"/>
          </a:xfrm>
          <a:prstGeom prst="ellipse">
            <a:avLst/>
          </a:prstGeom>
          <a:solidFill>
            <a:srgbClr val="D8A73D"/>
          </a:solidFill>
          <a:ln/>
        </p:spPr>
      </p:sp>
      <p:sp>
        <p:nvSpPr>
          <p:cNvPr id="47" name="Text 45"/>
          <p:cNvSpPr txBox="1"/>
          <p:nvPr/>
        </p:nvSpPr>
        <p:spPr>
          <a:xfrm>
            <a:off x="6277356" y="5678424"/>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3</a:t>
            </a:r>
            <a:endParaRPr lang="en-US" sz="1600" dirty="0"/>
          </a:p>
        </p:txBody>
      </p:sp>
      <p:sp>
        <p:nvSpPr>
          <p:cNvPr id="48" name="Text 46"/>
          <p:cNvSpPr txBox="1"/>
          <p:nvPr/>
        </p:nvSpPr>
        <p:spPr>
          <a:xfrm>
            <a:off x="6716268" y="5559552"/>
            <a:ext cx="2087118" cy="566928"/>
          </a:xfrm>
          <a:prstGeom prst="rect">
            <a:avLst/>
          </a:prstGeom>
          <a:noFill/>
          <a:ln/>
        </p:spPr>
        <p:txBody>
          <a:bodyPr wrap="square" lIns="0" tIns="0" rIns="0" bIns="0" rtlCol="0" anchor="ctr"/>
          <a:lstStyle/>
          <a:p>
            <a:pPr indent="0" marL="0">
              <a:buNone/>
            </a:pPr>
            <a:r>
              <a:rPr lang="en-US" sz="1800" dirty="0">
                <a:solidFill>
                  <a:srgbClr val="F5F5F3"/>
                </a:solidFill>
                <a:latin typeface="Calibri" pitchFamily="34" charset="0"/>
                <a:ea typeface="Calibri" pitchFamily="34" charset="-122"/>
                <a:cs typeface="Calibri" pitchFamily="34" charset="-120"/>
              </a:rPr>
              <a:t>Which lines run?</a:t>
            </a:r>
            <a:endParaRPr lang="en-US" sz="1800" dirty="0"/>
          </a:p>
        </p:txBody>
      </p:sp>
      <p:sp>
        <p:nvSpPr>
          <p:cNvPr id="49" name="Shape 47"/>
          <p:cNvSpPr/>
          <p:nvPr/>
        </p:nvSpPr>
        <p:spPr>
          <a:xfrm>
            <a:off x="9050274" y="5678424"/>
            <a:ext cx="329184" cy="329184"/>
          </a:xfrm>
          <a:prstGeom prst="ellipse">
            <a:avLst/>
          </a:prstGeom>
          <a:solidFill>
            <a:srgbClr val="D8A73D"/>
          </a:solidFill>
          <a:ln/>
        </p:spPr>
      </p:sp>
      <p:sp>
        <p:nvSpPr>
          <p:cNvPr id="50" name="Text 48"/>
          <p:cNvSpPr txBox="1"/>
          <p:nvPr/>
        </p:nvSpPr>
        <p:spPr>
          <a:xfrm>
            <a:off x="9050274" y="5678424"/>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4</a:t>
            </a:r>
            <a:endParaRPr lang="en-US" sz="1600" dirty="0"/>
          </a:p>
        </p:txBody>
      </p:sp>
      <p:sp>
        <p:nvSpPr>
          <p:cNvPr id="51" name="Text 49"/>
          <p:cNvSpPr txBox="1"/>
          <p:nvPr/>
        </p:nvSpPr>
        <p:spPr>
          <a:xfrm>
            <a:off x="9489186" y="5559552"/>
            <a:ext cx="2087118" cy="566928"/>
          </a:xfrm>
          <a:prstGeom prst="rect">
            <a:avLst/>
          </a:prstGeom>
          <a:noFill/>
          <a:ln/>
        </p:spPr>
        <p:txBody>
          <a:bodyPr wrap="square" lIns="0" tIns="0" rIns="0" bIns="0" rtlCol="0" anchor="ctr"/>
          <a:lstStyle/>
          <a:p>
            <a:pPr indent="0" marL="0">
              <a:buNone/>
            </a:pPr>
            <a:r>
              <a:rPr lang="en-US" sz="1800" dirty="0">
                <a:solidFill>
                  <a:srgbClr val="F5F5F3"/>
                </a:solidFill>
                <a:latin typeface="Calibri" pitchFamily="34" charset="0"/>
                <a:ea typeface="Calibri" pitchFamily="34" charset="-122"/>
                <a:cs typeface="Calibri" pitchFamily="34" charset="-120"/>
              </a:rPr>
              <a:t>What is printed?</a:t>
            </a:r>
            <a:endParaRPr lang="en-US" sz="1800" dirty="0"/>
          </a:p>
        </p:txBody>
      </p:sp>
      <p:sp>
        <p:nvSpPr>
          <p:cNvPr id="52" name="Shape 50"/>
          <p:cNvSpPr/>
          <p:nvPr/>
        </p:nvSpPr>
        <p:spPr>
          <a:xfrm>
            <a:off x="9464040" y="566928"/>
            <a:ext cx="1280160" cy="329184"/>
          </a:xfrm>
          <a:prstGeom prst="roundRect">
            <a:avLst>
              <a:gd name="adj" fmla="val 50000"/>
            </a:avLst>
          </a:prstGeom>
          <a:solidFill>
            <a:srgbClr val="D8A73D"/>
          </a:solidFill>
          <a:ln/>
        </p:spPr>
      </p:sp>
      <p:sp>
        <p:nvSpPr>
          <p:cNvPr id="53" name="Text 51"/>
          <p:cNvSpPr txBox="1"/>
          <p:nvPr/>
        </p:nvSpPr>
        <p:spPr>
          <a:xfrm>
            <a:off x="9464040" y="566928"/>
            <a:ext cx="1280160" cy="329184"/>
          </a:xfrm>
          <a:prstGeom prst="rect">
            <a:avLst/>
          </a:prstGeom>
          <a:noFill/>
          <a:ln/>
        </p:spPr>
        <p:txBody>
          <a:bodyPr wrap="square" lIns="0" tIns="0" rIns="0" bIns="0" rtlCol="0" anchor="ctr"/>
          <a:lstStyle/>
          <a:p>
            <a:pPr algn="ctr" indent="0" marL="0">
              <a:buNone/>
            </a:pPr>
            <a:r>
              <a:rPr lang="en-US" sz="1400" b="1" spc="200" kern="0" dirty="0">
                <a:solidFill>
                  <a:srgbClr val="1E1E24"/>
                </a:solidFill>
                <a:latin typeface="Calibri" pitchFamily="34" charset="0"/>
                <a:ea typeface="Calibri" pitchFamily="34" charset="-122"/>
                <a:cs typeface="Calibri" pitchFamily="34" charset="-120"/>
              </a:rPr>
              <a:t>I DO</a:t>
            </a:r>
            <a:endParaRPr lang="en-US" sz="1400" dirty="0"/>
          </a:p>
        </p:txBody>
      </p:sp>
      <p:pic>
        <p:nvPicPr>
          <p:cNvPr id="54" name="Image 0" descr="New information">    </p:cNvPr>
          <p:cNvPicPr>
            <a:picLocks noChangeAspect="1"/>
          </p:cNvPicPr>
          <p:nvPr/>
        </p:nvPicPr>
        <p:blipFill>
          <a:blip r:embed="rId1"/>
          <a:stretch>
            <a:fillRect/>
          </a:stretch>
        </p:blipFill>
        <p:spPr>
          <a:xfrm>
            <a:off x="10972800" y="384048"/>
            <a:ext cx="731520" cy="731520"/>
          </a:xfrm>
          <a:prstGeom prst="rect">
            <a:avLst/>
          </a:prstGeom>
        </p:spPr>
      </p:pic>
      <p:sp>
        <p:nvSpPr>
          <p:cNvPr id="56" name="Text 52"/>
          <p:cNvSpPr txBox="1"/>
          <p:nvPr/>
        </p:nvSpPr>
        <p:spPr>
          <a:xfrm>
            <a:off x="4206240" y="6355080"/>
            <a:ext cx="6812280" cy="320040"/>
          </a:xfrm>
          <a:prstGeom prst="rect">
            <a:avLst/>
          </a:prstGeom>
          <a:noFill/>
          <a:ln/>
        </p:spPr>
        <p:txBody>
          <a:bodyPr wrap="square" lIns="0" tIns="0" rIns="0" bIns="0" rtlCol="0" anchor="ctr"/>
          <a:lstStyle/>
          <a:p>
            <a:pPr algn="r" indent="0" marL="0">
              <a:buNone/>
            </a:pPr>
            <a:r>
              <a:rPr lang="en-US" sz="1300" b="1" i="1" dirty="0">
                <a:solidFill>
                  <a:srgbClr val="D8A73D"/>
                </a:solidFill>
                <a:latin typeface="Calibri" pitchFamily="34" charset="0"/>
                <a:ea typeface="Calibri" pitchFamily="34" charset="-122"/>
                <a:cs typeface="Calibri" pitchFamily="34" charset="-120"/>
              </a:rPr>
              <a:t>whatPrintedSlide()  ·  What is printed? (I do / We do)</a:t>
            </a:r>
            <a:endParaRPr lang="en-US" sz="1300" dirty="0"/>
          </a:p>
        </p:txBody>
      </p:sp>
      <p:sp>
        <p:nvSpPr>
          <p:cNvPr id="57"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par>
                                <p:cTn id="11" presetID="10"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par>
                                <p:cTn id="14" presetID="10" presetClass="entr" presetSubtype="0" fill="hold"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500"/>
                                        <p:tgtEl>
                                          <p:spTgt spid="1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50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500"/>
                                        <p:tgtEl>
                                          <p:spTgt spid="2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fade">
                                      <p:cBhvr>
                                        <p:cTn id="30" dur="500"/>
                                        <p:tgtEl>
                                          <p:spTgt spid="2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4"/>
                                        </p:tgtEl>
                                        <p:attrNameLst>
                                          <p:attrName>style.visibility</p:attrName>
                                        </p:attrNameLst>
                                      </p:cBhvr>
                                      <p:to>
                                        <p:strVal val="visible"/>
                                      </p:to>
                                    </p:set>
                                    <p:animEffect transition="in" filter="fade">
                                      <p:cBhvr>
                                        <p:cTn id="33" dur="500"/>
                                        <p:tgtEl>
                                          <p:spTgt spid="24"/>
                                        </p:tgtEl>
                                      </p:cBhvr>
                                    </p:animEffect>
                                  </p:childTnLst>
                                </p:cTn>
                              </p:par>
                              <p:par>
                                <p:cTn id="34" presetID="10" presetClass="entr" presetSubtype="0" fill="hold" nodeType="withEffect">
                                  <p:stCondLst>
                                    <p:cond delay="0"/>
                                  </p:stCondLst>
                                  <p:childTnLst>
                                    <p:set>
                                      <p:cBhvr>
                                        <p:cTn id="35" dur="1" fill="hold">
                                          <p:stCondLst>
                                            <p:cond delay="0"/>
                                          </p:stCondLst>
                                        </p:cTn>
                                        <p:tgtEl>
                                          <p:spTgt spid="25"/>
                                        </p:tgtEl>
                                        <p:attrNameLst>
                                          <p:attrName>style.visibility</p:attrName>
                                        </p:attrNameLst>
                                      </p:cBhvr>
                                      <p:to>
                                        <p:strVal val="visible"/>
                                      </p:to>
                                    </p:set>
                                    <p:animEffect transition="in" filter="fade">
                                      <p:cBhvr>
                                        <p:cTn id="36" dur="500"/>
                                        <p:tgtEl>
                                          <p:spTgt spid="25"/>
                                        </p:tgtEl>
                                      </p:cBhvr>
                                    </p:animEffect>
                                  </p:childTnLst>
                                </p:cTn>
                              </p:par>
                              <p:par>
                                <p:cTn id="37" presetID="10" presetClass="entr" presetSubtype="0" fill="hold" nodeType="withEffect">
                                  <p:stCondLst>
                                    <p:cond delay="0"/>
                                  </p:stCondLst>
                                  <p:childTnLst>
                                    <p:set>
                                      <p:cBhvr>
                                        <p:cTn id="38" dur="1" fill="hold">
                                          <p:stCondLst>
                                            <p:cond delay="0"/>
                                          </p:stCondLst>
                                        </p:cTn>
                                        <p:tgtEl>
                                          <p:spTgt spid="26"/>
                                        </p:tgtEl>
                                        <p:attrNameLst>
                                          <p:attrName>style.visibility</p:attrName>
                                        </p:attrNameLst>
                                      </p:cBhvr>
                                      <p:to>
                                        <p:strVal val="visible"/>
                                      </p:to>
                                    </p:set>
                                    <p:animEffect transition="in" filter="fade">
                                      <p:cBhvr>
                                        <p:cTn id="39" dur="500"/>
                                        <p:tgtEl>
                                          <p:spTgt spid="2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fade">
                                      <p:cBhvr>
                                        <p:cTn id="42" dur="500"/>
                                        <p:tgtEl>
                                          <p:spTgt spid="27"/>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fade">
                                      <p:cBhvr>
                                        <p:cTn id="47" dur="500"/>
                                        <p:tgtEl>
                                          <p:spTgt spid="2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9"/>
                                        </p:tgtEl>
                                        <p:attrNameLst>
                                          <p:attrName>style.visibility</p:attrName>
                                        </p:attrNameLst>
                                      </p:cBhvr>
                                      <p:to>
                                        <p:strVal val="visible"/>
                                      </p:to>
                                    </p:set>
                                    <p:animEffect transition="in" filter="fade">
                                      <p:cBhvr>
                                        <p:cTn id="50" dur="500"/>
                                        <p:tgtEl>
                                          <p:spTgt spid="2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0"/>
                                        </p:tgtEl>
                                        <p:attrNameLst>
                                          <p:attrName>style.visibility</p:attrName>
                                        </p:attrNameLst>
                                      </p:cBhvr>
                                      <p:to>
                                        <p:strVal val="visible"/>
                                      </p:to>
                                    </p:set>
                                    <p:animEffect transition="in" filter="fade">
                                      <p:cBhvr>
                                        <p:cTn id="53" dur="500"/>
                                        <p:tgtEl>
                                          <p:spTgt spid="3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1"/>
                                        </p:tgtEl>
                                        <p:attrNameLst>
                                          <p:attrName>style.visibility</p:attrName>
                                        </p:attrNameLst>
                                      </p:cBhvr>
                                      <p:to>
                                        <p:strVal val="visible"/>
                                      </p:to>
                                    </p:set>
                                    <p:animEffect transition="in" filter="fade">
                                      <p:cBhvr>
                                        <p:cTn id="56" dur="500"/>
                                        <p:tgtEl>
                                          <p:spTgt spid="3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2"/>
                                        </p:tgtEl>
                                        <p:attrNameLst>
                                          <p:attrName>style.visibility</p:attrName>
                                        </p:attrNameLst>
                                      </p:cBhvr>
                                      <p:to>
                                        <p:strVal val="visible"/>
                                      </p:to>
                                    </p:set>
                                    <p:animEffect transition="in" filter="fade">
                                      <p:cBhvr>
                                        <p:cTn id="59" dur="500"/>
                                        <p:tgtEl>
                                          <p:spTgt spid="32"/>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33"/>
                                        </p:tgtEl>
                                        <p:attrNameLst>
                                          <p:attrName>style.visibility</p:attrName>
                                        </p:attrNameLst>
                                      </p:cBhvr>
                                      <p:to>
                                        <p:strVal val="visible"/>
                                      </p:to>
                                    </p:set>
                                    <p:animEffect transition="in" filter="fade">
                                      <p:cBhvr>
                                        <p:cTn id="64" dur="500"/>
                                        <p:tgtEl>
                                          <p:spTgt spid="3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4"/>
                                        </p:tgtEl>
                                        <p:attrNameLst>
                                          <p:attrName>style.visibility</p:attrName>
                                        </p:attrNameLst>
                                      </p:cBhvr>
                                      <p:to>
                                        <p:strVal val="visible"/>
                                      </p:to>
                                    </p:set>
                                    <p:animEffect transition="in" filter="fade">
                                      <p:cBhvr>
                                        <p:cTn id="67" dur="500"/>
                                        <p:tgtEl>
                                          <p:spTgt spid="34"/>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5"/>
                                        </p:tgtEl>
                                        <p:attrNameLst>
                                          <p:attrName>style.visibility</p:attrName>
                                        </p:attrNameLst>
                                      </p:cBhvr>
                                      <p:to>
                                        <p:strVal val="visible"/>
                                      </p:to>
                                    </p:set>
                                    <p:animEffect transition="in" filter="fade">
                                      <p:cBhvr>
                                        <p:cTn id="70" dur="500"/>
                                        <p:tgtEl>
                                          <p:spTgt spid="35"/>
                                        </p:tgtEl>
                                      </p:cBhvr>
                                    </p:animEffect>
                                  </p:childTnLst>
                                </p:cTn>
                              </p:par>
                              <p:par>
                                <p:cTn id="71" presetID="10" presetClass="entr" presetSubtype="0" fill="hold" nodeType="withEffect">
                                  <p:stCondLst>
                                    <p:cond delay="0"/>
                                  </p:stCondLst>
                                  <p:childTnLst>
                                    <p:set>
                                      <p:cBhvr>
                                        <p:cTn id="72" dur="1" fill="hold">
                                          <p:stCondLst>
                                            <p:cond delay="0"/>
                                          </p:stCondLst>
                                        </p:cTn>
                                        <p:tgtEl>
                                          <p:spTgt spid="36"/>
                                        </p:tgtEl>
                                        <p:attrNameLst>
                                          <p:attrName>style.visibility</p:attrName>
                                        </p:attrNameLst>
                                      </p:cBhvr>
                                      <p:to>
                                        <p:strVal val="visible"/>
                                      </p:to>
                                    </p:set>
                                    <p:animEffect transition="in" filter="fade">
                                      <p:cBhvr>
                                        <p:cTn id="73" dur="500"/>
                                        <p:tgtEl>
                                          <p:spTgt spid="36"/>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7"/>
                                        </p:tgtEl>
                                        <p:attrNameLst>
                                          <p:attrName>style.visibility</p:attrName>
                                        </p:attrNameLst>
                                      </p:cBhvr>
                                      <p:to>
                                        <p:strVal val="visible"/>
                                      </p:to>
                                    </p:set>
                                    <p:animEffect transition="in" filter="fade">
                                      <p:cBhvr>
                                        <p:cTn id="76" dur="500"/>
                                        <p:tgtEl>
                                          <p:spTgt spid="37"/>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8"/>
                                        </p:tgtEl>
                                        <p:attrNameLst>
                                          <p:attrName>style.visibility</p:attrName>
                                        </p:attrNameLst>
                                      </p:cBhvr>
                                      <p:to>
                                        <p:strVal val="visible"/>
                                      </p:to>
                                    </p:set>
                                    <p:animEffect transition="in" filter="fade">
                                      <p:cBhvr>
                                        <p:cTn id="79"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0" grpId="0" animBg="1"/>
      <p:bldP spid="21" grpId="0" animBg="1"/>
      <p:bldP spid="23" grpId="0" animBg="1"/>
      <p:bldP spid="24" grpId="0" animBg="1"/>
      <p:bldP spid="27" grpId="0" animBg="1"/>
      <p:bldP spid="29" grpId="0" animBg="1"/>
      <p:bldP spid="30" grpId="0" animBg="1"/>
      <p:bldP spid="31" grpId="0" animBg="1"/>
      <p:bldP spid="32" grpId="0" animBg="1"/>
      <p:bldP spid="34" grpId="0" animBg="1"/>
      <p:bldP spid="35" grpId="0" animBg="1"/>
      <p:bldP spid="37" grpId="0" animBg="1"/>
      <p:bldP spid="3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What is printed?</a:t>
            </a:r>
            <a:endParaRPr lang="en-US" sz="3600" dirty="0"/>
          </a:p>
        </p:txBody>
      </p:sp>
      <p:sp>
        <p:nvSpPr>
          <p:cNvPr id="3" name="Shape 1"/>
          <p:cNvSpPr/>
          <p:nvPr/>
        </p:nvSpPr>
        <p:spPr>
          <a:xfrm>
            <a:off x="548640" y="1508760"/>
            <a:ext cx="384048" cy="384048"/>
          </a:xfrm>
          <a:prstGeom prst="ellipse">
            <a:avLst/>
          </a:prstGeom>
          <a:solidFill>
            <a:srgbClr val="D8A73D"/>
          </a:solidFill>
          <a:ln/>
        </p:spPr>
      </p:sp>
      <p:sp>
        <p:nvSpPr>
          <p:cNvPr id="4" name="Text 2"/>
          <p:cNvSpPr txBox="1"/>
          <p:nvPr/>
        </p:nvSpPr>
        <p:spPr>
          <a:xfrm>
            <a:off x="548640" y="1508760"/>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1</a:t>
            </a:r>
            <a:endParaRPr lang="en-US" sz="1600" dirty="0"/>
          </a:p>
        </p:txBody>
      </p:sp>
      <p:sp>
        <p:nvSpPr>
          <p:cNvPr id="5" name="code"/>
          <p:cNvSpPr/>
          <p:nvPr/>
        </p:nvSpPr>
        <p:spPr>
          <a:xfrm>
            <a:off x="548640" y="2011680"/>
            <a:ext cx="3511296" cy="2816352"/>
          </a:xfrm>
          <a:prstGeom prst="roundRect">
            <a:avLst>
              <a:gd name="adj" fmla="val 2597"/>
            </a:avLst>
          </a:prstGeom>
          <a:solidFill>
            <a:srgbClr val="111115"/>
          </a:solidFill>
          <a:ln w="15875">
            <a:solidFill>
              <a:srgbClr val="3A3A44"/>
            </a:solidFill>
            <a:prstDash val="solid"/>
          </a:ln>
        </p:spPr>
      </p:sp>
      <p:sp>
        <p:nvSpPr>
          <p:cNvPr id="6" name="Text 4"/>
          <p:cNvSpPr txBox="1"/>
          <p:nvPr/>
        </p:nvSpPr>
        <p:spPr>
          <a:xfrm>
            <a:off x="731520" y="2212848"/>
            <a:ext cx="3236976" cy="402336"/>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level</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56B4E9"/>
                </a:solidFill>
                <a:latin typeface="Consolas" pitchFamily="34" charset="0"/>
                <a:ea typeface="Consolas" pitchFamily="34" charset="-122"/>
                <a:cs typeface="Consolas" pitchFamily="34" charset="-120"/>
              </a:rPr>
              <a:t>3</a:t>
            </a:r>
            <a:endParaRPr lang="en-US" sz="2000" dirty="0"/>
          </a:p>
        </p:txBody>
      </p:sp>
      <p:sp>
        <p:nvSpPr>
          <p:cNvPr id="7" name="Text 5"/>
          <p:cNvSpPr txBox="1"/>
          <p:nvPr/>
        </p:nvSpPr>
        <p:spPr>
          <a:xfrm>
            <a:off x="731520" y="2615184"/>
            <a:ext cx="3236976" cy="402336"/>
          </a:xfrm>
          <a:prstGeom prst="rect">
            <a:avLst/>
          </a:prstGeom>
          <a:noFill/>
          <a:ln/>
        </p:spPr>
        <p:txBody>
          <a:bodyPr wrap="square" lIns="0" tIns="0" rIns="0" bIns="0" rtlCol="0" anchor="ctr"/>
          <a:lstStyle/>
          <a:p>
            <a:pPr indent="0" marL="0">
              <a:buNone/>
            </a:pPr>
            <a:r>
              <a:rPr lang="en-US" sz="2000" b="1" dirty="0">
                <a:solidFill>
                  <a:srgbClr val="F5F5F3"/>
                </a:solidFill>
                <a:latin typeface="Consolas" pitchFamily="34" charset="0"/>
                <a:ea typeface="Consolas" pitchFamily="34" charset="-122"/>
                <a:cs typeface="Consolas" pitchFamily="34" charset="-120"/>
              </a:rPr>
              <a:t>if</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F5F5F3"/>
                </a:solidFill>
                <a:latin typeface="Consolas" pitchFamily="34" charset="0"/>
                <a:ea typeface="Consolas" pitchFamily="34" charset="-122"/>
                <a:cs typeface="Consolas" pitchFamily="34" charset="-120"/>
              </a:rPr>
              <a:t>level</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b="1" dirty="0">
                <a:solidFill>
                  <a:srgbClr val="F5F5F3"/>
                </a:solidFill>
                <a:latin typeface="Consolas" pitchFamily="34" charset="0"/>
                <a:ea typeface="Consolas" pitchFamily="34" charset="-122"/>
                <a:cs typeface="Consolas" pitchFamily="34" charset="-120"/>
              </a:rPr>
              <a:t>&gt;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56B4E9"/>
                </a:solidFill>
                <a:latin typeface="Consolas" pitchFamily="34" charset="0"/>
                <a:ea typeface="Consolas" pitchFamily="34" charset="-122"/>
                <a:cs typeface="Consolas" pitchFamily="34" charset="-120"/>
              </a:rPr>
              <a:t>2</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8" name="Text 6"/>
          <p:cNvSpPr txBox="1"/>
          <p:nvPr/>
        </p:nvSpPr>
        <p:spPr>
          <a:xfrm>
            <a:off x="731520" y="3017520"/>
            <a:ext cx="3236976" cy="402336"/>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E8C878"/>
                </a:solidFill>
                <a:latin typeface="Consolas" pitchFamily="34" charset="0"/>
                <a:ea typeface="Consolas" pitchFamily="34" charset="-122"/>
                <a:cs typeface="Consolas" pitchFamily="34" charset="-120"/>
              </a:rPr>
              <a:t>print</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E69F00"/>
                </a:solidFill>
                <a:latin typeface="Consolas" pitchFamily="34" charset="0"/>
                <a:ea typeface="Consolas" pitchFamily="34" charset="-122"/>
                <a:cs typeface="Consolas" pitchFamily="34" charset="-120"/>
              </a:rPr>
              <a:t>"Locked"</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9" name="Text 7"/>
          <p:cNvSpPr txBox="1"/>
          <p:nvPr/>
        </p:nvSpPr>
        <p:spPr>
          <a:xfrm>
            <a:off x="731520" y="3419856"/>
            <a:ext cx="3236976" cy="402336"/>
          </a:xfrm>
          <a:prstGeom prst="rect">
            <a:avLst/>
          </a:prstGeom>
          <a:noFill/>
          <a:ln/>
        </p:spPr>
        <p:txBody>
          <a:bodyPr wrap="square" lIns="0" tIns="0" rIns="0" bIns="0" rtlCol="0" anchor="ctr"/>
          <a:lstStyle/>
          <a:p>
            <a:pPr indent="0" marL="0">
              <a:buNone/>
            </a:pPr>
            <a:r>
              <a:rPr lang="en-US" sz="2000" b="1" dirty="0">
                <a:solidFill>
                  <a:srgbClr val="F5F5F3"/>
                </a:solidFill>
                <a:latin typeface="Consolas" pitchFamily="34" charset="0"/>
                <a:ea typeface="Consolas" pitchFamily="34" charset="-122"/>
                <a:cs typeface="Consolas" pitchFamily="34" charset="-120"/>
              </a:rPr>
              <a:t>else</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10" name="Text 8"/>
          <p:cNvSpPr txBox="1"/>
          <p:nvPr/>
        </p:nvSpPr>
        <p:spPr>
          <a:xfrm>
            <a:off x="731520" y="3822192"/>
            <a:ext cx="3236976" cy="402336"/>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E8C878"/>
                </a:solidFill>
                <a:latin typeface="Consolas" pitchFamily="34" charset="0"/>
                <a:ea typeface="Consolas" pitchFamily="34" charset="-122"/>
                <a:cs typeface="Consolas" pitchFamily="34" charset="-120"/>
              </a:rPr>
              <a:t>print</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E69F00"/>
                </a:solidFill>
                <a:latin typeface="Consolas" pitchFamily="34" charset="0"/>
                <a:ea typeface="Consolas" pitchFamily="34" charset="-122"/>
                <a:cs typeface="Consolas" pitchFamily="34" charset="-120"/>
              </a:rPr>
              <a:t>"Open"</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11" name="Shape 9"/>
          <p:cNvSpPr/>
          <p:nvPr/>
        </p:nvSpPr>
        <p:spPr>
          <a:xfrm>
            <a:off x="4334256" y="1508760"/>
            <a:ext cx="384048" cy="384048"/>
          </a:xfrm>
          <a:prstGeom prst="ellipse">
            <a:avLst/>
          </a:prstGeom>
          <a:solidFill>
            <a:srgbClr val="D8A73D"/>
          </a:solidFill>
          <a:ln/>
        </p:spPr>
      </p:sp>
      <p:sp>
        <p:nvSpPr>
          <p:cNvPr id="12" name="Text 10"/>
          <p:cNvSpPr txBox="1"/>
          <p:nvPr/>
        </p:nvSpPr>
        <p:spPr>
          <a:xfrm>
            <a:off x="4334256" y="1508760"/>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2</a:t>
            </a:r>
            <a:endParaRPr lang="en-US" sz="1600" dirty="0"/>
          </a:p>
        </p:txBody>
      </p:sp>
      <p:sp>
        <p:nvSpPr>
          <p:cNvPr id="13" name="code"/>
          <p:cNvSpPr/>
          <p:nvPr/>
        </p:nvSpPr>
        <p:spPr>
          <a:xfrm>
            <a:off x="4334256" y="2011680"/>
            <a:ext cx="3511296" cy="2816352"/>
          </a:xfrm>
          <a:prstGeom prst="roundRect">
            <a:avLst>
              <a:gd name="adj" fmla="val 2597"/>
            </a:avLst>
          </a:prstGeom>
          <a:solidFill>
            <a:srgbClr val="111115"/>
          </a:solidFill>
          <a:ln w="15875">
            <a:solidFill>
              <a:srgbClr val="3A3A44"/>
            </a:solidFill>
            <a:prstDash val="solid"/>
          </a:ln>
        </p:spPr>
      </p:sp>
      <p:sp>
        <p:nvSpPr>
          <p:cNvPr id="14" name="Text 12"/>
          <p:cNvSpPr txBox="1"/>
          <p:nvPr/>
        </p:nvSpPr>
        <p:spPr>
          <a:xfrm>
            <a:off x="4517136" y="2212848"/>
            <a:ext cx="3236976" cy="402336"/>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power</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56B4E9"/>
                </a:solidFill>
                <a:latin typeface="Consolas" pitchFamily="34" charset="0"/>
                <a:ea typeface="Consolas" pitchFamily="34" charset="-122"/>
                <a:cs typeface="Consolas" pitchFamily="34" charset="-120"/>
              </a:rPr>
              <a:t>50</a:t>
            </a:r>
            <a:endParaRPr lang="en-US" sz="2000" dirty="0"/>
          </a:p>
        </p:txBody>
      </p:sp>
      <p:sp>
        <p:nvSpPr>
          <p:cNvPr id="15" name="Text 13"/>
          <p:cNvSpPr txBox="1"/>
          <p:nvPr/>
        </p:nvSpPr>
        <p:spPr>
          <a:xfrm>
            <a:off x="4517136" y="2615184"/>
            <a:ext cx="3236976" cy="402336"/>
          </a:xfrm>
          <a:prstGeom prst="rect">
            <a:avLst/>
          </a:prstGeom>
          <a:noFill/>
          <a:ln/>
        </p:spPr>
        <p:txBody>
          <a:bodyPr wrap="square" lIns="0" tIns="0" rIns="0" bIns="0" rtlCol="0" anchor="ctr"/>
          <a:lstStyle/>
          <a:p>
            <a:pPr indent="0" marL="0">
              <a:buNone/>
            </a:pPr>
            <a:r>
              <a:rPr lang="en-US" sz="2000" b="1" dirty="0">
                <a:solidFill>
                  <a:srgbClr val="F5F5F3"/>
                </a:solidFill>
                <a:latin typeface="Consolas" pitchFamily="34" charset="0"/>
                <a:ea typeface="Consolas" pitchFamily="34" charset="-122"/>
                <a:cs typeface="Consolas" pitchFamily="34" charset="-120"/>
              </a:rPr>
              <a:t>if</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F5F5F3"/>
                </a:solidFill>
                <a:latin typeface="Consolas" pitchFamily="34" charset="0"/>
                <a:ea typeface="Consolas" pitchFamily="34" charset="-122"/>
                <a:cs typeface="Consolas" pitchFamily="34" charset="-120"/>
              </a:rPr>
              <a:t>power</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b="1" dirty="0">
                <a:solidFill>
                  <a:srgbClr val="F5F5F3"/>
                </a:solidFill>
                <a:latin typeface="Consolas" pitchFamily="34" charset="0"/>
                <a:ea typeface="Consolas" pitchFamily="34" charset="-122"/>
                <a:cs typeface="Consolas" pitchFamily="34" charset="-120"/>
              </a:rPr>
              <a:t>&gt;=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56B4E9"/>
                </a:solidFill>
                <a:latin typeface="Consolas" pitchFamily="34" charset="0"/>
                <a:ea typeface="Consolas" pitchFamily="34" charset="-122"/>
                <a:cs typeface="Consolas" pitchFamily="34" charset="-120"/>
              </a:rPr>
              <a:t>50</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16" name="Text 14"/>
          <p:cNvSpPr txBox="1"/>
          <p:nvPr/>
        </p:nvSpPr>
        <p:spPr>
          <a:xfrm>
            <a:off x="4517136" y="3017520"/>
            <a:ext cx="3236976" cy="402336"/>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E8C878"/>
                </a:solidFill>
                <a:latin typeface="Consolas" pitchFamily="34" charset="0"/>
                <a:ea typeface="Consolas" pitchFamily="34" charset="-122"/>
                <a:cs typeface="Consolas" pitchFamily="34" charset="-120"/>
              </a:rPr>
              <a:t>print</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E69F00"/>
                </a:solidFill>
                <a:latin typeface="Consolas" pitchFamily="34" charset="0"/>
                <a:ea typeface="Consolas" pitchFamily="34" charset="-122"/>
                <a:cs typeface="Consolas" pitchFamily="34" charset="-120"/>
              </a:rPr>
              <a:t>"Systems on"</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17" name="Text 15"/>
          <p:cNvSpPr txBox="1"/>
          <p:nvPr/>
        </p:nvSpPr>
        <p:spPr>
          <a:xfrm>
            <a:off x="4517136" y="3419856"/>
            <a:ext cx="3236976" cy="402336"/>
          </a:xfrm>
          <a:prstGeom prst="rect">
            <a:avLst/>
          </a:prstGeom>
          <a:noFill/>
          <a:ln/>
        </p:spPr>
        <p:txBody>
          <a:bodyPr wrap="square" lIns="0" tIns="0" rIns="0" bIns="0" rtlCol="0" anchor="ctr"/>
          <a:lstStyle/>
          <a:p>
            <a:pPr indent="0" marL="0">
              <a:buNone/>
            </a:pPr>
            <a:r>
              <a:rPr lang="en-US" sz="2000" b="1" dirty="0">
                <a:solidFill>
                  <a:srgbClr val="F5F5F3"/>
                </a:solidFill>
                <a:latin typeface="Consolas" pitchFamily="34" charset="0"/>
                <a:ea typeface="Consolas" pitchFamily="34" charset="-122"/>
                <a:cs typeface="Consolas" pitchFamily="34" charset="-120"/>
              </a:rPr>
              <a:t>else</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18" name="Text 16"/>
          <p:cNvSpPr txBox="1"/>
          <p:nvPr/>
        </p:nvSpPr>
        <p:spPr>
          <a:xfrm>
            <a:off x="4517136" y="3822192"/>
            <a:ext cx="3236976" cy="402336"/>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E8C878"/>
                </a:solidFill>
                <a:latin typeface="Consolas" pitchFamily="34" charset="0"/>
                <a:ea typeface="Consolas" pitchFamily="34" charset="-122"/>
                <a:cs typeface="Consolas" pitchFamily="34" charset="-120"/>
              </a:rPr>
              <a:t>print</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E69F00"/>
                </a:solidFill>
                <a:latin typeface="Consolas" pitchFamily="34" charset="0"/>
                <a:ea typeface="Consolas" pitchFamily="34" charset="-122"/>
                <a:cs typeface="Consolas" pitchFamily="34" charset="-120"/>
              </a:rPr>
              <a:t>"Backup"</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19" name="Text 17"/>
          <p:cNvSpPr txBox="1"/>
          <p:nvPr/>
        </p:nvSpPr>
        <p:spPr>
          <a:xfrm>
            <a:off x="4517136" y="4224528"/>
            <a:ext cx="3236976" cy="402336"/>
          </a:xfrm>
          <a:prstGeom prst="rect">
            <a:avLst/>
          </a:prstGeom>
          <a:noFill/>
          <a:ln/>
        </p:spPr>
        <p:txBody>
          <a:bodyPr wrap="square" lIns="0" tIns="0" rIns="0" bIns="0" rtlCol="0" anchor="ctr"/>
          <a:lstStyle/>
          <a:p>
            <a:pPr indent="0" marL="0">
              <a:buNone/>
            </a:pPr>
            <a:r>
              <a:rPr lang="en-US" sz="2000" dirty="0">
                <a:solidFill>
                  <a:srgbClr val="E8C878"/>
                </a:solidFill>
                <a:latin typeface="Consolas" pitchFamily="34" charset="0"/>
                <a:ea typeface="Consolas" pitchFamily="34" charset="-122"/>
                <a:cs typeface="Consolas" pitchFamily="34" charset="-120"/>
              </a:rPr>
              <a:t>print</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E69F00"/>
                </a:solidFill>
                <a:latin typeface="Consolas" pitchFamily="34" charset="0"/>
                <a:ea typeface="Consolas" pitchFamily="34" charset="-122"/>
                <a:cs typeface="Consolas" pitchFamily="34" charset="-120"/>
              </a:rPr>
              <a:t>"Done"</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20" name="Shape 18"/>
          <p:cNvSpPr/>
          <p:nvPr/>
        </p:nvSpPr>
        <p:spPr>
          <a:xfrm>
            <a:off x="8119872" y="1508760"/>
            <a:ext cx="384048" cy="384048"/>
          </a:xfrm>
          <a:prstGeom prst="ellipse">
            <a:avLst/>
          </a:prstGeom>
          <a:solidFill>
            <a:srgbClr val="D8A73D"/>
          </a:solidFill>
          <a:ln/>
        </p:spPr>
      </p:sp>
      <p:sp>
        <p:nvSpPr>
          <p:cNvPr id="21" name="Text 19"/>
          <p:cNvSpPr txBox="1"/>
          <p:nvPr/>
        </p:nvSpPr>
        <p:spPr>
          <a:xfrm>
            <a:off x="8119872" y="1508760"/>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3</a:t>
            </a:r>
            <a:endParaRPr lang="en-US" sz="1600" dirty="0"/>
          </a:p>
        </p:txBody>
      </p:sp>
      <p:sp>
        <p:nvSpPr>
          <p:cNvPr id="22" name="code"/>
          <p:cNvSpPr/>
          <p:nvPr/>
        </p:nvSpPr>
        <p:spPr>
          <a:xfrm>
            <a:off x="8119872" y="2011680"/>
            <a:ext cx="3511296" cy="2816352"/>
          </a:xfrm>
          <a:prstGeom prst="roundRect">
            <a:avLst>
              <a:gd name="adj" fmla="val 2597"/>
            </a:avLst>
          </a:prstGeom>
          <a:solidFill>
            <a:srgbClr val="111115"/>
          </a:solidFill>
          <a:ln w="15875">
            <a:solidFill>
              <a:srgbClr val="3A3A44"/>
            </a:solidFill>
            <a:prstDash val="solid"/>
          </a:ln>
        </p:spPr>
      </p:sp>
      <p:sp>
        <p:nvSpPr>
          <p:cNvPr id="23" name="Text 21"/>
          <p:cNvSpPr txBox="1"/>
          <p:nvPr/>
        </p:nvSpPr>
        <p:spPr>
          <a:xfrm>
            <a:off x="8302752" y="2212848"/>
            <a:ext cx="3236976" cy="402336"/>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answer</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E69F00"/>
                </a:solidFill>
                <a:latin typeface="Consolas" pitchFamily="34" charset="0"/>
                <a:ea typeface="Consolas" pitchFamily="34" charset="-122"/>
                <a:cs typeface="Consolas" pitchFamily="34" charset="-120"/>
              </a:rPr>
              <a:t>"n"</a:t>
            </a:r>
            <a:endParaRPr lang="en-US" sz="2000" dirty="0"/>
          </a:p>
        </p:txBody>
      </p:sp>
      <p:sp>
        <p:nvSpPr>
          <p:cNvPr id="24" name="Text 22"/>
          <p:cNvSpPr txBox="1"/>
          <p:nvPr/>
        </p:nvSpPr>
        <p:spPr>
          <a:xfrm>
            <a:off x="8302752" y="2615184"/>
            <a:ext cx="3236976" cy="402336"/>
          </a:xfrm>
          <a:prstGeom prst="rect">
            <a:avLst/>
          </a:prstGeom>
          <a:noFill/>
          <a:ln/>
        </p:spPr>
        <p:txBody>
          <a:bodyPr wrap="square" lIns="0" tIns="0" rIns="0" bIns="0" rtlCol="0" anchor="ctr"/>
          <a:lstStyle/>
          <a:p>
            <a:pPr indent="0" marL="0">
              <a:buNone/>
            </a:pPr>
            <a:r>
              <a:rPr lang="en-US" sz="2000" b="1" dirty="0">
                <a:solidFill>
                  <a:srgbClr val="F5F5F3"/>
                </a:solidFill>
                <a:latin typeface="Consolas" pitchFamily="34" charset="0"/>
                <a:ea typeface="Consolas" pitchFamily="34" charset="-122"/>
                <a:cs typeface="Consolas" pitchFamily="34" charset="-120"/>
              </a:rPr>
              <a:t>if</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F5F5F3"/>
                </a:solidFill>
                <a:latin typeface="Consolas" pitchFamily="34" charset="0"/>
                <a:ea typeface="Consolas" pitchFamily="34" charset="-122"/>
                <a:cs typeface="Consolas" pitchFamily="34" charset="-120"/>
              </a:rPr>
              <a:t>answer</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b="1" dirty="0">
                <a:solidFill>
                  <a:srgbClr val="F5F5F3"/>
                </a:solidFill>
                <a:latin typeface="Consolas" pitchFamily="34" charset="0"/>
                <a:ea typeface="Consolas" pitchFamily="34" charset="-122"/>
                <a:cs typeface="Consolas" pitchFamily="34" charset="-120"/>
              </a:rPr>
              <a: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E69F00"/>
                </a:solidFill>
                <a:latin typeface="Consolas" pitchFamily="34" charset="0"/>
                <a:ea typeface="Consolas" pitchFamily="34" charset="-122"/>
                <a:cs typeface="Consolas" pitchFamily="34" charset="-120"/>
              </a:rPr>
              <a:t>"y"</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25" name="Text 23"/>
          <p:cNvSpPr txBox="1"/>
          <p:nvPr/>
        </p:nvSpPr>
        <p:spPr>
          <a:xfrm>
            <a:off x="8302752" y="3017520"/>
            <a:ext cx="3236976" cy="402336"/>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E8C878"/>
                </a:solidFill>
                <a:latin typeface="Consolas" pitchFamily="34" charset="0"/>
                <a:ea typeface="Consolas" pitchFamily="34" charset="-122"/>
                <a:cs typeface="Consolas" pitchFamily="34" charset="-120"/>
              </a:rPr>
              <a:t>print</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E69F00"/>
                </a:solidFill>
                <a:latin typeface="Consolas" pitchFamily="34" charset="0"/>
                <a:ea typeface="Consolas" pitchFamily="34" charset="-122"/>
                <a:cs typeface="Consolas" pitchFamily="34" charset="-120"/>
              </a:rPr>
              <a:t>"Sent"</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26" name="Text 24"/>
          <p:cNvSpPr txBox="1"/>
          <p:nvPr/>
        </p:nvSpPr>
        <p:spPr>
          <a:xfrm>
            <a:off x="8302752" y="3419856"/>
            <a:ext cx="3236976" cy="402336"/>
          </a:xfrm>
          <a:prstGeom prst="rect">
            <a:avLst/>
          </a:prstGeom>
          <a:noFill/>
          <a:ln/>
        </p:spPr>
        <p:txBody>
          <a:bodyPr wrap="square" lIns="0" tIns="0" rIns="0" bIns="0" rtlCol="0" anchor="ctr"/>
          <a:lstStyle/>
          <a:p>
            <a:pPr indent="0" marL="0">
              <a:buNone/>
            </a:pPr>
            <a:r>
              <a:rPr lang="en-US" sz="2000" b="1" dirty="0">
                <a:solidFill>
                  <a:srgbClr val="F5F5F3"/>
                </a:solidFill>
                <a:latin typeface="Consolas" pitchFamily="34" charset="0"/>
                <a:ea typeface="Consolas" pitchFamily="34" charset="-122"/>
                <a:cs typeface="Consolas" pitchFamily="34" charset="-120"/>
              </a:rPr>
              <a:t>else</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27" name="Text 25"/>
          <p:cNvSpPr txBox="1"/>
          <p:nvPr/>
        </p:nvSpPr>
        <p:spPr>
          <a:xfrm>
            <a:off x="8302752" y="3822192"/>
            <a:ext cx="3236976" cy="402336"/>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E8C878"/>
                </a:solidFill>
                <a:latin typeface="Consolas" pitchFamily="34" charset="0"/>
                <a:ea typeface="Consolas" pitchFamily="34" charset="-122"/>
                <a:cs typeface="Consolas" pitchFamily="34" charset="-120"/>
              </a:rPr>
              <a:t>print</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E69F00"/>
                </a:solidFill>
                <a:latin typeface="Consolas" pitchFamily="34" charset="0"/>
                <a:ea typeface="Consolas" pitchFamily="34" charset="-122"/>
                <a:cs typeface="Consolas" pitchFamily="34" charset="-120"/>
              </a:rPr>
              <a:t>"Cancelled"</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28" name="Text 26"/>
          <p:cNvSpPr txBox="1"/>
          <p:nvPr/>
        </p:nvSpPr>
        <p:spPr>
          <a:xfrm>
            <a:off x="8302752" y="4224528"/>
            <a:ext cx="3236976" cy="402336"/>
          </a:xfrm>
          <a:prstGeom prst="rect">
            <a:avLst/>
          </a:prstGeom>
          <a:noFill/>
          <a:ln/>
        </p:spPr>
        <p:txBody>
          <a:bodyPr wrap="square" lIns="0" tIns="0" rIns="0" bIns="0" rtlCol="0" anchor="ctr"/>
          <a:lstStyle/>
          <a:p>
            <a:pPr indent="0" marL="0">
              <a:buNone/>
            </a:pPr>
            <a:r>
              <a:rPr lang="en-US" sz="2000" dirty="0">
                <a:solidFill>
                  <a:srgbClr val="E8C878"/>
                </a:solidFill>
                <a:latin typeface="Consolas" pitchFamily="34" charset="0"/>
                <a:ea typeface="Consolas" pitchFamily="34" charset="-122"/>
                <a:cs typeface="Consolas" pitchFamily="34" charset="-120"/>
              </a:rPr>
              <a:t>print</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E69F00"/>
                </a:solidFill>
                <a:latin typeface="Consolas" pitchFamily="34" charset="0"/>
                <a:ea typeface="Consolas" pitchFamily="34" charset="-122"/>
                <a:cs typeface="Consolas" pitchFamily="34" charset="-120"/>
              </a:rPr>
              <a:t>"Done"</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29" name="Shape 27"/>
          <p:cNvSpPr/>
          <p:nvPr/>
        </p:nvSpPr>
        <p:spPr>
          <a:xfrm>
            <a:off x="548640" y="5148072"/>
            <a:ext cx="11091672" cy="914400"/>
          </a:xfrm>
          <a:prstGeom prst="roundRect">
            <a:avLst>
              <a:gd name="adj" fmla="val 8000"/>
            </a:avLst>
          </a:prstGeom>
          <a:solidFill>
            <a:srgbClr val="1E1E24"/>
          </a:solidFill>
          <a:ln w="25400">
            <a:solidFill>
              <a:srgbClr val="D8A73D"/>
            </a:solidFill>
            <a:prstDash val="solid"/>
          </a:ln>
        </p:spPr>
      </p:sp>
      <p:sp>
        <p:nvSpPr>
          <p:cNvPr id="30" name="Text 28"/>
          <p:cNvSpPr txBox="1"/>
          <p:nvPr/>
        </p:nvSpPr>
        <p:spPr>
          <a:xfrm>
            <a:off x="914400" y="5148072"/>
            <a:ext cx="10332720" cy="914400"/>
          </a:xfrm>
          <a:prstGeom prst="rect">
            <a:avLst/>
          </a:prstGeom>
          <a:noFill/>
          <a:ln/>
        </p:spPr>
        <p:txBody>
          <a:bodyPr wrap="square" lIns="0" tIns="0" rIns="0" bIns="0" rtlCol="0" anchor="ctr"/>
          <a:lstStyle/>
          <a:p>
            <a:pPr indent="0" marL="0">
              <a:buNone/>
            </a:pPr>
            <a:r>
              <a:rPr lang="en-US" sz="2400" b="1" dirty="0">
                <a:solidFill>
                  <a:srgbClr val="D8A73D"/>
                </a:solidFill>
                <a:latin typeface="Calibri" pitchFamily="34" charset="0"/>
                <a:ea typeface="Calibri" pitchFamily="34" charset="-122"/>
                <a:cs typeface="Calibri" pitchFamily="34" charset="-120"/>
              </a:rPr>
              <a:t>On your board: </a:t>
            </a:r>
            <a:pPr indent="0" marL="0">
              <a:buNone/>
            </a:pPr>
            <a:r>
              <a:rPr lang="en-US" sz="2400" dirty="0">
                <a:solidFill>
                  <a:srgbClr val="F5F5F3"/>
                </a:solidFill>
                <a:latin typeface="Calibri" pitchFamily="34" charset="0"/>
                <a:ea typeface="Calibri" pitchFamily="34" charset="-122"/>
                <a:cs typeface="Calibri" pitchFamily="34" charset="-120"/>
              </a:rPr>
              <a:t>write exactly what each program prints.</a:t>
            </a:r>
            <a:endParaRPr lang="en-US" sz="2400" dirty="0"/>
          </a:p>
        </p:txBody>
      </p:sp>
      <p:sp>
        <p:nvSpPr>
          <p:cNvPr id="31" name="Shape 29"/>
          <p:cNvSpPr/>
          <p:nvPr/>
        </p:nvSpPr>
        <p:spPr>
          <a:xfrm>
            <a:off x="9464040" y="566928"/>
            <a:ext cx="1280160" cy="329184"/>
          </a:xfrm>
          <a:prstGeom prst="roundRect">
            <a:avLst>
              <a:gd name="adj" fmla="val 50000"/>
            </a:avLst>
          </a:prstGeom>
          <a:solidFill>
            <a:srgbClr val="1E1E24"/>
          </a:solidFill>
          <a:ln w="15875">
            <a:solidFill>
              <a:srgbClr val="D8A73D"/>
            </a:solidFill>
            <a:prstDash val="solid"/>
          </a:ln>
        </p:spPr>
      </p:sp>
      <p:sp>
        <p:nvSpPr>
          <p:cNvPr id="32" name="Text 30"/>
          <p:cNvSpPr txBox="1"/>
          <p:nvPr/>
        </p:nvSpPr>
        <p:spPr>
          <a:xfrm>
            <a:off x="9464040" y="566928"/>
            <a:ext cx="1280160" cy="329184"/>
          </a:xfrm>
          <a:prstGeom prst="rect">
            <a:avLst/>
          </a:prstGeom>
          <a:noFill/>
          <a:ln/>
        </p:spPr>
        <p:txBody>
          <a:bodyPr wrap="square" lIns="0" tIns="0" rIns="0" bIns="0" rtlCol="0" anchor="ctr"/>
          <a:lstStyle/>
          <a:p>
            <a:pPr algn="ctr" indent="0" marL="0">
              <a:buNone/>
            </a:pPr>
            <a:r>
              <a:rPr lang="en-US" sz="1400" b="1" spc="100" kern="0" dirty="0">
                <a:solidFill>
                  <a:srgbClr val="D8A73D"/>
                </a:solidFill>
                <a:latin typeface="Calibri" pitchFamily="34" charset="0"/>
                <a:ea typeface="Calibri" pitchFamily="34" charset="-122"/>
                <a:cs typeface="Calibri" pitchFamily="34" charset="-120"/>
              </a:rPr>
              <a:t>⏱  4 MIN</a:t>
            </a:r>
            <a:endParaRPr lang="en-US" sz="1400" dirty="0"/>
          </a:p>
        </p:txBody>
      </p:sp>
      <p:sp>
        <p:nvSpPr>
          <p:cNvPr id="33" name="Shape 31"/>
          <p:cNvSpPr/>
          <p:nvPr/>
        </p:nvSpPr>
        <p:spPr>
          <a:xfrm>
            <a:off x="8046720" y="566928"/>
            <a:ext cx="1280160" cy="329184"/>
          </a:xfrm>
          <a:prstGeom prst="roundRect">
            <a:avLst>
              <a:gd name="adj" fmla="val 50000"/>
            </a:avLst>
          </a:prstGeom>
          <a:solidFill>
            <a:srgbClr val="D8A73D"/>
          </a:solidFill>
          <a:ln/>
        </p:spPr>
      </p:sp>
      <p:sp>
        <p:nvSpPr>
          <p:cNvPr id="34" name="Text 32"/>
          <p:cNvSpPr txBox="1"/>
          <p:nvPr/>
        </p:nvSpPr>
        <p:spPr>
          <a:xfrm>
            <a:off x="8046720" y="566928"/>
            <a:ext cx="1280160" cy="329184"/>
          </a:xfrm>
          <a:prstGeom prst="rect">
            <a:avLst/>
          </a:prstGeom>
          <a:noFill/>
          <a:ln/>
        </p:spPr>
        <p:txBody>
          <a:bodyPr wrap="square" lIns="0" tIns="0" rIns="0" bIns="0" rtlCol="0" anchor="ctr"/>
          <a:lstStyle/>
          <a:p>
            <a:pPr algn="ctr" indent="0" marL="0">
              <a:buNone/>
            </a:pPr>
            <a:r>
              <a:rPr lang="en-US" sz="1400" b="1" spc="200" kern="0" dirty="0">
                <a:solidFill>
                  <a:srgbClr val="1E1E24"/>
                </a:solidFill>
                <a:latin typeface="Calibri" pitchFamily="34" charset="0"/>
                <a:ea typeface="Calibri" pitchFamily="34" charset="-122"/>
                <a:cs typeface="Calibri" pitchFamily="34" charset="-120"/>
              </a:rPr>
              <a:t>YOU DO</a:t>
            </a:r>
            <a:endParaRPr lang="en-US" sz="1400" dirty="0"/>
          </a:p>
        </p:txBody>
      </p:sp>
      <p:pic>
        <p:nvPicPr>
          <p:cNvPr id="35" name="Image 0" descr="Deliberate practice">    </p:cNvPr>
          <p:cNvPicPr>
            <a:picLocks noChangeAspect="1"/>
          </p:cNvPicPr>
          <p:nvPr/>
        </p:nvPicPr>
        <p:blipFill>
          <a:blip r:embed="rId1"/>
          <a:stretch>
            <a:fillRect/>
          </a:stretch>
        </p:blipFill>
        <p:spPr>
          <a:xfrm>
            <a:off x="10972800" y="384048"/>
            <a:ext cx="731520" cy="731520"/>
          </a:xfrm>
          <a:prstGeom prst="rect">
            <a:avLst/>
          </a:prstGeom>
        </p:spPr>
      </p:pic>
      <p:sp>
        <p:nvSpPr>
          <p:cNvPr id="37" name="Text 33"/>
          <p:cNvSpPr txBox="1"/>
          <p:nvPr/>
        </p:nvSpPr>
        <p:spPr>
          <a:xfrm>
            <a:off x="4206240" y="6355080"/>
            <a:ext cx="6812280" cy="320040"/>
          </a:xfrm>
          <a:prstGeom prst="rect">
            <a:avLst/>
          </a:prstGeom>
          <a:noFill/>
          <a:ln/>
        </p:spPr>
        <p:txBody>
          <a:bodyPr wrap="square" lIns="0" tIns="0" rIns="0" bIns="0" rtlCol="0" anchor="ctr"/>
          <a:lstStyle/>
          <a:p>
            <a:pPr algn="r" indent="0" marL="0">
              <a:buNone/>
            </a:pPr>
            <a:r>
              <a:rPr lang="en-US" sz="1300" b="1" i="1" dirty="0">
                <a:solidFill>
                  <a:srgbClr val="D8A73D"/>
                </a:solidFill>
                <a:latin typeface="Calibri" pitchFamily="34" charset="0"/>
                <a:ea typeface="Calibri" pitchFamily="34" charset="-122"/>
                <a:cs typeface="Calibri" pitchFamily="34" charset="-120"/>
              </a:rPr>
              <a:t>whatPrintedGridSlide()  ·  What is printed? (You do)</a:t>
            </a:r>
            <a:endParaRPr lang="en-US" sz="1300" dirty="0"/>
          </a:p>
        </p:txBody>
      </p:sp>
      <p:sp>
        <p:nvSpPr>
          <p:cNvPr id="38"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Plenary</a:t>
            </a:r>
            <a:endParaRPr lang="en-US" sz="3600" dirty="0"/>
          </a:p>
        </p:txBody>
      </p:sp>
      <p:sp>
        <p:nvSpPr>
          <p:cNvPr id="3" name="Shape 1"/>
          <p:cNvSpPr/>
          <p:nvPr/>
        </p:nvSpPr>
        <p:spPr>
          <a:xfrm>
            <a:off x="548640" y="1508760"/>
            <a:ext cx="11091672" cy="1097280"/>
          </a:xfrm>
          <a:prstGeom prst="roundRect">
            <a:avLst>
              <a:gd name="adj" fmla="val 6667"/>
            </a:avLst>
          </a:prstGeom>
          <a:solidFill>
            <a:srgbClr val="2A2A32"/>
          </a:solidFill>
          <a:ln w="25400">
            <a:solidFill>
              <a:srgbClr val="D8A73D"/>
            </a:solidFill>
            <a:prstDash val="solid"/>
          </a:ln>
        </p:spPr>
      </p:sp>
      <p:sp>
        <p:nvSpPr>
          <p:cNvPr id="4" name="Text 2"/>
          <p:cNvSpPr txBox="1"/>
          <p:nvPr/>
        </p:nvSpPr>
        <p:spPr>
          <a:xfrm>
            <a:off x="914400" y="1627632"/>
            <a:ext cx="3657600" cy="274320"/>
          </a:xfrm>
          <a:prstGeom prst="rect">
            <a:avLst/>
          </a:prstGeom>
          <a:noFill/>
          <a:ln/>
        </p:spPr>
        <p:txBody>
          <a:bodyPr wrap="square" lIns="0" tIns="0" rIns="0" bIns="0" rtlCol="0" anchor="ctr"/>
          <a:lstStyle/>
          <a:p>
            <a:pPr indent="0" marL="0">
              <a:buNone/>
            </a:pPr>
            <a:r>
              <a:rPr lang="en-US" sz="1300" b="1" spc="200" kern="0" dirty="0">
                <a:solidFill>
                  <a:srgbClr val="D8A73D"/>
                </a:solidFill>
                <a:latin typeface="Calibri" pitchFamily="34" charset="0"/>
                <a:ea typeface="Calibri" pitchFamily="34" charset="-122"/>
                <a:cs typeface="Calibri" pitchFamily="34" charset="-120"/>
              </a:rPr>
              <a:t>LESSON QUESTION</a:t>
            </a:r>
            <a:endParaRPr lang="en-US" sz="1300" dirty="0"/>
          </a:p>
        </p:txBody>
      </p:sp>
      <p:sp>
        <p:nvSpPr>
          <p:cNvPr id="5" name="Text 3"/>
          <p:cNvSpPr txBox="1"/>
          <p:nvPr/>
        </p:nvSpPr>
        <p:spPr>
          <a:xfrm>
            <a:off x="914400" y="1901952"/>
            <a:ext cx="10332720" cy="594360"/>
          </a:xfrm>
          <a:prstGeom prst="rect">
            <a:avLst/>
          </a:prstGeom>
          <a:noFill/>
          <a:ln/>
        </p:spPr>
        <p:txBody>
          <a:bodyPr wrap="square" lIns="0" tIns="0" rIns="0" bIns="0" rtlCol="0" anchor="ctr"/>
          <a:lstStyle/>
          <a:p>
            <a:pPr indent="0" marL="0">
              <a:buNone/>
            </a:pPr>
            <a:r>
              <a:rPr lang="en-US" sz="2600" b="1" dirty="0">
                <a:solidFill>
                  <a:srgbClr val="F5F5F3"/>
                </a:solidFill>
                <a:latin typeface="Cambria" pitchFamily="34" charset="0"/>
                <a:ea typeface="Cambria" pitchFamily="34" charset="-122"/>
                <a:cs typeface="Cambria" pitchFamily="34" charset="-120"/>
              </a:rPr>
              <a:t>How do we ask for, store and calculate with what a user types?</a:t>
            </a:r>
            <a:endParaRPr lang="en-US" sz="2600" dirty="0"/>
          </a:p>
        </p:txBody>
      </p:sp>
      <p:sp>
        <p:nvSpPr>
          <p:cNvPr id="6" name="Shape 4"/>
          <p:cNvSpPr/>
          <p:nvPr/>
        </p:nvSpPr>
        <p:spPr>
          <a:xfrm>
            <a:off x="548640" y="2953512"/>
            <a:ext cx="438912" cy="438912"/>
          </a:xfrm>
          <a:prstGeom prst="ellipse">
            <a:avLst/>
          </a:prstGeom>
          <a:solidFill>
            <a:srgbClr val="D8A73D"/>
          </a:solidFill>
          <a:ln/>
        </p:spPr>
      </p:sp>
      <p:sp>
        <p:nvSpPr>
          <p:cNvPr id="7" name="Text 5"/>
          <p:cNvSpPr txBox="1"/>
          <p:nvPr/>
        </p:nvSpPr>
        <p:spPr>
          <a:xfrm>
            <a:off x="548640" y="2953512"/>
            <a:ext cx="438912" cy="438912"/>
          </a:xfrm>
          <a:prstGeom prst="rect">
            <a:avLst/>
          </a:prstGeom>
          <a:noFill/>
          <a:ln/>
        </p:spPr>
        <p:txBody>
          <a:bodyPr wrap="square" lIns="0" tIns="0" rIns="0" bIns="0" rtlCol="0" anchor="ctr"/>
          <a:lstStyle/>
          <a:p>
            <a:pPr algn="ctr" indent="0" marL="0">
              <a:buNone/>
            </a:pPr>
            <a:r>
              <a:rPr lang="en-US" sz="2000" b="1" dirty="0">
                <a:solidFill>
                  <a:srgbClr val="1E1E24"/>
                </a:solidFill>
                <a:latin typeface="Cambria" pitchFamily="34" charset="0"/>
                <a:ea typeface="Cambria" pitchFamily="34" charset="-122"/>
                <a:cs typeface="Cambria" pitchFamily="34" charset="-120"/>
              </a:rPr>
              <a:t>1</a:t>
            </a:r>
            <a:endParaRPr lang="en-US" sz="2000" dirty="0"/>
          </a:p>
        </p:txBody>
      </p:sp>
      <p:sp>
        <p:nvSpPr>
          <p:cNvPr id="8" name="Text 6"/>
          <p:cNvSpPr txBox="1"/>
          <p:nvPr/>
        </p:nvSpPr>
        <p:spPr>
          <a:xfrm>
            <a:off x="1188720" y="2880360"/>
            <a:ext cx="10424160" cy="594360"/>
          </a:xfrm>
          <a:prstGeom prst="rect">
            <a:avLst/>
          </a:prstGeom>
          <a:noFill/>
          <a:ln/>
        </p:spPr>
        <p:txBody>
          <a:bodyPr wrap="square" lIns="0" tIns="0" rIns="0" bIns="0" rtlCol="0" anchor="ctr"/>
          <a:lstStyle/>
          <a:p>
            <a:pPr indent="0" marL="0">
              <a:buNone/>
            </a:pPr>
            <a:r>
              <a:rPr lang="en-US" sz="2200" dirty="0">
                <a:solidFill>
                  <a:srgbClr val="F5F5F3"/>
                </a:solidFill>
                <a:latin typeface="Calibri" pitchFamily="34" charset="0"/>
                <a:ea typeface="Calibri" pitchFamily="34" charset="-122"/>
                <a:cs typeface="Calibri" pitchFamily="34" charset="-120"/>
              </a:rPr>
              <a:t>Write one line that asks how many crew are awake and stores it as a whole number in crew.</a:t>
            </a:r>
            <a:endParaRPr lang="en-US" sz="2200" dirty="0"/>
          </a:p>
        </p:txBody>
      </p:sp>
      <p:sp>
        <p:nvSpPr>
          <p:cNvPr id="9" name="Shape 7"/>
          <p:cNvSpPr/>
          <p:nvPr/>
        </p:nvSpPr>
        <p:spPr>
          <a:xfrm>
            <a:off x="548640" y="4096512"/>
            <a:ext cx="438912" cy="438912"/>
          </a:xfrm>
          <a:prstGeom prst="ellipse">
            <a:avLst/>
          </a:prstGeom>
          <a:solidFill>
            <a:srgbClr val="D8A73D"/>
          </a:solidFill>
          <a:ln/>
        </p:spPr>
      </p:sp>
      <p:sp>
        <p:nvSpPr>
          <p:cNvPr id="10" name="Text 8"/>
          <p:cNvSpPr txBox="1"/>
          <p:nvPr/>
        </p:nvSpPr>
        <p:spPr>
          <a:xfrm>
            <a:off x="548640" y="4096512"/>
            <a:ext cx="438912" cy="438912"/>
          </a:xfrm>
          <a:prstGeom prst="rect">
            <a:avLst/>
          </a:prstGeom>
          <a:noFill/>
          <a:ln/>
        </p:spPr>
        <p:txBody>
          <a:bodyPr wrap="square" lIns="0" tIns="0" rIns="0" bIns="0" rtlCol="0" anchor="ctr"/>
          <a:lstStyle/>
          <a:p>
            <a:pPr algn="ctr" indent="0" marL="0">
              <a:buNone/>
            </a:pPr>
            <a:r>
              <a:rPr lang="en-US" sz="2000" b="1" dirty="0">
                <a:solidFill>
                  <a:srgbClr val="1E1E24"/>
                </a:solidFill>
                <a:latin typeface="Cambria" pitchFamily="34" charset="0"/>
                <a:ea typeface="Cambria" pitchFamily="34" charset="-122"/>
                <a:cs typeface="Cambria" pitchFamily="34" charset="-120"/>
              </a:rPr>
              <a:t>2</a:t>
            </a:r>
            <a:endParaRPr lang="en-US" sz="2000" dirty="0"/>
          </a:p>
        </p:txBody>
      </p:sp>
      <p:sp>
        <p:nvSpPr>
          <p:cNvPr id="11" name="Text 9"/>
          <p:cNvSpPr txBox="1"/>
          <p:nvPr/>
        </p:nvSpPr>
        <p:spPr>
          <a:xfrm>
            <a:off x="1188720" y="4023360"/>
            <a:ext cx="10424160" cy="594360"/>
          </a:xfrm>
          <a:prstGeom prst="rect">
            <a:avLst/>
          </a:prstGeom>
          <a:noFill/>
          <a:ln/>
        </p:spPr>
        <p:txBody>
          <a:bodyPr wrap="square" lIns="0" tIns="0" rIns="0" bIns="0" rtlCol="0" anchor="ctr"/>
          <a:lstStyle/>
          <a:p>
            <a:pPr indent="0" marL="0">
              <a:buNone/>
            </a:pPr>
            <a:r>
              <a:rPr lang="en-US" sz="2200" dirty="0">
                <a:solidFill>
                  <a:srgbClr val="F5F5F3"/>
                </a:solidFill>
                <a:latin typeface="Calibri" pitchFamily="34" charset="0"/>
                <a:ea typeface="Calibri" pitchFamily="34" charset="-122"/>
                <a:cs typeface="Calibri" pitchFamily="34" charset="-120"/>
              </a:rPr>
              <a:t>Fix this line, and say why it crashed:</a:t>
            </a:r>
            <a:endParaRPr lang="en-US" sz="2200" dirty="0"/>
          </a:p>
        </p:txBody>
      </p:sp>
      <p:sp>
        <p:nvSpPr>
          <p:cNvPr id="12" name="Text 10"/>
          <p:cNvSpPr txBox="1"/>
          <p:nvPr/>
        </p:nvSpPr>
        <p:spPr>
          <a:xfrm>
            <a:off x="1188720" y="4572000"/>
            <a:ext cx="5943600" cy="457200"/>
          </a:xfrm>
          <a:prstGeom prst="rect">
            <a:avLst/>
          </a:prstGeom>
          <a:noFill/>
          <a:ln/>
        </p:spPr>
        <p:txBody>
          <a:bodyPr wrap="square" lIns="0" tIns="0" rIns="0" bIns="0" rtlCol="0" anchor="ctr"/>
          <a:lstStyle/>
          <a:p>
            <a:pPr indent="0" marL="0">
              <a:buNone/>
            </a:pPr>
            <a:r>
              <a:rPr lang="en-US" sz="2200" dirty="0">
                <a:solidFill>
                  <a:srgbClr val="E8C878"/>
                </a:solidFill>
                <a:latin typeface="Consolas" pitchFamily="34" charset="0"/>
                <a:ea typeface="Consolas" pitchFamily="34" charset="-122"/>
                <a:cs typeface="Consolas" pitchFamily="34" charset="-120"/>
              </a:rPr>
              <a:t>print</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E69F00"/>
                </a:solidFill>
                <a:latin typeface="Consolas" pitchFamily="34" charset="0"/>
                <a:ea typeface="Consolas" pitchFamily="34" charset="-122"/>
                <a:cs typeface="Consolas" pitchFamily="34" charset="-120"/>
              </a:rPr>
              <a:t>"Crew awake: "</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F5F5F3"/>
                </a:solidFill>
                <a:latin typeface="Consolas" pitchFamily="34" charset="0"/>
                <a:ea typeface="Consolas" pitchFamily="34" charset="-122"/>
                <a:cs typeface="Consolas" pitchFamily="34" charset="-120"/>
              </a:rPr>
              <a:t>crew</a:t>
            </a:r>
            <a:pPr indent="0" marL="0">
              <a:buNone/>
            </a:pPr>
            <a:r>
              <a:rPr lang="en-US" sz="2200" dirty="0">
                <a:solidFill>
                  <a:srgbClr val="A9A9B4"/>
                </a:solidFill>
                <a:latin typeface="Consolas" pitchFamily="34" charset="0"/>
                <a:ea typeface="Consolas" pitchFamily="34" charset="-122"/>
                <a:cs typeface="Consolas" pitchFamily="34" charset="-120"/>
              </a:rPr>
              <a:t>)</a:t>
            </a:r>
            <a:endParaRPr lang="en-US" sz="2200" dirty="0"/>
          </a:p>
        </p:txBody>
      </p:sp>
      <p:sp>
        <p:nvSpPr>
          <p:cNvPr id="13" name="terminal"/>
          <p:cNvSpPr/>
          <p:nvPr/>
        </p:nvSpPr>
        <p:spPr>
          <a:xfrm>
            <a:off x="1188720" y="5303520"/>
            <a:ext cx="7589520" cy="685800"/>
          </a:xfrm>
          <a:prstGeom prst="roundRect">
            <a:avLst>
              <a:gd name="adj" fmla="val 10667"/>
            </a:avLst>
          </a:prstGeom>
          <a:solidFill>
            <a:srgbClr val="0D1310"/>
          </a:solidFill>
          <a:ln w="15875">
            <a:solidFill>
              <a:srgbClr val="2C4434"/>
            </a:solidFill>
            <a:prstDash val="solid"/>
          </a:ln>
        </p:spPr>
      </p:sp>
      <p:sp>
        <p:nvSpPr>
          <p:cNvPr id="14" name="Text 12"/>
          <p:cNvSpPr txBox="1"/>
          <p:nvPr/>
        </p:nvSpPr>
        <p:spPr>
          <a:xfrm>
            <a:off x="1417320" y="5532120"/>
            <a:ext cx="7132320" cy="365760"/>
          </a:xfrm>
          <a:prstGeom prst="rect">
            <a:avLst/>
          </a:prstGeom>
          <a:noFill/>
          <a:ln/>
        </p:spPr>
        <p:txBody>
          <a:bodyPr wrap="square" lIns="0" tIns="0" rIns="0" bIns="0" rtlCol="0" anchor="ctr"/>
          <a:lstStyle/>
          <a:p>
            <a:pPr indent="0" marL="0">
              <a:buNone/>
            </a:pPr>
            <a:r>
              <a:rPr lang="en-US" sz="1800" dirty="0">
                <a:solidFill>
                  <a:srgbClr val="7FD99A"/>
                </a:solidFill>
                <a:latin typeface="Consolas" pitchFamily="34" charset="0"/>
                <a:ea typeface="Consolas" pitchFamily="34" charset="-122"/>
                <a:cs typeface="Consolas" pitchFamily="34" charset="-120"/>
              </a:rPr>
              <a:t>MOTION DETECTED · SENSOR OPS · TAG: </a:t>
            </a:r>
            <a:pPr indent="0" marL="0">
              <a:buNone/>
            </a:pPr>
            <a:r>
              <a:rPr lang="en-US" sz="1800" b="1" dirty="0">
                <a:solidFill>
                  <a:srgbClr val="D8A73D"/>
                </a:solidFill>
                <a:latin typeface="Consolas" pitchFamily="34" charset="0"/>
                <a:ea typeface="Consolas" pitchFamily="34" charset="-122"/>
                <a:cs typeface="Consolas" pitchFamily="34" charset="-120"/>
              </a:rPr>
              <a:t>HALE</a:t>
            </a:r>
            <a:endParaRPr lang="en-US" sz="1800" dirty="0"/>
          </a:p>
        </p:txBody>
      </p:sp>
      <p:pic>
        <p:nvPicPr>
          <p:cNvPr id="15" name="Image 0" descr="Recap and recall">    </p:cNvPr>
          <p:cNvPicPr>
            <a:picLocks noChangeAspect="1"/>
          </p:cNvPicPr>
          <p:nvPr/>
        </p:nvPicPr>
        <p:blipFill>
          <a:blip r:embed="rId1"/>
          <a:stretch>
            <a:fillRect/>
          </a:stretch>
        </p:blipFill>
        <p:spPr>
          <a:xfrm>
            <a:off x="10972800" y="384048"/>
            <a:ext cx="731520" cy="731520"/>
          </a:xfrm>
          <a:prstGeom prst="rect">
            <a:avLst/>
          </a:prstGeom>
        </p:spPr>
      </p:pic>
      <p:sp>
        <p:nvSpPr>
          <p:cNvPr id="17" name="Text 13"/>
          <p:cNvSpPr txBox="1"/>
          <p:nvPr/>
        </p:nvSpPr>
        <p:spPr>
          <a:xfrm>
            <a:off x="4206240" y="6355080"/>
            <a:ext cx="6812280" cy="320040"/>
          </a:xfrm>
          <a:prstGeom prst="rect">
            <a:avLst/>
          </a:prstGeom>
          <a:noFill/>
          <a:ln/>
        </p:spPr>
        <p:txBody>
          <a:bodyPr wrap="square" lIns="0" tIns="0" rIns="0" bIns="0" rtlCol="0" anchor="ctr"/>
          <a:lstStyle/>
          <a:p>
            <a:pPr algn="r" indent="0" marL="0">
              <a:buNone/>
            </a:pPr>
            <a:r>
              <a:rPr lang="en-US" sz="1300" b="1" i="1" dirty="0">
                <a:solidFill>
                  <a:srgbClr val="D8A73D"/>
                </a:solidFill>
                <a:latin typeface="Calibri" pitchFamily="34" charset="0"/>
                <a:ea typeface="Calibri" pitchFamily="34" charset="-122"/>
                <a:cs typeface="Calibri" pitchFamily="34" charset="-120"/>
              </a:rPr>
              <a:t>plenarySlide()  ·  Plenary</a:t>
            </a:r>
            <a:endParaRPr lang="en-US" sz="13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The station decays with the story</a:t>
            </a:r>
            <a:endParaRPr lang="en-US" sz="3600" dirty="0"/>
          </a:p>
        </p:txBody>
      </p:sp>
      <p:sp>
        <p:nvSpPr>
          <p:cNvPr id="3" name="Shape 1"/>
          <p:cNvSpPr/>
          <p:nvPr/>
        </p:nvSpPr>
        <p:spPr>
          <a:xfrm>
            <a:off x="548640" y="1600200"/>
            <a:ext cx="3538728" cy="4023360"/>
          </a:xfrm>
          <a:prstGeom prst="roundRect">
            <a:avLst>
              <a:gd name="adj" fmla="val 2067"/>
            </a:avLst>
          </a:prstGeom>
          <a:solidFill>
            <a:srgbClr val="2A2A32"/>
          </a:solidFill>
          <a:ln/>
        </p:spPr>
      </p:sp>
      <p:sp>
        <p:nvSpPr>
          <p:cNvPr id="4" name="Shape 2"/>
          <p:cNvSpPr/>
          <p:nvPr/>
        </p:nvSpPr>
        <p:spPr>
          <a:xfrm>
            <a:off x="822960" y="1874520"/>
            <a:ext cx="548640" cy="548640"/>
          </a:xfrm>
          <a:prstGeom prst="ellipse">
            <a:avLst/>
          </a:prstGeom>
          <a:solidFill>
            <a:srgbClr val="D8A73D"/>
          </a:solidFill>
          <a:ln/>
        </p:spPr>
      </p:sp>
      <p:sp>
        <p:nvSpPr>
          <p:cNvPr id="5" name="Text 3"/>
          <p:cNvSpPr txBox="1"/>
          <p:nvPr/>
        </p:nvSpPr>
        <p:spPr>
          <a:xfrm>
            <a:off x="822960" y="1874520"/>
            <a:ext cx="548640" cy="548640"/>
          </a:xfrm>
          <a:prstGeom prst="rect">
            <a:avLst/>
          </a:prstGeom>
          <a:noFill/>
          <a:ln/>
        </p:spPr>
        <p:txBody>
          <a:bodyPr wrap="square" lIns="0" tIns="0" rIns="0" bIns="0" rtlCol="0" anchor="ctr"/>
          <a:lstStyle/>
          <a:p>
            <a:pPr algn="ctr" indent="0" marL="0">
              <a:buNone/>
            </a:pPr>
            <a:r>
              <a:rPr lang="en-US" sz="2000" b="1" dirty="0">
                <a:solidFill>
                  <a:srgbClr val="1E1E24"/>
                </a:solidFill>
                <a:latin typeface="Cambria" pitchFamily="34" charset="0"/>
                <a:ea typeface="Cambria" pitchFamily="34" charset="-122"/>
                <a:cs typeface="Cambria" pitchFamily="34" charset="-120"/>
              </a:rPr>
              <a:t>1</a:t>
            </a:r>
            <a:endParaRPr lang="en-US" sz="2000" dirty="0"/>
          </a:p>
        </p:txBody>
      </p:sp>
      <p:sp>
        <p:nvSpPr>
          <p:cNvPr id="6" name="Text 4"/>
          <p:cNvSpPr txBox="1"/>
          <p:nvPr/>
        </p:nvSpPr>
        <p:spPr>
          <a:xfrm>
            <a:off x="822960" y="2606040"/>
            <a:ext cx="2990088" cy="548640"/>
          </a:xfrm>
          <a:prstGeom prst="rect">
            <a:avLst/>
          </a:prstGeom>
          <a:noFill/>
          <a:ln/>
        </p:spPr>
        <p:txBody>
          <a:bodyPr wrap="square" lIns="0" tIns="0" rIns="0" bIns="0" rtlCol="0" anchor="ctr"/>
          <a:lstStyle/>
          <a:p>
            <a:pPr indent="0" marL="0">
              <a:buNone/>
            </a:pPr>
            <a:r>
              <a:rPr lang="en-US" sz="2800" b="1" dirty="0">
                <a:solidFill>
                  <a:srgbClr val="D8A73D"/>
                </a:solidFill>
                <a:latin typeface="Cambria" pitchFamily="34" charset="0"/>
                <a:ea typeface="Cambria" pitchFamily="34" charset="-122"/>
                <a:cs typeface="Cambria" pitchFamily="34" charset="-120"/>
              </a:rPr>
              <a:t>Why</a:t>
            </a:r>
            <a:endParaRPr lang="en-US" sz="2800" dirty="0"/>
          </a:p>
        </p:txBody>
      </p:sp>
      <p:sp>
        <p:nvSpPr>
          <p:cNvPr id="7" name="Text 5"/>
          <p:cNvSpPr txBox="1"/>
          <p:nvPr/>
        </p:nvSpPr>
        <p:spPr>
          <a:xfrm>
            <a:off x="822960" y="3246120"/>
            <a:ext cx="2990088" cy="2103120"/>
          </a:xfrm>
          <a:prstGeom prst="rect">
            <a:avLst/>
          </a:prstGeom>
          <a:noFill/>
          <a:ln/>
        </p:spPr>
        <p:txBody>
          <a:bodyPr wrap="square" lIns="0" tIns="0" rIns="0" bIns="0" rtlCol="0" anchor="t"/>
          <a:lstStyle/>
          <a:p>
            <a:pPr indent="0" marL="0">
              <a:buNone/>
            </a:pPr>
            <a:r>
              <a:rPr lang="en-US" sz="2000" dirty="0">
                <a:solidFill>
                  <a:srgbClr val="F5F5F3"/>
                </a:solidFill>
                <a:latin typeface="Calibri" pitchFamily="34" charset="0"/>
                <a:ea typeface="Calibri" pitchFamily="34" charset="-122"/>
                <a:cs typeface="Calibri" pitchFamily="34" charset="-120"/>
              </a:rPr>
              <a:t>Students feel what is happening to the station without reading anything extra. The story is in the look, not in more text.</a:t>
            </a:r>
            <a:endParaRPr lang="en-US" sz="2000" dirty="0"/>
          </a:p>
        </p:txBody>
      </p:sp>
      <p:sp>
        <p:nvSpPr>
          <p:cNvPr id="8" name="Shape 6"/>
          <p:cNvSpPr/>
          <p:nvPr/>
        </p:nvSpPr>
        <p:spPr>
          <a:xfrm>
            <a:off x="4325112" y="1600200"/>
            <a:ext cx="3538728" cy="4023360"/>
          </a:xfrm>
          <a:prstGeom prst="roundRect">
            <a:avLst>
              <a:gd name="adj" fmla="val 2067"/>
            </a:avLst>
          </a:prstGeom>
          <a:solidFill>
            <a:srgbClr val="2A2A32"/>
          </a:solidFill>
          <a:ln/>
        </p:spPr>
      </p:sp>
      <p:sp>
        <p:nvSpPr>
          <p:cNvPr id="9" name="Shape 7"/>
          <p:cNvSpPr/>
          <p:nvPr/>
        </p:nvSpPr>
        <p:spPr>
          <a:xfrm>
            <a:off x="4599432" y="1874520"/>
            <a:ext cx="548640" cy="548640"/>
          </a:xfrm>
          <a:prstGeom prst="ellipse">
            <a:avLst/>
          </a:prstGeom>
          <a:solidFill>
            <a:srgbClr val="D8A73D"/>
          </a:solidFill>
          <a:ln/>
        </p:spPr>
      </p:sp>
      <p:sp>
        <p:nvSpPr>
          <p:cNvPr id="10" name="Text 8"/>
          <p:cNvSpPr txBox="1"/>
          <p:nvPr/>
        </p:nvSpPr>
        <p:spPr>
          <a:xfrm>
            <a:off x="4599432" y="1874520"/>
            <a:ext cx="548640" cy="548640"/>
          </a:xfrm>
          <a:prstGeom prst="rect">
            <a:avLst/>
          </a:prstGeom>
          <a:noFill/>
          <a:ln/>
        </p:spPr>
        <p:txBody>
          <a:bodyPr wrap="square" lIns="0" tIns="0" rIns="0" bIns="0" rtlCol="0" anchor="ctr"/>
          <a:lstStyle/>
          <a:p>
            <a:pPr algn="ctr" indent="0" marL="0">
              <a:buNone/>
            </a:pPr>
            <a:r>
              <a:rPr lang="en-US" sz="2000" b="1" dirty="0">
                <a:solidFill>
                  <a:srgbClr val="1E1E24"/>
                </a:solidFill>
                <a:latin typeface="Cambria" pitchFamily="34" charset="0"/>
                <a:ea typeface="Cambria" pitchFamily="34" charset="-122"/>
                <a:cs typeface="Cambria" pitchFamily="34" charset="-120"/>
              </a:rPr>
              <a:t>2</a:t>
            </a:r>
            <a:endParaRPr lang="en-US" sz="2000" dirty="0"/>
          </a:p>
        </p:txBody>
      </p:sp>
      <p:sp>
        <p:nvSpPr>
          <p:cNvPr id="11" name="Text 9"/>
          <p:cNvSpPr txBox="1"/>
          <p:nvPr/>
        </p:nvSpPr>
        <p:spPr>
          <a:xfrm>
            <a:off x="4599432" y="2606040"/>
            <a:ext cx="2990088" cy="548640"/>
          </a:xfrm>
          <a:prstGeom prst="rect">
            <a:avLst/>
          </a:prstGeom>
          <a:noFill/>
          <a:ln/>
        </p:spPr>
        <p:txBody>
          <a:bodyPr wrap="square" lIns="0" tIns="0" rIns="0" bIns="0" rtlCol="0" anchor="ctr"/>
          <a:lstStyle/>
          <a:p>
            <a:pPr indent="0" marL="0">
              <a:buNone/>
            </a:pPr>
            <a:r>
              <a:rPr lang="en-US" sz="2800" b="1" dirty="0">
                <a:solidFill>
                  <a:srgbClr val="D8A73D"/>
                </a:solidFill>
                <a:latin typeface="Cambria" pitchFamily="34" charset="0"/>
                <a:ea typeface="Cambria" pitchFamily="34" charset="-122"/>
                <a:cs typeface="Cambria" pitchFamily="34" charset="-120"/>
              </a:rPr>
              <a:t>Where</a:t>
            </a:r>
            <a:endParaRPr lang="en-US" sz="2800" dirty="0"/>
          </a:p>
        </p:txBody>
      </p:sp>
      <p:sp>
        <p:nvSpPr>
          <p:cNvPr id="12" name="Text 10"/>
          <p:cNvSpPr txBox="1"/>
          <p:nvPr/>
        </p:nvSpPr>
        <p:spPr>
          <a:xfrm>
            <a:off x="4599432" y="3246120"/>
            <a:ext cx="2990088" cy="2103120"/>
          </a:xfrm>
          <a:prstGeom prst="rect">
            <a:avLst/>
          </a:prstGeom>
          <a:noFill/>
          <a:ln/>
        </p:spPr>
        <p:txBody>
          <a:bodyPr wrap="square" lIns="0" tIns="0" rIns="0" bIns="0" rtlCol="0" anchor="t"/>
          <a:lstStyle/>
          <a:p>
            <a:pPr indent="0" marL="0">
              <a:buNone/>
            </a:pPr>
            <a:r>
              <a:rPr lang="en-US" sz="2000" dirty="0">
                <a:solidFill>
                  <a:srgbClr val="F5F5F3"/>
                </a:solidFill>
                <a:latin typeface="Calibri" pitchFamily="34" charset="0"/>
                <a:ea typeface="Calibri" pitchFamily="34" charset="-122"/>
                <a:cs typeface="Calibri" pitchFamily="34" charset="-120"/>
              </a:rPr>
              <a:t>Only the frame: the edges, the corners and the status line above the title. Code, output and memory boxes always stay clean.</a:t>
            </a:r>
            <a:endParaRPr lang="en-US" sz="2000" dirty="0"/>
          </a:p>
        </p:txBody>
      </p:sp>
      <p:sp>
        <p:nvSpPr>
          <p:cNvPr id="13" name="Shape 11"/>
          <p:cNvSpPr/>
          <p:nvPr/>
        </p:nvSpPr>
        <p:spPr>
          <a:xfrm>
            <a:off x="8101584" y="1600200"/>
            <a:ext cx="3538728" cy="4023360"/>
          </a:xfrm>
          <a:prstGeom prst="roundRect">
            <a:avLst>
              <a:gd name="adj" fmla="val 2067"/>
            </a:avLst>
          </a:prstGeom>
          <a:solidFill>
            <a:srgbClr val="2A2A32"/>
          </a:solidFill>
          <a:ln/>
        </p:spPr>
      </p:sp>
      <p:sp>
        <p:nvSpPr>
          <p:cNvPr id="14" name="Shape 12"/>
          <p:cNvSpPr/>
          <p:nvPr/>
        </p:nvSpPr>
        <p:spPr>
          <a:xfrm>
            <a:off x="8375904" y="1874520"/>
            <a:ext cx="548640" cy="548640"/>
          </a:xfrm>
          <a:prstGeom prst="ellipse">
            <a:avLst/>
          </a:prstGeom>
          <a:solidFill>
            <a:srgbClr val="D8A73D"/>
          </a:solidFill>
          <a:ln/>
        </p:spPr>
      </p:sp>
      <p:sp>
        <p:nvSpPr>
          <p:cNvPr id="15" name="Text 13"/>
          <p:cNvSpPr txBox="1"/>
          <p:nvPr/>
        </p:nvSpPr>
        <p:spPr>
          <a:xfrm>
            <a:off x="8375904" y="1874520"/>
            <a:ext cx="548640" cy="548640"/>
          </a:xfrm>
          <a:prstGeom prst="rect">
            <a:avLst/>
          </a:prstGeom>
          <a:noFill/>
          <a:ln/>
        </p:spPr>
        <p:txBody>
          <a:bodyPr wrap="square" lIns="0" tIns="0" rIns="0" bIns="0" rtlCol="0" anchor="ctr"/>
          <a:lstStyle/>
          <a:p>
            <a:pPr algn="ctr" indent="0" marL="0">
              <a:buNone/>
            </a:pPr>
            <a:r>
              <a:rPr lang="en-US" sz="2000" b="1" dirty="0">
                <a:solidFill>
                  <a:srgbClr val="1E1E24"/>
                </a:solidFill>
                <a:latin typeface="Cambria" pitchFamily="34" charset="0"/>
                <a:ea typeface="Cambria" pitchFamily="34" charset="-122"/>
                <a:cs typeface="Cambria" pitchFamily="34" charset="-120"/>
              </a:rPr>
              <a:t>3</a:t>
            </a:r>
            <a:endParaRPr lang="en-US" sz="2000" dirty="0"/>
          </a:p>
        </p:txBody>
      </p:sp>
      <p:sp>
        <p:nvSpPr>
          <p:cNvPr id="16" name="Text 14"/>
          <p:cNvSpPr txBox="1"/>
          <p:nvPr/>
        </p:nvSpPr>
        <p:spPr>
          <a:xfrm>
            <a:off x="8375904" y="2606040"/>
            <a:ext cx="2990088" cy="548640"/>
          </a:xfrm>
          <a:prstGeom prst="rect">
            <a:avLst/>
          </a:prstGeom>
          <a:noFill/>
          <a:ln/>
        </p:spPr>
        <p:txBody>
          <a:bodyPr wrap="square" lIns="0" tIns="0" rIns="0" bIns="0" rtlCol="0" anchor="ctr"/>
          <a:lstStyle/>
          <a:p>
            <a:pPr indent="0" marL="0">
              <a:buNone/>
            </a:pPr>
            <a:r>
              <a:rPr lang="en-US" sz="2800" b="1" dirty="0">
                <a:solidFill>
                  <a:srgbClr val="D8A73D"/>
                </a:solidFill>
                <a:latin typeface="Cambria" pitchFamily="34" charset="0"/>
                <a:ea typeface="Cambria" pitchFamily="34" charset="-122"/>
                <a:cs typeface="Cambria" pitchFamily="34" charset="-120"/>
              </a:rPr>
              <a:t>When</a:t>
            </a:r>
            <a:endParaRPr lang="en-US" sz="2800" dirty="0"/>
          </a:p>
        </p:txBody>
      </p:sp>
      <p:sp>
        <p:nvSpPr>
          <p:cNvPr id="17" name="Text 15"/>
          <p:cNvSpPr txBox="1"/>
          <p:nvPr/>
        </p:nvSpPr>
        <p:spPr>
          <a:xfrm>
            <a:off x="8375904" y="3246120"/>
            <a:ext cx="2990088" cy="2103120"/>
          </a:xfrm>
          <a:prstGeom prst="rect">
            <a:avLst/>
          </a:prstGeom>
          <a:noFill/>
          <a:ln/>
        </p:spPr>
        <p:txBody>
          <a:bodyPr wrap="square" lIns="0" tIns="0" rIns="0" bIns="0" rtlCol="0" anchor="t"/>
          <a:lstStyle/>
          <a:p>
            <a:pPr indent="0" marL="0">
              <a:buNone/>
            </a:pPr>
            <a:r>
              <a:rPr lang="en-US" sz="2000" dirty="0">
                <a:solidFill>
                  <a:srgbClr val="F5F5F3"/>
                </a:solidFill>
                <a:latin typeface="Calibri" pitchFamily="34" charset="0"/>
                <a:ea typeface="Calibri" pitchFamily="34" charset="-122"/>
                <a:cs typeface="Calibri" pitchFamily="34" charset="-120"/>
              </a:rPr>
              <a:t>It gets worse each chapter. At a story beat it changes in front of the class: the lights go out, then new damage creeps in.</a:t>
            </a:r>
            <a:endParaRPr lang="en-US" sz="2000" dirty="0"/>
          </a:p>
        </p:txBody>
      </p:sp>
      <p:sp>
        <p:nvSpPr>
          <p:cNvPr id="18" name="Text 16"/>
          <p:cNvSpPr txBox="1"/>
          <p:nvPr/>
        </p:nvSpPr>
        <p:spPr>
          <a:xfrm>
            <a:off x="4206240" y="6355080"/>
            <a:ext cx="6812280" cy="320040"/>
          </a:xfrm>
          <a:prstGeom prst="rect">
            <a:avLst/>
          </a:prstGeom>
          <a:noFill/>
          <a:ln/>
        </p:spPr>
        <p:txBody>
          <a:bodyPr wrap="square" lIns="0" tIns="0" rIns="0" bIns="0" rtlCol="0" anchor="ctr"/>
          <a:lstStyle/>
          <a:p>
            <a:pPr algn="r" indent="0" marL="0">
              <a:buNone/>
            </a:pPr>
            <a:r>
              <a:rPr lang="en-US" sz="1300" b="1" i="1" dirty="0">
                <a:solidFill>
                  <a:srgbClr val="D8A73D"/>
                </a:solidFill>
                <a:latin typeface="Calibri" pitchFamily="34" charset="0"/>
                <a:ea typeface="Calibri" pitchFamily="34" charset="-122"/>
                <a:cs typeface="Calibri" pitchFamily="34" charset="-120"/>
              </a:rPr>
              <a:t>GUIDE  ·  STATION STATE</a:t>
            </a:r>
            <a:endParaRPr lang="en-US" sz="13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station frost" descr="C:\Users\n.houlton_grange.out\source\repos\interactive\_presentations\Y9_Python\station\frost.png">    </p:cNvPr>
          <p:cNvPicPr>
            <a:picLocks noChangeAspect="1"/>
          </p:cNvPicPr>
          <p:nvPr/>
        </p:nvPicPr>
        <p:blipFill>
          <a:blip r:embed="rId1"/>
          <a:stretch>
            <a:fillRect/>
          </a:stretch>
        </p:blipFill>
        <p:spPr>
          <a:xfrm>
            <a:off x="0" y="0"/>
            <a:ext cx="12191695" cy="6858000"/>
          </a:xfrm>
          <a:prstGeom prst="rect">
            <a:avLst/>
          </a:prstGeom>
        </p:spPr>
      </p:pic>
      <p:sp>
        <p:nvSpPr>
          <p:cNvPr id="3" name="station status"/>
          <p:cNvSpPr txBox="1"/>
          <p:nvPr/>
        </p:nvSpPr>
        <p:spPr>
          <a:xfrm>
            <a:off x="548640" y="73152"/>
            <a:ext cx="10241280" cy="237744"/>
          </a:xfrm>
          <a:prstGeom prst="rect">
            <a:avLst/>
          </a:prstGeom>
          <a:noFill/>
          <a:ln/>
        </p:spPr>
        <p:txBody>
          <a:bodyPr wrap="square" lIns="0" tIns="0" rIns="0" bIns="0" rtlCol="0" anchor="ctr"/>
          <a:lstStyle/>
          <a:p>
            <a:pPr indent="0" marL="0">
              <a:buNone/>
            </a:pPr>
            <a:r>
              <a:rPr lang="en-US" sz="1100" spc="100" kern="0" dirty="0">
                <a:solidFill>
                  <a:srgbClr val="C8E4FF"/>
                </a:solidFill>
                <a:latin typeface="Consolas" pitchFamily="34" charset="0"/>
                <a:ea typeface="Consolas" pitchFamily="34" charset="-122"/>
                <a:cs typeface="Consolas" pitchFamily="34" charset="-120"/>
              </a:rPr>
              <a:t>●  </a:t>
            </a:r>
            <a:pPr indent="0" marL="0">
              <a:buNone/>
            </a:pPr>
            <a:r>
              <a:rPr lang="en-US" sz="1100" spc="100" kern="0" dirty="0">
                <a:solidFill>
                  <a:srgbClr val="6E6E7A"/>
                </a:solidFill>
                <a:latin typeface="Consolas" pitchFamily="34" charset="0"/>
                <a:ea typeface="Consolas" pitchFamily="34" charset="-122"/>
                <a:cs typeface="Consolas" pitchFamily="34" charset="-120"/>
              </a:rPr>
              <a:t>CRYO BAY   ·   TEMP −41°C   ·   POWER 12%   ·   CREW AWAKE 1/5</a:t>
            </a:r>
            <a:endParaRPr lang="en-US" sz="1100" dirty="0"/>
          </a:p>
        </p:txBody>
      </p:sp>
      <p:sp>
        <p:nvSpPr>
          <p:cNvPr id="4" name="Text 1"/>
          <p:cNvSpPr txBox="1"/>
          <p:nvPr/>
        </p:nvSpPr>
        <p:spPr>
          <a:xfrm>
            <a:off x="640080" y="1874520"/>
            <a:ext cx="6035040" cy="365760"/>
          </a:xfrm>
          <a:prstGeom prst="rect">
            <a:avLst/>
          </a:prstGeom>
          <a:noFill/>
          <a:ln/>
        </p:spPr>
        <p:txBody>
          <a:bodyPr wrap="square" lIns="0" tIns="0" rIns="0" bIns="0" rtlCol="0" anchor="ctr"/>
          <a:lstStyle/>
          <a:p>
            <a:pPr indent="0" marL="0">
              <a:buNone/>
            </a:pPr>
            <a:r>
              <a:rPr lang="en-US" sz="1400" b="1" spc="300" kern="0" dirty="0">
                <a:solidFill>
                  <a:srgbClr val="D8A73D"/>
                </a:solidFill>
                <a:latin typeface="Calibri" pitchFamily="34" charset="0"/>
                <a:ea typeface="Calibri" pitchFamily="34" charset="-122"/>
                <a:cs typeface="Calibri" pitchFamily="34" charset="-120"/>
              </a:rPr>
              <a:t>Y9 PYTHON  ·  LESSON 1  ·  PYTHON REFRESH</a:t>
            </a:r>
            <a:endParaRPr lang="en-US" sz="1400" dirty="0"/>
          </a:p>
        </p:txBody>
      </p:sp>
      <p:sp>
        <p:nvSpPr>
          <p:cNvPr id="5" name="Text 2"/>
          <p:cNvSpPr txBox="1"/>
          <p:nvPr/>
        </p:nvSpPr>
        <p:spPr>
          <a:xfrm>
            <a:off x="640080" y="2286000"/>
            <a:ext cx="6035040" cy="1097280"/>
          </a:xfrm>
          <a:prstGeom prst="rect">
            <a:avLst/>
          </a:prstGeom>
          <a:noFill/>
          <a:ln/>
        </p:spPr>
        <p:txBody>
          <a:bodyPr wrap="square" lIns="0" tIns="0" rIns="0" bIns="0" rtlCol="0" anchor="ctr"/>
          <a:lstStyle/>
          <a:p>
            <a:pPr indent="0" marL="0">
              <a:buNone/>
            </a:pPr>
            <a:r>
              <a:rPr lang="en-US" sz="6400" b="1" dirty="0">
                <a:solidFill>
                  <a:srgbClr val="F5F5F3"/>
                </a:solidFill>
                <a:latin typeface="Cambria" pitchFamily="34" charset="0"/>
                <a:ea typeface="Cambria" pitchFamily="34" charset="-122"/>
                <a:cs typeface="Cambria" pitchFamily="34" charset="-120"/>
              </a:rPr>
              <a:t>Station Zero</a:t>
            </a:r>
            <a:endParaRPr lang="en-US" sz="6400" dirty="0"/>
          </a:p>
        </p:txBody>
      </p:sp>
      <p:sp>
        <p:nvSpPr>
          <p:cNvPr id="6" name="Text 3"/>
          <p:cNvSpPr txBox="1"/>
          <p:nvPr/>
        </p:nvSpPr>
        <p:spPr>
          <a:xfrm>
            <a:off x="640080" y="3429000"/>
            <a:ext cx="6035040" cy="548640"/>
          </a:xfrm>
          <a:prstGeom prst="rect">
            <a:avLst/>
          </a:prstGeom>
          <a:noFill/>
          <a:ln/>
        </p:spPr>
        <p:txBody>
          <a:bodyPr wrap="square" lIns="0" tIns="0" rIns="0" bIns="0" rtlCol="0" anchor="ctr"/>
          <a:lstStyle/>
          <a:p>
            <a:pPr indent="0" marL="0">
              <a:buNone/>
            </a:pPr>
            <a:r>
              <a:rPr lang="en-US" sz="2800" dirty="0">
                <a:solidFill>
                  <a:srgbClr val="A9A9B4"/>
                </a:solidFill>
                <a:latin typeface="Cambria" pitchFamily="34" charset="0"/>
                <a:ea typeface="Cambria" pitchFamily="34" charset="-122"/>
                <a:cs typeface="Cambria" pitchFamily="34" charset="-120"/>
              </a:rPr>
              <a:t>Chapter 1 — Wake Up</a:t>
            </a:r>
            <a:endParaRPr lang="en-US" sz="2800" dirty="0"/>
          </a:p>
        </p:txBody>
      </p:sp>
      <p:sp>
        <p:nvSpPr>
          <p:cNvPr id="7" name="terminal"/>
          <p:cNvSpPr/>
          <p:nvPr/>
        </p:nvSpPr>
        <p:spPr>
          <a:xfrm>
            <a:off x="6903720" y="1600200"/>
            <a:ext cx="4663440" cy="2402840"/>
          </a:xfrm>
          <a:prstGeom prst="roundRect">
            <a:avLst>
              <a:gd name="adj" fmla="val 3044"/>
            </a:avLst>
          </a:prstGeom>
          <a:solidFill>
            <a:srgbClr val="0D1310"/>
          </a:solidFill>
          <a:ln w="15875">
            <a:solidFill>
              <a:srgbClr val="2C4434"/>
            </a:solidFill>
            <a:prstDash val="solid"/>
          </a:ln>
        </p:spPr>
      </p:sp>
      <p:sp>
        <p:nvSpPr>
          <p:cNvPr id="8" name="Text 5"/>
          <p:cNvSpPr txBox="1"/>
          <p:nvPr/>
        </p:nvSpPr>
        <p:spPr>
          <a:xfrm>
            <a:off x="7132320" y="1783080"/>
            <a:ext cx="4206240" cy="274320"/>
          </a:xfrm>
          <a:prstGeom prst="rect">
            <a:avLst/>
          </a:prstGeom>
          <a:noFill/>
          <a:ln/>
        </p:spPr>
        <p:txBody>
          <a:bodyPr wrap="square" lIns="0" tIns="0" rIns="0" bIns="0" rtlCol="0" anchor="ctr"/>
          <a:lstStyle/>
          <a:p>
            <a:pPr indent="0" marL="0">
              <a:buNone/>
            </a:pPr>
            <a:r>
              <a:rPr lang="en-US" sz="1200" b="1" spc="200" kern="0" dirty="0">
                <a:solidFill>
                  <a:srgbClr val="7FD99A"/>
                </a:solidFill>
                <a:latin typeface="Calibri" pitchFamily="34" charset="0"/>
                <a:ea typeface="Calibri" pitchFamily="34" charset="-122"/>
                <a:cs typeface="Calibri" pitchFamily="34" charset="-120"/>
              </a:rPr>
              <a:t>STATION STATUS</a:t>
            </a:r>
            <a:endParaRPr lang="en-US" sz="1200" dirty="0"/>
          </a:p>
        </p:txBody>
      </p:sp>
      <p:sp>
        <p:nvSpPr>
          <p:cNvPr id="9" name="Text 6"/>
          <p:cNvSpPr txBox="1"/>
          <p:nvPr/>
        </p:nvSpPr>
        <p:spPr>
          <a:xfrm>
            <a:off x="7132320" y="2148840"/>
            <a:ext cx="4206240" cy="406400"/>
          </a:xfrm>
          <a:prstGeom prst="rect">
            <a:avLst/>
          </a:prstGeom>
          <a:noFill/>
          <a:ln/>
        </p:spPr>
        <p:txBody>
          <a:bodyPr wrap="square" lIns="0" tIns="0" rIns="0" bIns="0" rtlCol="0" anchor="ctr"/>
          <a:lstStyle/>
          <a:p>
            <a:pPr indent="0" marL="0">
              <a:buNone/>
            </a:pPr>
            <a:r>
              <a:rPr lang="en-US" sz="2000" dirty="0">
                <a:solidFill>
                  <a:srgbClr val="7FD99A"/>
                </a:solidFill>
                <a:latin typeface="Consolas" pitchFamily="34" charset="0"/>
                <a:ea typeface="Consolas" pitchFamily="34" charset="-122"/>
                <a:cs typeface="Consolas" pitchFamily="34" charset="-120"/>
              </a:rPr>
              <a:t>SOFTWARE ....... WIPED</a:t>
            </a:r>
            <a:endParaRPr lang="en-US" sz="2000" dirty="0"/>
          </a:p>
        </p:txBody>
      </p:sp>
      <p:sp>
        <p:nvSpPr>
          <p:cNvPr id="10" name="Text 7"/>
          <p:cNvSpPr txBox="1"/>
          <p:nvPr/>
        </p:nvSpPr>
        <p:spPr>
          <a:xfrm>
            <a:off x="7132320" y="2555240"/>
            <a:ext cx="4206240" cy="406400"/>
          </a:xfrm>
          <a:prstGeom prst="rect">
            <a:avLst/>
          </a:prstGeom>
          <a:noFill/>
          <a:ln/>
        </p:spPr>
        <p:txBody>
          <a:bodyPr wrap="square" lIns="0" tIns="0" rIns="0" bIns="0" rtlCol="0" anchor="ctr"/>
          <a:lstStyle/>
          <a:p>
            <a:pPr indent="0" marL="0">
              <a:buNone/>
            </a:pPr>
            <a:r>
              <a:rPr lang="en-US" sz="2000" dirty="0">
                <a:solidFill>
                  <a:srgbClr val="7FD99A"/>
                </a:solidFill>
                <a:latin typeface="Consolas" pitchFamily="34" charset="0"/>
                <a:ea typeface="Consolas" pitchFamily="34" charset="-122"/>
                <a:cs typeface="Consolas" pitchFamily="34" charset="-120"/>
              </a:rPr>
              <a:t>DOORS .......... SEALED</a:t>
            </a:r>
            <a:endParaRPr lang="en-US" sz="2000" dirty="0"/>
          </a:p>
        </p:txBody>
      </p:sp>
      <p:sp>
        <p:nvSpPr>
          <p:cNvPr id="11" name="Text 8"/>
          <p:cNvSpPr txBox="1"/>
          <p:nvPr/>
        </p:nvSpPr>
        <p:spPr>
          <a:xfrm>
            <a:off x="7132320" y="2961640"/>
            <a:ext cx="4206240" cy="406400"/>
          </a:xfrm>
          <a:prstGeom prst="rect">
            <a:avLst/>
          </a:prstGeom>
          <a:noFill/>
          <a:ln/>
        </p:spPr>
        <p:txBody>
          <a:bodyPr wrap="square" lIns="0" tIns="0" rIns="0" bIns="0" rtlCol="0" anchor="ctr"/>
          <a:lstStyle/>
          <a:p>
            <a:pPr indent="0" marL="0">
              <a:buNone/>
            </a:pPr>
            <a:r>
              <a:rPr lang="en-US" sz="2000" dirty="0">
                <a:solidFill>
                  <a:srgbClr val="7FD99A"/>
                </a:solidFill>
                <a:latin typeface="Consolas" pitchFamily="34" charset="0"/>
                <a:ea typeface="Consolas" pitchFamily="34" charset="-122"/>
                <a:cs typeface="Consolas" pitchFamily="34" charset="-120"/>
              </a:rPr>
              <a:t>CREW AWAKE ..... 1 OF 5</a:t>
            </a:r>
            <a:endParaRPr lang="en-US" sz="2000" dirty="0"/>
          </a:p>
        </p:txBody>
      </p:sp>
      <p:sp>
        <p:nvSpPr>
          <p:cNvPr id="12" name="Text 9"/>
          <p:cNvSpPr txBox="1"/>
          <p:nvPr/>
        </p:nvSpPr>
        <p:spPr>
          <a:xfrm>
            <a:off x="7132320" y="3368040"/>
            <a:ext cx="4206240" cy="406400"/>
          </a:xfrm>
          <a:prstGeom prst="rect">
            <a:avLst/>
          </a:prstGeom>
          <a:noFill/>
          <a:ln/>
        </p:spPr>
        <p:txBody>
          <a:bodyPr wrap="square" lIns="0" tIns="0" rIns="0" bIns="0" rtlCol="0" anchor="ctr"/>
          <a:lstStyle/>
          <a:p>
            <a:pPr indent="0" marL="0">
              <a:buNone/>
            </a:pPr>
            <a:r>
              <a:rPr lang="en-US" sz="2000" dirty="0">
                <a:solidFill>
                  <a:srgbClr val="7FD99A"/>
                </a:solidFill>
                <a:latin typeface="Consolas" pitchFamily="34" charset="0"/>
                <a:ea typeface="Consolas" pitchFamily="34" charset="-122"/>
                <a:cs typeface="Consolas" pitchFamily="34" charset="-120"/>
              </a:rPr>
              <a:t>&gt; _</a:t>
            </a:r>
            <a:endParaRPr lang="en-US" sz="2000" dirty="0"/>
          </a:p>
        </p:txBody>
      </p:sp>
      <p:sp>
        <p:nvSpPr>
          <p:cNvPr id="13" name="Text 10"/>
          <p:cNvSpPr txBox="1"/>
          <p:nvPr/>
        </p:nvSpPr>
        <p:spPr>
          <a:xfrm>
            <a:off x="4206240" y="6355080"/>
            <a:ext cx="6812280" cy="320040"/>
          </a:xfrm>
          <a:prstGeom prst="rect">
            <a:avLst/>
          </a:prstGeom>
          <a:noFill/>
          <a:ln/>
        </p:spPr>
        <p:txBody>
          <a:bodyPr wrap="square" lIns="0" tIns="0" rIns="0" bIns="0" rtlCol="0" anchor="ctr"/>
          <a:lstStyle/>
          <a:p>
            <a:pPr algn="r" indent="0" marL="0">
              <a:buNone/>
            </a:pPr>
            <a:r>
              <a:rPr lang="en-US" sz="1300" b="1" i="1" dirty="0">
                <a:solidFill>
                  <a:srgbClr val="D8A73D"/>
                </a:solidFill>
                <a:latin typeface="Calibri" pitchFamily="34" charset="0"/>
                <a:ea typeface="Calibri" pitchFamily="34" charset="-122"/>
                <a:cs typeface="Calibri" pitchFamily="34" charset="-120"/>
              </a:rPr>
              <a:t>station('L1')  ·  Ch 1 Wake Up: frost in the corners</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tation status"/>
          <p:cNvSpPr txBox="1"/>
          <p:nvPr/>
        </p:nvSpPr>
        <p:spPr>
          <a:xfrm>
            <a:off x="548640" y="73152"/>
            <a:ext cx="10241280" cy="237744"/>
          </a:xfrm>
          <a:prstGeom prst="rect">
            <a:avLst/>
          </a:prstGeom>
          <a:noFill/>
          <a:ln/>
        </p:spPr>
        <p:txBody>
          <a:bodyPr wrap="square" lIns="0" tIns="0" rIns="0" bIns="0" rtlCol="0" anchor="ctr"/>
          <a:lstStyle/>
          <a:p>
            <a:pPr indent="0" marL="0">
              <a:buNone/>
            </a:pPr>
            <a:r>
              <a:rPr lang="en-US" sz="1100" spc="100" kern="0" dirty="0">
                <a:solidFill>
                  <a:srgbClr val="E69F00"/>
                </a:solidFill>
                <a:latin typeface="Consolas" pitchFamily="34" charset="0"/>
                <a:ea typeface="Consolas" pitchFamily="34" charset="-122"/>
                <a:cs typeface="Consolas" pitchFamily="34" charset="-120"/>
              </a:rPr>
              <a:t>●  </a:t>
            </a:r>
            <a:pPr indent="0" marL="0">
              <a:buNone/>
            </a:pPr>
            <a:r>
              <a:rPr lang="en-US" sz="1100" spc="100" kern="0" dirty="0">
                <a:solidFill>
                  <a:srgbClr val="8A8A93"/>
                </a:solidFill>
                <a:latin typeface="Consolas" pitchFamily="34" charset="0"/>
                <a:ea typeface="Consolas" pitchFamily="34" charset="-122"/>
                <a:cs typeface="Consolas" pitchFamily="34" charset="-120"/>
              </a:rPr>
              <a:t>LIFE SUPPORT   ·   O2 94%   ·   POWER 31%   ·   CREW AWAKE 1/5</a:t>
            </a:r>
            <a:endParaRPr lang="en-US" sz="1100" dirty="0"/>
          </a:p>
        </p:txBody>
      </p:sp>
      <p:sp>
        <p:nvSpPr>
          <p:cNvPr id="3"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1E1E24"/>
                </a:solidFill>
                <a:latin typeface="Cambria" pitchFamily="34" charset="0"/>
                <a:ea typeface="Cambria" pitchFamily="34" charset="-122"/>
                <a:cs typeface="Cambria" pitchFamily="34" charset="-120"/>
              </a:rPr>
              <a:t>Recap &amp; Recall</a:t>
            </a:r>
            <a:endParaRPr lang="en-US" sz="3600" dirty="0"/>
          </a:p>
        </p:txBody>
      </p:sp>
      <p:sp>
        <p:nvSpPr>
          <p:cNvPr id="4" name="Text 2"/>
          <p:cNvSpPr txBox="1"/>
          <p:nvPr/>
        </p:nvSpPr>
        <p:spPr>
          <a:xfrm>
            <a:off x="548640" y="1170432"/>
            <a:ext cx="10241280" cy="365760"/>
          </a:xfrm>
          <a:prstGeom prst="rect">
            <a:avLst/>
          </a:prstGeom>
          <a:noFill/>
          <a:ln/>
        </p:spPr>
        <p:txBody>
          <a:bodyPr wrap="square" lIns="0" tIns="0" rIns="0" bIns="0" rtlCol="0" anchor="ctr"/>
          <a:lstStyle/>
          <a:p>
            <a:pPr indent="0" marL="0">
              <a:buNone/>
            </a:pPr>
            <a:r>
              <a:rPr lang="en-US" sz="1800" dirty="0">
                <a:solidFill>
                  <a:srgbClr val="55555F"/>
                </a:solidFill>
                <a:latin typeface="Calibri" pitchFamily="34" charset="0"/>
                <a:ea typeface="Calibri" pitchFamily="34" charset="-122"/>
                <a:cs typeface="Calibri" pitchFamily="34" charset="-120"/>
              </a:rPr>
              <a:t>No notes. Answer every question — a guess beats a blank. Then rate your confidence: 1, 2 or 3.</a:t>
            </a:r>
            <a:endParaRPr lang="en-US" sz="1800" dirty="0"/>
          </a:p>
        </p:txBody>
      </p:sp>
      <p:sp>
        <p:nvSpPr>
          <p:cNvPr id="5" name="q1"/>
          <p:cNvSpPr/>
          <p:nvPr/>
        </p:nvSpPr>
        <p:spPr>
          <a:xfrm>
            <a:off x="548640" y="1600200"/>
            <a:ext cx="5413248" cy="2286000"/>
          </a:xfrm>
          <a:prstGeom prst="roundRect">
            <a:avLst>
              <a:gd name="adj" fmla="val 3200"/>
            </a:avLst>
          </a:prstGeom>
          <a:solidFill>
            <a:srgbClr val="FFFFFF"/>
          </a:solidFill>
          <a:ln w="15875">
            <a:solidFill>
              <a:srgbClr val="D6D5D0"/>
            </a:solidFill>
            <a:prstDash val="solid"/>
          </a:ln>
        </p:spPr>
      </p:sp>
      <p:sp>
        <p:nvSpPr>
          <p:cNvPr id="6" name="Shape 4"/>
          <p:cNvSpPr/>
          <p:nvPr/>
        </p:nvSpPr>
        <p:spPr>
          <a:xfrm>
            <a:off x="777240" y="1801368"/>
            <a:ext cx="384048" cy="384048"/>
          </a:xfrm>
          <a:prstGeom prst="ellipse">
            <a:avLst/>
          </a:prstGeom>
          <a:solidFill>
            <a:srgbClr val="1E1E24"/>
          </a:solidFill>
          <a:ln/>
        </p:spPr>
      </p:sp>
      <p:sp>
        <p:nvSpPr>
          <p:cNvPr id="7" name="Text 5"/>
          <p:cNvSpPr txBox="1"/>
          <p:nvPr/>
        </p:nvSpPr>
        <p:spPr>
          <a:xfrm>
            <a:off x="777240" y="1801368"/>
            <a:ext cx="384048" cy="384048"/>
          </a:xfrm>
          <a:prstGeom prst="rect">
            <a:avLst/>
          </a:prstGeom>
          <a:noFill/>
          <a:ln/>
        </p:spPr>
        <p:txBody>
          <a:bodyPr wrap="square" lIns="0" tIns="0" rIns="0" bIns="0" rtlCol="0" anchor="ctr"/>
          <a:lstStyle/>
          <a:p>
            <a:pPr algn="ctr" indent="0" marL="0">
              <a:buNone/>
            </a:pPr>
            <a:r>
              <a:rPr lang="en-US" sz="1600" b="1" dirty="0">
                <a:solidFill>
                  <a:srgbClr val="F5F5F3"/>
                </a:solidFill>
                <a:latin typeface="Cambria" pitchFamily="34" charset="0"/>
                <a:ea typeface="Cambria" pitchFamily="34" charset="-122"/>
                <a:cs typeface="Cambria" pitchFamily="34" charset="-120"/>
              </a:rPr>
              <a:t>1</a:t>
            </a:r>
            <a:endParaRPr lang="en-US" sz="1600" dirty="0"/>
          </a:p>
        </p:txBody>
      </p:sp>
      <p:sp>
        <p:nvSpPr>
          <p:cNvPr id="8" name="Shape 6"/>
          <p:cNvSpPr/>
          <p:nvPr/>
        </p:nvSpPr>
        <p:spPr>
          <a:xfrm>
            <a:off x="1280160" y="1828800"/>
            <a:ext cx="1600200" cy="310896"/>
          </a:xfrm>
          <a:prstGeom prst="roundRect">
            <a:avLst>
              <a:gd name="adj" fmla="val 52941"/>
            </a:avLst>
          </a:prstGeom>
          <a:solidFill>
            <a:srgbClr val="EDE6D3"/>
          </a:solidFill>
          <a:ln/>
        </p:spPr>
      </p:sp>
      <p:sp>
        <p:nvSpPr>
          <p:cNvPr id="9" name="Text 7"/>
          <p:cNvSpPr txBox="1"/>
          <p:nvPr/>
        </p:nvSpPr>
        <p:spPr>
          <a:xfrm>
            <a:off x="1280160" y="1828800"/>
            <a:ext cx="1600200" cy="310896"/>
          </a:xfrm>
          <a:prstGeom prst="rect">
            <a:avLst/>
          </a:prstGeom>
          <a:noFill/>
          <a:ln/>
        </p:spPr>
        <p:txBody>
          <a:bodyPr wrap="square" lIns="0" tIns="0" rIns="0" bIns="0" rtlCol="0" anchor="ctr"/>
          <a:lstStyle/>
          <a:p>
            <a:pPr algn="ctr" indent="0" marL="0">
              <a:buNone/>
            </a:pPr>
            <a:r>
              <a:rPr lang="en-US" sz="1200" b="1" spc="100" kern="0" dirty="0">
                <a:solidFill>
                  <a:srgbClr val="7A5A12"/>
                </a:solidFill>
                <a:latin typeface="Calibri" pitchFamily="34" charset="0"/>
                <a:ea typeface="Calibri" pitchFamily="34" charset="-122"/>
                <a:cs typeface="Calibri" pitchFamily="34" charset="-120"/>
              </a:rPr>
              <a:t>Y8 · LESSON 1</a:t>
            </a:r>
            <a:endParaRPr lang="en-US" sz="1200" dirty="0"/>
          </a:p>
        </p:txBody>
      </p:sp>
      <p:sp>
        <p:nvSpPr>
          <p:cNvPr id="10" name="Shape 8"/>
          <p:cNvSpPr/>
          <p:nvPr/>
        </p:nvSpPr>
        <p:spPr>
          <a:xfrm>
            <a:off x="2971800" y="1828800"/>
            <a:ext cx="1783080" cy="310896"/>
          </a:xfrm>
          <a:prstGeom prst="roundRect">
            <a:avLst>
              <a:gd name="adj" fmla="val 52941"/>
            </a:avLst>
          </a:prstGeom>
          <a:solidFill>
            <a:srgbClr val="F5F5F3"/>
          </a:solidFill>
          <a:ln w="15875">
            <a:solidFill>
              <a:srgbClr val="D6D5D0"/>
            </a:solidFill>
            <a:prstDash val="solid"/>
          </a:ln>
        </p:spPr>
      </p:sp>
      <p:sp>
        <p:nvSpPr>
          <p:cNvPr id="11" name="Text 9"/>
          <p:cNvSpPr txBox="1"/>
          <p:nvPr/>
        </p:nvSpPr>
        <p:spPr>
          <a:xfrm>
            <a:off x="2971800" y="1828800"/>
            <a:ext cx="1783080" cy="310896"/>
          </a:xfrm>
          <a:prstGeom prst="rect">
            <a:avLst/>
          </a:prstGeom>
          <a:noFill/>
          <a:ln/>
        </p:spPr>
        <p:txBody>
          <a:bodyPr wrap="square" lIns="0" tIns="0" rIns="0" bIns="0" rtlCol="0" anchor="ctr"/>
          <a:lstStyle/>
          <a:p>
            <a:pPr algn="ctr" indent="0" marL="0">
              <a:buNone/>
            </a:pPr>
            <a:r>
              <a:rPr lang="en-US" sz="1200" b="1" spc="100" kern="0" dirty="0">
                <a:solidFill>
                  <a:srgbClr val="55555F"/>
                </a:solidFill>
                <a:latin typeface="Calibri" pitchFamily="34" charset="0"/>
                <a:ea typeface="Calibri" pitchFamily="34" charset="-122"/>
                <a:cs typeface="Calibri" pitchFamily="34" charset="-120"/>
              </a:rPr>
              <a:t>CHOOSE A, B OR C</a:t>
            </a:r>
            <a:endParaRPr lang="en-US" sz="1200" dirty="0"/>
          </a:p>
        </p:txBody>
      </p:sp>
      <p:sp>
        <p:nvSpPr>
          <p:cNvPr id="12" name="Text 10"/>
          <p:cNvSpPr txBox="1"/>
          <p:nvPr/>
        </p:nvSpPr>
        <p:spPr>
          <a:xfrm>
            <a:off x="777240" y="2240280"/>
            <a:ext cx="4956048" cy="411480"/>
          </a:xfrm>
          <a:prstGeom prst="rect">
            <a:avLst/>
          </a:prstGeom>
          <a:noFill/>
          <a:ln/>
        </p:spPr>
        <p:txBody>
          <a:bodyPr wrap="square" lIns="0" tIns="0" rIns="0" bIns="0" rtlCol="0" anchor="ctr"/>
          <a:lstStyle/>
          <a:p>
            <a:pPr indent="0" marL="0">
              <a:buNone/>
            </a:pPr>
            <a:r>
              <a:rPr lang="en-US" sz="2000" b="1" dirty="0">
                <a:solidFill>
                  <a:srgbClr val="1E1E24"/>
                </a:solidFill>
                <a:latin typeface="Calibri" pitchFamily="34" charset="0"/>
                <a:ea typeface="Calibri" pitchFamily="34" charset="-122"/>
                <a:cs typeface="Calibri" pitchFamily="34" charset="-120"/>
              </a:rPr>
              <a:t>What does print() do?</a:t>
            </a:r>
            <a:endParaRPr lang="en-US" sz="2000" dirty="0"/>
          </a:p>
        </p:txBody>
      </p:sp>
      <p:sp>
        <p:nvSpPr>
          <p:cNvPr id="13" name="Text 11"/>
          <p:cNvSpPr txBox="1"/>
          <p:nvPr/>
        </p:nvSpPr>
        <p:spPr>
          <a:xfrm>
            <a:off x="777240" y="2651760"/>
            <a:ext cx="3017520" cy="329184"/>
          </a:xfrm>
          <a:prstGeom prst="rect">
            <a:avLst/>
          </a:prstGeom>
          <a:noFill/>
          <a:ln/>
        </p:spPr>
        <p:txBody>
          <a:bodyPr wrap="square" lIns="0" tIns="0" rIns="0" bIns="0" rtlCol="0" anchor="ctr"/>
          <a:lstStyle/>
          <a:p>
            <a:pPr indent="0" marL="0">
              <a:buNone/>
            </a:pPr>
            <a:r>
              <a:rPr lang="en-US" sz="1800" b="1" dirty="0">
                <a:solidFill>
                  <a:srgbClr val="7A5A12"/>
                </a:solidFill>
                <a:latin typeface="Calibri" pitchFamily="34" charset="0"/>
                <a:ea typeface="Calibri" pitchFamily="34" charset="-122"/>
                <a:cs typeface="Calibri" pitchFamily="34" charset="-120"/>
              </a:rPr>
              <a:t>A   </a:t>
            </a:r>
            <a:pPr indent="0" marL="0">
              <a:buNone/>
            </a:pPr>
            <a:r>
              <a:rPr lang="en-US" sz="1800" dirty="0">
                <a:solidFill>
                  <a:srgbClr val="1E1E24"/>
                </a:solidFill>
                <a:latin typeface="Calibri" pitchFamily="34" charset="0"/>
                <a:ea typeface="Calibri" pitchFamily="34" charset="-122"/>
                <a:cs typeface="Calibri" pitchFamily="34" charset="-120"/>
              </a:rPr>
              <a:t>Shows text on the screen</a:t>
            </a:r>
            <a:endParaRPr lang="en-US" sz="1800" dirty="0"/>
          </a:p>
        </p:txBody>
      </p:sp>
      <p:sp>
        <p:nvSpPr>
          <p:cNvPr id="14" name="Text 12"/>
          <p:cNvSpPr txBox="1"/>
          <p:nvPr/>
        </p:nvSpPr>
        <p:spPr>
          <a:xfrm>
            <a:off x="777240" y="2980944"/>
            <a:ext cx="3017520" cy="329184"/>
          </a:xfrm>
          <a:prstGeom prst="rect">
            <a:avLst/>
          </a:prstGeom>
          <a:noFill/>
          <a:ln/>
        </p:spPr>
        <p:txBody>
          <a:bodyPr wrap="square" lIns="0" tIns="0" rIns="0" bIns="0" rtlCol="0" anchor="ctr"/>
          <a:lstStyle/>
          <a:p>
            <a:pPr indent="0" marL="0">
              <a:buNone/>
            </a:pPr>
            <a:r>
              <a:rPr lang="en-US" sz="1800" b="1" dirty="0">
                <a:solidFill>
                  <a:srgbClr val="7A5A12"/>
                </a:solidFill>
                <a:latin typeface="Calibri" pitchFamily="34" charset="0"/>
                <a:ea typeface="Calibri" pitchFamily="34" charset="-122"/>
                <a:cs typeface="Calibri" pitchFamily="34" charset="-120"/>
              </a:rPr>
              <a:t>B   </a:t>
            </a:r>
            <a:pPr indent="0" marL="0">
              <a:buNone/>
            </a:pPr>
            <a:r>
              <a:rPr lang="en-US" sz="1800" dirty="0">
                <a:solidFill>
                  <a:srgbClr val="1E1E24"/>
                </a:solidFill>
                <a:latin typeface="Calibri" pitchFamily="34" charset="0"/>
                <a:ea typeface="Calibri" pitchFamily="34" charset="-122"/>
                <a:cs typeface="Calibri" pitchFamily="34" charset="-120"/>
              </a:rPr>
              <a:t>Asks the user to type</a:t>
            </a:r>
            <a:endParaRPr lang="en-US" sz="1800" dirty="0"/>
          </a:p>
        </p:txBody>
      </p:sp>
      <p:sp>
        <p:nvSpPr>
          <p:cNvPr id="15" name="Text 13"/>
          <p:cNvSpPr txBox="1"/>
          <p:nvPr/>
        </p:nvSpPr>
        <p:spPr>
          <a:xfrm>
            <a:off x="777240" y="3310128"/>
            <a:ext cx="3017520" cy="329184"/>
          </a:xfrm>
          <a:prstGeom prst="rect">
            <a:avLst/>
          </a:prstGeom>
          <a:noFill/>
          <a:ln/>
        </p:spPr>
        <p:txBody>
          <a:bodyPr wrap="square" lIns="0" tIns="0" rIns="0" bIns="0" rtlCol="0" anchor="ctr"/>
          <a:lstStyle/>
          <a:p>
            <a:pPr indent="0" marL="0">
              <a:buNone/>
            </a:pPr>
            <a:r>
              <a:rPr lang="en-US" sz="1800" b="1" dirty="0">
                <a:solidFill>
                  <a:srgbClr val="7A5A12"/>
                </a:solidFill>
                <a:latin typeface="Calibri" pitchFamily="34" charset="0"/>
                <a:ea typeface="Calibri" pitchFamily="34" charset="-122"/>
                <a:cs typeface="Calibri" pitchFamily="34" charset="-120"/>
              </a:rPr>
              <a:t>C   </a:t>
            </a:r>
            <a:pPr indent="0" marL="0">
              <a:buNone/>
            </a:pPr>
            <a:r>
              <a:rPr lang="en-US" sz="1800" dirty="0">
                <a:solidFill>
                  <a:srgbClr val="1E1E24"/>
                </a:solidFill>
                <a:latin typeface="Calibri" pitchFamily="34" charset="0"/>
                <a:ea typeface="Calibri" pitchFamily="34" charset="-122"/>
                <a:cs typeface="Calibri" pitchFamily="34" charset="-120"/>
              </a:rPr>
              <a:t>Saves text into a file</a:t>
            </a:r>
            <a:endParaRPr lang="en-US" sz="1800" dirty="0"/>
          </a:p>
        </p:txBody>
      </p:sp>
      <p:sp>
        <p:nvSpPr>
          <p:cNvPr id="16" name="q2"/>
          <p:cNvSpPr/>
          <p:nvPr/>
        </p:nvSpPr>
        <p:spPr>
          <a:xfrm>
            <a:off x="6236208" y="1600200"/>
            <a:ext cx="5413248" cy="2286000"/>
          </a:xfrm>
          <a:prstGeom prst="roundRect">
            <a:avLst>
              <a:gd name="adj" fmla="val 3200"/>
            </a:avLst>
          </a:prstGeom>
          <a:solidFill>
            <a:srgbClr val="FFFFFF"/>
          </a:solidFill>
          <a:ln w="15875">
            <a:solidFill>
              <a:srgbClr val="D6D5D0"/>
            </a:solidFill>
            <a:prstDash val="solid"/>
          </a:ln>
        </p:spPr>
      </p:sp>
      <p:sp>
        <p:nvSpPr>
          <p:cNvPr id="17" name="Shape 15"/>
          <p:cNvSpPr/>
          <p:nvPr/>
        </p:nvSpPr>
        <p:spPr>
          <a:xfrm>
            <a:off x="6464808" y="1801368"/>
            <a:ext cx="384048" cy="384048"/>
          </a:xfrm>
          <a:prstGeom prst="ellipse">
            <a:avLst/>
          </a:prstGeom>
          <a:solidFill>
            <a:srgbClr val="1E1E24"/>
          </a:solidFill>
          <a:ln/>
        </p:spPr>
      </p:sp>
      <p:sp>
        <p:nvSpPr>
          <p:cNvPr id="18" name="Text 16"/>
          <p:cNvSpPr txBox="1"/>
          <p:nvPr/>
        </p:nvSpPr>
        <p:spPr>
          <a:xfrm>
            <a:off x="6464808" y="1801368"/>
            <a:ext cx="384048" cy="384048"/>
          </a:xfrm>
          <a:prstGeom prst="rect">
            <a:avLst/>
          </a:prstGeom>
          <a:noFill/>
          <a:ln/>
        </p:spPr>
        <p:txBody>
          <a:bodyPr wrap="square" lIns="0" tIns="0" rIns="0" bIns="0" rtlCol="0" anchor="ctr"/>
          <a:lstStyle/>
          <a:p>
            <a:pPr algn="ctr" indent="0" marL="0">
              <a:buNone/>
            </a:pPr>
            <a:r>
              <a:rPr lang="en-US" sz="1600" b="1" dirty="0">
                <a:solidFill>
                  <a:srgbClr val="F5F5F3"/>
                </a:solidFill>
                <a:latin typeface="Cambria" pitchFamily="34" charset="0"/>
                <a:ea typeface="Cambria" pitchFamily="34" charset="-122"/>
                <a:cs typeface="Cambria" pitchFamily="34" charset="-120"/>
              </a:rPr>
              <a:t>2</a:t>
            </a:r>
            <a:endParaRPr lang="en-US" sz="1600" dirty="0"/>
          </a:p>
        </p:txBody>
      </p:sp>
      <p:sp>
        <p:nvSpPr>
          <p:cNvPr id="19" name="Shape 17"/>
          <p:cNvSpPr/>
          <p:nvPr/>
        </p:nvSpPr>
        <p:spPr>
          <a:xfrm>
            <a:off x="6967728" y="1828800"/>
            <a:ext cx="1600200" cy="310896"/>
          </a:xfrm>
          <a:prstGeom prst="roundRect">
            <a:avLst>
              <a:gd name="adj" fmla="val 52941"/>
            </a:avLst>
          </a:prstGeom>
          <a:solidFill>
            <a:srgbClr val="EDE6D3"/>
          </a:solidFill>
          <a:ln/>
        </p:spPr>
      </p:sp>
      <p:sp>
        <p:nvSpPr>
          <p:cNvPr id="20" name="Text 18"/>
          <p:cNvSpPr txBox="1"/>
          <p:nvPr/>
        </p:nvSpPr>
        <p:spPr>
          <a:xfrm>
            <a:off x="6967728" y="1828800"/>
            <a:ext cx="1600200" cy="310896"/>
          </a:xfrm>
          <a:prstGeom prst="rect">
            <a:avLst/>
          </a:prstGeom>
          <a:noFill/>
          <a:ln/>
        </p:spPr>
        <p:txBody>
          <a:bodyPr wrap="square" lIns="0" tIns="0" rIns="0" bIns="0" rtlCol="0" anchor="ctr"/>
          <a:lstStyle/>
          <a:p>
            <a:pPr algn="ctr" indent="0" marL="0">
              <a:buNone/>
            </a:pPr>
            <a:r>
              <a:rPr lang="en-US" sz="1200" b="1" spc="100" kern="0" dirty="0">
                <a:solidFill>
                  <a:srgbClr val="7A5A12"/>
                </a:solidFill>
                <a:latin typeface="Calibri" pitchFamily="34" charset="0"/>
                <a:ea typeface="Calibri" pitchFamily="34" charset="-122"/>
                <a:cs typeface="Calibri" pitchFamily="34" charset="-120"/>
              </a:rPr>
              <a:t>Y8 · LESSON 2</a:t>
            </a:r>
            <a:endParaRPr lang="en-US" sz="1200" dirty="0"/>
          </a:p>
        </p:txBody>
      </p:sp>
      <p:sp>
        <p:nvSpPr>
          <p:cNvPr id="21" name="Shape 19"/>
          <p:cNvSpPr/>
          <p:nvPr/>
        </p:nvSpPr>
        <p:spPr>
          <a:xfrm>
            <a:off x="8659368" y="1828800"/>
            <a:ext cx="1783080" cy="310896"/>
          </a:xfrm>
          <a:prstGeom prst="roundRect">
            <a:avLst>
              <a:gd name="adj" fmla="val 52941"/>
            </a:avLst>
          </a:prstGeom>
          <a:solidFill>
            <a:srgbClr val="F5F5F3"/>
          </a:solidFill>
          <a:ln w="15875">
            <a:solidFill>
              <a:srgbClr val="D6D5D0"/>
            </a:solidFill>
            <a:prstDash val="solid"/>
          </a:ln>
        </p:spPr>
      </p:sp>
      <p:sp>
        <p:nvSpPr>
          <p:cNvPr id="22" name="Text 20"/>
          <p:cNvSpPr txBox="1"/>
          <p:nvPr/>
        </p:nvSpPr>
        <p:spPr>
          <a:xfrm>
            <a:off x="8659368" y="1828800"/>
            <a:ext cx="1783080" cy="310896"/>
          </a:xfrm>
          <a:prstGeom prst="rect">
            <a:avLst/>
          </a:prstGeom>
          <a:noFill/>
          <a:ln/>
        </p:spPr>
        <p:txBody>
          <a:bodyPr wrap="square" lIns="0" tIns="0" rIns="0" bIns="0" rtlCol="0" anchor="ctr"/>
          <a:lstStyle/>
          <a:p>
            <a:pPr algn="ctr" indent="0" marL="0">
              <a:buNone/>
            </a:pPr>
            <a:r>
              <a:rPr lang="en-US" sz="1200" b="1" spc="100" kern="0" dirty="0">
                <a:solidFill>
                  <a:srgbClr val="55555F"/>
                </a:solidFill>
                <a:latin typeface="Calibri" pitchFamily="34" charset="0"/>
                <a:ea typeface="Calibri" pitchFamily="34" charset="-122"/>
                <a:cs typeface="Calibri" pitchFamily="34" charset="-120"/>
              </a:rPr>
              <a:t>CHOOSE A, B OR C</a:t>
            </a:r>
            <a:endParaRPr lang="en-US" sz="1200" dirty="0"/>
          </a:p>
        </p:txBody>
      </p:sp>
      <p:sp>
        <p:nvSpPr>
          <p:cNvPr id="23" name="Text 21"/>
          <p:cNvSpPr txBox="1"/>
          <p:nvPr/>
        </p:nvSpPr>
        <p:spPr>
          <a:xfrm>
            <a:off x="6464808" y="2240280"/>
            <a:ext cx="4956048" cy="411480"/>
          </a:xfrm>
          <a:prstGeom prst="rect">
            <a:avLst/>
          </a:prstGeom>
          <a:noFill/>
          <a:ln/>
        </p:spPr>
        <p:txBody>
          <a:bodyPr wrap="square" lIns="0" tIns="0" rIns="0" bIns="0" rtlCol="0" anchor="ctr"/>
          <a:lstStyle/>
          <a:p>
            <a:pPr indent="0" marL="0">
              <a:buNone/>
            </a:pPr>
            <a:r>
              <a:rPr lang="en-US" sz="2000" b="1" dirty="0">
                <a:solidFill>
                  <a:srgbClr val="1E1E24"/>
                </a:solidFill>
                <a:latin typeface="Calibri" pitchFamily="34" charset="0"/>
                <a:ea typeface="Calibri" pitchFamily="34" charset="-122"/>
                <a:cs typeface="Calibri" pitchFamily="34" charset="-120"/>
              </a:rPr>
              <a:t>What does this print?</a:t>
            </a:r>
            <a:endParaRPr lang="en-US" sz="2000" dirty="0"/>
          </a:p>
        </p:txBody>
      </p:sp>
      <p:sp>
        <p:nvSpPr>
          <p:cNvPr id="24" name="Shape 22"/>
          <p:cNvSpPr/>
          <p:nvPr/>
        </p:nvSpPr>
        <p:spPr>
          <a:xfrm>
            <a:off x="6464808" y="2651760"/>
            <a:ext cx="2286000" cy="1088136"/>
          </a:xfrm>
          <a:prstGeom prst="roundRect">
            <a:avLst>
              <a:gd name="adj" fmla="val 5042"/>
            </a:avLst>
          </a:prstGeom>
          <a:solidFill>
            <a:srgbClr val="111115"/>
          </a:solidFill>
          <a:ln/>
        </p:spPr>
      </p:sp>
      <p:sp>
        <p:nvSpPr>
          <p:cNvPr id="25" name="Text 23"/>
          <p:cNvSpPr txBox="1"/>
          <p:nvPr/>
        </p:nvSpPr>
        <p:spPr>
          <a:xfrm>
            <a:off x="6601968" y="2743200"/>
            <a:ext cx="2011680" cy="301752"/>
          </a:xfrm>
          <a:prstGeom prst="rect">
            <a:avLst/>
          </a:prstGeom>
          <a:noFill/>
          <a:ln/>
        </p:spPr>
        <p:txBody>
          <a:bodyPr wrap="square" lIns="0" tIns="0" rIns="0" bIns="0" rtlCol="0" anchor="ctr"/>
          <a:lstStyle/>
          <a:p>
            <a:pPr indent="0" marL="0">
              <a:buNone/>
            </a:pPr>
            <a:r>
              <a:rPr lang="en-US" sz="1800" dirty="0">
                <a:solidFill>
                  <a:srgbClr val="F5F5F3"/>
                </a:solidFill>
                <a:latin typeface="Consolas" pitchFamily="34" charset="0"/>
                <a:ea typeface="Consolas" pitchFamily="34" charset="-122"/>
                <a:cs typeface="Consolas" pitchFamily="34" charset="-120"/>
              </a:rPr>
              <a:t>score</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56B4E9"/>
                </a:solidFill>
                <a:latin typeface="Consolas" pitchFamily="34" charset="0"/>
                <a:ea typeface="Consolas" pitchFamily="34" charset="-122"/>
                <a:cs typeface="Consolas" pitchFamily="34" charset="-120"/>
              </a:rPr>
              <a:t>5</a:t>
            </a:r>
            <a:endParaRPr lang="en-US" sz="1800" dirty="0"/>
          </a:p>
        </p:txBody>
      </p:sp>
      <p:sp>
        <p:nvSpPr>
          <p:cNvPr id="26" name="Text 24"/>
          <p:cNvSpPr txBox="1"/>
          <p:nvPr/>
        </p:nvSpPr>
        <p:spPr>
          <a:xfrm>
            <a:off x="6601968" y="3044952"/>
            <a:ext cx="2011680" cy="301752"/>
          </a:xfrm>
          <a:prstGeom prst="rect">
            <a:avLst/>
          </a:prstGeom>
          <a:noFill/>
          <a:ln/>
        </p:spPr>
        <p:txBody>
          <a:bodyPr wrap="square" lIns="0" tIns="0" rIns="0" bIns="0" rtlCol="0" anchor="ctr"/>
          <a:lstStyle/>
          <a:p>
            <a:pPr indent="0" marL="0">
              <a:buNone/>
            </a:pPr>
            <a:r>
              <a:rPr lang="en-US" sz="1800" dirty="0">
                <a:solidFill>
                  <a:srgbClr val="F5F5F3"/>
                </a:solidFill>
                <a:latin typeface="Consolas" pitchFamily="34" charset="0"/>
                <a:ea typeface="Consolas" pitchFamily="34" charset="-122"/>
                <a:cs typeface="Consolas" pitchFamily="34" charset="-120"/>
              </a:rPr>
              <a:t>score</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56B4E9"/>
                </a:solidFill>
                <a:latin typeface="Consolas" pitchFamily="34" charset="0"/>
                <a:ea typeface="Consolas" pitchFamily="34" charset="-122"/>
                <a:cs typeface="Consolas" pitchFamily="34" charset="-120"/>
              </a:rPr>
              <a:t>9</a:t>
            </a:r>
            <a:endParaRPr lang="en-US" sz="1800" dirty="0"/>
          </a:p>
        </p:txBody>
      </p:sp>
      <p:sp>
        <p:nvSpPr>
          <p:cNvPr id="27" name="Text 25"/>
          <p:cNvSpPr txBox="1"/>
          <p:nvPr/>
        </p:nvSpPr>
        <p:spPr>
          <a:xfrm>
            <a:off x="6601968" y="3346704"/>
            <a:ext cx="2011680" cy="301752"/>
          </a:xfrm>
          <a:prstGeom prst="rect">
            <a:avLst/>
          </a:prstGeom>
          <a:noFill/>
          <a:ln/>
        </p:spPr>
        <p:txBody>
          <a:bodyPr wrap="square" lIns="0" tIns="0" rIns="0" bIns="0" rtlCol="0" anchor="ctr"/>
          <a:lstStyle/>
          <a:p>
            <a:pPr indent="0" marL="0">
              <a:buNone/>
            </a:pPr>
            <a:r>
              <a:rPr lang="en-US" sz="1800" dirty="0">
                <a:solidFill>
                  <a:srgbClr val="E8C878"/>
                </a:solidFill>
                <a:latin typeface="Consolas" pitchFamily="34" charset="0"/>
                <a:ea typeface="Consolas" pitchFamily="34" charset="-122"/>
                <a:cs typeface="Consolas" pitchFamily="34" charset="-120"/>
              </a:rPr>
              <a:t>print</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F5F5F3"/>
                </a:solidFill>
                <a:latin typeface="Consolas" pitchFamily="34" charset="0"/>
                <a:ea typeface="Consolas" pitchFamily="34" charset="-122"/>
                <a:cs typeface="Consolas" pitchFamily="34" charset="-120"/>
              </a:rPr>
              <a:t>score</a:t>
            </a:r>
            <a:pPr indent="0" marL="0">
              <a:buNone/>
            </a:pPr>
            <a:r>
              <a:rPr lang="en-US" sz="1800" dirty="0">
                <a:solidFill>
                  <a:srgbClr val="A9A9B4"/>
                </a:solidFill>
                <a:latin typeface="Consolas" pitchFamily="34" charset="0"/>
                <a:ea typeface="Consolas" pitchFamily="34" charset="-122"/>
                <a:cs typeface="Consolas" pitchFamily="34" charset="-120"/>
              </a:rPr>
              <a:t>)</a:t>
            </a:r>
            <a:endParaRPr lang="en-US" sz="1800" dirty="0"/>
          </a:p>
        </p:txBody>
      </p:sp>
      <p:sp>
        <p:nvSpPr>
          <p:cNvPr id="28" name="Text 26"/>
          <p:cNvSpPr txBox="1"/>
          <p:nvPr/>
        </p:nvSpPr>
        <p:spPr>
          <a:xfrm>
            <a:off x="8979408" y="2651760"/>
            <a:ext cx="685800" cy="329184"/>
          </a:xfrm>
          <a:prstGeom prst="rect">
            <a:avLst/>
          </a:prstGeom>
          <a:noFill/>
          <a:ln/>
        </p:spPr>
        <p:txBody>
          <a:bodyPr wrap="square" lIns="0" tIns="0" rIns="0" bIns="0" rtlCol="0" anchor="ctr"/>
          <a:lstStyle/>
          <a:p>
            <a:pPr indent="0" marL="0">
              <a:buNone/>
            </a:pPr>
            <a:r>
              <a:rPr lang="en-US" sz="1800" b="1" dirty="0">
                <a:solidFill>
                  <a:srgbClr val="7A5A12"/>
                </a:solidFill>
                <a:latin typeface="Calibri" pitchFamily="34" charset="0"/>
                <a:ea typeface="Calibri" pitchFamily="34" charset="-122"/>
                <a:cs typeface="Calibri" pitchFamily="34" charset="-120"/>
              </a:rPr>
              <a:t>A   </a:t>
            </a:r>
            <a:pPr indent="0" marL="0">
              <a:buNone/>
            </a:pPr>
            <a:r>
              <a:rPr lang="en-US" sz="1800" dirty="0">
                <a:solidFill>
                  <a:srgbClr val="1E1E24"/>
                </a:solidFill>
                <a:latin typeface="Calibri" pitchFamily="34" charset="0"/>
                <a:ea typeface="Calibri" pitchFamily="34" charset="-122"/>
                <a:cs typeface="Calibri" pitchFamily="34" charset="-120"/>
              </a:rPr>
              <a:t>5</a:t>
            </a:r>
            <a:endParaRPr lang="en-US" sz="1800" dirty="0"/>
          </a:p>
        </p:txBody>
      </p:sp>
      <p:sp>
        <p:nvSpPr>
          <p:cNvPr id="29" name="Text 27"/>
          <p:cNvSpPr txBox="1"/>
          <p:nvPr/>
        </p:nvSpPr>
        <p:spPr>
          <a:xfrm>
            <a:off x="8979408" y="2980944"/>
            <a:ext cx="685800" cy="329184"/>
          </a:xfrm>
          <a:prstGeom prst="rect">
            <a:avLst/>
          </a:prstGeom>
          <a:noFill/>
          <a:ln/>
        </p:spPr>
        <p:txBody>
          <a:bodyPr wrap="square" lIns="0" tIns="0" rIns="0" bIns="0" rtlCol="0" anchor="ctr"/>
          <a:lstStyle/>
          <a:p>
            <a:pPr indent="0" marL="0">
              <a:buNone/>
            </a:pPr>
            <a:r>
              <a:rPr lang="en-US" sz="1800" b="1" dirty="0">
                <a:solidFill>
                  <a:srgbClr val="7A5A12"/>
                </a:solidFill>
                <a:latin typeface="Calibri" pitchFamily="34" charset="0"/>
                <a:ea typeface="Calibri" pitchFamily="34" charset="-122"/>
                <a:cs typeface="Calibri" pitchFamily="34" charset="-120"/>
              </a:rPr>
              <a:t>B   </a:t>
            </a:r>
            <a:pPr indent="0" marL="0">
              <a:buNone/>
            </a:pPr>
            <a:r>
              <a:rPr lang="en-US" sz="1800" dirty="0">
                <a:solidFill>
                  <a:srgbClr val="1E1E24"/>
                </a:solidFill>
                <a:latin typeface="Calibri" pitchFamily="34" charset="0"/>
                <a:ea typeface="Calibri" pitchFamily="34" charset="-122"/>
                <a:cs typeface="Calibri" pitchFamily="34" charset="-120"/>
              </a:rPr>
              <a:t>9</a:t>
            </a:r>
            <a:endParaRPr lang="en-US" sz="1800" dirty="0"/>
          </a:p>
        </p:txBody>
      </p:sp>
      <p:sp>
        <p:nvSpPr>
          <p:cNvPr id="30" name="Text 28"/>
          <p:cNvSpPr txBox="1"/>
          <p:nvPr/>
        </p:nvSpPr>
        <p:spPr>
          <a:xfrm>
            <a:off x="8979408" y="3310128"/>
            <a:ext cx="685800" cy="329184"/>
          </a:xfrm>
          <a:prstGeom prst="rect">
            <a:avLst/>
          </a:prstGeom>
          <a:noFill/>
          <a:ln/>
        </p:spPr>
        <p:txBody>
          <a:bodyPr wrap="square" lIns="0" tIns="0" rIns="0" bIns="0" rtlCol="0" anchor="ctr"/>
          <a:lstStyle/>
          <a:p>
            <a:pPr indent="0" marL="0">
              <a:buNone/>
            </a:pPr>
            <a:r>
              <a:rPr lang="en-US" sz="1800" b="1" dirty="0">
                <a:solidFill>
                  <a:srgbClr val="7A5A12"/>
                </a:solidFill>
                <a:latin typeface="Calibri" pitchFamily="34" charset="0"/>
                <a:ea typeface="Calibri" pitchFamily="34" charset="-122"/>
                <a:cs typeface="Calibri" pitchFamily="34" charset="-120"/>
              </a:rPr>
              <a:t>C   </a:t>
            </a:r>
            <a:pPr indent="0" marL="0">
              <a:buNone/>
            </a:pPr>
            <a:r>
              <a:rPr lang="en-US" sz="1800" dirty="0">
                <a:solidFill>
                  <a:srgbClr val="1E1E24"/>
                </a:solidFill>
                <a:latin typeface="Calibri" pitchFamily="34" charset="0"/>
                <a:ea typeface="Calibri" pitchFamily="34" charset="-122"/>
                <a:cs typeface="Calibri" pitchFamily="34" charset="-120"/>
              </a:rPr>
              <a:t>14</a:t>
            </a:r>
            <a:endParaRPr lang="en-US" sz="1800" dirty="0"/>
          </a:p>
        </p:txBody>
      </p:sp>
      <p:sp>
        <p:nvSpPr>
          <p:cNvPr id="31" name="q3"/>
          <p:cNvSpPr/>
          <p:nvPr/>
        </p:nvSpPr>
        <p:spPr>
          <a:xfrm>
            <a:off x="548640" y="4023360"/>
            <a:ext cx="5413248" cy="2286000"/>
          </a:xfrm>
          <a:prstGeom prst="roundRect">
            <a:avLst>
              <a:gd name="adj" fmla="val 3200"/>
            </a:avLst>
          </a:prstGeom>
          <a:solidFill>
            <a:srgbClr val="FFFFFF"/>
          </a:solidFill>
          <a:ln w="15875">
            <a:solidFill>
              <a:srgbClr val="D6D5D0"/>
            </a:solidFill>
            <a:prstDash val="solid"/>
          </a:ln>
        </p:spPr>
      </p:sp>
      <p:sp>
        <p:nvSpPr>
          <p:cNvPr id="32" name="Shape 30"/>
          <p:cNvSpPr/>
          <p:nvPr/>
        </p:nvSpPr>
        <p:spPr>
          <a:xfrm>
            <a:off x="777240" y="4224528"/>
            <a:ext cx="384048" cy="384048"/>
          </a:xfrm>
          <a:prstGeom prst="ellipse">
            <a:avLst/>
          </a:prstGeom>
          <a:solidFill>
            <a:srgbClr val="1E1E24"/>
          </a:solidFill>
          <a:ln/>
        </p:spPr>
      </p:sp>
      <p:sp>
        <p:nvSpPr>
          <p:cNvPr id="33" name="Text 31"/>
          <p:cNvSpPr txBox="1"/>
          <p:nvPr/>
        </p:nvSpPr>
        <p:spPr>
          <a:xfrm>
            <a:off x="777240" y="4224528"/>
            <a:ext cx="384048" cy="384048"/>
          </a:xfrm>
          <a:prstGeom prst="rect">
            <a:avLst/>
          </a:prstGeom>
          <a:noFill/>
          <a:ln/>
        </p:spPr>
        <p:txBody>
          <a:bodyPr wrap="square" lIns="0" tIns="0" rIns="0" bIns="0" rtlCol="0" anchor="ctr"/>
          <a:lstStyle/>
          <a:p>
            <a:pPr algn="ctr" indent="0" marL="0">
              <a:buNone/>
            </a:pPr>
            <a:r>
              <a:rPr lang="en-US" sz="1600" b="1" dirty="0">
                <a:solidFill>
                  <a:srgbClr val="F5F5F3"/>
                </a:solidFill>
                <a:latin typeface="Cambria" pitchFamily="34" charset="0"/>
                <a:ea typeface="Cambria" pitchFamily="34" charset="-122"/>
                <a:cs typeface="Cambria" pitchFamily="34" charset="-120"/>
              </a:rPr>
              <a:t>3</a:t>
            </a:r>
            <a:endParaRPr lang="en-US" sz="1600" dirty="0"/>
          </a:p>
        </p:txBody>
      </p:sp>
      <p:sp>
        <p:nvSpPr>
          <p:cNvPr id="34" name="Shape 32"/>
          <p:cNvSpPr/>
          <p:nvPr/>
        </p:nvSpPr>
        <p:spPr>
          <a:xfrm>
            <a:off x="1280160" y="4251960"/>
            <a:ext cx="1600200" cy="310896"/>
          </a:xfrm>
          <a:prstGeom prst="roundRect">
            <a:avLst>
              <a:gd name="adj" fmla="val 52941"/>
            </a:avLst>
          </a:prstGeom>
          <a:solidFill>
            <a:srgbClr val="EDE6D3"/>
          </a:solidFill>
          <a:ln/>
        </p:spPr>
      </p:sp>
      <p:sp>
        <p:nvSpPr>
          <p:cNvPr id="35" name="Text 33"/>
          <p:cNvSpPr txBox="1"/>
          <p:nvPr/>
        </p:nvSpPr>
        <p:spPr>
          <a:xfrm>
            <a:off x="1280160" y="4251960"/>
            <a:ext cx="1600200" cy="310896"/>
          </a:xfrm>
          <a:prstGeom prst="rect">
            <a:avLst/>
          </a:prstGeom>
          <a:noFill/>
          <a:ln/>
        </p:spPr>
        <p:txBody>
          <a:bodyPr wrap="square" lIns="0" tIns="0" rIns="0" bIns="0" rtlCol="0" anchor="ctr"/>
          <a:lstStyle/>
          <a:p>
            <a:pPr algn="ctr" indent="0" marL="0">
              <a:buNone/>
            </a:pPr>
            <a:r>
              <a:rPr lang="en-US" sz="1200" b="1" spc="100" kern="0" dirty="0">
                <a:solidFill>
                  <a:srgbClr val="7A5A12"/>
                </a:solidFill>
                <a:latin typeface="Calibri" pitchFamily="34" charset="0"/>
                <a:ea typeface="Calibri" pitchFamily="34" charset="-122"/>
                <a:cs typeface="Calibri" pitchFamily="34" charset="-120"/>
              </a:rPr>
              <a:t>Y8 · LESSON 1</a:t>
            </a:r>
            <a:endParaRPr lang="en-US" sz="1200" dirty="0"/>
          </a:p>
        </p:txBody>
      </p:sp>
      <p:sp>
        <p:nvSpPr>
          <p:cNvPr id="36" name="Shape 34"/>
          <p:cNvSpPr/>
          <p:nvPr/>
        </p:nvSpPr>
        <p:spPr>
          <a:xfrm>
            <a:off x="2971800" y="4251960"/>
            <a:ext cx="1783080" cy="310896"/>
          </a:xfrm>
          <a:prstGeom prst="roundRect">
            <a:avLst>
              <a:gd name="adj" fmla="val 52941"/>
            </a:avLst>
          </a:prstGeom>
          <a:solidFill>
            <a:srgbClr val="F5F5F3"/>
          </a:solidFill>
          <a:ln w="15875">
            <a:solidFill>
              <a:srgbClr val="D6D5D0"/>
            </a:solidFill>
            <a:prstDash val="solid"/>
          </a:ln>
        </p:spPr>
      </p:sp>
      <p:sp>
        <p:nvSpPr>
          <p:cNvPr id="37" name="Text 35"/>
          <p:cNvSpPr txBox="1"/>
          <p:nvPr/>
        </p:nvSpPr>
        <p:spPr>
          <a:xfrm>
            <a:off x="2971800" y="4251960"/>
            <a:ext cx="1783080" cy="310896"/>
          </a:xfrm>
          <a:prstGeom prst="rect">
            <a:avLst/>
          </a:prstGeom>
          <a:noFill/>
          <a:ln/>
        </p:spPr>
        <p:txBody>
          <a:bodyPr wrap="square" lIns="0" tIns="0" rIns="0" bIns="0" rtlCol="0" anchor="ctr"/>
          <a:lstStyle/>
          <a:p>
            <a:pPr algn="ctr" indent="0" marL="0">
              <a:buNone/>
            </a:pPr>
            <a:r>
              <a:rPr lang="en-US" sz="1200" b="1" spc="100" kern="0" dirty="0">
                <a:solidFill>
                  <a:srgbClr val="55555F"/>
                </a:solidFill>
                <a:latin typeface="Calibri" pitchFamily="34" charset="0"/>
                <a:ea typeface="Calibri" pitchFamily="34" charset="-122"/>
                <a:cs typeface="Calibri" pitchFamily="34" charset="-120"/>
              </a:rPr>
              <a:t>WRITE IT</a:t>
            </a:r>
            <a:endParaRPr lang="en-US" sz="1200" dirty="0"/>
          </a:p>
        </p:txBody>
      </p:sp>
      <p:sp>
        <p:nvSpPr>
          <p:cNvPr id="38" name="Text 36"/>
          <p:cNvSpPr txBox="1"/>
          <p:nvPr/>
        </p:nvSpPr>
        <p:spPr>
          <a:xfrm>
            <a:off x="777240" y="4663440"/>
            <a:ext cx="4956048" cy="411480"/>
          </a:xfrm>
          <a:prstGeom prst="rect">
            <a:avLst/>
          </a:prstGeom>
          <a:noFill/>
          <a:ln/>
        </p:spPr>
        <p:txBody>
          <a:bodyPr wrap="square" lIns="0" tIns="0" rIns="0" bIns="0" rtlCol="0" anchor="ctr"/>
          <a:lstStyle/>
          <a:p>
            <a:pPr indent="0" marL="0">
              <a:buNone/>
            </a:pPr>
            <a:r>
              <a:rPr lang="en-US" sz="2000" b="1" dirty="0">
                <a:solidFill>
                  <a:srgbClr val="1E1E24"/>
                </a:solidFill>
                <a:latin typeface="Calibri" pitchFamily="34" charset="0"/>
                <a:ea typeface="Calibri" pitchFamily="34" charset="-122"/>
                <a:cs typeface="Calibri" pitchFamily="34" charset="-120"/>
              </a:rPr>
              <a:t>This line crashes. What is missing?</a:t>
            </a:r>
            <a:endParaRPr lang="en-US" sz="2000" dirty="0"/>
          </a:p>
        </p:txBody>
      </p:sp>
      <p:sp>
        <p:nvSpPr>
          <p:cNvPr id="39" name="Shape 37"/>
          <p:cNvSpPr/>
          <p:nvPr/>
        </p:nvSpPr>
        <p:spPr>
          <a:xfrm>
            <a:off x="777240" y="5074920"/>
            <a:ext cx="4956048" cy="484632"/>
          </a:xfrm>
          <a:prstGeom prst="roundRect">
            <a:avLst>
              <a:gd name="adj" fmla="val 11321"/>
            </a:avLst>
          </a:prstGeom>
          <a:solidFill>
            <a:srgbClr val="111115"/>
          </a:solidFill>
          <a:ln/>
        </p:spPr>
      </p:sp>
      <p:sp>
        <p:nvSpPr>
          <p:cNvPr id="40" name="Text 38"/>
          <p:cNvSpPr txBox="1"/>
          <p:nvPr/>
        </p:nvSpPr>
        <p:spPr>
          <a:xfrm>
            <a:off x="914400" y="5166360"/>
            <a:ext cx="4681728" cy="301752"/>
          </a:xfrm>
          <a:prstGeom prst="rect">
            <a:avLst/>
          </a:prstGeom>
          <a:noFill/>
          <a:ln/>
        </p:spPr>
        <p:txBody>
          <a:bodyPr wrap="square" lIns="0" tIns="0" rIns="0" bIns="0" rtlCol="0" anchor="ctr"/>
          <a:lstStyle/>
          <a:p>
            <a:pPr indent="0" marL="0">
              <a:buNone/>
            </a:pPr>
            <a:r>
              <a:rPr lang="en-US" sz="1800" dirty="0">
                <a:solidFill>
                  <a:srgbClr val="E8C878"/>
                </a:solidFill>
                <a:latin typeface="Consolas" pitchFamily="34" charset="0"/>
                <a:ea typeface="Consolas" pitchFamily="34" charset="-122"/>
                <a:cs typeface="Consolas" pitchFamily="34" charset="-120"/>
              </a:rPr>
              <a:t>print</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E69F00"/>
                </a:solidFill>
                <a:latin typeface="Consolas" pitchFamily="34" charset="0"/>
                <a:ea typeface="Consolas" pitchFamily="34" charset="-122"/>
                <a:cs typeface="Consolas" pitchFamily="34" charset="-120"/>
              </a:rPr>
              <a:t>"Hello)</a:t>
            </a:r>
            <a:endParaRPr lang="en-US" sz="1800" dirty="0"/>
          </a:p>
        </p:txBody>
      </p:sp>
      <p:sp>
        <p:nvSpPr>
          <p:cNvPr id="41" name="q4"/>
          <p:cNvSpPr/>
          <p:nvPr/>
        </p:nvSpPr>
        <p:spPr>
          <a:xfrm>
            <a:off x="6236208" y="4023360"/>
            <a:ext cx="5413248" cy="2286000"/>
          </a:xfrm>
          <a:prstGeom prst="roundRect">
            <a:avLst>
              <a:gd name="adj" fmla="val 3200"/>
            </a:avLst>
          </a:prstGeom>
          <a:solidFill>
            <a:srgbClr val="FFFFFF"/>
          </a:solidFill>
          <a:ln w="15875">
            <a:solidFill>
              <a:srgbClr val="D6D5D0"/>
            </a:solidFill>
            <a:prstDash val="solid"/>
          </a:ln>
        </p:spPr>
      </p:sp>
      <p:sp>
        <p:nvSpPr>
          <p:cNvPr id="42" name="Shape 40"/>
          <p:cNvSpPr/>
          <p:nvPr/>
        </p:nvSpPr>
        <p:spPr>
          <a:xfrm>
            <a:off x="6464808" y="4224528"/>
            <a:ext cx="384048" cy="384048"/>
          </a:xfrm>
          <a:prstGeom prst="ellipse">
            <a:avLst/>
          </a:prstGeom>
          <a:solidFill>
            <a:srgbClr val="1E1E24"/>
          </a:solidFill>
          <a:ln/>
        </p:spPr>
      </p:sp>
      <p:sp>
        <p:nvSpPr>
          <p:cNvPr id="43" name="Text 41"/>
          <p:cNvSpPr txBox="1"/>
          <p:nvPr/>
        </p:nvSpPr>
        <p:spPr>
          <a:xfrm>
            <a:off x="6464808" y="4224528"/>
            <a:ext cx="384048" cy="384048"/>
          </a:xfrm>
          <a:prstGeom prst="rect">
            <a:avLst/>
          </a:prstGeom>
          <a:noFill/>
          <a:ln/>
        </p:spPr>
        <p:txBody>
          <a:bodyPr wrap="square" lIns="0" tIns="0" rIns="0" bIns="0" rtlCol="0" anchor="ctr"/>
          <a:lstStyle/>
          <a:p>
            <a:pPr algn="ctr" indent="0" marL="0">
              <a:buNone/>
            </a:pPr>
            <a:r>
              <a:rPr lang="en-US" sz="1600" b="1" dirty="0">
                <a:solidFill>
                  <a:srgbClr val="F5F5F3"/>
                </a:solidFill>
                <a:latin typeface="Cambria" pitchFamily="34" charset="0"/>
                <a:ea typeface="Cambria" pitchFamily="34" charset="-122"/>
                <a:cs typeface="Cambria" pitchFamily="34" charset="-120"/>
              </a:rPr>
              <a:t>4</a:t>
            </a:r>
            <a:endParaRPr lang="en-US" sz="1600" dirty="0"/>
          </a:p>
        </p:txBody>
      </p:sp>
      <p:sp>
        <p:nvSpPr>
          <p:cNvPr id="44" name="Shape 42"/>
          <p:cNvSpPr/>
          <p:nvPr/>
        </p:nvSpPr>
        <p:spPr>
          <a:xfrm>
            <a:off x="6967728" y="4251960"/>
            <a:ext cx="1600200" cy="310896"/>
          </a:xfrm>
          <a:prstGeom prst="roundRect">
            <a:avLst>
              <a:gd name="adj" fmla="val 52941"/>
            </a:avLst>
          </a:prstGeom>
          <a:solidFill>
            <a:srgbClr val="EDE6D3"/>
          </a:solidFill>
          <a:ln/>
        </p:spPr>
      </p:sp>
      <p:sp>
        <p:nvSpPr>
          <p:cNvPr id="45" name="Text 43"/>
          <p:cNvSpPr txBox="1"/>
          <p:nvPr/>
        </p:nvSpPr>
        <p:spPr>
          <a:xfrm>
            <a:off x="6967728" y="4251960"/>
            <a:ext cx="1600200" cy="310896"/>
          </a:xfrm>
          <a:prstGeom prst="rect">
            <a:avLst/>
          </a:prstGeom>
          <a:noFill/>
          <a:ln/>
        </p:spPr>
        <p:txBody>
          <a:bodyPr wrap="square" lIns="0" tIns="0" rIns="0" bIns="0" rtlCol="0" anchor="ctr"/>
          <a:lstStyle/>
          <a:p>
            <a:pPr algn="ctr" indent="0" marL="0">
              <a:buNone/>
            </a:pPr>
            <a:r>
              <a:rPr lang="en-US" sz="1200" b="1" spc="100" kern="0" dirty="0">
                <a:solidFill>
                  <a:srgbClr val="7A5A12"/>
                </a:solidFill>
                <a:latin typeface="Calibri" pitchFamily="34" charset="0"/>
                <a:ea typeface="Calibri" pitchFamily="34" charset="-122"/>
                <a:cs typeface="Calibri" pitchFamily="34" charset="-120"/>
              </a:rPr>
              <a:t>Y8 · LESSON 2</a:t>
            </a:r>
            <a:endParaRPr lang="en-US" sz="1200" dirty="0"/>
          </a:p>
        </p:txBody>
      </p:sp>
      <p:sp>
        <p:nvSpPr>
          <p:cNvPr id="46" name="Shape 44"/>
          <p:cNvSpPr/>
          <p:nvPr/>
        </p:nvSpPr>
        <p:spPr>
          <a:xfrm>
            <a:off x="8659368" y="4251960"/>
            <a:ext cx="1783080" cy="310896"/>
          </a:xfrm>
          <a:prstGeom prst="roundRect">
            <a:avLst>
              <a:gd name="adj" fmla="val 52941"/>
            </a:avLst>
          </a:prstGeom>
          <a:solidFill>
            <a:srgbClr val="F5F5F3"/>
          </a:solidFill>
          <a:ln w="15875">
            <a:solidFill>
              <a:srgbClr val="D6D5D0"/>
            </a:solidFill>
            <a:prstDash val="solid"/>
          </a:ln>
        </p:spPr>
      </p:sp>
      <p:sp>
        <p:nvSpPr>
          <p:cNvPr id="47" name="Text 45"/>
          <p:cNvSpPr txBox="1"/>
          <p:nvPr/>
        </p:nvSpPr>
        <p:spPr>
          <a:xfrm>
            <a:off x="8659368" y="4251960"/>
            <a:ext cx="1783080" cy="310896"/>
          </a:xfrm>
          <a:prstGeom prst="rect">
            <a:avLst/>
          </a:prstGeom>
          <a:noFill/>
          <a:ln/>
        </p:spPr>
        <p:txBody>
          <a:bodyPr wrap="square" lIns="0" tIns="0" rIns="0" bIns="0" rtlCol="0" anchor="ctr"/>
          <a:lstStyle/>
          <a:p>
            <a:pPr algn="ctr" indent="0" marL="0">
              <a:buNone/>
            </a:pPr>
            <a:r>
              <a:rPr lang="en-US" sz="1200" b="1" spc="100" kern="0" dirty="0">
                <a:solidFill>
                  <a:srgbClr val="55555F"/>
                </a:solidFill>
                <a:latin typeface="Calibri" pitchFamily="34" charset="0"/>
                <a:ea typeface="Calibri" pitchFamily="34" charset="-122"/>
                <a:cs typeface="Calibri" pitchFamily="34" charset="-120"/>
              </a:rPr>
              <a:t>WRITE IT</a:t>
            </a:r>
            <a:endParaRPr lang="en-US" sz="1200" dirty="0"/>
          </a:p>
        </p:txBody>
      </p:sp>
      <p:sp>
        <p:nvSpPr>
          <p:cNvPr id="48" name="Text 46"/>
          <p:cNvSpPr txBox="1"/>
          <p:nvPr/>
        </p:nvSpPr>
        <p:spPr>
          <a:xfrm>
            <a:off x="6464808" y="4663440"/>
            <a:ext cx="4956048" cy="411480"/>
          </a:xfrm>
          <a:prstGeom prst="rect">
            <a:avLst/>
          </a:prstGeom>
          <a:noFill/>
          <a:ln/>
        </p:spPr>
        <p:txBody>
          <a:bodyPr wrap="square" lIns="0" tIns="0" rIns="0" bIns="0" rtlCol="0" anchor="ctr"/>
          <a:lstStyle/>
          <a:p>
            <a:pPr indent="0" marL="0">
              <a:buNone/>
            </a:pPr>
            <a:r>
              <a:rPr lang="en-US" sz="2000" b="1" dirty="0">
                <a:solidFill>
                  <a:srgbClr val="1E1E24"/>
                </a:solidFill>
                <a:latin typeface="Calibri" pitchFamily="34" charset="0"/>
                <a:ea typeface="Calibri" pitchFamily="34" charset="-122"/>
                <a:cs typeface="Calibri" pitchFamily="34" charset="-120"/>
              </a:rPr>
              <a:t>Write exactly what this prints.</a:t>
            </a:r>
            <a:endParaRPr lang="en-US" sz="2000" dirty="0"/>
          </a:p>
        </p:txBody>
      </p:sp>
      <p:sp>
        <p:nvSpPr>
          <p:cNvPr id="49" name="Shape 47"/>
          <p:cNvSpPr/>
          <p:nvPr/>
        </p:nvSpPr>
        <p:spPr>
          <a:xfrm>
            <a:off x="6464808" y="5074920"/>
            <a:ext cx="4956048" cy="786384"/>
          </a:xfrm>
          <a:prstGeom prst="roundRect">
            <a:avLst>
              <a:gd name="adj" fmla="val 6977"/>
            </a:avLst>
          </a:prstGeom>
          <a:solidFill>
            <a:srgbClr val="111115"/>
          </a:solidFill>
          <a:ln/>
        </p:spPr>
      </p:sp>
      <p:sp>
        <p:nvSpPr>
          <p:cNvPr id="50" name="Text 48"/>
          <p:cNvSpPr txBox="1"/>
          <p:nvPr/>
        </p:nvSpPr>
        <p:spPr>
          <a:xfrm>
            <a:off x="6601968" y="5166360"/>
            <a:ext cx="4681728" cy="301752"/>
          </a:xfrm>
          <a:prstGeom prst="rect">
            <a:avLst/>
          </a:prstGeom>
          <a:noFill/>
          <a:ln/>
        </p:spPr>
        <p:txBody>
          <a:bodyPr wrap="square" lIns="0" tIns="0" rIns="0" bIns="0" rtlCol="0" anchor="ctr"/>
          <a:lstStyle/>
          <a:p>
            <a:pPr indent="0" marL="0">
              <a:buNone/>
            </a:pPr>
            <a:r>
              <a:rPr lang="en-US" sz="1800" dirty="0">
                <a:solidFill>
                  <a:srgbClr val="F5F5F3"/>
                </a:solidFill>
                <a:latin typeface="Consolas" pitchFamily="34" charset="0"/>
                <a:ea typeface="Consolas" pitchFamily="34" charset="-122"/>
                <a:cs typeface="Consolas" pitchFamily="34" charset="-120"/>
              </a:rPr>
              <a:t>name</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E69F00"/>
                </a:solidFill>
                <a:latin typeface="Consolas" pitchFamily="34" charset="0"/>
                <a:ea typeface="Consolas" pitchFamily="34" charset="-122"/>
                <a:cs typeface="Consolas" pitchFamily="34" charset="-120"/>
              </a:rPr>
              <a:t>"Sam"</a:t>
            </a:r>
            <a:endParaRPr lang="en-US" sz="1800" dirty="0"/>
          </a:p>
        </p:txBody>
      </p:sp>
      <p:sp>
        <p:nvSpPr>
          <p:cNvPr id="51" name="Text 49"/>
          <p:cNvSpPr txBox="1"/>
          <p:nvPr/>
        </p:nvSpPr>
        <p:spPr>
          <a:xfrm>
            <a:off x="6601968" y="5468112"/>
            <a:ext cx="4681728" cy="301752"/>
          </a:xfrm>
          <a:prstGeom prst="rect">
            <a:avLst/>
          </a:prstGeom>
          <a:noFill/>
          <a:ln/>
        </p:spPr>
        <p:txBody>
          <a:bodyPr wrap="square" lIns="0" tIns="0" rIns="0" bIns="0" rtlCol="0" anchor="ctr"/>
          <a:lstStyle/>
          <a:p>
            <a:pPr indent="0" marL="0">
              <a:buNone/>
            </a:pPr>
            <a:r>
              <a:rPr lang="en-US" sz="1800" dirty="0">
                <a:solidFill>
                  <a:srgbClr val="E8C878"/>
                </a:solidFill>
                <a:latin typeface="Consolas" pitchFamily="34" charset="0"/>
                <a:ea typeface="Consolas" pitchFamily="34" charset="-122"/>
                <a:cs typeface="Consolas" pitchFamily="34" charset="-120"/>
              </a:rPr>
              <a:t>print</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E69F00"/>
                </a:solidFill>
                <a:latin typeface="Consolas" pitchFamily="34" charset="0"/>
                <a:ea typeface="Consolas" pitchFamily="34" charset="-122"/>
                <a:cs typeface="Consolas" pitchFamily="34" charset="-120"/>
              </a:rPr>
              <a:t>"Hi "</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F5F5F3"/>
                </a:solidFill>
                <a:latin typeface="Consolas" pitchFamily="34" charset="0"/>
                <a:ea typeface="Consolas" pitchFamily="34" charset="-122"/>
                <a:cs typeface="Consolas" pitchFamily="34" charset="-120"/>
              </a:rPr>
              <a:t>name</a:t>
            </a:r>
            <a:pPr indent="0" marL="0">
              <a:buNone/>
            </a:pPr>
            <a:r>
              <a:rPr lang="en-US" sz="1800" dirty="0">
                <a:solidFill>
                  <a:srgbClr val="A9A9B4"/>
                </a:solidFill>
                <a:latin typeface="Consolas" pitchFamily="34" charset="0"/>
                <a:ea typeface="Consolas" pitchFamily="34" charset="-122"/>
                <a:cs typeface="Consolas" pitchFamily="34" charset="-120"/>
              </a:rPr>
              <a:t>)</a:t>
            </a:r>
            <a:endParaRPr lang="en-US" sz="1800" dirty="0"/>
          </a:p>
        </p:txBody>
      </p:sp>
      <p:sp>
        <p:nvSpPr>
          <p:cNvPr id="52" name="Shape 50"/>
          <p:cNvSpPr/>
          <p:nvPr/>
        </p:nvSpPr>
        <p:spPr>
          <a:xfrm>
            <a:off x="9464040" y="566928"/>
            <a:ext cx="1280160" cy="329184"/>
          </a:xfrm>
          <a:prstGeom prst="roundRect">
            <a:avLst>
              <a:gd name="adj" fmla="val 50000"/>
            </a:avLst>
          </a:prstGeom>
          <a:solidFill>
            <a:srgbClr val="F5F5F3"/>
          </a:solidFill>
          <a:ln w="15875">
            <a:solidFill>
              <a:srgbClr val="1E1E24"/>
            </a:solidFill>
            <a:prstDash val="solid"/>
          </a:ln>
        </p:spPr>
      </p:sp>
      <p:sp>
        <p:nvSpPr>
          <p:cNvPr id="53" name="Text 51"/>
          <p:cNvSpPr txBox="1"/>
          <p:nvPr/>
        </p:nvSpPr>
        <p:spPr>
          <a:xfrm>
            <a:off x="9464040" y="566928"/>
            <a:ext cx="1280160" cy="329184"/>
          </a:xfrm>
          <a:prstGeom prst="rect">
            <a:avLst/>
          </a:prstGeom>
          <a:noFill/>
          <a:ln/>
        </p:spPr>
        <p:txBody>
          <a:bodyPr wrap="square" lIns="0" tIns="0" rIns="0" bIns="0" rtlCol="0" anchor="ctr"/>
          <a:lstStyle/>
          <a:p>
            <a:pPr algn="ctr" indent="0" marL="0">
              <a:buNone/>
            </a:pPr>
            <a:r>
              <a:rPr lang="en-US" sz="1400" b="1" spc="100" kern="0" dirty="0">
                <a:solidFill>
                  <a:srgbClr val="1E1E24"/>
                </a:solidFill>
                <a:latin typeface="Calibri" pitchFamily="34" charset="0"/>
                <a:ea typeface="Calibri" pitchFamily="34" charset="-122"/>
                <a:cs typeface="Calibri" pitchFamily="34" charset="-120"/>
              </a:rPr>
              <a:t>⏱  5 MIN</a:t>
            </a:r>
            <a:endParaRPr lang="en-US" sz="1400" dirty="0"/>
          </a:p>
        </p:txBody>
      </p:sp>
      <p:pic>
        <p:nvPicPr>
          <p:cNvPr id="54" name="Image 0" descr="Recap and recall">    </p:cNvPr>
          <p:cNvPicPr>
            <a:picLocks noChangeAspect="1"/>
          </p:cNvPicPr>
          <p:nvPr/>
        </p:nvPicPr>
        <p:blipFill>
          <a:blip r:embed="rId1"/>
          <a:stretch>
            <a:fillRect/>
          </a:stretch>
        </p:blipFill>
        <p:spPr>
          <a:xfrm>
            <a:off x="10972800" y="384048"/>
            <a:ext cx="731520" cy="731520"/>
          </a:xfrm>
          <a:prstGeom prst="rect">
            <a:avLst/>
          </a:prstGeom>
        </p:spPr>
      </p:pic>
      <p:sp>
        <p:nvSpPr>
          <p:cNvPr id="55" name="Text 52"/>
          <p:cNvSpPr txBox="1"/>
          <p:nvPr/>
        </p:nvSpPr>
        <p:spPr>
          <a:xfrm>
            <a:off x="4206240" y="6355080"/>
            <a:ext cx="6812280" cy="320040"/>
          </a:xfrm>
          <a:prstGeom prst="rect">
            <a:avLst/>
          </a:prstGeom>
          <a:noFill/>
          <a:ln/>
        </p:spPr>
        <p:txBody>
          <a:bodyPr wrap="square" lIns="0" tIns="0" rIns="0" bIns="0" rtlCol="0" anchor="ctr"/>
          <a:lstStyle/>
          <a:p>
            <a:pPr algn="r" indent="0" marL="0">
              <a:buNone/>
            </a:pPr>
            <a:r>
              <a:rPr lang="en-US" sz="1300" b="1" i="1" dirty="0">
                <a:solidFill>
                  <a:srgbClr val="7A5A12"/>
                </a:solidFill>
                <a:latin typeface="Calibri" pitchFamily="34" charset="0"/>
                <a:ea typeface="Calibri" pitchFamily="34" charset="-122"/>
                <a:cs typeface="Calibri" pitchFamily="34" charset="-120"/>
              </a:rPr>
              <a:t>station('L1b')  ·  Ch 1 Life Support: frost, O2 falling (light slides skip frost)</a:t>
            </a:r>
            <a:endParaRPr lang="en-US" sz="1300" dirty="0"/>
          </a:p>
        </p:txBody>
      </p:sp>
      <p:sp>
        <p:nvSpPr>
          <p:cNvPr id="56"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8A8A93"/>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station edge_amber" descr="C:\Users\n.houlton_grange.out\source\repos\interactive\_presentations\Y9_Python\station\edge_amber.png">    </p:cNvPr>
          <p:cNvPicPr>
            <a:picLocks noChangeAspect="1"/>
          </p:cNvPicPr>
          <p:nvPr/>
        </p:nvPicPr>
        <p:blipFill>
          <a:blip r:embed="rId1"/>
          <a:stretch>
            <a:fillRect/>
          </a:stretch>
        </p:blipFill>
        <p:spPr>
          <a:xfrm>
            <a:off x="0" y="0"/>
            <a:ext cx="12191695" cy="6858000"/>
          </a:xfrm>
          <a:prstGeom prst="rect">
            <a:avLst/>
          </a:prstGeom>
        </p:spPr>
      </p:pic>
      <p:sp>
        <p:nvSpPr>
          <p:cNvPr id="3" name="station status"/>
          <p:cNvSpPr txBox="1"/>
          <p:nvPr/>
        </p:nvSpPr>
        <p:spPr>
          <a:xfrm>
            <a:off x="548640" y="73152"/>
            <a:ext cx="10241280" cy="237744"/>
          </a:xfrm>
          <a:prstGeom prst="rect">
            <a:avLst/>
          </a:prstGeom>
          <a:noFill/>
          <a:ln/>
        </p:spPr>
        <p:txBody>
          <a:bodyPr wrap="square" lIns="0" tIns="0" rIns="0" bIns="0" rtlCol="0" anchor="ctr"/>
          <a:lstStyle/>
          <a:p>
            <a:pPr indent="0" marL="0">
              <a:buNone/>
            </a:pPr>
            <a:r>
              <a:rPr lang="en-US" sz="1100" spc="100" kern="0" dirty="0">
                <a:solidFill>
                  <a:srgbClr val="E69F00"/>
                </a:solidFill>
                <a:latin typeface="Consolas" pitchFamily="34" charset="0"/>
                <a:ea typeface="Consolas" pitchFamily="34" charset="-122"/>
                <a:cs typeface="Consolas" pitchFamily="34" charset="-120"/>
              </a:rPr>
              <a:t>●  </a:t>
            </a:r>
            <a:pPr indent="0" marL="0">
              <a:buNone/>
            </a:pPr>
            <a:r>
              <a:rPr lang="en-US" sz="1100" spc="100" kern="0" dirty="0">
                <a:solidFill>
                  <a:srgbClr val="6E6E7A"/>
                </a:solidFill>
                <a:latin typeface="Consolas" pitchFamily="34" charset="0"/>
                <a:ea typeface="Consolas" pitchFamily="34" charset="-122"/>
                <a:cs typeface="Consolas" pitchFamily="34" charset="-120"/>
              </a:rPr>
              <a:t>SENSOR OPS   ·   MOTION DETECTED   ·   BIO-SCAN: NOT HUMAN</a:t>
            </a:r>
            <a:endParaRPr lang="en-US" sz="1100" dirty="0"/>
          </a:p>
        </p:txBody>
      </p:sp>
      <p:sp>
        <p:nvSpPr>
          <p:cNvPr id="4"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Quotes: the word, or what’s stored?</a:t>
            </a:r>
            <a:endParaRPr lang="en-US" sz="3600" dirty="0"/>
          </a:p>
        </p:txBody>
      </p:sp>
      <p:sp>
        <p:nvSpPr>
          <p:cNvPr id="5" name="Text 2"/>
          <p:cNvSpPr txBox="1"/>
          <p:nvPr/>
        </p:nvSpPr>
        <p:spPr>
          <a:xfrm>
            <a:off x="548640" y="1554480"/>
            <a:ext cx="2743200" cy="274320"/>
          </a:xfrm>
          <a:prstGeom prst="rect">
            <a:avLst/>
          </a:prstGeom>
          <a:noFill/>
          <a:ln/>
        </p:spPr>
        <p:txBody>
          <a:bodyPr wrap="square" lIns="0" tIns="0" rIns="0" bIns="0" rtlCol="0" anchor="ctr"/>
          <a:lstStyle/>
          <a:p>
            <a:pPr indent="0" marL="0">
              <a:buNone/>
            </a:pPr>
            <a:r>
              <a:rPr lang="en-US" sz="1300" b="1" spc="200" kern="0" dirty="0">
                <a:solidFill>
                  <a:srgbClr val="6E6E7A"/>
                </a:solidFill>
                <a:latin typeface="Calibri" pitchFamily="34" charset="0"/>
                <a:ea typeface="Calibri" pitchFamily="34" charset="-122"/>
                <a:cs typeface="Calibri" pitchFamily="34" charset="-120"/>
              </a:rPr>
              <a:t>IN MEMORY</a:t>
            </a:r>
            <a:endParaRPr lang="en-US" sz="1300" dirty="0"/>
          </a:p>
        </p:txBody>
      </p:sp>
      <p:sp>
        <p:nvSpPr>
          <p:cNvPr id="6" name="Shape 3"/>
          <p:cNvSpPr/>
          <p:nvPr/>
        </p:nvSpPr>
        <p:spPr>
          <a:xfrm>
            <a:off x="548640" y="2148840"/>
            <a:ext cx="2377440" cy="868680"/>
          </a:xfrm>
          <a:prstGeom prst="roundRect">
            <a:avLst>
              <a:gd name="adj" fmla="val 6316"/>
            </a:avLst>
          </a:prstGeom>
          <a:solidFill>
            <a:srgbClr val="111115"/>
          </a:solidFill>
          <a:ln w="25400">
            <a:solidFill>
              <a:srgbClr val="E69F00"/>
            </a:solidFill>
            <a:prstDash val="solid"/>
          </a:ln>
        </p:spPr>
      </p:sp>
      <p:sp>
        <p:nvSpPr>
          <p:cNvPr id="7" name="Shape 4"/>
          <p:cNvSpPr/>
          <p:nvPr/>
        </p:nvSpPr>
        <p:spPr>
          <a:xfrm>
            <a:off x="685800" y="1965960"/>
            <a:ext cx="1481328" cy="347472"/>
          </a:xfrm>
          <a:prstGeom prst="roundRect">
            <a:avLst>
              <a:gd name="adj" fmla="val 13158"/>
            </a:avLst>
          </a:prstGeom>
          <a:solidFill>
            <a:srgbClr val="E69F00"/>
          </a:solidFill>
          <a:ln/>
        </p:spPr>
      </p:sp>
      <p:sp>
        <p:nvSpPr>
          <p:cNvPr id="8" name="Text 5"/>
          <p:cNvSpPr txBox="1"/>
          <p:nvPr/>
        </p:nvSpPr>
        <p:spPr>
          <a:xfrm>
            <a:off x="685800" y="1965960"/>
            <a:ext cx="1481328" cy="347472"/>
          </a:xfrm>
          <a:prstGeom prst="rect">
            <a:avLst/>
          </a:prstGeom>
          <a:noFill/>
          <a:ln/>
        </p:spPr>
        <p:txBody>
          <a:bodyPr wrap="square" lIns="0" tIns="0" rIns="0" bIns="0" rtlCol="0" anchor="ctr"/>
          <a:lstStyle/>
          <a:p>
            <a:pPr algn="ctr" indent="0" marL="0">
              <a:buNone/>
            </a:pPr>
            <a:r>
              <a:rPr lang="en-US" sz="1400" b="1" dirty="0">
                <a:solidFill>
                  <a:srgbClr val="111115"/>
                </a:solidFill>
                <a:latin typeface="Consolas" pitchFamily="34" charset="0"/>
                <a:ea typeface="Consolas" pitchFamily="34" charset="-122"/>
                <a:cs typeface="Consolas" pitchFamily="34" charset="-120"/>
              </a:rPr>
              <a:t>name  ·  str</a:t>
            </a:r>
            <a:endParaRPr lang="en-US" sz="1400" dirty="0"/>
          </a:p>
        </p:txBody>
      </p:sp>
      <p:sp>
        <p:nvSpPr>
          <p:cNvPr id="9" name="Text 6"/>
          <p:cNvSpPr txBox="1"/>
          <p:nvPr/>
        </p:nvSpPr>
        <p:spPr>
          <a:xfrm>
            <a:off x="640080" y="2331720"/>
            <a:ext cx="2194560" cy="640080"/>
          </a:xfrm>
          <a:prstGeom prst="rect">
            <a:avLst/>
          </a:prstGeom>
          <a:noFill/>
          <a:ln/>
        </p:spPr>
        <p:txBody>
          <a:bodyPr wrap="square" lIns="0" tIns="0" rIns="0" bIns="0" rtlCol="0" anchor="ctr"/>
          <a:lstStyle/>
          <a:p>
            <a:pPr algn="ctr" indent="0" marL="0">
              <a:buNone/>
            </a:pPr>
            <a:r>
              <a:rPr lang="en-US" sz="2600" dirty="0">
                <a:solidFill>
                  <a:srgbClr val="F5F5F3"/>
                </a:solidFill>
                <a:latin typeface="Consolas" pitchFamily="34" charset="0"/>
                <a:ea typeface="Consolas" pitchFamily="34" charset="-122"/>
                <a:cs typeface="Consolas" pitchFamily="34" charset="-120"/>
              </a:rPr>
              <a:t>"Riley"</a:t>
            </a:r>
            <a:endParaRPr lang="en-US" sz="2600" dirty="0"/>
          </a:p>
        </p:txBody>
      </p:sp>
      <p:sp>
        <p:nvSpPr>
          <p:cNvPr id="10" name="code"/>
          <p:cNvSpPr/>
          <p:nvPr/>
        </p:nvSpPr>
        <p:spPr>
          <a:xfrm>
            <a:off x="548640" y="3429000"/>
            <a:ext cx="3566160" cy="868680"/>
          </a:xfrm>
          <a:prstGeom prst="roundRect">
            <a:avLst>
              <a:gd name="adj" fmla="val 8421"/>
            </a:avLst>
          </a:prstGeom>
          <a:solidFill>
            <a:srgbClr val="111115"/>
          </a:solidFill>
          <a:ln w="15875">
            <a:solidFill>
              <a:srgbClr val="3A3A44"/>
            </a:solidFill>
            <a:prstDash val="solid"/>
          </a:ln>
        </p:spPr>
      </p:sp>
      <p:sp>
        <p:nvSpPr>
          <p:cNvPr id="11" name="Text 8"/>
          <p:cNvSpPr txBox="1"/>
          <p:nvPr/>
        </p:nvSpPr>
        <p:spPr>
          <a:xfrm>
            <a:off x="731520" y="3630168"/>
            <a:ext cx="3291840" cy="502920"/>
          </a:xfrm>
          <a:prstGeom prst="rect">
            <a:avLst/>
          </a:prstGeom>
          <a:noFill/>
          <a:ln/>
        </p:spPr>
        <p:txBody>
          <a:bodyPr wrap="square" lIns="0" tIns="0" rIns="0" bIns="0" rtlCol="0" anchor="ctr"/>
          <a:lstStyle/>
          <a:p>
            <a:pPr indent="0" marL="0">
              <a:buNone/>
            </a:pPr>
            <a:r>
              <a:rPr lang="en-US" sz="2400" dirty="0">
                <a:solidFill>
                  <a:srgbClr val="E8C878"/>
                </a:solidFill>
                <a:latin typeface="Consolas" pitchFamily="34" charset="0"/>
                <a:ea typeface="Consolas" pitchFamily="34" charset="-122"/>
                <a:cs typeface="Consolas" pitchFamily="34" charset="-120"/>
              </a:rPr>
              <a:t>print</a:t>
            </a:r>
            <a:pPr indent="0" marL="0">
              <a:buNone/>
            </a:pPr>
            <a:r>
              <a:rPr lang="en-US" sz="2400" dirty="0">
                <a:solidFill>
                  <a:srgbClr val="A9A9B4"/>
                </a:solidFill>
                <a:latin typeface="Consolas" pitchFamily="34" charset="0"/>
                <a:ea typeface="Consolas" pitchFamily="34" charset="-122"/>
                <a:cs typeface="Consolas" pitchFamily="34" charset="-120"/>
              </a:rPr>
              <a:t>(</a:t>
            </a:r>
            <a:pPr indent="0" marL="0">
              <a:buNone/>
            </a:pPr>
            <a:r>
              <a:rPr lang="en-US" sz="2400" dirty="0">
                <a:solidFill>
                  <a:srgbClr val="E69F00"/>
                </a:solidFill>
                <a:latin typeface="Consolas" pitchFamily="34" charset="0"/>
                <a:ea typeface="Consolas" pitchFamily="34" charset="-122"/>
                <a:cs typeface="Consolas" pitchFamily="34" charset="-120"/>
              </a:rPr>
              <a:t>"name"</a:t>
            </a:r>
            <a:pPr indent="0" marL="0">
              <a:buNone/>
            </a:pPr>
            <a:r>
              <a:rPr lang="en-US" sz="2400" dirty="0">
                <a:solidFill>
                  <a:srgbClr val="A9A9B4"/>
                </a:solidFill>
                <a:latin typeface="Consolas" pitchFamily="34" charset="0"/>
                <a:ea typeface="Consolas" pitchFamily="34" charset="-122"/>
                <a:cs typeface="Consolas" pitchFamily="34" charset="-120"/>
              </a:rPr>
              <a:t>)</a:t>
            </a:r>
            <a:endParaRPr lang="en-US" sz="2400" dirty="0"/>
          </a:p>
        </p:txBody>
      </p:sp>
      <p:sp>
        <p:nvSpPr>
          <p:cNvPr id="12" name="Shape 9"/>
          <p:cNvSpPr/>
          <p:nvPr/>
        </p:nvSpPr>
        <p:spPr>
          <a:xfrm>
            <a:off x="4251960" y="3858768"/>
            <a:ext cx="640080" cy="0"/>
          </a:xfrm>
          <a:prstGeom prst="line">
            <a:avLst/>
          </a:prstGeom>
          <a:noFill/>
          <a:ln w="28575">
            <a:solidFill>
              <a:srgbClr val="A9A9B4"/>
            </a:solidFill>
            <a:prstDash val="solid"/>
            <a:tailEnd type="triangle"/>
          </a:ln>
        </p:spPr>
      </p:sp>
      <p:sp>
        <p:nvSpPr>
          <p:cNvPr id="13" name="terminal"/>
          <p:cNvSpPr/>
          <p:nvPr/>
        </p:nvSpPr>
        <p:spPr>
          <a:xfrm>
            <a:off x="5029200" y="3429000"/>
            <a:ext cx="2194560" cy="868680"/>
          </a:xfrm>
          <a:prstGeom prst="roundRect">
            <a:avLst>
              <a:gd name="adj" fmla="val 8421"/>
            </a:avLst>
          </a:prstGeom>
          <a:solidFill>
            <a:srgbClr val="0A0A0D"/>
          </a:solidFill>
          <a:ln w="15875">
            <a:solidFill>
              <a:srgbClr val="3A3A44"/>
            </a:solidFill>
            <a:prstDash val="solid"/>
          </a:ln>
        </p:spPr>
      </p:sp>
      <p:sp>
        <p:nvSpPr>
          <p:cNvPr id="14" name="Text 11"/>
          <p:cNvSpPr txBox="1"/>
          <p:nvPr/>
        </p:nvSpPr>
        <p:spPr>
          <a:xfrm>
            <a:off x="5257800" y="3657600"/>
            <a:ext cx="1737360" cy="487680"/>
          </a:xfrm>
          <a:prstGeom prst="rect">
            <a:avLst/>
          </a:prstGeom>
          <a:noFill/>
          <a:ln/>
        </p:spPr>
        <p:txBody>
          <a:bodyPr wrap="square" lIns="0" tIns="0" rIns="0" bIns="0" rtlCol="0" anchor="ctr"/>
          <a:lstStyle/>
          <a:p>
            <a:pPr indent="0" marL="0">
              <a:buNone/>
            </a:pPr>
            <a:r>
              <a:rPr lang="en-US" sz="2400" dirty="0">
                <a:solidFill>
                  <a:srgbClr val="F5F5F3"/>
                </a:solidFill>
                <a:latin typeface="Consolas" pitchFamily="34" charset="0"/>
                <a:ea typeface="Consolas" pitchFamily="34" charset="-122"/>
                <a:cs typeface="Consolas" pitchFamily="34" charset="-120"/>
              </a:rPr>
              <a:t>name</a:t>
            </a:r>
            <a:endParaRPr lang="en-US" sz="2400" dirty="0"/>
          </a:p>
        </p:txBody>
      </p:sp>
      <p:sp>
        <p:nvSpPr>
          <p:cNvPr id="15" name="Text 12"/>
          <p:cNvSpPr txBox="1"/>
          <p:nvPr/>
        </p:nvSpPr>
        <p:spPr>
          <a:xfrm>
            <a:off x="7543800" y="3429000"/>
            <a:ext cx="4114800" cy="868680"/>
          </a:xfrm>
          <a:prstGeom prst="rect">
            <a:avLst/>
          </a:prstGeom>
          <a:noFill/>
          <a:ln/>
        </p:spPr>
        <p:txBody>
          <a:bodyPr wrap="square" lIns="0" tIns="0" rIns="0" bIns="0" rtlCol="0" anchor="ctr"/>
          <a:lstStyle/>
          <a:p>
            <a:pPr indent="0" marL="0">
              <a:buNone/>
            </a:pPr>
            <a:r>
              <a:rPr lang="en-US" sz="2200" b="1" dirty="0">
                <a:solidFill>
                  <a:srgbClr val="E69F00"/>
                </a:solidFill>
                <a:latin typeface="Calibri" pitchFamily="34" charset="0"/>
                <a:ea typeface="Calibri" pitchFamily="34" charset="-122"/>
                <a:cs typeface="Calibri" pitchFamily="34" charset="-120"/>
              </a:rPr>
              <a:t>In quotes</a:t>
            </a:r>
            <a:pPr indent="0" marL="0">
              <a:buNone/>
            </a:pPr>
            <a:r>
              <a:rPr lang="en-US" sz="2200" dirty="0">
                <a:solidFill>
                  <a:srgbClr val="F5F5F3"/>
                </a:solidFill>
                <a:latin typeface="Calibri" pitchFamily="34" charset="0"/>
                <a:ea typeface="Calibri" pitchFamily="34" charset="-122"/>
                <a:cs typeface="Calibri" pitchFamily="34" charset="-120"/>
              </a:rPr>
              <a:t> → printed exactly as written</a:t>
            </a:r>
            <a:endParaRPr lang="en-US" sz="2200" dirty="0"/>
          </a:p>
        </p:txBody>
      </p:sp>
      <p:sp>
        <p:nvSpPr>
          <p:cNvPr id="16" name="code"/>
          <p:cNvSpPr/>
          <p:nvPr/>
        </p:nvSpPr>
        <p:spPr>
          <a:xfrm>
            <a:off x="548640" y="4663440"/>
            <a:ext cx="3566160" cy="868680"/>
          </a:xfrm>
          <a:prstGeom prst="roundRect">
            <a:avLst>
              <a:gd name="adj" fmla="val 8421"/>
            </a:avLst>
          </a:prstGeom>
          <a:solidFill>
            <a:srgbClr val="111115"/>
          </a:solidFill>
          <a:ln w="15875">
            <a:solidFill>
              <a:srgbClr val="3A3A44"/>
            </a:solidFill>
            <a:prstDash val="solid"/>
          </a:ln>
        </p:spPr>
      </p:sp>
      <p:sp>
        <p:nvSpPr>
          <p:cNvPr id="17" name="Text 14"/>
          <p:cNvSpPr txBox="1"/>
          <p:nvPr/>
        </p:nvSpPr>
        <p:spPr>
          <a:xfrm>
            <a:off x="731520" y="4864608"/>
            <a:ext cx="3291840" cy="502920"/>
          </a:xfrm>
          <a:prstGeom prst="rect">
            <a:avLst/>
          </a:prstGeom>
          <a:noFill/>
          <a:ln/>
        </p:spPr>
        <p:txBody>
          <a:bodyPr wrap="square" lIns="0" tIns="0" rIns="0" bIns="0" rtlCol="0" anchor="ctr"/>
          <a:lstStyle/>
          <a:p>
            <a:pPr indent="0" marL="0">
              <a:buNone/>
            </a:pPr>
            <a:r>
              <a:rPr lang="en-US" sz="2400" dirty="0">
                <a:solidFill>
                  <a:srgbClr val="E8C878"/>
                </a:solidFill>
                <a:latin typeface="Consolas" pitchFamily="34" charset="0"/>
                <a:ea typeface="Consolas" pitchFamily="34" charset="-122"/>
                <a:cs typeface="Consolas" pitchFamily="34" charset="-120"/>
              </a:rPr>
              <a:t>print</a:t>
            </a:r>
            <a:pPr indent="0" marL="0">
              <a:buNone/>
            </a:pPr>
            <a:r>
              <a:rPr lang="en-US" sz="2400" dirty="0">
                <a:solidFill>
                  <a:srgbClr val="A9A9B4"/>
                </a:solidFill>
                <a:latin typeface="Consolas" pitchFamily="34" charset="0"/>
                <a:ea typeface="Consolas" pitchFamily="34" charset="-122"/>
                <a:cs typeface="Consolas" pitchFamily="34" charset="-120"/>
              </a:rPr>
              <a:t>(</a:t>
            </a:r>
            <a:pPr indent="0" marL="0">
              <a:buNone/>
            </a:pPr>
            <a:r>
              <a:rPr lang="en-US" sz="2400" dirty="0">
                <a:solidFill>
                  <a:srgbClr val="F5F5F3"/>
                </a:solidFill>
                <a:latin typeface="Consolas" pitchFamily="34" charset="0"/>
                <a:ea typeface="Consolas" pitchFamily="34" charset="-122"/>
                <a:cs typeface="Consolas" pitchFamily="34" charset="-120"/>
              </a:rPr>
              <a:t>name</a:t>
            </a:r>
            <a:pPr indent="0" marL="0">
              <a:buNone/>
            </a:pPr>
            <a:r>
              <a:rPr lang="en-US" sz="2400" dirty="0">
                <a:solidFill>
                  <a:srgbClr val="A9A9B4"/>
                </a:solidFill>
                <a:latin typeface="Consolas" pitchFamily="34" charset="0"/>
                <a:ea typeface="Consolas" pitchFamily="34" charset="-122"/>
                <a:cs typeface="Consolas" pitchFamily="34" charset="-120"/>
              </a:rPr>
              <a:t>)</a:t>
            </a:r>
            <a:endParaRPr lang="en-US" sz="2400" dirty="0"/>
          </a:p>
        </p:txBody>
      </p:sp>
      <p:sp>
        <p:nvSpPr>
          <p:cNvPr id="18" name="Shape 15"/>
          <p:cNvSpPr/>
          <p:nvPr/>
        </p:nvSpPr>
        <p:spPr>
          <a:xfrm>
            <a:off x="4251960" y="5093208"/>
            <a:ext cx="640080" cy="0"/>
          </a:xfrm>
          <a:prstGeom prst="line">
            <a:avLst/>
          </a:prstGeom>
          <a:noFill/>
          <a:ln w="28575">
            <a:solidFill>
              <a:srgbClr val="A9A9B4"/>
            </a:solidFill>
            <a:prstDash val="solid"/>
            <a:tailEnd type="triangle"/>
          </a:ln>
        </p:spPr>
      </p:sp>
      <p:sp>
        <p:nvSpPr>
          <p:cNvPr id="19" name="terminal"/>
          <p:cNvSpPr/>
          <p:nvPr/>
        </p:nvSpPr>
        <p:spPr>
          <a:xfrm>
            <a:off x="5029200" y="4663440"/>
            <a:ext cx="2194560" cy="868680"/>
          </a:xfrm>
          <a:prstGeom prst="roundRect">
            <a:avLst>
              <a:gd name="adj" fmla="val 8421"/>
            </a:avLst>
          </a:prstGeom>
          <a:solidFill>
            <a:srgbClr val="0A0A0D"/>
          </a:solidFill>
          <a:ln w="15875">
            <a:solidFill>
              <a:srgbClr val="3A3A44"/>
            </a:solidFill>
            <a:prstDash val="solid"/>
          </a:ln>
        </p:spPr>
      </p:sp>
      <p:sp>
        <p:nvSpPr>
          <p:cNvPr id="20" name="Text 17"/>
          <p:cNvSpPr txBox="1"/>
          <p:nvPr/>
        </p:nvSpPr>
        <p:spPr>
          <a:xfrm>
            <a:off x="5257800" y="4892040"/>
            <a:ext cx="1737360" cy="487680"/>
          </a:xfrm>
          <a:prstGeom prst="rect">
            <a:avLst/>
          </a:prstGeom>
          <a:noFill/>
          <a:ln/>
        </p:spPr>
        <p:txBody>
          <a:bodyPr wrap="square" lIns="0" tIns="0" rIns="0" bIns="0" rtlCol="0" anchor="ctr"/>
          <a:lstStyle/>
          <a:p>
            <a:pPr indent="0" marL="0">
              <a:buNone/>
            </a:pPr>
            <a:r>
              <a:rPr lang="en-US" sz="2400" dirty="0">
                <a:solidFill>
                  <a:srgbClr val="F5F5F3"/>
                </a:solidFill>
                <a:latin typeface="Consolas" pitchFamily="34" charset="0"/>
                <a:ea typeface="Consolas" pitchFamily="34" charset="-122"/>
                <a:cs typeface="Consolas" pitchFamily="34" charset="-120"/>
              </a:rPr>
              <a:t>Riley</a:t>
            </a:r>
            <a:endParaRPr lang="en-US" sz="2400" dirty="0"/>
          </a:p>
        </p:txBody>
      </p:sp>
      <p:sp>
        <p:nvSpPr>
          <p:cNvPr id="21" name="Text 18"/>
          <p:cNvSpPr txBox="1"/>
          <p:nvPr/>
        </p:nvSpPr>
        <p:spPr>
          <a:xfrm>
            <a:off x="7543800" y="4663440"/>
            <a:ext cx="4114800" cy="868680"/>
          </a:xfrm>
          <a:prstGeom prst="rect">
            <a:avLst/>
          </a:prstGeom>
          <a:noFill/>
          <a:ln/>
        </p:spPr>
        <p:txBody>
          <a:bodyPr wrap="square" lIns="0" tIns="0" rIns="0" bIns="0" rtlCol="0" anchor="ctr"/>
          <a:lstStyle/>
          <a:p>
            <a:pPr indent="0" marL="0">
              <a:buNone/>
            </a:pPr>
            <a:r>
              <a:rPr lang="en-US" sz="2200" b="1" dirty="0">
                <a:solidFill>
                  <a:srgbClr val="D8A73D"/>
                </a:solidFill>
                <a:latin typeface="Calibri" pitchFamily="34" charset="0"/>
                <a:ea typeface="Calibri" pitchFamily="34" charset="-122"/>
                <a:cs typeface="Calibri" pitchFamily="34" charset="-120"/>
              </a:rPr>
              <a:t>No quotes</a:t>
            </a:r>
            <a:pPr indent="0" marL="0">
              <a:buNone/>
            </a:pPr>
            <a:r>
              <a:rPr lang="en-US" sz="2200" dirty="0">
                <a:solidFill>
                  <a:srgbClr val="F5F5F3"/>
                </a:solidFill>
                <a:latin typeface="Calibri" pitchFamily="34" charset="0"/>
                <a:ea typeface="Calibri" pitchFamily="34" charset="-122"/>
                <a:cs typeface="Calibri" pitchFamily="34" charset="-120"/>
              </a:rPr>
              <a:t> → prints what’s stored inside</a:t>
            </a:r>
            <a:endParaRPr lang="en-US" sz="2200" dirty="0"/>
          </a:p>
        </p:txBody>
      </p:sp>
      <p:pic>
        <p:nvPicPr>
          <p:cNvPr id="22" name="Image 1" descr="New information">    </p:cNvPr>
          <p:cNvPicPr>
            <a:picLocks noChangeAspect="1"/>
          </p:cNvPicPr>
          <p:nvPr/>
        </p:nvPicPr>
        <p:blipFill>
          <a:blip r:embed="rId2"/>
          <a:stretch>
            <a:fillRect/>
          </a:stretch>
        </p:blipFill>
        <p:spPr>
          <a:xfrm>
            <a:off x="10972800" y="384048"/>
            <a:ext cx="731520" cy="731520"/>
          </a:xfrm>
          <a:prstGeom prst="rect">
            <a:avLst/>
          </a:prstGeom>
        </p:spPr>
      </p:pic>
      <p:sp>
        <p:nvSpPr>
          <p:cNvPr id="23" name="Text 19"/>
          <p:cNvSpPr txBox="1"/>
          <p:nvPr/>
        </p:nvSpPr>
        <p:spPr>
          <a:xfrm>
            <a:off x="4206240" y="6355080"/>
            <a:ext cx="6812280" cy="320040"/>
          </a:xfrm>
          <a:prstGeom prst="rect">
            <a:avLst/>
          </a:prstGeom>
          <a:noFill/>
          <a:ln/>
        </p:spPr>
        <p:txBody>
          <a:bodyPr wrap="square" lIns="0" tIns="0" rIns="0" bIns="0" rtlCol="0" anchor="ctr"/>
          <a:lstStyle/>
          <a:p>
            <a:pPr algn="r" indent="0" marL="0">
              <a:buNone/>
            </a:pPr>
            <a:r>
              <a:rPr lang="en-US" sz="1300" b="1" i="1" dirty="0">
                <a:solidFill>
                  <a:srgbClr val="D8A73D"/>
                </a:solidFill>
                <a:latin typeface="Calibri" pitchFamily="34" charset="0"/>
                <a:ea typeface="Calibri" pitchFamily="34" charset="-122"/>
                <a:cs typeface="Calibri" pitchFamily="34" charset="-120"/>
              </a:rPr>
              <a:t>station('L2')  ·  Ch 2 Proximity: amber alarm at the edges</a:t>
            </a:r>
            <a:endParaRPr lang="en-US" sz="13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station edge_red" descr="C:\Users\n.houlton_grange.out\source\repos\interactive\_presentations\Y9_Python\station\edge_red.png">    </p:cNvPr>
          <p:cNvPicPr>
            <a:picLocks noChangeAspect="1"/>
          </p:cNvPicPr>
          <p:nvPr/>
        </p:nvPicPr>
        <p:blipFill>
          <a:blip r:embed="rId1"/>
          <a:stretch>
            <a:fillRect/>
          </a:stretch>
        </p:blipFill>
        <p:spPr>
          <a:xfrm>
            <a:off x="0" y="0"/>
            <a:ext cx="12191695" cy="6858000"/>
          </a:xfrm>
          <a:prstGeom prst="rect">
            <a:avLst/>
          </a:prstGeom>
        </p:spPr>
      </p:pic>
      <p:pic>
        <p:nvPicPr>
          <p:cNvPr id="3" name="station hazard" descr="C:\Users\n.houlton_grange.out\source\repos\interactive\_presentations\Y9_Python\station\hazard.png">    </p:cNvPr>
          <p:cNvPicPr>
            <a:picLocks noChangeAspect="1"/>
          </p:cNvPicPr>
          <p:nvPr/>
        </p:nvPicPr>
        <p:blipFill>
          <a:blip r:embed="rId2"/>
          <a:stretch>
            <a:fillRect/>
          </a:stretch>
        </p:blipFill>
        <p:spPr>
          <a:xfrm>
            <a:off x="0" y="0"/>
            <a:ext cx="12191695" cy="6858000"/>
          </a:xfrm>
          <a:prstGeom prst="rect">
            <a:avLst/>
          </a:prstGeom>
        </p:spPr>
      </p:pic>
      <p:sp>
        <p:nvSpPr>
          <p:cNvPr id="4" name="station status"/>
          <p:cNvSpPr txBox="1"/>
          <p:nvPr/>
        </p:nvSpPr>
        <p:spPr>
          <a:xfrm>
            <a:off x="548640" y="73152"/>
            <a:ext cx="10241280" cy="237744"/>
          </a:xfrm>
          <a:prstGeom prst="rect">
            <a:avLst/>
          </a:prstGeom>
          <a:noFill/>
          <a:ln/>
        </p:spPr>
        <p:txBody>
          <a:bodyPr wrap="square" lIns="0" tIns="0" rIns="0" bIns="0" rtlCol="0" anchor="ctr"/>
          <a:lstStyle/>
          <a:p>
            <a:pPr indent="0" marL="0">
              <a:buNone/>
            </a:pPr>
            <a:r>
              <a:rPr lang="en-US" sz="1100" spc="100" kern="0" dirty="0">
                <a:solidFill>
                  <a:srgbClr val="FF6B6B"/>
                </a:solidFill>
                <a:latin typeface="Consolas" pitchFamily="34" charset="0"/>
                <a:ea typeface="Consolas" pitchFamily="34" charset="-122"/>
                <a:cs typeface="Consolas" pitchFamily="34" charset="-120"/>
              </a:rPr>
              <a:t>●  </a:t>
            </a:r>
            <a:pPr indent="0" marL="0">
              <a:buNone/>
            </a:pPr>
            <a:r>
              <a:rPr lang="en-US" sz="1100" spc="100" kern="0" dirty="0">
                <a:solidFill>
                  <a:srgbClr val="6E6E7A"/>
                </a:solidFill>
                <a:latin typeface="Consolas" pitchFamily="34" charset="0"/>
                <a:ea typeface="Consolas" pitchFamily="34" charset="-122"/>
                <a:cs typeface="Consolas" pitchFamily="34" charset="-120"/>
              </a:rPr>
              <a:t>LOCKDOWN   ·   AIRLOCK CYCLING   ·   WARDEN: NO RESPONSE</a:t>
            </a:r>
            <a:endParaRPr lang="en-US" sz="1100" dirty="0"/>
          </a:p>
        </p:txBody>
      </p:sp>
      <p:sp>
        <p:nvSpPr>
          <p:cNvPr id="5"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Predict</a:t>
            </a:r>
            <a:endParaRPr lang="en-US" sz="3600" dirty="0"/>
          </a:p>
        </p:txBody>
      </p:sp>
      <p:sp>
        <p:nvSpPr>
          <p:cNvPr id="6" name="code"/>
          <p:cNvSpPr/>
          <p:nvPr/>
        </p:nvSpPr>
        <p:spPr>
          <a:xfrm>
            <a:off x="548640" y="1600200"/>
            <a:ext cx="7040880" cy="2246376"/>
          </a:xfrm>
          <a:prstGeom prst="roundRect">
            <a:avLst>
              <a:gd name="adj" fmla="val 3256"/>
            </a:avLst>
          </a:prstGeom>
          <a:solidFill>
            <a:srgbClr val="111115"/>
          </a:solidFill>
          <a:ln w="15875">
            <a:solidFill>
              <a:srgbClr val="3A3A44"/>
            </a:solidFill>
            <a:prstDash val="solid"/>
          </a:ln>
        </p:spPr>
      </p:sp>
      <p:sp>
        <p:nvSpPr>
          <p:cNvPr id="7" name="Text 3"/>
          <p:cNvSpPr txBox="1"/>
          <p:nvPr/>
        </p:nvSpPr>
        <p:spPr>
          <a:xfrm>
            <a:off x="658368" y="1801368"/>
            <a:ext cx="274320" cy="461010"/>
          </a:xfrm>
          <a:prstGeom prst="rect">
            <a:avLst/>
          </a:prstGeom>
          <a:noFill/>
          <a:ln/>
        </p:spPr>
        <p:txBody>
          <a:bodyPr wrap="square" lIns="0" tIns="0" rIns="0" bIns="0" rtlCol="0" anchor="ctr"/>
          <a:lstStyle/>
          <a:p>
            <a:pPr algn="r" indent="0" marL="0">
              <a:buNone/>
            </a:pPr>
            <a:r>
              <a:rPr lang="en-US" sz="1800" dirty="0">
                <a:solidFill>
                  <a:srgbClr val="6E6E7A"/>
                </a:solidFill>
                <a:latin typeface="Consolas" pitchFamily="34" charset="0"/>
                <a:ea typeface="Consolas" pitchFamily="34" charset="-122"/>
                <a:cs typeface="Consolas" pitchFamily="34" charset="-120"/>
              </a:rPr>
              <a:t>1</a:t>
            </a:r>
            <a:endParaRPr lang="en-US" sz="1800" dirty="0"/>
          </a:p>
        </p:txBody>
      </p:sp>
      <p:sp>
        <p:nvSpPr>
          <p:cNvPr id="8" name="Text 4"/>
          <p:cNvSpPr txBox="1"/>
          <p:nvPr/>
        </p:nvSpPr>
        <p:spPr>
          <a:xfrm>
            <a:off x="1188720" y="1801368"/>
            <a:ext cx="6309360" cy="461010"/>
          </a:xfrm>
          <a:prstGeom prst="rect">
            <a:avLst/>
          </a:prstGeom>
          <a:noFill/>
          <a:ln/>
        </p:spPr>
        <p:txBody>
          <a:bodyPr wrap="square" lIns="0" tIns="0" rIns="0" bIns="0" rtlCol="0" anchor="ctr"/>
          <a:lstStyle/>
          <a:p>
            <a:pPr indent="0" marL="0">
              <a:buNone/>
            </a:pPr>
            <a:r>
              <a:rPr lang="en-US" sz="2200" dirty="0">
                <a:solidFill>
                  <a:srgbClr val="F5F5F3"/>
                </a:solidFill>
                <a:latin typeface="Consolas" pitchFamily="34" charset="0"/>
                <a:ea typeface="Consolas" pitchFamily="34" charset="-122"/>
                <a:cs typeface="Consolas" pitchFamily="34" charset="-120"/>
              </a:rPr>
              <a:t>room</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E8C878"/>
                </a:solidFill>
                <a:latin typeface="Consolas" pitchFamily="34" charset="0"/>
                <a:ea typeface="Consolas" pitchFamily="34" charset="-122"/>
                <a:cs typeface="Consolas" pitchFamily="34" charset="-120"/>
              </a:rPr>
              <a:t>input</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E69F00"/>
                </a:solidFill>
                <a:latin typeface="Consolas" pitchFamily="34" charset="0"/>
                <a:ea typeface="Consolas" pitchFamily="34" charset="-122"/>
                <a:cs typeface="Consolas" pitchFamily="34" charset="-120"/>
              </a:rPr>
              <a:t>"Which room? "</a:t>
            </a:r>
            <a:pPr indent="0" marL="0">
              <a:buNone/>
            </a:pPr>
            <a:r>
              <a:rPr lang="en-US" sz="2200" dirty="0">
                <a:solidFill>
                  <a:srgbClr val="A9A9B4"/>
                </a:solidFill>
                <a:latin typeface="Consolas" pitchFamily="34" charset="0"/>
                <a:ea typeface="Consolas" pitchFamily="34" charset="-122"/>
                <a:cs typeface="Consolas" pitchFamily="34" charset="-120"/>
              </a:rPr>
              <a:t>)</a:t>
            </a:r>
            <a:endParaRPr lang="en-US" sz="2200" dirty="0"/>
          </a:p>
        </p:txBody>
      </p:sp>
      <p:sp>
        <p:nvSpPr>
          <p:cNvPr id="9" name="Text 5"/>
          <p:cNvSpPr txBox="1"/>
          <p:nvPr/>
        </p:nvSpPr>
        <p:spPr>
          <a:xfrm>
            <a:off x="658368" y="2262378"/>
            <a:ext cx="274320" cy="461010"/>
          </a:xfrm>
          <a:prstGeom prst="rect">
            <a:avLst/>
          </a:prstGeom>
          <a:noFill/>
          <a:ln/>
        </p:spPr>
        <p:txBody>
          <a:bodyPr wrap="square" lIns="0" tIns="0" rIns="0" bIns="0" rtlCol="0" anchor="ctr"/>
          <a:lstStyle/>
          <a:p>
            <a:pPr algn="r" indent="0" marL="0">
              <a:buNone/>
            </a:pPr>
            <a:r>
              <a:rPr lang="en-US" sz="1800" dirty="0">
                <a:solidFill>
                  <a:srgbClr val="6E6E7A"/>
                </a:solidFill>
                <a:latin typeface="Consolas" pitchFamily="34" charset="0"/>
                <a:ea typeface="Consolas" pitchFamily="34" charset="-122"/>
                <a:cs typeface="Consolas" pitchFamily="34" charset="-120"/>
              </a:rPr>
              <a:t>2</a:t>
            </a:r>
            <a:endParaRPr lang="en-US" sz="1800" dirty="0"/>
          </a:p>
        </p:txBody>
      </p:sp>
      <p:sp>
        <p:nvSpPr>
          <p:cNvPr id="10" name="Text 6"/>
          <p:cNvSpPr txBox="1"/>
          <p:nvPr/>
        </p:nvSpPr>
        <p:spPr>
          <a:xfrm>
            <a:off x="1188720" y="2262378"/>
            <a:ext cx="6309360" cy="461010"/>
          </a:xfrm>
          <a:prstGeom prst="rect">
            <a:avLst/>
          </a:prstGeom>
          <a:noFill/>
          <a:ln/>
        </p:spPr>
        <p:txBody>
          <a:bodyPr wrap="square" lIns="0" tIns="0" rIns="0" bIns="0" rtlCol="0" anchor="ctr"/>
          <a:lstStyle/>
          <a:p>
            <a:pPr indent="0" marL="0">
              <a:buNone/>
            </a:pPr>
            <a:r>
              <a:rPr lang="en-US" sz="2200" dirty="0">
                <a:solidFill>
                  <a:srgbClr val="F5F5F3"/>
                </a:solidFill>
                <a:latin typeface="Consolas" pitchFamily="34" charset="0"/>
                <a:ea typeface="Consolas" pitchFamily="34" charset="-122"/>
                <a:cs typeface="Consolas" pitchFamily="34" charset="-120"/>
              </a:rPr>
              <a:t>level</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E8C878"/>
                </a:solidFill>
                <a:latin typeface="Consolas" pitchFamily="34" charset="0"/>
                <a:ea typeface="Consolas" pitchFamily="34" charset="-122"/>
                <a:cs typeface="Consolas" pitchFamily="34" charset="-120"/>
              </a:rPr>
              <a:t>input</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E69F00"/>
                </a:solidFill>
                <a:latin typeface="Consolas" pitchFamily="34" charset="0"/>
                <a:ea typeface="Consolas" pitchFamily="34" charset="-122"/>
                <a:cs typeface="Consolas" pitchFamily="34" charset="-120"/>
              </a:rPr>
              <a:t>"Which level? "</a:t>
            </a:r>
            <a:pPr indent="0" marL="0">
              <a:buNone/>
            </a:pPr>
            <a:r>
              <a:rPr lang="en-US" sz="2200" dirty="0">
                <a:solidFill>
                  <a:srgbClr val="A9A9B4"/>
                </a:solidFill>
                <a:latin typeface="Consolas" pitchFamily="34" charset="0"/>
                <a:ea typeface="Consolas" pitchFamily="34" charset="-122"/>
                <a:cs typeface="Consolas" pitchFamily="34" charset="-120"/>
              </a:rPr>
              <a:t>)</a:t>
            </a:r>
            <a:endParaRPr lang="en-US" sz="2200" dirty="0"/>
          </a:p>
        </p:txBody>
      </p:sp>
      <p:sp>
        <p:nvSpPr>
          <p:cNvPr id="11" name="Text 7"/>
          <p:cNvSpPr txBox="1"/>
          <p:nvPr/>
        </p:nvSpPr>
        <p:spPr>
          <a:xfrm>
            <a:off x="658368" y="2723388"/>
            <a:ext cx="274320" cy="461010"/>
          </a:xfrm>
          <a:prstGeom prst="rect">
            <a:avLst/>
          </a:prstGeom>
          <a:noFill/>
          <a:ln/>
        </p:spPr>
        <p:txBody>
          <a:bodyPr wrap="square" lIns="0" tIns="0" rIns="0" bIns="0" rtlCol="0" anchor="ctr"/>
          <a:lstStyle/>
          <a:p>
            <a:pPr algn="r" indent="0" marL="0">
              <a:buNone/>
            </a:pPr>
            <a:r>
              <a:rPr lang="en-US" sz="1800" dirty="0">
                <a:solidFill>
                  <a:srgbClr val="6E6E7A"/>
                </a:solidFill>
                <a:latin typeface="Consolas" pitchFamily="34" charset="0"/>
                <a:ea typeface="Consolas" pitchFamily="34" charset="-122"/>
                <a:cs typeface="Consolas" pitchFamily="34" charset="-120"/>
              </a:rPr>
              <a:t>3</a:t>
            </a:r>
            <a:endParaRPr lang="en-US" sz="1800" dirty="0"/>
          </a:p>
        </p:txBody>
      </p:sp>
      <p:sp>
        <p:nvSpPr>
          <p:cNvPr id="12" name="Text 8"/>
          <p:cNvSpPr txBox="1"/>
          <p:nvPr/>
        </p:nvSpPr>
        <p:spPr>
          <a:xfrm>
            <a:off x="1188720" y="2723388"/>
            <a:ext cx="6309360" cy="461010"/>
          </a:xfrm>
          <a:prstGeom prst="rect">
            <a:avLst/>
          </a:prstGeom>
          <a:noFill/>
          <a:ln/>
        </p:spPr>
        <p:txBody>
          <a:bodyPr wrap="square" lIns="0" tIns="0" rIns="0" bIns="0" rtlCol="0" anchor="ctr"/>
          <a:lstStyle/>
          <a:p>
            <a:pPr indent="0" marL="0">
              <a:buNone/>
            </a:pPr>
            <a:r>
              <a:rPr lang="en-US" sz="2200" dirty="0">
                <a:solidFill>
                  <a:srgbClr val="E8C878"/>
                </a:solidFill>
                <a:latin typeface="Consolas" pitchFamily="34" charset="0"/>
                <a:ea typeface="Consolas" pitchFamily="34" charset="-122"/>
                <a:cs typeface="Consolas" pitchFamily="34" charset="-120"/>
              </a:rPr>
              <a:t>print</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E69F00"/>
                </a:solidFill>
                <a:latin typeface="Consolas" pitchFamily="34" charset="0"/>
                <a:ea typeface="Consolas" pitchFamily="34" charset="-122"/>
                <a:cs typeface="Consolas" pitchFamily="34" charset="-120"/>
              </a:rPr>
              <a:t>"Scanning..."</a:t>
            </a:r>
            <a:pPr indent="0" marL="0">
              <a:buNone/>
            </a:pPr>
            <a:r>
              <a:rPr lang="en-US" sz="2200" dirty="0">
                <a:solidFill>
                  <a:srgbClr val="A9A9B4"/>
                </a:solidFill>
                <a:latin typeface="Consolas" pitchFamily="34" charset="0"/>
                <a:ea typeface="Consolas" pitchFamily="34" charset="-122"/>
                <a:cs typeface="Consolas" pitchFamily="34" charset="-120"/>
              </a:rPr>
              <a:t>)</a:t>
            </a:r>
            <a:endParaRPr lang="en-US" sz="2200" dirty="0"/>
          </a:p>
        </p:txBody>
      </p:sp>
      <p:sp>
        <p:nvSpPr>
          <p:cNvPr id="13" name="Text 9"/>
          <p:cNvSpPr txBox="1"/>
          <p:nvPr/>
        </p:nvSpPr>
        <p:spPr>
          <a:xfrm>
            <a:off x="658368" y="3184398"/>
            <a:ext cx="274320" cy="461010"/>
          </a:xfrm>
          <a:prstGeom prst="rect">
            <a:avLst/>
          </a:prstGeom>
          <a:noFill/>
          <a:ln/>
        </p:spPr>
        <p:txBody>
          <a:bodyPr wrap="square" lIns="0" tIns="0" rIns="0" bIns="0" rtlCol="0" anchor="ctr"/>
          <a:lstStyle/>
          <a:p>
            <a:pPr algn="r" indent="0" marL="0">
              <a:buNone/>
            </a:pPr>
            <a:r>
              <a:rPr lang="en-US" sz="1800" dirty="0">
                <a:solidFill>
                  <a:srgbClr val="6E6E7A"/>
                </a:solidFill>
                <a:latin typeface="Consolas" pitchFamily="34" charset="0"/>
                <a:ea typeface="Consolas" pitchFamily="34" charset="-122"/>
                <a:cs typeface="Consolas" pitchFamily="34" charset="-120"/>
              </a:rPr>
              <a:t>4</a:t>
            </a:r>
            <a:endParaRPr lang="en-US" sz="1800" dirty="0"/>
          </a:p>
        </p:txBody>
      </p:sp>
      <p:sp>
        <p:nvSpPr>
          <p:cNvPr id="14" name="Text 10"/>
          <p:cNvSpPr txBox="1"/>
          <p:nvPr/>
        </p:nvSpPr>
        <p:spPr>
          <a:xfrm>
            <a:off x="1188720" y="3184398"/>
            <a:ext cx="6309360" cy="461010"/>
          </a:xfrm>
          <a:prstGeom prst="rect">
            <a:avLst/>
          </a:prstGeom>
          <a:noFill/>
          <a:ln/>
        </p:spPr>
        <p:txBody>
          <a:bodyPr wrap="square" lIns="0" tIns="0" rIns="0" bIns="0" rtlCol="0" anchor="ctr"/>
          <a:lstStyle/>
          <a:p>
            <a:pPr indent="0" marL="0">
              <a:buNone/>
            </a:pPr>
            <a:r>
              <a:rPr lang="en-US" sz="2200" dirty="0">
                <a:solidFill>
                  <a:srgbClr val="E8C878"/>
                </a:solidFill>
                <a:latin typeface="Consolas" pitchFamily="34" charset="0"/>
                <a:ea typeface="Consolas" pitchFamily="34" charset="-122"/>
                <a:cs typeface="Consolas" pitchFamily="34" charset="-120"/>
              </a:rPr>
              <a:t>print</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F5F5F3"/>
                </a:solidFill>
                <a:latin typeface="Consolas" pitchFamily="34" charset="0"/>
                <a:ea typeface="Consolas" pitchFamily="34" charset="-122"/>
                <a:cs typeface="Consolas" pitchFamily="34" charset="-120"/>
              </a:rPr>
              <a:t>room</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E69F00"/>
                </a:solidFill>
                <a:latin typeface="Consolas" pitchFamily="34" charset="0"/>
                <a:ea typeface="Consolas" pitchFamily="34" charset="-122"/>
                <a:cs typeface="Consolas" pitchFamily="34" charset="-120"/>
              </a:rPr>
              <a:t>" on level "</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F5F5F3"/>
                </a:solidFill>
                <a:latin typeface="Consolas" pitchFamily="34" charset="0"/>
                <a:ea typeface="Consolas" pitchFamily="34" charset="-122"/>
                <a:cs typeface="Consolas" pitchFamily="34" charset="-120"/>
              </a:rPr>
              <a:t>level</a:t>
            </a:r>
            <a:pPr indent="0" marL="0">
              <a:buNone/>
            </a:pPr>
            <a:r>
              <a:rPr lang="en-US" sz="2200" dirty="0">
                <a:solidFill>
                  <a:srgbClr val="A9A9B4"/>
                </a:solidFill>
                <a:latin typeface="Consolas" pitchFamily="34" charset="0"/>
                <a:ea typeface="Consolas" pitchFamily="34" charset="-122"/>
                <a:cs typeface="Consolas" pitchFamily="34" charset="-120"/>
              </a:rPr>
              <a:t>)</a:t>
            </a:r>
            <a:endParaRPr lang="en-US" sz="2200" dirty="0"/>
          </a:p>
        </p:txBody>
      </p:sp>
      <p:sp>
        <p:nvSpPr>
          <p:cNvPr id="15" name="Shape 11"/>
          <p:cNvSpPr/>
          <p:nvPr/>
        </p:nvSpPr>
        <p:spPr>
          <a:xfrm>
            <a:off x="7909560" y="1600200"/>
            <a:ext cx="3730752" cy="1947672"/>
          </a:xfrm>
          <a:prstGeom prst="roundRect">
            <a:avLst>
              <a:gd name="adj" fmla="val 3756"/>
            </a:avLst>
          </a:prstGeom>
          <a:solidFill>
            <a:srgbClr val="2A2A32"/>
          </a:solidFill>
          <a:ln/>
        </p:spPr>
      </p:sp>
      <p:sp>
        <p:nvSpPr>
          <p:cNvPr id="16" name="Text 12"/>
          <p:cNvSpPr txBox="1"/>
          <p:nvPr/>
        </p:nvSpPr>
        <p:spPr>
          <a:xfrm>
            <a:off x="8183880" y="1783080"/>
            <a:ext cx="3200400" cy="274320"/>
          </a:xfrm>
          <a:prstGeom prst="rect">
            <a:avLst/>
          </a:prstGeom>
          <a:noFill/>
          <a:ln/>
        </p:spPr>
        <p:txBody>
          <a:bodyPr wrap="square" lIns="0" tIns="0" rIns="0" bIns="0" rtlCol="0" anchor="ctr"/>
          <a:lstStyle/>
          <a:p>
            <a:pPr indent="0" marL="0">
              <a:buNone/>
            </a:pPr>
            <a:r>
              <a:rPr lang="en-US" sz="1300" b="1" spc="200" kern="0" dirty="0">
                <a:solidFill>
                  <a:srgbClr val="6E6E7A"/>
                </a:solidFill>
                <a:latin typeface="Calibri" pitchFamily="34" charset="0"/>
                <a:ea typeface="Calibri" pitchFamily="34" charset="-122"/>
                <a:cs typeface="Calibri" pitchFamily="34" charset="-120"/>
              </a:rPr>
              <a:t>THE USER TYPES</a:t>
            </a:r>
            <a:endParaRPr lang="en-US" sz="1300" dirty="0"/>
          </a:p>
        </p:txBody>
      </p:sp>
      <p:sp>
        <p:nvSpPr>
          <p:cNvPr id="17" name="Text 13"/>
          <p:cNvSpPr txBox="1"/>
          <p:nvPr/>
        </p:nvSpPr>
        <p:spPr>
          <a:xfrm>
            <a:off x="8183880" y="2148840"/>
            <a:ext cx="3291840" cy="502920"/>
          </a:xfrm>
          <a:prstGeom prst="rect">
            <a:avLst/>
          </a:prstGeom>
          <a:noFill/>
          <a:ln/>
        </p:spPr>
        <p:txBody>
          <a:bodyPr wrap="square" lIns="0" tIns="0" rIns="0" bIns="0" rtlCol="0" anchor="ctr"/>
          <a:lstStyle/>
          <a:p>
            <a:pPr indent="0" marL="0">
              <a:buNone/>
            </a:pPr>
            <a:r>
              <a:rPr lang="en-US" sz="1800" dirty="0">
                <a:solidFill>
                  <a:srgbClr val="A9A9B4"/>
                </a:solidFill>
                <a:latin typeface="Calibri" pitchFamily="34" charset="0"/>
                <a:ea typeface="Calibri" pitchFamily="34" charset="-122"/>
                <a:cs typeface="Calibri" pitchFamily="34" charset="-120"/>
              </a:rPr>
              <a:t>1st   </a:t>
            </a:r>
            <a:pPr indent="0" marL="0">
              <a:buNone/>
            </a:pPr>
            <a:r>
              <a:rPr lang="en-US" sz="2800" b="1" dirty="0">
                <a:solidFill>
                  <a:srgbClr val="E69F00"/>
                </a:solidFill>
                <a:latin typeface="Consolas" pitchFamily="34" charset="0"/>
                <a:ea typeface="Consolas" pitchFamily="34" charset="-122"/>
                <a:cs typeface="Consolas" pitchFamily="34" charset="-120"/>
              </a:rPr>
              <a:t>Medbay</a:t>
            </a:r>
            <a:endParaRPr lang="en-US" sz="2800" dirty="0"/>
          </a:p>
        </p:txBody>
      </p:sp>
      <p:sp>
        <p:nvSpPr>
          <p:cNvPr id="18" name="Text 14"/>
          <p:cNvSpPr txBox="1"/>
          <p:nvPr/>
        </p:nvSpPr>
        <p:spPr>
          <a:xfrm>
            <a:off x="8183880" y="2697480"/>
            <a:ext cx="3291840" cy="502920"/>
          </a:xfrm>
          <a:prstGeom prst="rect">
            <a:avLst/>
          </a:prstGeom>
          <a:noFill/>
          <a:ln/>
        </p:spPr>
        <p:txBody>
          <a:bodyPr wrap="square" lIns="0" tIns="0" rIns="0" bIns="0" rtlCol="0" anchor="ctr"/>
          <a:lstStyle/>
          <a:p>
            <a:pPr indent="0" marL="0">
              <a:buNone/>
            </a:pPr>
            <a:r>
              <a:rPr lang="en-US" sz="1800" dirty="0">
                <a:solidFill>
                  <a:srgbClr val="A9A9B4"/>
                </a:solidFill>
                <a:latin typeface="Calibri" pitchFamily="34" charset="0"/>
                <a:ea typeface="Calibri" pitchFamily="34" charset="-122"/>
                <a:cs typeface="Calibri" pitchFamily="34" charset="-120"/>
              </a:rPr>
              <a:t>2nd   </a:t>
            </a:r>
            <a:pPr indent="0" marL="0">
              <a:buNone/>
            </a:pPr>
            <a:r>
              <a:rPr lang="en-US" sz="2800" b="1" dirty="0">
                <a:solidFill>
                  <a:srgbClr val="E69F00"/>
                </a:solidFill>
                <a:latin typeface="Consolas" pitchFamily="34" charset="0"/>
                <a:ea typeface="Consolas" pitchFamily="34" charset="-122"/>
                <a:cs typeface="Consolas" pitchFamily="34" charset="-120"/>
              </a:rPr>
              <a:t>3</a:t>
            </a:r>
            <a:endParaRPr lang="en-US" sz="2800" dirty="0"/>
          </a:p>
        </p:txBody>
      </p:sp>
      <p:sp>
        <p:nvSpPr>
          <p:cNvPr id="19" name="Shape 15"/>
          <p:cNvSpPr/>
          <p:nvPr/>
        </p:nvSpPr>
        <p:spPr>
          <a:xfrm>
            <a:off x="548640" y="4160520"/>
            <a:ext cx="11091672" cy="1280160"/>
          </a:xfrm>
          <a:prstGeom prst="roundRect">
            <a:avLst>
              <a:gd name="adj" fmla="val 5714"/>
            </a:avLst>
          </a:prstGeom>
          <a:solidFill>
            <a:srgbClr val="1E1E24"/>
          </a:solidFill>
          <a:ln w="25400">
            <a:solidFill>
              <a:srgbClr val="D8A73D"/>
            </a:solidFill>
            <a:prstDash val="solid"/>
          </a:ln>
        </p:spPr>
      </p:sp>
      <p:sp>
        <p:nvSpPr>
          <p:cNvPr id="20" name="Text 16"/>
          <p:cNvSpPr txBox="1"/>
          <p:nvPr/>
        </p:nvSpPr>
        <p:spPr>
          <a:xfrm>
            <a:off x="914400" y="4160520"/>
            <a:ext cx="10332720" cy="1280160"/>
          </a:xfrm>
          <a:prstGeom prst="rect">
            <a:avLst/>
          </a:prstGeom>
          <a:noFill/>
          <a:ln/>
        </p:spPr>
        <p:txBody>
          <a:bodyPr wrap="square" lIns="0" tIns="0" rIns="0" bIns="0" rtlCol="0" anchor="ctr"/>
          <a:lstStyle/>
          <a:p>
            <a:pPr indent="0" marL="0">
              <a:buNone/>
            </a:pPr>
            <a:r>
              <a:rPr lang="en-US" sz="2500" b="1" dirty="0">
                <a:solidFill>
                  <a:srgbClr val="D8A73D"/>
                </a:solidFill>
                <a:latin typeface="Calibri" pitchFamily="34" charset="0"/>
                <a:ea typeface="Calibri" pitchFamily="34" charset="-122"/>
                <a:cs typeface="Calibri" pitchFamily="34" charset="-120"/>
              </a:rPr>
              <a:t>On your whiteboard: </a:t>
            </a:r>
            <a:pPr indent="0" marL="0">
              <a:buNone/>
            </a:pPr>
            <a:r>
              <a:rPr lang="en-US" sz="2500" dirty="0">
                <a:solidFill>
                  <a:srgbClr val="F5F5F3"/>
                </a:solidFill>
                <a:latin typeface="Calibri" pitchFamily="34" charset="0"/>
                <a:ea typeface="Calibri" pitchFamily="34" charset="-122"/>
                <a:cs typeface="Calibri" pitchFamily="34" charset="-120"/>
              </a:rPr>
              <a:t>write the exact last line this program prints.</a:t>
            </a:r>
            <a:endParaRPr lang="en-US" sz="2500" dirty="0"/>
          </a:p>
        </p:txBody>
      </p:sp>
      <p:sp>
        <p:nvSpPr>
          <p:cNvPr id="21" name="Shape 17"/>
          <p:cNvSpPr/>
          <p:nvPr/>
        </p:nvSpPr>
        <p:spPr>
          <a:xfrm>
            <a:off x="9464040" y="566928"/>
            <a:ext cx="1280160" cy="329184"/>
          </a:xfrm>
          <a:prstGeom prst="roundRect">
            <a:avLst>
              <a:gd name="adj" fmla="val 50000"/>
            </a:avLst>
          </a:prstGeom>
          <a:solidFill>
            <a:srgbClr val="1E1E24"/>
          </a:solidFill>
          <a:ln w="15875">
            <a:solidFill>
              <a:srgbClr val="D8A73D"/>
            </a:solidFill>
            <a:prstDash val="solid"/>
          </a:ln>
        </p:spPr>
      </p:sp>
      <p:sp>
        <p:nvSpPr>
          <p:cNvPr id="22" name="Text 18"/>
          <p:cNvSpPr txBox="1"/>
          <p:nvPr/>
        </p:nvSpPr>
        <p:spPr>
          <a:xfrm>
            <a:off x="9464040" y="566928"/>
            <a:ext cx="1280160" cy="329184"/>
          </a:xfrm>
          <a:prstGeom prst="rect">
            <a:avLst/>
          </a:prstGeom>
          <a:noFill/>
          <a:ln/>
        </p:spPr>
        <p:txBody>
          <a:bodyPr wrap="square" lIns="0" tIns="0" rIns="0" bIns="0" rtlCol="0" anchor="ctr"/>
          <a:lstStyle/>
          <a:p>
            <a:pPr algn="ctr" indent="0" marL="0">
              <a:buNone/>
            </a:pPr>
            <a:r>
              <a:rPr lang="en-US" sz="1400" b="1" spc="100" kern="0" dirty="0">
                <a:solidFill>
                  <a:srgbClr val="D8A73D"/>
                </a:solidFill>
                <a:latin typeface="Calibri" pitchFamily="34" charset="0"/>
                <a:ea typeface="Calibri" pitchFamily="34" charset="-122"/>
                <a:cs typeface="Calibri" pitchFamily="34" charset="-120"/>
              </a:rPr>
              <a:t>⏱  2 MIN</a:t>
            </a:r>
            <a:endParaRPr lang="en-US" sz="1400" dirty="0"/>
          </a:p>
        </p:txBody>
      </p:sp>
      <p:pic>
        <p:nvPicPr>
          <p:cNvPr id="23" name="Image 2" descr="Deliberate practice">    </p:cNvPr>
          <p:cNvPicPr>
            <a:picLocks noChangeAspect="1"/>
          </p:cNvPicPr>
          <p:nvPr/>
        </p:nvPicPr>
        <p:blipFill>
          <a:blip r:embed="rId3"/>
          <a:stretch>
            <a:fillRect/>
          </a:stretch>
        </p:blipFill>
        <p:spPr>
          <a:xfrm>
            <a:off x="10972800" y="384048"/>
            <a:ext cx="731520" cy="731520"/>
          </a:xfrm>
          <a:prstGeom prst="rect">
            <a:avLst/>
          </a:prstGeom>
        </p:spPr>
      </p:pic>
      <p:sp>
        <p:nvSpPr>
          <p:cNvPr id="24" name="Text 19"/>
          <p:cNvSpPr txBox="1"/>
          <p:nvPr/>
        </p:nvSpPr>
        <p:spPr>
          <a:xfrm>
            <a:off x="4206240" y="6355080"/>
            <a:ext cx="6812280" cy="320040"/>
          </a:xfrm>
          <a:prstGeom prst="rect">
            <a:avLst/>
          </a:prstGeom>
          <a:noFill/>
          <a:ln/>
        </p:spPr>
        <p:txBody>
          <a:bodyPr wrap="square" lIns="0" tIns="0" rIns="0" bIns="0" rtlCol="0" anchor="ctr"/>
          <a:lstStyle/>
          <a:p>
            <a:pPr algn="r" indent="0" marL="0">
              <a:buNone/>
            </a:pPr>
            <a:r>
              <a:rPr lang="en-US" sz="1300" b="1" i="1" dirty="0">
                <a:solidFill>
                  <a:srgbClr val="D8A73D"/>
                </a:solidFill>
                <a:latin typeface="Calibri" pitchFamily="34" charset="0"/>
                <a:ea typeface="Calibri" pitchFamily="34" charset="-122"/>
                <a:cs typeface="Calibri" pitchFamily="34" charset="-120"/>
              </a:rPr>
              <a:t>station('L3')  ·  Ch 3 Locked In: red alarm + hazard stripes</a:t>
            </a:r>
            <a:endParaRPr lang="en-US" sz="13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station static" descr="C:\Users\n.houlton_grange.out\source\repos\interactive\_presentations\Y9_Python\station\static.png">    </p:cNvPr>
          <p:cNvPicPr>
            <a:picLocks noChangeAspect="1"/>
          </p:cNvPicPr>
          <p:nvPr/>
        </p:nvPicPr>
        <p:blipFill>
          <a:blip r:embed="rId1"/>
          <a:stretch>
            <a:fillRect/>
          </a:stretch>
        </p:blipFill>
        <p:spPr>
          <a:xfrm>
            <a:off x="0" y="0"/>
            <a:ext cx="12191695" cy="6858000"/>
          </a:xfrm>
          <a:prstGeom prst="rect">
            <a:avLst/>
          </a:prstGeom>
        </p:spPr>
      </p:pic>
      <p:sp>
        <p:nvSpPr>
          <p:cNvPr id="3" name="station status"/>
          <p:cNvSpPr txBox="1"/>
          <p:nvPr/>
        </p:nvSpPr>
        <p:spPr>
          <a:xfrm>
            <a:off x="548640" y="73152"/>
            <a:ext cx="10241280" cy="237744"/>
          </a:xfrm>
          <a:prstGeom prst="rect">
            <a:avLst/>
          </a:prstGeom>
          <a:noFill/>
          <a:ln/>
        </p:spPr>
        <p:txBody>
          <a:bodyPr wrap="square" lIns="0" tIns="0" rIns="0" bIns="0" rtlCol="0" anchor="ctr"/>
          <a:lstStyle/>
          <a:p>
            <a:pPr indent="0" marL="0">
              <a:buNone/>
            </a:pPr>
            <a:r>
              <a:rPr lang="en-US" sz="1100" spc="100" kern="0" dirty="0">
                <a:solidFill>
                  <a:srgbClr val="56B4E9"/>
                </a:solidFill>
                <a:latin typeface="Consolas" pitchFamily="34" charset="0"/>
                <a:ea typeface="Consolas" pitchFamily="34" charset="-122"/>
                <a:cs typeface="Consolas" pitchFamily="34" charset="-120"/>
              </a:rPr>
              <a:t>●  </a:t>
            </a:r>
            <a:pPr indent="0" marL="0">
              <a:buNone/>
            </a:pPr>
            <a:r>
              <a:rPr lang="en-US" sz="1100" spc="100" kern="0" dirty="0">
                <a:solidFill>
                  <a:srgbClr val="6E6E7A"/>
                </a:solidFill>
                <a:latin typeface="Consolas" pitchFamily="34" charset="0"/>
                <a:ea typeface="Consolas" pitchFamily="34" charset="-122"/>
                <a:cs typeface="Consolas" pitchFamily="34" charset="-120"/>
              </a:rPr>
              <a:t>NAV BEACON   ·   SIGNAL WEAK ▂▁▃▁   ·   RESCUE SHIP: NO REPLY</a:t>
            </a:r>
            <a:endParaRPr lang="en-US" sz="1100" dirty="0"/>
          </a:p>
        </p:txBody>
      </p:sp>
      <p:sp>
        <p:nvSpPr>
          <p:cNvPr id="4"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Join or add?</a:t>
            </a:r>
            <a:endParaRPr lang="en-US" sz="3600" dirty="0"/>
          </a:p>
        </p:txBody>
      </p:sp>
      <p:sp>
        <p:nvSpPr>
          <p:cNvPr id="5" name="code"/>
          <p:cNvSpPr/>
          <p:nvPr/>
        </p:nvSpPr>
        <p:spPr>
          <a:xfrm>
            <a:off x="548640" y="1737360"/>
            <a:ext cx="5394960" cy="1188720"/>
          </a:xfrm>
          <a:prstGeom prst="roundRect">
            <a:avLst>
              <a:gd name="adj" fmla="val 6154"/>
            </a:avLst>
          </a:prstGeom>
          <a:solidFill>
            <a:srgbClr val="111115"/>
          </a:solidFill>
          <a:ln w="15875">
            <a:solidFill>
              <a:srgbClr val="3A3A44"/>
            </a:solidFill>
            <a:prstDash val="solid"/>
          </a:ln>
        </p:spPr>
      </p:sp>
      <p:sp>
        <p:nvSpPr>
          <p:cNvPr id="6" name="Text 3"/>
          <p:cNvSpPr txBox="1"/>
          <p:nvPr/>
        </p:nvSpPr>
        <p:spPr>
          <a:xfrm>
            <a:off x="731520" y="1938528"/>
            <a:ext cx="5120640" cy="628650"/>
          </a:xfrm>
          <a:prstGeom prst="rect">
            <a:avLst/>
          </a:prstGeom>
          <a:noFill/>
          <a:ln/>
        </p:spPr>
        <p:txBody>
          <a:bodyPr wrap="square" lIns="0" tIns="0" rIns="0" bIns="0" rtlCol="0" anchor="ctr"/>
          <a:lstStyle/>
          <a:p>
            <a:pPr indent="0" marL="0">
              <a:buNone/>
            </a:pPr>
            <a:r>
              <a:rPr lang="en-US" sz="3000" dirty="0">
                <a:solidFill>
                  <a:srgbClr val="E8C878"/>
                </a:solidFill>
                <a:latin typeface="Consolas" pitchFamily="34" charset="0"/>
                <a:ea typeface="Consolas" pitchFamily="34" charset="-122"/>
                <a:cs typeface="Consolas" pitchFamily="34" charset="-120"/>
              </a:rPr>
              <a:t>print</a:t>
            </a:r>
            <a:pPr indent="0" marL="0">
              <a:buNone/>
            </a:pPr>
            <a:r>
              <a:rPr lang="en-US" sz="3000" dirty="0">
                <a:solidFill>
                  <a:srgbClr val="A9A9B4"/>
                </a:solidFill>
                <a:latin typeface="Consolas" pitchFamily="34" charset="0"/>
                <a:ea typeface="Consolas" pitchFamily="34" charset="-122"/>
                <a:cs typeface="Consolas" pitchFamily="34" charset="-120"/>
              </a:rPr>
              <a:t>(</a:t>
            </a:r>
            <a:pPr indent="0" marL="0">
              <a:buNone/>
            </a:pPr>
            <a:r>
              <a:rPr lang="en-US" sz="3000" dirty="0">
                <a:solidFill>
                  <a:srgbClr val="E69F00"/>
                </a:solidFill>
                <a:latin typeface="Consolas" pitchFamily="34" charset="0"/>
                <a:ea typeface="Consolas" pitchFamily="34" charset="-122"/>
                <a:cs typeface="Consolas" pitchFamily="34" charset="-120"/>
              </a:rPr>
              <a:t>"5"</a:t>
            </a:r>
            <a:pPr indent="0" marL="0">
              <a:buNone/>
            </a:pPr>
            <a:r>
              <a:rPr lang="en-US" sz="3000" dirty="0">
                <a:solidFill>
                  <a:srgbClr val="F5F5F3"/>
                </a:solidFill>
                <a:latin typeface="Consolas" pitchFamily="34" charset="0"/>
                <a:ea typeface="Consolas" pitchFamily="34" charset="-122"/>
                <a:cs typeface="Consolas" pitchFamily="34" charset="-120"/>
              </a:rPr>
              <a:t> </a:t>
            </a:r>
            <a:pPr indent="0" marL="0">
              <a:buNone/>
            </a:pPr>
            <a:r>
              <a:rPr lang="en-US" sz="3000" dirty="0">
                <a:solidFill>
                  <a:srgbClr val="A9A9B4"/>
                </a:solidFill>
                <a:latin typeface="Consolas" pitchFamily="34" charset="0"/>
                <a:ea typeface="Consolas" pitchFamily="34" charset="-122"/>
                <a:cs typeface="Consolas" pitchFamily="34" charset="-120"/>
              </a:rPr>
              <a:t>+</a:t>
            </a:r>
            <a:pPr indent="0" marL="0">
              <a:buNone/>
            </a:pPr>
            <a:r>
              <a:rPr lang="en-US" sz="3000" dirty="0">
                <a:solidFill>
                  <a:srgbClr val="F5F5F3"/>
                </a:solidFill>
                <a:latin typeface="Consolas" pitchFamily="34" charset="0"/>
                <a:ea typeface="Consolas" pitchFamily="34" charset="-122"/>
                <a:cs typeface="Consolas" pitchFamily="34" charset="-120"/>
              </a:rPr>
              <a:t> </a:t>
            </a:r>
            <a:pPr indent="0" marL="0">
              <a:buNone/>
            </a:pPr>
            <a:r>
              <a:rPr lang="en-US" sz="3000" dirty="0">
                <a:solidFill>
                  <a:srgbClr val="E69F00"/>
                </a:solidFill>
                <a:latin typeface="Consolas" pitchFamily="34" charset="0"/>
                <a:ea typeface="Consolas" pitchFamily="34" charset="-122"/>
                <a:cs typeface="Consolas" pitchFamily="34" charset="-120"/>
              </a:rPr>
              <a:t>"5"</a:t>
            </a:r>
            <a:pPr indent="0" marL="0">
              <a:buNone/>
            </a:pPr>
            <a:r>
              <a:rPr lang="en-US" sz="3000" dirty="0">
                <a:solidFill>
                  <a:srgbClr val="A9A9B4"/>
                </a:solidFill>
                <a:latin typeface="Consolas" pitchFamily="34" charset="0"/>
                <a:ea typeface="Consolas" pitchFamily="34" charset="-122"/>
                <a:cs typeface="Consolas" pitchFamily="34" charset="-120"/>
              </a:rPr>
              <a:t>)</a:t>
            </a:r>
            <a:endParaRPr lang="en-US" sz="3000" dirty="0"/>
          </a:p>
        </p:txBody>
      </p:sp>
      <p:sp>
        <p:nvSpPr>
          <p:cNvPr id="7" name="terminal"/>
          <p:cNvSpPr/>
          <p:nvPr/>
        </p:nvSpPr>
        <p:spPr>
          <a:xfrm>
            <a:off x="548640" y="3154680"/>
            <a:ext cx="5394960" cy="914400"/>
          </a:xfrm>
          <a:prstGeom prst="roundRect">
            <a:avLst>
              <a:gd name="adj" fmla="val 8000"/>
            </a:avLst>
          </a:prstGeom>
          <a:solidFill>
            <a:srgbClr val="0A0A0D"/>
          </a:solidFill>
          <a:ln w="15875">
            <a:solidFill>
              <a:srgbClr val="3A3A44"/>
            </a:solidFill>
            <a:prstDash val="solid"/>
          </a:ln>
        </p:spPr>
      </p:sp>
      <p:sp>
        <p:nvSpPr>
          <p:cNvPr id="8" name="Text 5"/>
          <p:cNvSpPr txBox="1"/>
          <p:nvPr/>
        </p:nvSpPr>
        <p:spPr>
          <a:xfrm>
            <a:off x="777240" y="3383280"/>
            <a:ext cx="4937760" cy="609600"/>
          </a:xfrm>
          <a:prstGeom prst="rect">
            <a:avLst/>
          </a:prstGeom>
          <a:noFill/>
          <a:ln/>
        </p:spPr>
        <p:txBody>
          <a:bodyPr wrap="square" lIns="0" tIns="0" rIns="0" bIns="0" rtlCol="0" anchor="ctr"/>
          <a:lstStyle/>
          <a:p>
            <a:pPr indent="0" marL="0">
              <a:buNone/>
            </a:pPr>
            <a:r>
              <a:rPr lang="en-US" sz="3000" dirty="0">
                <a:solidFill>
                  <a:srgbClr val="F5F5F3"/>
                </a:solidFill>
                <a:latin typeface="Consolas" pitchFamily="34" charset="0"/>
                <a:ea typeface="Consolas" pitchFamily="34" charset="-122"/>
                <a:cs typeface="Consolas" pitchFamily="34" charset="-120"/>
              </a:rPr>
              <a:t>?</a:t>
            </a:r>
            <a:endParaRPr lang="en-US" sz="3000" dirty="0"/>
          </a:p>
        </p:txBody>
      </p:sp>
      <p:sp>
        <p:nvSpPr>
          <p:cNvPr id="9" name="code"/>
          <p:cNvSpPr/>
          <p:nvPr/>
        </p:nvSpPr>
        <p:spPr>
          <a:xfrm>
            <a:off x="6245352" y="1737360"/>
            <a:ext cx="5394960" cy="1188720"/>
          </a:xfrm>
          <a:prstGeom prst="roundRect">
            <a:avLst>
              <a:gd name="adj" fmla="val 6154"/>
            </a:avLst>
          </a:prstGeom>
          <a:solidFill>
            <a:srgbClr val="111115"/>
          </a:solidFill>
          <a:ln w="15875">
            <a:solidFill>
              <a:srgbClr val="3A3A44"/>
            </a:solidFill>
            <a:prstDash val="solid"/>
          </a:ln>
        </p:spPr>
      </p:sp>
      <p:sp>
        <p:nvSpPr>
          <p:cNvPr id="10" name="Text 7"/>
          <p:cNvSpPr txBox="1"/>
          <p:nvPr/>
        </p:nvSpPr>
        <p:spPr>
          <a:xfrm>
            <a:off x="6428232" y="1938528"/>
            <a:ext cx="5120640" cy="628650"/>
          </a:xfrm>
          <a:prstGeom prst="rect">
            <a:avLst/>
          </a:prstGeom>
          <a:noFill/>
          <a:ln/>
        </p:spPr>
        <p:txBody>
          <a:bodyPr wrap="square" lIns="0" tIns="0" rIns="0" bIns="0" rtlCol="0" anchor="ctr"/>
          <a:lstStyle/>
          <a:p>
            <a:pPr indent="0" marL="0">
              <a:buNone/>
            </a:pPr>
            <a:r>
              <a:rPr lang="en-US" sz="3000" dirty="0">
                <a:solidFill>
                  <a:srgbClr val="E8C878"/>
                </a:solidFill>
                <a:latin typeface="Consolas" pitchFamily="34" charset="0"/>
                <a:ea typeface="Consolas" pitchFamily="34" charset="-122"/>
                <a:cs typeface="Consolas" pitchFamily="34" charset="-120"/>
              </a:rPr>
              <a:t>print</a:t>
            </a:r>
            <a:pPr indent="0" marL="0">
              <a:buNone/>
            </a:pPr>
            <a:r>
              <a:rPr lang="en-US" sz="3000" dirty="0">
                <a:solidFill>
                  <a:srgbClr val="A9A9B4"/>
                </a:solidFill>
                <a:latin typeface="Consolas" pitchFamily="34" charset="0"/>
                <a:ea typeface="Consolas" pitchFamily="34" charset="-122"/>
                <a:cs typeface="Consolas" pitchFamily="34" charset="-120"/>
              </a:rPr>
              <a:t>(</a:t>
            </a:r>
            <a:pPr indent="0" marL="0">
              <a:buNone/>
            </a:pPr>
            <a:r>
              <a:rPr lang="en-US" sz="3000" dirty="0">
                <a:solidFill>
                  <a:srgbClr val="56B4E9"/>
                </a:solidFill>
                <a:latin typeface="Consolas" pitchFamily="34" charset="0"/>
                <a:ea typeface="Consolas" pitchFamily="34" charset="-122"/>
                <a:cs typeface="Consolas" pitchFamily="34" charset="-120"/>
              </a:rPr>
              <a:t>5</a:t>
            </a:r>
            <a:pPr indent="0" marL="0">
              <a:buNone/>
            </a:pPr>
            <a:r>
              <a:rPr lang="en-US" sz="3000" dirty="0">
                <a:solidFill>
                  <a:srgbClr val="F5F5F3"/>
                </a:solidFill>
                <a:latin typeface="Consolas" pitchFamily="34" charset="0"/>
                <a:ea typeface="Consolas" pitchFamily="34" charset="-122"/>
                <a:cs typeface="Consolas" pitchFamily="34" charset="-120"/>
              </a:rPr>
              <a:t> </a:t>
            </a:r>
            <a:pPr indent="0" marL="0">
              <a:buNone/>
            </a:pPr>
            <a:r>
              <a:rPr lang="en-US" sz="3000" dirty="0">
                <a:solidFill>
                  <a:srgbClr val="A9A9B4"/>
                </a:solidFill>
                <a:latin typeface="Consolas" pitchFamily="34" charset="0"/>
                <a:ea typeface="Consolas" pitchFamily="34" charset="-122"/>
                <a:cs typeface="Consolas" pitchFamily="34" charset="-120"/>
              </a:rPr>
              <a:t>+</a:t>
            </a:r>
            <a:pPr indent="0" marL="0">
              <a:buNone/>
            </a:pPr>
            <a:r>
              <a:rPr lang="en-US" sz="3000" dirty="0">
                <a:solidFill>
                  <a:srgbClr val="F5F5F3"/>
                </a:solidFill>
                <a:latin typeface="Consolas" pitchFamily="34" charset="0"/>
                <a:ea typeface="Consolas" pitchFamily="34" charset="-122"/>
                <a:cs typeface="Consolas" pitchFamily="34" charset="-120"/>
              </a:rPr>
              <a:t> </a:t>
            </a:r>
            <a:pPr indent="0" marL="0">
              <a:buNone/>
            </a:pPr>
            <a:r>
              <a:rPr lang="en-US" sz="3000" dirty="0">
                <a:solidFill>
                  <a:srgbClr val="56B4E9"/>
                </a:solidFill>
                <a:latin typeface="Consolas" pitchFamily="34" charset="0"/>
                <a:ea typeface="Consolas" pitchFamily="34" charset="-122"/>
                <a:cs typeface="Consolas" pitchFamily="34" charset="-120"/>
              </a:rPr>
              <a:t>5</a:t>
            </a:r>
            <a:pPr indent="0" marL="0">
              <a:buNone/>
            </a:pPr>
            <a:r>
              <a:rPr lang="en-US" sz="3000" dirty="0">
                <a:solidFill>
                  <a:srgbClr val="A9A9B4"/>
                </a:solidFill>
                <a:latin typeface="Consolas" pitchFamily="34" charset="0"/>
                <a:ea typeface="Consolas" pitchFamily="34" charset="-122"/>
                <a:cs typeface="Consolas" pitchFamily="34" charset="-120"/>
              </a:rPr>
              <a:t>)</a:t>
            </a:r>
            <a:endParaRPr lang="en-US" sz="3000" dirty="0"/>
          </a:p>
        </p:txBody>
      </p:sp>
      <p:sp>
        <p:nvSpPr>
          <p:cNvPr id="11" name="terminal"/>
          <p:cNvSpPr/>
          <p:nvPr/>
        </p:nvSpPr>
        <p:spPr>
          <a:xfrm>
            <a:off x="6245352" y="3154680"/>
            <a:ext cx="5394960" cy="914400"/>
          </a:xfrm>
          <a:prstGeom prst="roundRect">
            <a:avLst>
              <a:gd name="adj" fmla="val 8000"/>
            </a:avLst>
          </a:prstGeom>
          <a:solidFill>
            <a:srgbClr val="0A0A0D"/>
          </a:solidFill>
          <a:ln w="15875">
            <a:solidFill>
              <a:srgbClr val="3A3A44"/>
            </a:solidFill>
            <a:prstDash val="solid"/>
          </a:ln>
        </p:spPr>
      </p:sp>
      <p:sp>
        <p:nvSpPr>
          <p:cNvPr id="12" name="Text 9"/>
          <p:cNvSpPr txBox="1"/>
          <p:nvPr/>
        </p:nvSpPr>
        <p:spPr>
          <a:xfrm>
            <a:off x="6473952" y="3383280"/>
            <a:ext cx="4937760" cy="609600"/>
          </a:xfrm>
          <a:prstGeom prst="rect">
            <a:avLst/>
          </a:prstGeom>
          <a:noFill/>
          <a:ln/>
        </p:spPr>
        <p:txBody>
          <a:bodyPr wrap="square" lIns="0" tIns="0" rIns="0" bIns="0" rtlCol="0" anchor="ctr"/>
          <a:lstStyle/>
          <a:p>
            <a:pPr indent="0" marL="0">
              <a:buNone/>
            </a:pPr>
            <a:r>
              <a:rPr lang="en-US" sz="3000" dirty="0">
                <a:solidFill>
                  <a:srgbClr val="F5F5F3"/>
                </a:solidFill>
                <a:latin typeface="Consolas" pitchFamily="34" charset="0"/>
                <a:ea typeface="Consolas" pitchFamily="34" charset="-122"/>
                <a:cs typeface="Consolas" pitchFamily="34" charset="-120"/>
              </a:rPr>
              <a:t>?</a:t>
            </a:r>
            <a:endParaRPr lang="en-US" sz="3000" dirty="0"/>
          </a:p>
        </p:txBody>
      </p:sp>
      <p:sp>
        <p:nvSpPr>
          <p:cNvPr id="13" name="Shape 10"/>
          <p:cNvSpPr/>
          <p:nvPr/>
        </p:nvSpPr>
        <p:spPr>
          <a:xfrm>
            <a:off x="548640" y="4526280"/>
            <a:ext cx="11091672" cy="1234440"/>
          </a:xfrm>
          <a:prstGeom prst="roundRect">
            <a:avLst>
              <a:gd name="adj" fmla="val 5926"/>
            </a:avLst>
          </a:prstGeom>
          <a:solidFill>
            <a:srgbClr val="1E1E24"/>
          </a:solidFill>
          <a:ln w="25400">
            <a:solidFill>
              <a:srgbClr val="D8A73D"/>
            </a:solidFill>
            <a:prstDash val="solid"/>
          </a:ln>
        </p:spPr>
      </p:sp>
      <p:sp>
        <p:nvSpPr>
          <p:cNvPr id="14" name="Text 11"/>
          <p:cNvSpPr txBox="1"/>
          <p:nvPr/>
        </p:nvSpPr>
        <p:spPr>
          <a:xfrm>
            <a:off x="914400" y="4526280"/>
            <a:ext cx="10332720" cy="1234440"/>
          </a:xfrm>
          <a:prstGeom prst="rect">
            <a:avLst/>
          </a:prstGeom>
          <a:noFill/>
          <a:ln/>
        </p:spPr>
        <p:txBody>
          <a:bodyPr wrap="square" lIns="0" tIns="0" rIns="0" bIns="0" rtlCol="0" anchor="ctr"/>
          <a:lstStyle/>
          <a:p>
            <a:pPr indent="0" marL="0">
              <a:buNone/>
            </a:pPr>
            <a:r>
              <a:rPr lang="en-US" sz="2500" b="1" dirty="0">
                <a:solidFill>
                  <a:srgbClr val="D8A73D"/>
                </a:solidFill>
                <a:latin typeface="Calibri" pitchFamily="34" charset="0"/>
                <a:ea typeface="Calibri" pitchFamily="34" charset="-122"/>
                <a:cs typeface="Calibri" pitchFamily="34" charset="-120"/>
              </a:rPr>
              <a:t>Turn &amp; Talk: </a:t>
            </a:r>
            <a:pPr indent="0" marL="0">
              <a:buNone/>
            </a:pPr>
            <a:r>
              <a:rPr lang="en-US" sz="2500" dirty="0">
                <a:solidFill>
                  <a:srgbClr val="F5F5F3"/>
                </a:solidFill>
                <a:latin typeface="Calibri" pitchFamily="34" charset="0"/>
                <a:ea typeface="Calibri" pitchFamily="34" charset="-122"/>
                <a:cs typeface="Calibri" pitchFamily="34" charset="-120"/>
              </a:rPr>
              <a:t>what does each one print — and why are they different?</a:t>
            </a:r>
            <a:endParaRPr lang="en-US" sz="2500" dirty="0"/>
          </a:p>
        </p:txBody>
      </p:sp>
      <p:sp>
        <p:nvSpPr>
          <p:cNvPr id="15" name="Shape 12"/>
          <p:cNvSpPr/>
          <p:nvPr/>
        </p:nvSpPr>
        <p:spPr>
          <a:xfrm>
            <a:off x="9464040" y="566928"/>
            <a:ext cx="1280160" cy="329184"/>
          </a:xfrm>
          <a:prstGeom prst="roundRect">
            <a:avLst>
              <a:gd name="adj" fmla="val 50000"/>
            </a:avLst>
          </a:prstGeom>
          <a:solidFill>
            <a:srgbClr val="1E1E24"/>
          </a:solidFill>
          <a:ln w="15875">
            <a:solidFill>
              <a:srgbClr val="D8A73D"/>
            </a:solidFill>
            <a:prstDash val="solid"/>
          </a:ln>
        </p:spPr>
      </p:sp>
      <p:sp>
        <p:nvSpPr>
          <p:cNvPr id="16" name="Text 13"/>
          <p:cNvSpPr txBox="1"/>
          <p:nvPr/>
        </p:nvSpPr>
        <p:spPr>
          <a:xfrm>
            <a:off x="9464040" y="566928"/>
            <a:ext cx="1280160" cy="329184"/>
          </a:xfrm>
          <a:prstGeom prst="rect">
            <a:avLst/>
          </a:prstGeom>
          <a:noFill/>
          <a:ln/>
        </p:spPr>
        <p:txBody>
          <a:bodyPr wrap="square" lIns="0" tIns="0" rIns="0" bIns="0" rtlCol="0" anchor="ctr"/>
          <a:lstStyle/>
          <a:p>
            <a:pPr algn="ctr" indent="0" marL="0">
              <a:buNone/>
            </a:pPr>
            <a:r>
              <a:rPr lang="en-US" sz="1400" b="1" spc="100" kern="0" dirty="0">
                <a:solidFill>
                  <a:srgbClr val="D8A73D"/>
                </a:solidFill>
                <a:latin typeface="Calibri" pitchFamily="34" charset="0"/>
                <a:ea typeface="Calibri" pitchFamily="34" charset="-122"/>
                <a:cs typeface="Calibri" pitchFamily="34" charset="-120"/>
              </a:rPr>
              <a:t>⏱  1 MIN</a:t>
            </a:r>
            <a:endParaRPr lang="en-US" sz="1400" dirty="0"/>
          </a:p>
        </p:txBody>
      </p:sp>
      <p:pic>
        <p:nvPicPr>
          <p:cNvPr id="17" name="Image 1" descr="Deliberate practice">    </p:cNvPr>
          <p:cNvPicPr>
            <a:picLocks noChangeAspect="1"/>
          </p:cNvPicPr>
          <p:nvPr/>
        </p:nvPicPr>
        <p:blipFill>
          <a:blip r:embed="rId2"/>
          <a:stretch>
            <a:fillRect/>
          </a:stretch>
        </p:blipFill>
        <p:spPr>
          <a:xfrm>
            <a:off x="10972800" y="384048"/>
            <a:ext cx="731520" cy="731520"/>
          </a:xfrm>
          <a:prstGeom prst="rect">
            <a:avLst/>
          </a:prstGeom>
        </p:spPr>
      </p:pic>
      <p:sp>
        <p:nvSpPr>
          <p:cNvPr id="18" name="Text 14"/>
          <p:cNvSpPr txBox="1"/>
          <p:nvPr/>
        </p:nvSpPr>
        <p:spPr>
          <a:xfrm>
            <a:off x="4206240" y="6355080"/>
            <a:ext cx="6812280" cy="320040"/>
          </a:xfrm>
          <a:prstGeom prst="rect">
            <a:avLst/>
          </a:prstGeom>
          <a:noFill/>
          <a:ln/>
        </p:spPr>
        <p:txBody>
          <a:bodyPr wrap="square" lIns="0" tIns="0" rIns="0" bIns="0" rtlCol="0" anchor="ctr"/>
          <a:lstStyle/>
          <a:p>
            <a:pPr algn="r" indent="0" marL="0">
              <a:buNone/>
            </a:pPr>
            <a:r>
              <a:rPr lang="en-US" sz="1300" b="1" i="1" dirty="0">
                <a:solidFill>
                  <a:srgbClr val="D8A73D"/>
                </a:solidFill>
                <a:latin typeface="Calibri" pitchFamily="34" charset="0"/>
                <a:ea typeface="Calibri" pitchFamily="34" charset="-122"/>
                <a:cs typeface="Calibri" pitchFamily="34" charset="-120"/>
              </a:rPr>
              <a:t>station('L4')  ·  Ch 4 Distress Signal: static at the edges</a:t>
            </a:r>
            <a:endParaRPr lang="en-US" sz="13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station edge_red" descr="C:\Users\n.houlton_grange.out\source\repos\interactive\_presentations\Y9_Python\station\edge_red.png">    </p:cNvPr>
          <p:cNvPicPr>
            <a:picLocks noChangeAspect="1"/>
          </p:cNvPicPr>
          <p:nvPr/>
        </p:nvPicPr>
        <p:blipFill>
          <a:blip r:embed="rId1"/>
          <a:stretch>
            <a:fillRect/>
          </a:stretch>
        </p:blipFill>
        <p:spPr>
          <a:xfrm>
            <a:off x="0" y="0"/>
            <a:ext cx="12191695" cy="6858000"/>
          </a:xfrm>
          <a:prstGeom prst="rect">
            <a:avLst/>
          </a:prstGeom>
        </p:spPr>
      </p:pic>
      <p:pic>
        <p:nvPicPr>
          <p:cNvPr id="3" name="station cracks" descr="C:\Users\n.houlton_grange.out\source\repos\interactive\_presentations\Y9_Python\station\cracks.png">    </p:cNvPr>
          <p:cNvPicPr>
            <a:picLocks noChangeAspect="1"/>
          </p:cNvPicPr>
          <p:nvPr/>
        </p:nvPicPr>
        <p:blipFill>
          <a:blip r:embed="rId2"/>
          <a:stretch>
            <a:fillRect/>
          </a:stretch>
        </p:blipFill>
        <p:spPr>
          <a:xfrm>
            <a:off x="0" y="0"/>
            <a:ext cx="12191695" cy="6858000"/>
          </a:xfrm>
          <a:prstGeom prst="rect">
            <a:avLst/>
          </a:prstGeom>
        </p:spPr>
      </p:pic>
      <p:sp>
        <p:nvSpPr>
          <p:cNvPr id="4" name="station status"/>
          <p:cNvSpPr txBox="1"/>
          <p:nvPr/>
        </p:nvSpPr>
        <p:spPr>
          <a:xfrm>
            <a:off x="548640" y="73152"/>
            <a:ext cx="10241280" cy="237744"/>
          </a:xfrm>
          <a:prstGeom prst="rect">
            <a:avLst/>
          </a:prstGeom>
          <a:noFill/>
          <a:ln/>
        </p:spPr>
        <p:txBody>
          <a:bodyPr wrap="square" lIns="0" tIns="0" rIns="0" bIns="0" rtlCol="0" anchor="ctr"/>
          <a:lstStyle/>
          <a:p>
            <a:pPr indent="0" marL="0">
              <a:buNone/>
            </a:pPr>
            <a:r>
              <a:rPr lang="en-US" sz="1100" spc="100" kern="0" dirty="0">
                <a:solidFill>
                  <a:srgbClr val="FF6B6B"/>
                </a:solidFill>
                <a:latin typeface="Consolas" pitchFamily="34" charset="0"/>
                <a:ea typeface="Consolas" pitchFamily="34" charset="-122"/>
                <a:cs typeface="Consolas" pitchFamily="34" charset="-120"/>
              </a:rPr>
              <a:t>●  </a:t>
            </a:r>
            <a:pPr indent="0" marL="0">
              <a:buNone/>
            </a:pPr>
            <a:r>
              <a:rPr lang="en-US" sz="1100" spc="100" kern="0" dirty="0">
                <a:solidFill>
                  <a:srgbClr val="6E6E7A"/>
                </a:solidFill>
                <a:latin typeface="Consolas" pitchFamily="34" charset="0"/>
                <a:ea typeface="Consolas" pitchFamily="34" charset="-122"/>
                <a:cs typeface="Consolas" pitchFamily="34" charset="-120"/>
              </a:rPr>
              <a:t>HULL BREACH · DECK 2   ·   DRONE ONLINE   ·   O2 VENTING</a:t>
            </a:r>
            <a:endParaRPr lang="en-US" sz="1100" dirty="0"/>
          </a:p>
        </p:txBody>
      </p:sp>
      <p:sp>
        <p:nvSpPr>
          <p:cNvPr id="5"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What happens when each line runs?</a:t>
            </a:r>
            <a:endParaRPr lang="en-US" sz="3600" dirty="0"/>
          </a:p>
        </p:txBody>
      </p:sp>
      <p:sp>
        <p:nvSpPr>
          <p:cNvPr id="6" name="Text 2"/>
          <p:cNvSpPr txBox="1"/>
          <p:nvPr/>
        </p:nvSpPr>
        <p:spPr>
          <a:xfrm>
            <a:off x="548640" y="1481328"/>
            <a:ext cx="2743200" cy="274320"/>
          </a:xfrm>
          <a:prstGeom prst="rect">
            <a:avLst/>
          </a:prstGeom>
          <a:noFill/>
          <a:ln/>
        </p:spPr>
        <p:txBody>
          <a:bodyPr wrap="square" lIns="0" tIns="0" rIns="0" bIns="0" rtlCol="0" anchor="ctr"/>
          <a:lstStyle/>
          <a:p>
            <a:pPr indent="0" marL="0">
              <a:buNone/>
            </a:pPr>
            <a:r>
              <a:rPr lang="en-US" sz="1300" b="1" spc="200" kern="0" dirty="0">
                <a:solidFill>
                  <a:srgbClr val="6E6E7A"/>
                </a:solidFill>
                <a:latin typeface="Calibri" pitchFamily="34" charset="0"/>
                <a:ea typeface="Calibri" pitchFamily="34" charset="-122"/>
                <a:cs typeface="Calibri" pitchFamily="34" charset="-120"/>
              </a:rPr>
              <a:t>THE CODE</a:t>
            </a:r>
            <a:endParaRPr lang="en-US" sz="1300" dirty="0"/>
          </a:p>
        </p:txBody>
      </p:sp>
      <p:sp>
        <p:nvSpPr>
          <p:cNvPr id="7" name="Text 3"/>
          <p:cNvSpPr txBox="1"/>
          <p:nvPr/>
        </p:nvSpPr>
        <p:spPr>
          <a:xfrm>
            <a:off x="6446520" y="1481328"/>
            <a:ext cx="2743200" cy="274320"/>
          </a:xfrm>
          <a:prstGeom prst="rect">
            <a:avLst/>
          </a:prstGeom>
          <a:noFill/>
          <a:ln/>
        </p:spPr>
        <p:txBody>
          <a:bodyPr wrap="square" lIns="0" tIns="0" rIns="0" bIns="0" rtlCol="0" anchor="ctr"/>
          <a:lstStyle/>
          <a:p>
            <a:pPr indent="0" marL="0">
              <a:buNone/>
            </a:pPr>
            <a:r>
              <a:rPr lang="en-US" sz="1300" b="1" spc="200" kern="0" dirty="0">
                <a:solidFill>
                  <a:srgbClr val="6E6E7A"/>
                </a:solidFill>
                <a:latin typeface="Calibri" pitchFamily="34" charset="0"/>
                <a:ea typeface="Calibri" pitchFamily="34" charset="-122"/>
                <a:cs typeface="Calibri" pitchFamily="34" charset="-120"/>
              </a:rPr>
              <a:t>ON SCREEN</a:t>
            </a:r>
            <a:endParaRPr lang="en-US" sz="1300" dirty="0"/>
          </a:p>
        </p:txBody>
      </p:sp>
      <p:sp>
        <p:nvSpPr>
          <p:cNvPr id="8" name="Text 4"/>
          <p:cNvSpPr txBox="1"/>
          <p:nvPr/>
        </p:nvSpPr>
        <p:spPr>
          <a:xfrm>
            <a:off x="9601200" y="1481328"/>
            <a:ext cx="2743200" cy="274320"/>
          </a:xfrm>
          <a:prstGeom prst="rect">
            <a:avLst/>
          </a:prstGeom>
          <a:noFill/>
          <a:ln/>
        </p:spPr>
        <p:txBody>
          <a:bodyPr wrap="square" lIns="0" tIns="0" rIns="0" bIns="0" rtlCol="0" anchor="ctr"/>
          <a:lstStyle/>
          <a:p>
            <a:pPr indent="0" marL="0">
              <a:buNone/>
            </a:pPr>
            <a:r>
              <a:rPr lang="en-US" sz="1300" b="1" spc="200" kern="0" dirty="0">
                <a:solidFill>
                  <a:srgbClr val="6E6E7A"/>
                </a:solidFill>
                <a:latin typeface="Calibri" pitchFamily="34" charset="0"/>
                <a:ea typeface="Calibri" pitchFamily="34" charset="-122"/>
                <a:cs typeface="Calibri" pitchFamily="34" charset="-120"/>
              </a:rPr>
              <a:t>IN MEMORY</a:t>
            </a:r>
            <a:endParaRPr lang="en-US" sz="1300" dirty="0"/>
          </a:p>
        </p:txBody>
      </p:sp>
      <p:sp>
        <p:nvSpPr>
          <p:cNvPr id="9" name="code"/>
          <p:cNvSpPr/>
          <p:nvPr/>
        </p:nvSpPr>
        <p:spPr>
          <a:xfrm>
            <a:off x="548640" y="1874520"/>
            <a:ext cx="5577840" cy="868680"/>
          </a:xfrm>
          <a:prstGeom prst="roundRect">
            <a:avLst>
              <a:gd name="adj" fmla="val 8421"/>
            </a:avLst>
          </a:prstGeom>
          <a:solidFill>
            <a:srgbClr val="111115"/>
          </a:solidFill>
          <a:ln w="15875">
            <a:solidFill>
              <a:srgbClr val="3A3A44"/>
            </a:solidFill>
            <a:prstDash val="solid"/>
          </a:ln>
        </p:spPr>
      </p:sp>
      <p:sp>
        <p:nvSpPr>
          <p:cNvPr id="10" name="Text 6"/>
          <p:cNvSpPr txBox="1"/>
          <p:nvPr/>
        </p:nvSpPr>
        <p:spPr>
          <a:xfrm>
            <a:off x="658368" y="2075688"/>
            <a:ext cx="274320" cy="544830"/>
          </a:xfrm>
          <a:prstGeom prst="rect">
            <a:avLst/>
          </a:prstGeom>
          <a:noFill/>
          <a:ln/>
        </p:spPr>
        <p:txBody>
          <a:bodyPr wrap="square" lIns="0" tIns="0" rIns="0" bIns="0" rtlCol="0" anchor="ctr"/>
          <a:lstStyle/>
          <a:p>
            <a:pPr algn="r" indent="0" marL="0">
              <a:buNone/>
            </a:pPr>
            <a:r>
              <a:rPr lang="en-US" sz="2200" dirty="0">
                <a:solidFill>
                  <a:srgbClr val="6E6E7A"/>
                </a:solidFill>
                <a:latin typeface="Consolas" pitchFamily="34" charset="0"/>
                <a:ea typeface="Consolas" pitchFamily="34" charset="-122"/>
                <a:cs typeface="Consolas" pitchFamily="34" charset="-120"/>
              </a:rPr>
              <a:t>1</a:t>
            </a:r>
            <a:endParaRPr lang="en-US" sz="2200" dirty="0"/>
          </a:p>
        </p:txBody>
      </p:sp>
      <p:sp>
        <p:nvSpPr>
          <p:cNvPr id="11" name="Text 7"/>
          <p:cNvSpPr txBox="1"/>
          <p:nvPr/>
        </p:nvSpPr>
        <p:spPr>
          <a:xfrm>
            <a:off x="1188720" y="2075688"/>
            <a:ext cx="4846320" cy="544830"/>
          </a:xfrm>
          <a:prstGeom prst="rect">
            <a:avLst/>
          </a:prstGeom>
          <a:noFill/>
          <a:ln/>
        </p:spPr>
        <p:txBody>
          <a:bodyPr wrap="square" lIns="0" tIns="0" rIns="0" bIns="0" rtlCol="0" anchor="ctr"/>
          <a:lstStyle/>
          <a:p>
            <a:pPr indent="0" marL="0">
              <a:buNone/>
            </a:pPr>
            <a:r>
              <a:rPr lang="en-US" sz="2600" dirty="0">
                <a:solidFill>
                  <a:srgbClr val="F5F5F3"/>
                </a:solidFill>
                <a:latin typeface="Consolas" pitchFamily="34" charset="0"/>
                <a:ea typeface="Consolas" pitchFamily="34" charset="-122"/>
                <a:cs typeface="Consolas" pitchFamily="34" charset="-120"/>
              </a:rPr>
              <a:t>name</a:t>
            </a:r>
            <a:pPr indent="0" marL="0">
              <a:buNone/>
            </a:pPr>
            <a:r>
              <a:rPr lang="en-US" sz="2600" dirty="0">
                <a:solidFill>
                  <a:srgbClr val="F5F5F3"/>
                </a:solidFill>
                <a:latin typeface="Consolas" pitchFamily="34" charset="0"/>
                <a:ea typeface="Consolas" pitchFamily="34" charset="-122"/>
                <a:cs typeface="Consolas" pitchFamily="34" charset="-120"/>
              </a:rPr>
              <a:t> </a:t>
            </a:r>
            <a:pPr indent="0" marL="0">
              <a:buNone/>
            </a:pPr>
            <a:r>
              <a:rPr lang="en-US" sz="2600" dirty="0">
                <a:solidFill>
                  <a:srgbClr val="A9A9B4"/>
                </a:solidFill>
                <a:latin typeface="Consolas" pitchFamily="34" charset="0"/>
                <a:ea typeface="Consolas" pitchFamily="34" charset="-122"/>
                <a:cs typeface="Consolas" pitchFamily="34" charset="-120"/>
              </a:rPr>
              <a:t>=</a:t>
            </a:r>
            <a:pPr indent="0" marL="0">
              <a:buNone/>
            </a:pPr>
            <a:r>
              <a:rPr lang="en-US" sz="2600" dirty="0">
                <a:solidFill>
                  <a:srgbClr val="F5F5F3"/>
                </a:solidFill>
                <a:latin typeface="Consolas" pitchFamily="34" charset="0"/>
                <a:ea typeface="Consolas" pitchFamily="34" charset="-122"/>
                <a:cs typeface="Consolas" pitchFamily="34" charset="-120"/>
              </a:rPr>
              <a:t> </a:t>
            </a:r>
            <a:pPr indent="0" marL="0">
              <a:buNone/>
            </a:pPr>
            <a:r>
              <a:rPr lang="en-US" sz="2600" dirty="0">
                <a:solidFill>
                  <a:srgbClr val="E8C878"/>
                </a:solidFill>
                <a:latin typeface="Consolas" pitchFamily="34" charset="0"/>
                <a:ea typeface="Consolas" pitchFamily="34" charset="-122"/>
                <a:cs typeface="Consolas" pitchFamily="34" charset="-120"/>
              </a:rPr>
              <a:t>input</a:t>
            </a:r>
            <a:pPr indent="0" marL="0">
              <a:buNone/>
            </a:pPr>
            <a:r>
              <a:rPr lang="en-US" sz="2600" dirty="0">
                <a:solidFill>
                  <a:srgbClr val="A9A9B4"/>
                </a:solidFill>
                <a:latin typeface="Consolas" pitchFamily="34" charset="0"/>
                <a:ea typeface="Consolas" pitchFamily="34" charset="-122"/>
                <a:cs typeface="Consolas" pitchFamily="34" charset="-120"/>
              </a:rPr>
              <a:t>(</a:t>
            </a:r>
            <a:pPr indent="0" marL="0">
              <a:buNone/>
            </a:pPr>
            <a:r>
              <a:rPr lang="en-US" sz="2600" dirty="0">
                <a:solidFill>
                  <a:srgbClr val="E69F00"/>
                </a:solidFill>
                <a:latin typeface="Consolas" pitchFamily="34" charset="0"/>
                <a:ea typeface="Consolas" pitchFamily="34" charset="-122"/>
                <a:cs typeface="Consolas" pitchFamily="34" charset="-120"/>
              </a:rPr>
              <a:t>"Name? "</a:t>
            </a:r>
            <a:pPr indent="0" marL="0">
              <a:buNone/>
            </a:pPr>
            <a:r>
              <a:rPr lang="en-US" sz="2600" dirty="0">
                <a:solidFill>
                  <a:srgbClr val="A9A9B4"/>
                </a:solidFill>
                <a:latin typeface="Consolas" pitchFamily="34" charset="0"/>
                <a:ea typeface="Consolas" pitchFamily="34" charset="-122"/>
                <a:cs typeface="Consolas" pitchFamily="34" charset="-120"/>
              </a:rPr>
              <a:t>)</a:t>
            </a:r>
            <a:endParaRPr lang="en-US" sz="2600" dirty="0"/>
          </a:p>
        </p:txBody>
      </p:sp>
      <p:sp>
        <p:nvSpPr>
          <p:cNvPr id="12" name="Text 8"/>
          <p:cNvSpPr txBox="1"/>
          <p:nvPr/>
        </p:nvSpPr>
        <p:spPr>
          <a:xfrm>
            <a:off x="640080" y="2880360"/>
            <a:ext cx="5394960" cy="868680"/>
          </a:xfrm>
          <a:prstGeom prst="rect">
            <a:avLst/>
          </a:prstGeom>
          <a:noFill/>
          <a:ln/>
        </p:spPr>
        <p:txBody>
          <a:bodyPr wrap="square" lIns="0" tIns="0" rIns="0" bIns="0" rtlCol="0" anchor="t"/>
          <a:lstStyle/>
          <a:p>
            <a:pPr indent="0" marL="0">
              <a:buNone/>
            </a:pPr>
            <a:r>
              <a:rPr lang="en-US" sz="2000" b="1" dirty="0">
                <a:solidFill>
                  <a:srgbClr val="D8A73D"/>
                </a:solidFill>
                <a:latin typeface="Calibri" pitchFamily="34" charset="0"/>
                <a:ea typeface="Calibri" pitchFamily="34" charset="-122"/>
                <a:cs typeface="Calibri" pitchFamily="34" charset="-120"/>
              </a:rPr>
              <a:t>Asks</a:t>
            </a:r>
            <a:pPr indent="0" marL="0">
              <a:buNone/>
            </a:pPr>
            <a:r>
              <a:rPr lang="en-US" sz="2000" dirty="0">
                <a:solidFill>
                  <a:srgbClr val="F5F5F3"/>
                </a:solidFill>
                <a:latin typeface="Calibri" pitchFamily="34" charset="0"/>
                <a:ea typeface="Calibri" pitchFamily="34" charset="-122"/>
                <a:cs typeface="Calibri" pitchFamily="34" charset="-120"/>
              </a:rPr>
              <a:t> the question and waits. Then </a:t>
            </a:r>
            <a:pPr indent="0" marL="0">
              <a:buNone/>
            </a:pPr>
            <a:r>
              <a:rPr lang="en-US" sz="2000" b="1" dirty="0">
                <a:solidFill>
                  <a:srgbClr val="D8A73D"/>
                </a:solidFill>
                <a:latin typeface="Calibri" pitchFamily="34" charset="0"/>
                <a:ea typeface="Calibri" pitchFamily="34" charset="-122"/>
                <a:cs typeface="Calibri" pitchFamily="34" charset="-120"/>
              </a:rPr>
              <a:t>stores</a:t>
            </a:r>
            <a:pPr indent="0" marL="0">
              <a:buNone/>
            </a:pPr>
            <a:r>
              <a:rPr lang="en-US" sz="2000" dirty="0">
                <a:solidFill>
                  <a:srgbClr val="F5F5F3"/>
                </a:solidFill>
                <a:latin typeface="Calibri" pitchFamily="34" charset="0"/>
                <a:ea typeface="Calibri" pitchFamily="34" charset="-122"/>
                <a:cs typeface="Calibri" pitchFamily="34" charset="-120"/>
              </a:rPr>
              <a:t> what the user typed in </a:t>
            </a:r>
            <a:pPr indent="0" marL="0">
              <a:buNone/>
            </a:pPr>
            <a:r>
              <a:rPr lang="en-US" sz="2000" dirty="0">
                <a:solidFill>
                  <a:srgbClr val="F5F5F3"/>
                </a:solidFill>
                <a:latin typeface="Consolas" pitchFamily="34" charset="0"/>
                <a:ea typeface="Consolas" pitchFamily="34" charset="-122"/>
                <a:cs typeface="Consolas" pitchFamily="34" charset="-120"/>
              </a:rPr>
              <a:t>name</a:t>
            </a:r>
            <a:endParaRPr lang="en-US" sz="2000" dirty="0"/>
          </a:p>
        </p:txBody>
      </p:sp>
      <p:sp>
        <p:nvSpPr>
          <p:cNvPr id="13" name="terminal"/>
          <p:cNvSpPr/>
          <p:nvPr/>
        </p:nvSpPr>
        <p:spPr>
          <a:xfrm>
            <a:off x="6446520" y="1874520"/>
            <a:ext cx="2926080" cy="1325880"/>
          </a:xfrm>
          <a:prstGeom prst="roundRect">
            <a:avLst>
              <a:gd name="adj" fmla="val 5517"/>
            </a:avLst>
          </a:prstGeom>
          <a:solidFill>
            <a:srgbClr val="0A0A0D"/>
          </a:solidFill>
          <a:ln w="15875">
            <a:solidFill>
              <a:srgbClr val="3A3A44"/>
            </a:solidFill>
            <a:prstDash val="solid"/>
          </a:ln>
        </p:spPr>
      </p:sp>
      <p:sp>
        <p:nvSpPr>
          <p:cNvPr id="14" name="Text 10"/>
          <p:cNvSpPr txBox="1"/>
          <p:nvPr/>
        </p:nvSpPr>
        <p:spPr>
          <a:xfrm>
            <a:off x="6675120" y="2103120"/>
            <a:ext cx="2468880" cy="447040"/>
          </a:xfrm>
          <a:prstGeom prst="rect">
            <a:avLst/>
          </a:prstGeom>
          <a:noFill/>
          <a:ln/>
        </p:spPr>
        <p:txBody>
          <a:bodyPr wrap="square" lIns="0" tIns="0" rIns="0" bIns="0" rtlCol="0" anchor="ctr"/>
          <a:lstStyle/>
          <a:p>
            <a:pPr indent="0" marL="0">
              <a:buNone/>
            </a:pPr>
            <a:r>
              <a:rPr lang="en-US" sz="2200" dirty="0">
                <a:solidFill>
                  <a:srgbClr val="F5F5F3"/>
                </a:solidFill>
                <a:latin typeface="Consolas" pitchFamily="34" charset="0"/>
                <a:ea typeface="Consolas" pitchFamily="34" charset="-122"/>
                <a:cs typeface="Consolas" pitchFamily="34" charset="-120"/>
              </a:rPr>
              <a:t>Name? </a:t>
            </a:r>
            <a:pPr indent="0" marL="0">
              <a:buNone/>
            </a:pPr>
            <a:r>
              <a:rPr lang="en-US" sz="2200" b="1" dirty="0">
                <a:solidFill>
                  <a:srgbClr val="E69F00"/>
                </a:solidFill>
                <a:latin typeface="Consolas" pitchFamily="34" charset="0"/>
                <a:ea typeface="Consolas" pitchFamily="34" charset="-122"/>
                <a:cs typeface="Consolas" pitchFamily="34" charset="-120"/>
              </a:rPr>
              <a:t>Riley</a:t>
            </a:r>
            <a:endParaRPr lang="en-US" sz="2200" dirty="0"/>
          </a:p>
        </p:txBody>
      </p:sp>
      <p:sp>
        <p:nvSpPr>
          <p:cNvPr id="15" name="Text 11"/>
          <p:cNvSpPr txBox="1"/>
          <p:nvPr/>
        </p:nvSpPr>
        <p:spPr>
          <a:xfrm>
            <a:off x="6446520" y="3291840"/>
            <a:ext cx="2926080" cy="320040"/>
          </a:xfrm>
          <a:prstGeom prst="rect">
            <a:avLst/>
          </a:prstGeom>
          <a:noFill/>
          <a:ln/>
        </p:spPr>
        <p:txBody>
          <a:bodyPr wrap="square" lIns="0" tIns="0" rIns="0" bIns="0" rtlCol="0" anchor="ctr"/>
          <a:lstStyle/>
          <a:p>
            <a:pPr indent="0" marL="0">
              <a:buNone/>
            </a:pPr>
            <a:r>
              <a:rPr lang="en-US" sz="1400" i="1" dirty="0">
                <a:solidFill>
                  <a:srgbClr val="A9A9B4"/>
                </a:solidFill>
                <a:latin typeface="Calibri" pitchFamily="34" charset="0"/>
                <a:ea typeface="Calibri" pitchFamily="34" charset="-122"/>
                <a:cs typeface="Calibri" pitchFamily="34" charset="-120"/>
              </a:rPr>
              <a:t>The user typed Riley</a:t>
            </a:r>
            <a:endParaRPr lang="en-US" sz="1400" dirty="0"/>
          </a:p>
        </p:txBody>
      </p:sp>
      <p:sp>
        <p:nvSpPr>
          <p:cNvPr id="16" name="Shape 12"/>
          <p:cNvSpPr/>
          <p:nvPr/>
        </p:nvSpPr>
        <p:spPr>
          <a:xfrm>
            <a:off x="9601200" y="2148840"/>
            <a:ext cx="2039112" cy="868680"/>
          </a:xfrm>
          <a:prstGeom prst="roundRect">
            <a:avLst>
              <a:gd name="adj" fmla="val 6316"/>
            </a:avLst>
          </a:prstGeom>
          <a:solidFill>
            <a:srgbClr val="111115"/>
          </a:solidFill>
          <a:ln w="25400">
            <a:solidFill>
              <a:srgbClr val="E69F00"/>
            </a:solidFill>
            <a:prstDash val="solid"/>
          </a:ln>
        </p:spPr>
      </p:sp>
      <p:sp>
        <p:nvSpPr>
          <p:cNvPr id="17" name="Shape 13"/>
          <p:cNvSpPr/>
          <p:nvPr/>
        </p:nvSpPr>
        <p:spPr>
          <a:xfrm>
            <a:off x="9738360" y="1965960"/>
            <a:ext cx="1481328" cy="347472"/>
          </a:xfrm>
          <a:prstGeom prst="roundRect">
            <a:avLst>
              <a:gd name="adj" fmla="val 13158"/>
            </a:avLst>
          </a:prstGeom>
          <a:solidFill>
            <a:srgbClr val="E69F00"/>
          </a:solidFill>
          <a:ln/>
        </p:spPr>
      </p:sp>
      <p:sp>
        <p:nvSpPr>
          <p:cNvPr id="18" name="Text 14"/>
          <p:cNvSpPr txBox="1"/>
          <p:nvPr/>
        </p:nvSpPr>
        <p:spPr>
          <a:xfrm>
            <a:off x="9738360" y="1965960"/>
            <a:ext cx="1481328" cy="347472"/>
          </a:xfrm>
          <a:prstGeom prst="rect">
            <a:avLst/>
          </a:prstGeom>
          <a:noFill/>
          <a:ln/>
        </p:spPr>
        <p:txBody>
          <a:bodyPr wrap="square" lIns="0" tIns="0" rIns="0" bIns="0" rtlCol="0" anchor="ctr"/>
          <a:lstStyle/>
          <a:p>
            <a:pPr algn="ctr" indent="0" marL="0">
              <a:buNone/>
            </a:pPr>
            <a:r>
              <a:rPr lang="en-US" sz="1400" b="1" dirty="0">
                <a:solidFill>
                  <a:srgbClr val="111115"/>
                </a:solidFill>
                <a:latin typeface="Consolas" pitchFamily="34" charset="0"/>
                <a:ea typeface="Consolas" pitchFamily="34" charset="-122"/>
                <a:cs typeface="Consolas" pitchFamily="34" charset="-120"/>
              </a:rPr>
              <a:t>name  ·  str</a:t>
            </a:r>
            <a:endParaRPr lang="en-US" sz="1400" dirty="0"/>
          </a:p>
        </p:txBody>
      </p:sp>
      <p:sp>
        <p:nvSpPr>
          <p:cNvPr id="19" name="Text 15"/>
          <p:cNvSpPr txBox="1"/>
          <p:nvPr/>
        </p:nvSpPr>
        <p:spPr>
          <a:xfrm>
            <a:off x="9692640" y="2331720"/>
            <a:ext cx="1856232" cy="640080"/>
          </a:xfrm>
          <a:prstGeom prst="rect">
            <a:avLst/>
          </a:prstGeom>
          <a:noFill/>
          <a:ln/>
        </p:spPr>
        <p:txBody>
          <a:bodyPr wrap="square" lIns="0" tIns="0" rIns="0" bIns="0" rtlCol="0" anchor="ctr"/>
          <a:lstStyle/>
          <a:p>
            <a:pPr algn="ctr" indent="0" marL="0">
              <a:buNone/>
            </a:pPr>
            <a:r>
              <a:rPr lang="en-US" sz="2400" dirty="0">
                <a:solidFill>
                  <a:srgbClr val="F5F5F3"/>
                </a:solidFill>
                <a:latin typeface="Consolas" pitchFamily="34" charset="0"/>
                <a:ea typeface="Consolas" pitchFamily="34" charset="-122"/>
                <a:cs typeface="Consolas" pitchFamily="34" charset="-120"/>
              </a:rPr>
              <a:t>"Riley"</a:t>
            </a:r>
            <a:endParaRPr lang="en-US" sz="2400" dirty="0"/>
          </a:p>
        </p:txBody>
      </p:sp>
      <p:sp>
        <p:nvSpPr>
          <p:cNvPr id="20" name="Shape 16"/>
          <p:cNvSpPr/>
          <p:nvPr/>
        </p:nvSpPr>
        <p:spPr>
          <a:xfrm>
            <a:off x="548640" y="3977640"/>
            <a:ext cx="11091672" cy="0"/>
          </a:xfrm>
          <a:prstGeom prst="line">
            <a:avLst/>
          </a:prstGeom>
          <a:noFill/>
          <a:ln w="12700">
            <a:solidFill>
              <a:srgbClr val="3A3A44"/>
            </a:solidFill>
            <a:prstDash val="solid"/>
          </a:ln>
        </p:spPr>
      </p:sp>
      <p:sp>
        <p:nvSpPr>
          <p:cNvPr id="21" name="code"/>
          <p:cNvSpPr/>
          <p:nvPr/>
        </p:nvSpPr>
        <p:spPr>
          <a:xfrm>
            <a:off x="548640" y="4069080"/>
            <a:ext cx="5577840" cy="868680"/>
          </a:xfrm>
          <a:prstGeom prst="roundRect">
            <a:avLst>
              <a:gd name="adj" fmla="val 8421"/>
            </a:avLst>
          </a:prstGeom>
          <a:solidFill>
            <a:srgbClr val="111115"/>
          </a:solidFill>
          <a:ln w="15875">
            <a:solidFill>
              <a:srgbClr val="3A3A44"/>
            </a:solidFill>
            <a:prstDash val="solid"/>
          </a:ln>
        </p:spPr>
      </p:sp>
      <p:sp>
        <p:nvSpPr>
          <p:cNvPr id="22" name="Text 18"/>
          <p:cNvSpPr txBox="1"/>
          <p:nvPr/>
        </p:nvSpPr>
        <p:spPr>
          <a:xfrm>
            <a:off x="658368" y="4270248"/>
            <a:ext cx="274320" cy="544830"/>
          </a:xfrm>
          <a:prstGeom prst="rect">
            <a:avLst/>
          </a:prstGeom>
          <a:noFill/>
          <a:ln/>
        </p:spPr>
        <p:txBody>
          <a:bodyPr wrap="square" lIns="0" tIns="0" rIns="0" bIns="0" rtlCol="0" anchor="ctr"/>
          <a:lstStyle/>
          <a:p>
            <a:pPr algn="r" indent="0" marL="0">
              <a:buNone/>
            </a:pPr>
            <a:r>
              <a:rPr lang="en-US" sz="2200" dirty="0">
                <a:solidFill>
                  <a:srgbClr val="6E6E7A"/>
                </a:solidFill>
                <a:latin typeface="Consolas" pitchFamily="34" charset="0"/>
                <a:ea typeface="Consolas" pitchFamily="34" charset="-122"/>
                <a:cs typeface="Consolas" pitchFamily="34" charset="-120"/>
              </a:rPr>
              <a:t>2</a:t>
            </a:r>
            <a:endParaRPr lang="en-US" sz="2200" dirty="0"/>
          </a:p>
        </p:txBody>
      </p:sp>
      <p:sp>
        <p:nvSpPr>
          <p:cNvPr id="23" name="Text 19"/>
          <p:cNvSpPr txBox="1"/>
          <p:nvPr/>
        </p:nvSpPr>
        <p:spPr>
          <a:xfrm>
            <a:off x="1188720" y="4270248"/>
            <a:ext cx="4846320" cy="544830"/>
          </a:xfrm>
          <a:prstGeom prst="rect">
            <a:avLst/>
          </a:prstGeom>
          <a:noFill/>
          <a:ln/>
        </p:spPr>
        <p:txBody>
          <a:bodyPr wrap="square" lIns="0" tIns="0" rIns="0" bIns="0" rtlCol="0" anchor="ctr"/>
          <a:lstStyle/>
          <a:p>
            <a:pPr indent="0" marL="0">
              <a:buNone/>
            </a:pPr>
            <a:r>
              <a:rPr lang="en-US" sz="2600" dirty="0">
                <a:solidFill>
                  <a:srgbClr val="E8C878"/>
                </a:solidFill>
                <a:latin typeface="Consolas" pitchFamily="34" charset="0"/>
                <a:ea typeface="Consolas" pitchFamily="34" charset="-122"/>
                <a:cs typeface="Consolas" pitchFamily="34" charset="-120"/>
              </a:rPr>
              <a:t>print</a:t>
            </a:r>
            <a:pPr indent="0" marL="0">
              <a:buNone/>
            </a:pPr>
            <a:r>
              <a:rPr lang="en-US" sz="2600" dirty="0">
                <a:solidFill>
                  <a:srgbClr val="A9A9B4"/>
                </a:solidFill>
                <a:latin typeface="Consolas" pitchFamily="34" charset="0"/>
                <a:ea typeface="Consolas" pitchFamily="34" charset="-122"/>
                <a:cs typeface="Consolas" pitchFamily="34" charset="-120"/>
              </a:rPr>
              <a:t>(</a:t>
            </a:r>
            <a:pPr indent="0" marL="0">
              <a:buNone/>
            </a:pPr>
            <a:r>
              <a:rPr lang="en-US" sz="2600" dirty="0">
                <a:solidFill>
                  <a:srgbClr val="E69F00"/>
                </a:solidFill>
                <a:latin typeface="Consolas" pitchFamily="34" charset="0"/>
                <a:ea typeface="Consolas" pitchFamily="34" charset="-122"/>
                <a:cs typeface="Consolas" pitchFamily="34" charset="-120"/>
              </a:rPr>
              <a:t>"Hi "</a:t>
            </a:r>
            <a:pPr indent="0" marL="0">
              <a:buNone/>
            </a:pPr>
            <a:r>
              <a:rPr lang="en-US" sz="2600" dirty="0">
                <a:solidFill>
                  <a:srgbClr val="F5F5F3"/>
                </a:solidFill>
                <a:latin typeface="Consolas" pitchFamily="34" charset="0"/>
                <a:ea typeface="Consolas" pitchFamily="34" charset="-122"/>
                <a:cs typeface="Consolas" pitchFamily="34" charset="-120"/>
              </a:rPr>
              <a:t> </a:t>
            </a:r>
            <a:pPr indent="0" marL="0">
              <a:buNone/>
            </a:pPr>
            <a:r>
              <a:rPr lang="en-US" sz="2600" dirty="0">
                <a:solidFill>
                  <a:srgbClr val="A9A9B4"/>
                </a:solidFill>
                <a:latin typeface="Consolas" pitchFamily="34" charset="0"/>
                <a:ea typeface="Consolas" pitchFamily="34" charset="-122"/>
                <a:cs typeface="Consolas" pitchFamily="34" charset="-120"/>
              </a:rPr>
              <a:t>+</a:t>
            </a:r>
            <a:pPr indent="0" marL="0">
              <a:buNone/>
            </a:pPr>
            <a:r>
              <a:rPr lang="en-US" sz="2600" dirty="0">
                <a:solidFill>
                  <a:srgbClr val="F5F5F3"/>
                </a:solidFill>
                <a:latin typeface="Consolas" pitchFamily="34" charset="0"/>
                <a:ea typeface="Consolas" pitchFamily="34" charset="-122"/>
                <a:cs typeface="Consolas" pitchFamily="34" charset="-120"/>
              </a:rPr>
              <a:t> </a:t>
            </a:r>
            <a:pPr indent="0" marL="0">
              <a:buNone/>
            </a:pPr>
            <a:r>
              <a:rPr lang="en-US" sz="2600" dirty="0">
                <a:solidFill>
                  <a:srgbClr val="F5F5F3"/>
                </a:solidFill>
                <a:latin typeface="Consolas" pitchFamily="34" charset="0"/>
                <a:ea typeface="Consolas" pitchFamily="34" charset="-122"/>
                <a:cs typeface="Consolas" pitchFamily="34" charset="-120"/>
              </a:rPr>
              <a:t>name</a:t>
            </a:r>
            <a:pPr indent="0" marL="0">
              <a:buNone/>
            </a:pPr>
            <a:r>
              <a:rPr lang="en-US" sz="2600" dirty="0">
                <a:solidFill>
                  <a:srgbClr val="A9A9B4"/>
                </a:solidFill>
                <a:latin typeface="Consolas" pitchFamily="34" charset="0"/>
                <a:ea typeface="Consolas" pitchFamily="34" charset="-122"/>
                <a:cs typeface="Consolas" pitchFamily="34" charset="-120"/>
              </a:rPr>
              <a:t>)</a:t>
            </a:r>
            <a:endParaRPr lang="en-US" sz="2600" dirty="0"/>
          </a:p>
        </p:txBody>
      </p:sp>
      <p:sp>
        <p:nvSpPr>
          <p:cNvPr id="24" name="Text 20"/>
          <p:cNvSpPr txBox="1"/>
          <p:nvPr/>
        </p:nvSpPr>
        <p:spPr>
          <a:xfrm>
            <a:off x="640080" y="5074920"/>
            <a:ext cx="5394960" cy="868680"/>
          </a:xfrm>
          <a:prstGeom prst="rect">
            <a:avLst/>
          </a:prstGeom>
          <a:noFill/>
          <a:ln/>
        </p:spPr>
        <p:txBody>
          <a:bodyPr wrap="square" lIns="0" tIns="0" rIns="0" bIns="0" rtlCol="0" anchor="t"/>
          <a:lstStyle/>
          <a:p>
            <a:pPr indent="0" marL="0">
              <a:buNone/>
            </a:pPr>
            <a:r>
              <a:rPr lang="en-US" sz="2000" b="1" dirty="0">
                <a:solidFill>
                  <a:srgbClr val="D8A73D"/>
                </a:solidFill>
                <a:latin typeface="Calibri" pitchFamily="34" charset="0"/>
                <a:ea typeface="Calibri" pitchFamily="34" charset="-122"/>
                <a:cs typeface="Calibri" pitchFamily="34" charset="-120"/>
              </a:rPr>
              <a:t>Joins</a:t>
            </a:r>
            <a:pPr indent="0" marL="0">
              <a:buNone/>
            </a:pPr>
            <a:r>
              <a:rPr lang="en-US" sz="2000" dirty="0">
                <a:solidFill>
                  <a:srgbClr val="F5F5F3"/>
                </a:solidFill>
                <a:latin typeface="Calibri" pitchFamily="34" charset="0"/>
                <a:ea typeface="Calibri" pitchFamily="34" charset="-122"/>
                <a:cs typeface="Calibri" pitchFamily="34" charset="-120"/>
              </a:rPr>
              <a:t> "Hi " to what’s in </a:t>
            </a:r>
            <a:pPr indent="0" marL="0">
              <a:buNone/>
            </a:pPr>
            <a:r>
              <a:rPr lang="en-US" sz="2000" dirty="0">
                <a:solidFill>
                  <a:srgbClr val="F5F5F3"/>
                </a:solidFill>
                <a:latin typeface="Consolas" pitchFamily="34" charset="0"/>
                <a:ea typeface="Consolas" pitchFamily="34" charset="-122"/>
                <a:cs typeface="Consolas" pitchFamily="34" charset="-120"/>
              </a:rPr>
              <a:t>name</a:t>
            </a:r>
            <a:pPr indent="0" marL="0">
              <a:buNone/>
            </a:pPr>
            <a:r>
              <a:rPr lang="en-US" sz="2000" dirty="0">
                <a:solidFill>
                  <a:srgbClr val="F5F5F3"/>
                </a:solidFill>
                <a:latin typeface="Calibri" pitchFamily="34" charset="0"/>
                <a:ea typeface="Calibri" pitchFamily="34" charset="-122"/>
                <a:cs typeface="Calibri" pitchFamily="34" charset="-120"/>
              </a:rPr>
              <a:t>, then </a:t>
            </a:r>
            <a:pPr indent="0" marL="0">
              <a:buNone/>
            </a:pPr>
            <a:r>
              <a:rPr lang="en-US" sz="2000" b="1" dirty="0">
                <a:solidFill>
                  <a:srgbClr val="D8A73D"/>
                </a:solidFill>
                <a:latin typeface="Calibri" pitchFamily="34" charset="0"/>
                <a:ea typeface="Calibri" pitchFamily="34" charset="-122"/>
                <a:cs typeface="Calibri" pitchFamily="34" charset="-120"/>
              </a:rPr>
              <a:t>prints</a:t>
            </a:r>
            <a:pPr indent="0" marL="0">
              <a:buNone/>
            </a:pPr>
            <a:r>
              <a:rPr lang="en-US" sz="2000" dirty="0">
                <a:solidFill>
                  <a:srgbClr val="F5F5F3"/>
                </a:solidFill>
                <a:latin typeface="Calibri" pitchFamily="34" charset="0"/>
                <a:ea typeface="Calibri" pitchFamily="34" charset="-122"/>
                <a:cs typeface="Calibri" pitchFamily="34" charset="-120"/>
              </a:rPr>
              <a:t> it</a:t>
            </a:r>
            <a:endParaRPr lang="en-US" sz="2000" dirty="0"/>
          </a:p>
        </p:txBody>
      </p:sp>
      <p:sp>
        <p:nvSpPr>
          <p:cNvPr id="25" name="terminal"/>
          <p:cNvSpPr/>
          <p:nvPr/>
        </p:nvSpPr>
        <p:spPr>
          <a:xfrm>
            <a:off x="6446520" y="4069080"/>
            <a:ext cx="2926080" cy="1325880"/>
          </a:xfrm>
          <a:prstGeom prst="roundRect">
            <a:avLst>
              <a:gd name="adj" fmla="val 5517"/>
            </a:avLst>
          </a:prstGeom>
          <a:solidFill>
            <a:srgbClr val="0A0A0D"/>
          </a:solidFill>
          <a:ln w="15875">
            <a:solidFill>
              <a:srgbClr val="3A3A44"/>
            </a:solidFill>
            <a:prstDash val="solid"/>
          </a:ln>
        </p:spPr>
      </p:sp>
      <p:sp>
        <p:nvSpPr>
          <p:cNvPr id="26" name="Text 22"/>
          <p:cNvSpPr txBox="1"/>
          <p:nvPr/>
        </p:nvSpPr>
        <p:spPr>
          <a:xfrm>
            <a:off x="6675120" y="4297680"/>
            <a:ext cx="2468880" cy="447040"/>
          </a:xfrm>
          <a:prstGeom prst="rect">
            <a:avLst/>
          </a:prstGeom>
          <a:noFill/>
          <a:ln/>
        </p:spPr>
        <p:txBody>
          <a:bodyPr wrap="square" lIns="0" tIns="0" rIns="0" bIns="0" rtlCol="0" anchor="ctr"/>
          <a:lstStyle/>
          <a:p>
            <a:pPr indent="0" marL="0">
              <a:buNone/>
            </a:pPr>
            <a:r>
              <a:rPr lang="en-US" sz="2200" dirty="0">
                <a:solidFill>
                  <a:srgbClr val="6E6E7A"/>
                </a:solidFill>
                <a:latin typeface="Consolas" pitchFamily="34" charset="0"/>
                <a:ea typeface="Consolas" pitchFamily="34" charset="-122"/>
                <a:cs typeface="Consolas" pitchFamily="34" charset="-120"/>
              </a:rPr>
              <a:t>Name? Riley</a:t>
            </a:r>
            <a:endParaRPr lang="en-US" sz="2200" dirty="0"/>
          </a:p>
        </p:txBody>
      </p:sp>
      <p:sp>
        <p:nvSpPr>
          <p:cNvPr id="27" name="Text 23"/>
          <p:cNvSpPr txBox="1"/>
          <p:nvPr/>
        </p:nvSpPr>
        <p:spPr>
          <a:xfrm>
            <a:off x="6675120" y="4744720"/>
            <a:ext cx="2468880" cy="447040"/>
          </a:xfrm>
          <a:prstGeom prst="rect">
            <a:avLst/>
          </a:prstGeom>
          <a:noFill/>
          <a:ln/>
        </p:spPr>
        <p:txBody>
          <a:bodyPr wrap="square" lIns="0" tIns="0" rIns="0" bIns="0" rtlCol="0" anchor="ctr"/>
          <a:lstStyle/>
          <a:p>
            <a:pPr indent="0" marL="0">
              <a:buNone/>
            </a:pPr>
            <a:r>
              <a:rPr lang="en-US" sz="2200" b="1" dirty="0">
                <a:solidFill>
                  <a:srgbClr val="F5F5F3"/>
                </a:solidFill>
                <a:latin typeface="Consolas" pitchFamily="34" charset="0"/>
                <a:ea typeface="Consolas" pitchFamily="34" charset="-122"/>
                <a:cs typeface="Consolas" pitchFamily="34" charset="-120"/>
              </a:rPr>
              <a:t>Hi Riley</a:t>
            </a:r>
            <a:endParaRPr lang="en-US" sz="2200" dirty="0"/>
          </a:p>
        </p:txBody>
      </p:sp>
      <p:sp>
        <p:nvSpPr>
          <p:cNvPr id="28" name="Shape 24"/>
          <p:cNvSpPr/>
          <p:nvPr/>
        </p:nvSpPr>
        <p:spPr>
          <a:xfrm>
            <a:off x="9601200" y="4343400"/>
            <a:ext cx="2039112" cy="868680"/>
          </a:xfrm>
          <a:prstGeom prst="roundRect">
            <a:avLst>
              <a:gd name="adj" fmla="val 6316"/>
            </a:avLst>
          </a:prstGeom>
          <a:solidFill>
            <a:srgbClr val="111115"/>
          </a:solidFill>
          <a:ln w="25400">
            <a:solidFill>
              <a:srgbClr val="E69F00"/>
            </a:solidFill>
            <a:prstDash val="solid"/>
          </a:ln>
        </p:spPr>
      </p:sp>
      <p:sp>
        <p:nvSpPr>
          <p:cNvPr id="29" name="Shape 25"/>
          <p:cNvSpPr/>
          <p:nvPr/>
        </p:nvSpPr>
        <p:spPr>
          <a:xfrm>
            <a:off x="9738360" y="4160520"/>
            <a:ext cx="1481328" cy="347472"/>
          </a:xfrm>
          <a:prstGeom prst="roundRect">
            <a:avLst>
              <a:gd name="adj" fmla="val 13158"/>
            </a:avLst>
          </a:prstGeom>
          <a:solidFill>
            <a:srgbClr val="E69F00"/>
          </a:solidFill>
          <a:ln/>
        </p:spPr>
      </p:sp>
      <p:sp>
        <p:nvSpPr>
          <p:cNvPr id="30" name="Text 26"/>
          <p:cNvSpPr txBox="1"/>
          <p:nvPr/>
        </p:nvSpPr>
        <p:spPr>
          <a:xfrm>
            <a:off x="9738360" y="4160520"/>
            <a:ext cx="1481328" cy="347472"/>
          </a:xfrm>
          <a:prstGeom prst="rect">
            <a:avLst/>
          </a:prstGeom>
          <a:noFill/>
          <a:ln/>
        </p:spPr>
        <p:txBody>
          <a:bodyPr wrap="square" lIns="0" tIns="0" rIns="0" bIns="0" rtlCol="0" anchor="ctr"/>
          <a:lstStyle/>
          <a:p>
            <a:pPr algn="ctr" indent="0" marL="0">
              <a:buNone/>
            </a:pPr>
            <a:r>
              <a:rPr lang="en-US" sz="1400" b="1" dirty="0">
                <a:solidFill>
                  <a:srgbClr val="111115"/>
                </a:solidFill>
                <a:latin typeface="Consolas" pitchFamily="34" charset="0"/>
                <a:ea typeface="Consolas" pitchFamily="34" charset="-122"/>
                <a:cs typeface="Consolas" pitchFamily="34" charset="-120"/>
              </a:rPr>
              <a:t>name  ·  str</a:t>
            </a:r>
            <a:endParaRPr lang="en-US" sz="1400" dirty="0"/>
          </a:p>
        </p:txBody>
      </p:sp>
      <p:sp>
        <p:nvSpPr>
          <p:cNvPr id="31" name="Text 27"/>
          <p:cNvSpPr txBox="1"/>
          <p:nvPr/>
        </p:nvSpPr>
        <p:spPr>
          <a:xfrm>
            <a:off x="9692640" y="4526280"/>
            <a:ext cx="1856232" cy="640080"/>
          </a:xfrm>
          <a:prstGeom prst="rect">
            <a:avLst/>
          </a:prstGeom>
          <a:noFill/>
          <a:ln/>
        </p:spPr>
        <p:txBody>
          <a:bodyPr wrap="square" lIns="0" tIns="0" rIns="0" bIns="0" rtlCol="0" anchor="ctr"/>
          <a:lstStyle/>
          <a:p>
            <a:pPr algn="ctr" indent="0" marL="0">
              <a:buNone/>
            </a:pPr>
            <a:r>
              <a:rPr lang="en-US" sz="2400" dirty="0">
                <a:solidFill>
                  <a:srgbClr val="F5F5F3"/>
                </a:solidFill>
                <a:latin typeface="Consolas" pitchFamily="34" charset="0"/>
                <a:ea typeface="Consolas" pitchFamily="34" charset="-122"/>
                <a:cs typeface="Consolas" pitchFamily="34" charset="-120"/>
              </a:rPr>
              <a:t>"Riley"</a:t>
            </a:r>
            <a:endParaRPr lang="en-US" sz="2400" dirty="0"/>
          </a:p>
        </p:txBody>
      </p:sp>
      <p:sp>
        <p:nvSpPr>
          <p:cNvPr id="32" name="Text 28"/>
          <p:cNvSpPr txBox="1"/>
          <p:nvPr/>
        </p:nvSpPr>
        <p:spPr>
          <a:xfrm>
            <a:off x="9601200" y="5303520"/>
            <a:ext cx="2039112" cy="320040"/>
          </a:xfrm>
          <a:prstGeom prst="rect">
            <a:avLst/>
          </a:prstGeom>
          <a:noFill/>
          <a:ln/>
        </p:spPr>
        <p:txBody>
          <a:bodyPr wrap="square" lIns="0" tIns="0" rIns="0" bIns="0" rtlCol="0" anchor="ctr"/>
          <a:lstStyle/>
          <a:p>
            <a:pPr indent="0" marL="0">
              <a:buNone/>
            </a:pPr>
            <a:r>
              <a:rPr lang="en-US" sz="1400" i="1" dirty="0">
                <a:solidFill>
                  <a:srgbClr val="A9A9B4"/>
                </a:solidFill>
                <a:latin typeface="Calibri" pitchFamily="34" charset="0"/>
                <a:ea typeface="Calibri" pitchFamily="34" charset="-122"/>
                <a:cs typeface="Calibri" pitchFamily="34" charset="-120"/>
              </a:rPr>
              <a:t>No change</a:t>
            </a:r>
            <a:endParaRPr lang="en-US" sz="1400" dirty="0"/>
          </a:p>
        </p:txBody>
      </p:sp>
      <p:pic>
        <p:nvPicPr>
          <p:cNvPr id="33" name="Image 2" descr="New information">    </p:cNvPr>
          <p:cNvPicPr>
            <a:picLocks noChangeAspect="1"/>
          </p:cNvPicPr>
          <p:nvPr/>
        </p:nvPicPr>
        <p:blipFill>
          <a:blip r:embed="rId3"/>
          <a:stretch>
            <a:fillRect/>
          </a:stretch>
        </p:blipFill>
        <p:spPr>
          <a:xfrm>
            <a:off x="10972800" y="384048"/>
            <a:ext cx="731520" cy="731520"/>
          </a:xfrm>
          <a:prstGeom prst="rect">
            <a:avLst/>
          </a:prstGeom>
        </p:spPr>
      </p:pic>
      <p:sp>
        <p:nvSpPr>
          <p:cNvPr id="34" name="Text 29"/>
          <p:cNvSpPr txBox="1"/>
          <p:nvPr/>
        </p:nvSpPr>
        <p:spPr>
          <a:xfrm>
            <a:off x="4206240" y="6355080"/>
            <a:ext cx="6812280" cy="320040"/>
          </a:xfrm>
          <a:prstGeom prst="rect">
            <a:avLst/>
          </a:prstGeom>
          <a:noFill/>
          <a:ln/>
        </p:spPr>
        <p:txBody>
          <a:bodyPr wrap="square" lIns="0" tIns="0" rIns="0" bIns="0" rtlCol="0" anchor="ctr"/>
          <a:lstStyle/>
          <a:p>
            <a:pPr algn="r" indent="0" marL="0">
              <a:buNone/>
            </a:pPr>
            <a:r>
              <a:rPr lang="en-US" sz="1300" b="1" i="1" dirty="0">
                <a:solidFill>
                  <a:srgbClr val="D8A73D"/>
                </a:solidFill>
                <a:latin typeface="Calibri" pitchFamily="34" charset="0"/>
                <a:ea typeface="Calibri" pitchFamily="34" charset="-122"/>
                <a:cs typeface="Calibri" pitchFamily="34" charset="-120"/>
              </a:rPr>
              <a:t>station('L5')  ·  Ch 5 The Drone: hull cracks, claw marks, red alarm</a:t>
            </a:r>
            <a:endParaRPr lang="en-US" sz="1300" dirty="0"/>
          </a:p>
        </p:txBody>
      </p:sp>
      <p:sp>
        <p:nvSpPr>
          <p:cNvPr id="3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tation status"/>
          <p:cNvSpPr txBox="1"/>
          <p:nvPr/>
        </p:nvSpPr>
        <p:spPr>
          <a:xfrm>
            <a:off x="548640" y="73152"/>
            <a:ext cx="10241280" cy="237744"/>
          </a:xfrm>
          <a:prstGeom prst="rect">
            <a:avLst/>
          </a:prstGeom>
          <a:noFill/>
          <a:ln/>
        </p:spPr>
        <p:txBody>
          <a:bodyPr wrap="square" lIns="0" tIns="0" rIns="0" bIns="0" rtlCol="0" anchor="ctr"/>
          <a:lstStyle/>
          <a:p>
            <a:pPr indent="0" marL="0">
              <a:buNone/>
            </a:pPr>
            <a:r>
              <a:rPr lang="en-US" sz="1100" spc="100" kern="0" dirty="0">
                <a:solidFill>
                  <a:srgbClr val="D8A73D"/>
                </a:solidFill>
                <a:latin typeface="Consolas" pitchFamily="34" charset="0"/>
                <a:ea typeface="Consolas" pitchFamily="34" charset="-122"/>
                <a:cs typeface="Consolas" pitchFamily="34" charset="-120"/>
              </a:rPr>
              <a:t>●  </a:t>
            </a:r>
            <a:pPr indent="0" marL="0">
              <a:buNone/>
            </a:pPr>
            <a:r>
              <a:rPr lang="en-US" sz="1100" spc="100" kern="0" dirty="0">
                <a:solidFill>
                  <a:srgbClr val="6E6E7A"/>
                </a:solidFill>
                <a:latin typeface="Consolas" pitchFamily="34" charset="0"/>
                <a:ea typeface="Consolas" pitchFamily="34" charset="-122"/>
                <a:cs typeface="Consolas" pitchFamily="34" charset="-120"/>
              </a:rPr>
              <a:t>SYSTEMS CHECK   ·   DIAGNOSTIC MODE</a:t>
            </a:r>
            <a:endParaRPr lang="en-US" sz="1100" dirty="0"/>
          </a:p>
        </p:txBody>
      </p:sp>
      <p:sp>
        <p:nvSpPr>
          <p:cNvPr id="3"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What are we learning?</a:t>
            </a:r>
            <a:endParaRPr lang="en-US" sz="3600" dirty="0"/>
          </a:p>
        </p:txBody>
      </p:sp>
      <p:sp>
        <p:nvSpPr>
          <p:cNvPr id="4" name="Shape 2"/>
          <p:cNvSpPr/>
          <p:nvPr/>
        </p:nvSpPr>
        <p:spPr>
          <a:xfrm>
            <a:off x="548640" y="1600200"/>
            <a:ext cx="11091672" cy="1417320"/>
          </a:xfrm>
          <a:prstGeom prst="roundRect">
            <a:avLst>
              <a:gd name="adj" fmla="val 5161"/>
            </a:avLst>
          </a:prstGeom>
          <a:solidFill>
            <a:srgbClr val="1E1E24"/>
          </a:solidFill>
          <a:ln w="15875">
            <a:solidFill>
              <a:srgbClr val="3A3A44"/>
            </a:solidFill>
            <a:prstDash val="solid"/>
          </a:ln>
        </p:spPr>
      </p:sp>
      <p:sp>
        <p:nvSpPr>
          <p:cNvPr id="5" name="Text 3"/>
          <p:cNvSpPr txBox="1"/>
          <p:nvPr/>
        </p:nvSpPr>
        <p:spPr>
          <a:xfrm>
            <a:off x="914400" y="1783080"/>
            <a:ext cx="5486400" cy="274320"/>
          </a:xfrm>
          <a:prstGeom prst="rect">
            <a:avLst/>
          </a:prstGeom>
          <a:noFill/>
          <a:ln/>
        </p:spPr>
        <p:txBody>
          <a:bodyPr wrap="square" lIns="0" tIns="0" rIns="0" bIns="0" rtlCol="0" anchor="ctr"/>
          <a:lstStyle/>
          <a:p>
            <a:pPr indent="0" marL="0">
              <a:buNone/>
            </a:pPr>
            <a:r>
              <a:rPr lang="en-US" sz="1300" b="1" spc="200" kern="0" dirty="0">
                <a:solidFill>
                  <a:srgbClr val="6E6E7A"/>
                </a:solidFill>
                <a:latin typeface="Calibri" pitchFamily="34" charset="0"/>
                <a:ea typeface="Calibri" pitchFamily="34" charset="-122"/>
                <a:cs typeface="Calibri" pitchFamily="34" charset="-120"/>
              </a:rPr>
              <a:t>TOPIC QUESTION</a:t>
            </a:r>
            <a:endParaRPr lang="en-US" sz="1300" dirty="0"/>
          </a:p>
        </p:txBody>
      </p:sp>
      <p:sp>
        <p:nvSpPr>
          <p:cNvPr id="6" name="Text 4"/>
          <p:cNvSpPr txBox="1"/>
          <p:nvPr/>
        </p:nvSpPr>
        <p:spPr>
          <a:xfrm>
            <a:off x="914400" y="2103120"/>
            <a:ext cx="10332720" cy="731520"/>
          </a:xfrm>
          <a:prstGeom prst="rect">
            <a:avLst/>
          </a:prstGeom>
          <a:noFill/>
          <a:ln/>
        </p:spPr>
        <p:txBody>
          <a:bodyPr wrap="square" lIns="0" tIns="0" rIns="0" bIns="0" rtlCol="0" anchor="ctr"/>
          <a:lstStyle/>
          <a:p>
            <a:pPr indent="0" marL="0">
              <a:buNone/>
            </a:pPr>
            <a:r>
              <a:rPr lang="en-US" sz="2400" dirty="0">
                <a:solidFill>
                  <a:srgbClr val="A9A9B4"/>
                </a:solidFill>
                <a:latin typeface="Calibri" pitchFamily="34" charset="0"/>
                <a:ea typeface="Calibri" pitchFamily="34" charset="-122"/>
                <a:cs typeface="Calibri" pitchFamily="34" charset="-120"/>
              </a:rPr>
              <a:t>How do we write programs that make decisions, repeat and reuse code?</a:t>
            </a:r>
            <a:endParaRPr lang="en-US" sz="2400" dirty="0"/>
          </a:p>
        </p:txBody>
      </p:sp>
      <p:sp>
        <p:nvSpPr>
          <p:cNvPr id="7" name="Shape 5"/>
          <p:cNvSpPr/>
          <p:nvPr/>
        </p:nvSpPr>
        <p:spPr>
          <a:xfrm>
            <a:off x="548640" y="3291840"/>
            <a:ext cx="11091672" cy="2331720"/>
          </a:xfrm>
          <a:prstGeom prst="roundRect">
            <a:avLst>
              <a:gd name="adj" fmla="val 3137"/>
            </a:avLst>
          </a:prstGeom>
          <a:solidFill>
            <a:srgbClr val="2A2A32"/>
          </a:solidFill>
          <a:ln w="31750">
            <a:solidFill>
              <a:srgbClr val="D8A73D"/>
            </a:solidFill>
            <a:prstDash val="solid"/>
          </a:ln>
        </p:spPr>
      </p:sp>
      <p:sp>
        <p:nvSpPr>
          <p:cNvPr id="8" name="Text 6"/>
          <p:cNvSpPr txBox="1"/>
          <p:nvPr/>
        </p:nvSpPr>
        <p:spPr>
          <a:xfrm>
            <a:off x="914400" y="3520440"/>
            <a:ext cx="5486400" cy="274320"/>
          </a:xfrm>
          <a:prstGeom prst="rect">
            <a:avLst/>
          </a:prstGeom>
          <a:noFill/>
          <a:ln/>
        </p:spPr>
        <p:txBody>
          <a:bodyPr wrap="square" lIns="0" tIns="0" rIns="0" bIns="0" rtlCol="0" anchor="ctr"/>
          <a:lstStyle/>
          <a:p>
            <a:pPr indent="0" marL="0">
              <a:buNone/>
            </a:pPr>
            <a:r>
              <a:rPr lang="en-US" sz="1300" b="1" spc="200" kern="0" dirty="0">
                <a:solidFill>
                  <a:srgbClr val="D8A73D"/>
                </a:solidFill>
                <a:latin typeface="Calibri" pitchFamily="34" charset="0"/>
                <a:ea typeface="Calibri" pitchFamily="34" charset="-122"/>
                <a:cs typeface="Calibri" pitchFamily="34" charset="-120"/>
              </a:rPr>
              <a:t>LESSON QUESTION</a:t>
            </a:r>
            <a:endParaRPr lang="en-US" sz="1300" dirty="0"/>
          </a:p>
        </p:txBody>
      </p:sp>
      <p:sp>
        <p:nvSpPr>
          <p:cNvPr id="9" name="Text 7"/>
          <p:cNvSpPr txBox="1"/>
          <p:nvPr/>
        </p:nvSpPr>
        <p:spPr>
          <a:xfrm>
            <a:off x="914400" y="3886200"/>
            <a:ext cx="10332720" cy="1463040"/>
          </a:xfrm>
          <a:prstGeom prst="rect">
            <a:avLst/>
          </a:prstGeom>
          <a:noFill/>
          <a:ln/>
        </p:spPr>
        <p:txBody>
          <a:bodyPr wrap="square" lIns="0" tIns="0" rIns="0" bIns="0" rtlCol="0" anchor="ctr"/>
          <a:lstStyle/>
          <a:p>
            <a:pPr indent="0" marL="0">
              <a:buNone/>
            </a:pPr>
            <a:r>
              <a:rPr lang="en-US" sz="3600" b="1" dirty="0">
                <a:solidFill>
                  <a:srgbClr val="F5F5F3"/>
                </a:solidFill>
                <a:latin typeface="Cambria" pitchFamily="34" charset="0"/>
                <a:ea typeface="Cambria" pitchFamily="34" charset="-122"/>
                <a:cs typeface="Cambria" pitchFamily="34" charset="-120"/>
              </a:rPr>
              <a:t>Can every system pass the check?</a:t>
            </a:r>
            <a:endParaRPr lang="en-US" sz="3600" dirty="0"/>
          </a:p>
        </p:txBody>
      </p:sp>
      <p:pic>
        <p:nvPicPr>
          <p:cNvPr id="10" name="Image 0" descr="Clarity of learning intentions">    </p:cNvPr>
          <p:cNvPicPr>
            <a:picLocks noChangeAspect="1"/>
          </p:cNvPicPr>
          <p:nvPr/>
        </p:nvPicPr>
        <p:blipFill>
          <a:blip r:embed="rId1"/>
          <a:stretch>
            <a:fillRect/>
          </a:stretch>
        </p:blipFill>
        <p:spPr>
          <a:xfrm>
            <a:off x="10972800" y="384048"/>
            <a:ext cx="731520" cy="731520"/>
          </a:xfrm>
          <a:prstGeom prst="rect">
            <a:avLst/>
          </a:prstGeom>
        </p:spPr>
      </p:pic>
      <p:sp>
        <p:nvSpPr>
          <p:cNvPr id="11" name="Text 8"/>
          <p:cNvSpPr txBox="1"/>
          <p:nvPr/>
        </p:nvSpPr>
        <p:spPr>
          <a:xfrm>
            <a:off x="4206240" y="6355080"/>
            <a:ext cx="6812280" cy="320040"/>
          </a:xfrm>
          <a:prstGeom prst="rect">
            <a:avLst/>
          </a:prstGeom>
          <a:noFill/>
          <a:ln/>
        </p:spPr>
        <p:txBody>
          <a:bodyPr wrap="square" lIns="0" tIns="0" rIns="0" bIns="0" rtlCol="0" anchor="ctr"/>
          <a:lstStyle/>
          <a:p>
            <a:pPr algn="r" indent="0" marL="0">
              <a:buNone/>
            </a:pPr>
            <a:r>
              <a:rPr lang="en-US" sz="1300" b="1" i="1" dirty="0">
                <a:solidFill>
                  <a:srgbClr val="D8A73D"/>
                </a:solidFill>
                <a:latin typeface="Calibri" pitchFamily="34" charset="0"/>
                <a:ea typeface="Calibri" pitchFamily="34" charset="-122"/>
                <a:cs typeface="Calibri" pitchFamily="34" charset="-120"/>
              </a:rPr>
              <a:t>station('L6')  ·  Ch 6 Systems Check: clean (assessment), status line only</a:t>
            </a:r>
            <a:endParaRPr lang="en-US" sz="13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station edge_red" descr="C:\Users\n.houlton_grange.out\source\repos\interactive\_presentations\Y9_Python\station\edge_red.png">    </p:cNvPr>
          <p:cNvPicPr>
            <a:picLocks noChangeAspect="1"/>
          </p:cNvPicPr>
          <p:nvPr/>
        </p:nvPicPr>
        <p:blipFill>
          <a:blip r:embed="rId1"/>
          <a:stretch>
            <a:fillRect/>
          </a:stretch>
        </p:blipFill>
        <p:spPr>
          <a:xfrm>
            <a:off x="0" y="0"/>
            <a:ext cx="12191695" cy="6858000"/>
          </a:xfrm>
          <a:prstGeom prst="rect">
            <a:avLst/>
          </a:prstGeom>
        </p:spPr>
      </p:pic>
      <p:pic>
        <p:nvPicPr>
          <p:cNvPr id="3" name="station static" descr="C:\Users\n.houlton_grange.out\source\repos\interactive\_presentations\Y9_Python\station\static.png">    </p:cNvPr>
          <p:cNvPicPr>
            <a:picLocks noChangeAspect="1"/>
          </p:cNvPicPr>
          <p:nvPr/>
        </p:nvPicPr>
        <p:blipFill>
          <a:blip r:embed="rId2"/>
          <a:stretch>
            <a:fillRect/>
          </a:stretch>
        </p:blipFill>
        <p:spPr>
          <a:xfrm>
            <a:off x="0" y="0"/>
            <a:ext cx="12191695" cy="6858000"/>
          </a:xfrm>
          <a:prstGeom prst="rect">
            <a:avLst/>
          </a:prstGeom>
        </p:spPr>
      </p:pic>
      <p:pic>
        <p:nvPicPr>
          <p:cNvPr id="4" name="station cracks" descr="C:\Users\n.houlton_grange.out\source\repos\interactive\_presentations\Y9_Python\station\cracks.png">    </p:cNvPr>
          <p:cNvPicPr>
            <a:picLocks noChangeAspect="1"/>
          </p:cNvPicPr>
          <p:nvPr/>
        </p:nvPicPr>
        <p:blipFill>
          <a:blip r:embed="rId3"/>
          <a:stretch>
            <a:fillRect/>
          </a:stretch>
        </p:blipFill>
        <p:spPr>
          <a:xfrm>
            <a:off x="0" y="0"/>
            <a:ext cx="12191695" cy="6858000"/>
          </a:xfrm>
          <a:prstGeom prst="rect">
            <a:avLst/>
          </a:prstGeom>
        </p:spPr>
      </p:pic>
      <p:sp>
        <p:nvSpPr>
          <p:cNvPr id="5" name="station status"/>
          <p:cNvSpPr txBox="1"/>
          <p:nvPr/>
        </p:nvSpPr>
        <p:spPr>
          <a:xfrm>
            <a:off x="548640" y="73152"/>
            <a:ext cx="10241280" cy="237744"/>
          </a:xfrm>
          <a:prstGeom prst="rect">
            <a:avLst/>
          </a:prstGeom>
          <a:noFill/>
          <a:ln/>
        </p:spPr>
        <p:txBody>
          <a:bodyPr wrap="square" lIns="0" tIns="0" rIns="0" bIns="0" rtlCol="0" anchor="ctr"/>
          <a:lstStyle/>
          <a:p>
            <a:pPr indent="0" marL="0">
              <a:buNone/>
            </a:pPr>
            <a:r>
              <a:rPr lang="en-US" sz="1100" spc="100" kern="0" dirty="0">
                <a:solidFill>
                  <a:srgbClr val="FF6B6B"/>
                </a:solidFill>
                <a:latin typeface="Consolas" pitchFamily="34" charset="0"/>
                <a:ea typeface="Consolas" pitchFamily="34" charset="-122"/>
                <a:cs typeface="Consolas" pitchFamily="34" charset="-120"/>
              </a:rPr>
              <a:t>●  </a:t>
            </a:r>
            <a:pPr indent="0" marL="0">
              <a:buNone/>
            </a:pPr>
            <a:r>
              <a:rPr lang="en-US" sz="1100" spc="100" kern="0" dirty="0">
                <a:solidFill>
                  <a:srgbClr val="6E6E7A"/>
                </a:solidFill>
                <a:latin typeface="Consolas" pitchFamily="34" charset="0"/>
                <a:ea typeface="Consolas" pitchFamily="34" charset="-122"/>
                <a:cs typeface="Consolas" pitchFamily="34" charset="-120"/>
              </a:rPr>
              <a:t>LAST STAND   ·   SYSTEMS DAMAGED   ·   RESCUE SHIP DOCKING</a:t>
            </a:r>
            <a:endParaRPr lang="en-US" sz="1100" dirty="0"/>
          </a:p>
        </p:txBody>
      </p:sp>
      <p:sp>
        <p:nvSpPr>
          <p:cNvPr id="6" name="Text 1"/>
          <p:cNvSpPr txBox="1"/>
          <p:nvPr/>
        </p:nvSpPr>
        <p:spPr>
          <a:xfrm>
            <a:off x="548640" y="548640"/>
            <a:ext cx="5486400" cy="320040"/>
          </a:xfrm>
          <a:prstGeom prst="rect">
            <a:avLst/>
          </a:prstGeom>
          <a:noFill/>
          <a:ln/>
        </p:spPr>
        <p:txBody>
          <a:bodyPr wrap="square" lIns="0" tIns="0" rIns="0" bIns="0" rtlCol="0" anchor="ctr"/>
          <a:lstStyle/>
          <a:p>
            <a:pPr indent="0" marL="0">
              <a:buNone/>
            </a:pPr>
            <a:r>
              <a:rPr lang="en-US" sz="1400" b="1" spc="300" kern="0" dirty="0">
                <a:solidFill>
                  <a:srgbClr val="D8A73D"/>
                </a:solidFill>
                <a:latin typeface="Calibri" pitchFamily="34" charset="0"/>
                <a:ea typeface="Calibri" pitchFamily="34" charset="-122"/>
                <a:cs typeface="Calibri" pitchFamily="34" charset="-120"/>
              </a:rPr>
              <a:t>CHAPTER 7</a:t>
            </a:r>
            <a:endParaRPr lang="en-US" sz="1400" dirty="0"/>
          </a:p>
        </p:txBody>
      </p:sp>
      <p:sp>
        <p:nvSpPr>
          <p:cNvPr id="7" name="Text 2"/>
          <p:cNvSpPr txBox="1"/>
          <p:nvPr/>
        </p:nvSpPr>
        <p:spPr>
          <a:xfrm>
            <a:off x="548640" y="914400"/>
            <a:ext cx="5486400" cy="914400"/>
          </a:xfrm>
          <a:prstGeom prst="rect">
            <a:avLst/>
          </a:prstGeom>
          <a:noFill/>
          <a:ln/>
        </p:spPr>
        <p:txBody>
          <a:bodyPr wrap="square" lIns="0" tIns="0" rIns="0" bIns="0" rtlCol="0" anchor="ctr"/>
          <a:lstStyle/>
          <a:p>
            <a:pPr indent="0" marL="0">
              <a:buNone/>
            </a:pPr>
            <a:r>
              <a:rPr lang="en-US" sz="4800" b="1" dirty="0">
                <a:solidFill>
                  <a:srgbClr val="F5F5F3"/>
                </a:solidFill>
                <a:latin typeface="Cambria" pitchFamily="34" charset="0"/>
                <a:ea typeface="Cambria" pitchFamily="34" charset="-122"/>
                <a:cs typeface="Cambria" pitchFamily="34" charset="-120"/>
              </a:rPr>
              <a:t>Last Stand</a:t>
            </a:r>
            <a:endParaRPr lang="en-US" sz="4800" dirty="0"/>
          </a:p>
        </p:txBody>
      </p:sp>
      <p:sp>
        <p:nvSpPr>
          <p:cNvPr id="8" name="terminal"/>
          <p:cNvSpPr/>
          <p:nvPr/>
        </p:nvSpPr>
        <p:spPr>
          <a:xfrm>
            <a:off x="548640" y="2148840"/>
            <a:ext cx="5212080" cy="2788920"/>
          </a:xfrm>
          <a:prstGeom prst="roundRect">
            <a:avLst>
              <a:gd name="adj" fmla="val 2623"/>
            </a:avLst>
          </a:prstGeom>
          <a:solidFill>
            <a:srgbClr val="0D1310"/>
          </a:solidFill>
          <a:ln w="15875">
            <a:solidFill>
              <a:srgbClr val="2C4434"/>
            </a:solidFill>
            <a:prstDash val="solid"/>
          </a:ln>
        </p:spPr>
      </p:sp>
      <p:sp>
        <p:nvSpPr>
          <p:cNvPr id="9" name="Text 4"/>
          <p:cNvSpPr txBox="1"/>
          <p:nvPr/>
        </p:nvSpPr>
        <p:spPr>
          <a:xfrm>
            <a:off x="777240" y="2331720"/>
            <a:ext cx="4754880" cy="274320"/>
          </a:xfrm>
          <a:prstGeom prst="rect">
            <a:avLst/>
          </a:prstGeom>
          <a:noFill/>
          <a:ln/>
        </p:spPr>
        <p:txBody>
          <a:bodyPr wrap="square" lIns="0" tIns="0" rIns="0" bIns="0" rtlCol="0" anchor="ctr"/>
          <a:lstStyle/>
          <a:p>
            <a:pPr indent="0" marL="0">
              <a:buNone/>
            </a:pPr>
            <a:r>
              <a:rPr lang="en-US" sz="1200" b="1" spc="200" kern="0" dirty="0">
                <a:solidFill>
                  <a:srgbClr val="7FD99A"/>
                </a:solidFill>
                <a:latin typeface="Calibri" pitchFamily="34" charset="0"/>
                <a:ea typeface="Calibri" pitchFamily="34" charset="-122"/>
                <a:cs typeface="Calibri" pitchFamily="34" charset="-120"/>
              </a:rPr>
              <a:t>ALL DECKS</a:t>
            </a:r>
            <a:endParaRPr lang="en-US" sz="1200" dirty="0"/>
          </a:p>
        </p:txBody>
      </p:sp>
      <p:sp>
        <p:nvSpPr>
          <p:cNvPr id="10" name="Text 5"/>
          <p:cNvSpPr txBox="1"/>
          <p:nvPr/>
        </p:nvSpPr>
        <p:spPr>
          <a:xfrm>
            <a:off x="777240" y="2697480"/>
            <a:ext cx="4754880" cy="406400"/>
          </a:xfrm>
          <a:prstGeom prst="rect">
            <a:avLst/>
          </a:prstGeom>
          <a:noFill/>
          <a:ln/>
        </p:spPr>
        <p:txBody>
          <a:bodyPr wrap="square" lIns="0" tIns="0" rIns="0" bIns="0" rtlCol="0" anchor="ctr"/>
          <a:lstStyle/>
          <a:p>
            <a:pPr indent="0" marL="0">
              <a:buNone/>
            </a:pPr>
            <a:r>
              <a:rPr lang="en-US" sz="2000" dirty="0">
                <a:solidFill>
                  <a:srgbClr val="7FD99A"/>
                </a:solidFill>
                <a:latin typeface="Consolas" pitchFamily="34" charset="0"/>
                <a:ea typeface="Consolas" pitchFamily="34" charset="-122"/>
                <a:cs typeface="Consolas" pitchFamily="34" charset="-120"/>
              </a:rPr>
              <a:t>Three systems down.</a:t>
            </a:r>
            <a:endParaRPr lang="en-US" sz="2000" dirty="0"/>
          </a:p>
        </p:txBody>
      </p:sp>
      <p:sp>
        <p:nvSpPr>
          <p:cNvPr id="11" name="Text 6"/>
          <p:cNvSpPr txBox="1"/>
          <p:nvPr/>
        </p:nvSpPr>
        <p:spPr>
          <a:xfrm>
            <a:off x="777240" y="3103880"/>
            <a:ext cx="4754880" cy="406400"/>
          </a:xfrm>
          <a:prstGeom prst="rect">
            <a:avLst/>
          </a:prstGeom>
          <a:noFill/>
          <a:ln/>
        </p:spPr>
        <p:txBody>
          <a:bodyPr wrap="square" lIns="0" tIns="0" rIns="0" bIns="0" rtlCol="0" anchor="ctr"/>
          <a:lstStyle/>
          <a:p>
            <a:pPr indent="0" marL="0">
              <a:buNone/>
            </a:pPr>
            <a:r>
              <a:rPr lang="en-US" sz="2000" dirty="0">
                <a:solidFill>
                  <a:srgbClr val="7FD99A"/>
                </a:solidFill>
                <a:latin typeface="Consolas" pitchFamily="34" charset="0"/>
                <a:ea typeface="Consolas" pitchFamily="34" charset="-122"/>
                <a:cs typeface="Consolas" pitchFamily="34" charset="-120"/>
              </a:rPr>
              <a:t>The rescue ship is</a:t>
            </a:r>
            <a:endParaRPr lang="en-US" sz="2000" dirty="0"/>
          </a:p>
        </p:txBody>
      </p:sp>
      <p:sp>
        <p:nvSpPr>
          <p:cNvPr id="12" name="Text 7"/>
          <p:cNvSpPr txBox="1"/>
          <p:nvPr/>
        </p:nvSpPr>
        <p:spPr>
          <a:xfrm>
            <a:off x="777240" y="3510280"/>
            <a:ext cx="4754880" cy="406400"/>
          </a:xfrm>
          <a:prstGeom prst="rect">
            <a:avLst/>
          </a:prstGeom>
          <a:noFill/>
          <a:ln/>
        </p:spPr>
        <p:txBody>
          <a:bodyPr wrap="square" lIns="0" tIns="0" rIns="0" bIns="0" rtlCol="0" anchor="ctr"/>
          <a:lstStyle/>
          <a:p>
            <a:pPr indent="0" marL="0">
              <a:buNone/>
            </a:pPr>
            <a:r>
              <a:rPr lang="en-US" sz="2000" dirty="0">
                <a:solidFill>
                  <a:srgbClr val="7FD99A"/>
                </a:solidFill>
                <a:latin typeface="Consolas" pitchFamily="34" charset="0"/>
                <a:ea typeface="Consolas" pitchFamily="34" charset="-122"/>
                <a:cs typeface="Consolas" pitchFamily="34" charset="-120"/>
              </a:rPr>
              <a:t>docking anyway.</a:t>
            </a:r>
            <a:endParaRPr lang="en-US" sz="2000" dirty="0"/>
          </a:p>
        </p:txBody>
      </p:sp>
      <p:sp>
        <p:nvSpPr>
          <p:cNvPr id="13" name="Shape 8"/>
          <p:cNvSpPr/>
          <p:nvPr/>
        </p:nvSpPr>
        <p:spPr>
          <a:xfrm>
            <a:off x="6172200" y="1417320"/>
            <a:ext cx="5468112" cy="4434840"/>
          </a:xfrm>
          <a:prstGeom prst="roundRect">
            <a:avLst>
              <a:gd name="adj" fmla="val 1649"/>
            </a:avLst>
          </a:prstGeom>
          <a:solidFill>
            <a:srgbClr val="2A2A32"/>
          </a:solidFill>
          <a:ln w="15875">
            <a:solidFill>
              <a:srgbClr val="3A3A44"/>
            </a:solidFill>
            <a:prstDash val="solid"/>
          </a:ln>
        </p:spPr>
      </p:sp>
      <p:sp>
        <p:nvSpPr>
          <p:cNvPr id="14" name="Text 9"/>
          <p:cNvSpPr txBox="1"/>
          <p:nvPr/>
        </p:nvSpPr>
        <p:spPr>
          <a:xfrm>
            <a:off x="6492240" y="1645920"/>
            <a:ext cx="2743200" cy="274320"/>
          </a:xfrm>
          <a:prstGeom prst="rect">
            <a:avLst/>
          </a:prstGeom>
          <a:noFill/>
          <a:ln/>
        </p:spPr>
        <p:txBody>
          <a:bodyPr wrap="square" lIns="0" tIns="0" rIns="0" bIns="0" rtlCol="0" anchor="ctr"/>
          <a:lstStyle/>
          <a:p>
            <a:pPr indent="0" marL="0">
              <a:buNone/>
            </a:pPr>
            <a:r>
              <a:rPr lang="en-US" sz="1300" b="1" spc="200" kern="0" dirty="0">
                <a:solidFill>
                  <a:srgbClr val="6E6E7A"/>
                </a:solidFill>
                <a:latin typeface="Calibri" pitchFamily="34" charset="0"/>
                <a:ea typeface="Calibri" pitchFamily="34" charset="-122"/>
                <a:cs typeface="Calibri" pitchFamily="34" charset="-120"/>
              </a:rPr>
              <a:t>YOUR TASK</a:t>
            </a:r>
            <a:endParaRPr lang="en-US" sz="1300" dirty="0"/>
          </a:p>
        </p:txBody>
      </p:sp>
      <p:sp>
        <p:nvSpPr>
          <p:cNvPr id="15" name="Text 10"/>
          <p:cNvSpPr txBox="1"/>
          <p:nvPr/>
        </p:nvSpPr>
        <p:spPr>
          <a:xfrm>
            <a:off x="6492240" y="1965960"/>
            <a:ext cx="4828032" cy="822960"/>
          </a:xfrm>
          <a:prstGeom prst="rect">
            <a:avLst/>
          </a:prstGeom>
          <a:noFill/>
          <a:ln/>
        </p:spPr>
        <p:txBody>
          <a:bodyPr wrap="square" lIns="0" tIns="0" rIns="0" bIns="0" rtlCol="0" anchor="ctr"/>
          <a:lstStyle/>
          <a:p>
            <a:pPr indent="0" marL="0">
              <a:buNone/>
            </a:pPr>
            <a:r>
              <a:rPr lang="en-US" sz="2600" dirty="0">
                <a:solidFill>
                  <a:srgbClr val="F5F5F3"/>
                </a:solidFill>
                <a:latin typeface="Calibri" pitchFamily="34" charset="0"/>
                <a:ea typeface="Calibri" pitchFamily="34" charset="-122"/>
                <a:cs typeface="Calibri" pitchFamily="34" charset="-120"/>
              </a:rPr>
              <a:t>Open </a:t>
            </a:r>
            <a:pPr indent="0" marL="0">
              <a:buNone/>
            </a:pPr>
            <a:r>
              <a:rPr lang="en-US" sz="2600" b="1" dirty="0">
                <a:solidFill>
                  <a:srgbClr val="D8A73D"/>
                </a:solidFill>
                <a:latin typeface="Calibri" pitchFamily="34" charset="0"/>
                <a:ea typeface="Calibri" pitchFamily="34" charset="-122"/>
                <a:cs typeface="Calibri" pitchFamily="34" charset="-120"/>
              </a:rPr>
              <a:t>Containment Protocol</a:t>
            </a:r>
            <a:pPr indent="0" marL="0">
              <a:buNone/>
            </a:pPr>
            <a:r>
              <a:rPr lang="en-US" sz="2600" dirty="0">
                <a:solidFill>
                  <a:srgbClr val="F5F5F3"/>
                </a:solidFill>
                <a:latin typeface="Calibri" pitchFamily="34" charset="0"/>
                <a:ea typeface="Calibri" pitchFamily="34" charset="-122"/>
                <a:cs typeface="Calibri" pitchFamily="34" charset="-120"/>
              </a:rPr>
              <a:t> from Google Classroom</a:t>
            </a:r>
            <a:endParaRPr lang="en-US" sz="2600" dirty="0"/>
          </a:p>
        </p:txBody>
      </p:sp>
      <p:sp>
        <p:nvSpPr>
          <p:cNvPr id="16" name="Shape 11"/>
          <p:cNvSpPr/>
          <p:nvPr/>
        </p:nvSpPr>
        <p:spPr>
          <a:xfrm>
            <a:off x="6492240" y="3063240"/>
            <a:ext cx="914400" cy="685800"/>
          </a:xfrm>
          <a:prstGeom prst="roundRect">
            <a:avLst>
              <a:gd name="adj" fmla="val 8000"/>
            </a:avLst>
          </a:prstGeom>
          <a:solidFill>
            <a:srgbClr val="1E1E24"/>
          </a:solidFill>
          <a:ln w="15875">
            <a:solidFill>
              <a:srgbClr val="D8A73D"/>
            </a:solidFill>
            <a:prstDash val="solid"/>
          </a:ln>
        </p:spPr>
      </p:sp>
      <p:sp>
        <p:nvSpPr>
          <p:cNvPr id="17" name="Text 12"/>
          <p:cNvSpPr txBox="1"/>
          <p:nvPr/>
        </p:nvSpPr>
        <p:spPr>
          <a:xfrm>
            <a:off x="6492240" y="3063240"/>
            <a:ext cx="914400" cy="685800"/>
          </a:xfrm>
          <a:prstGeom prst="rect">
            <a:avLst/>
          </a:prstGeom>
          <a:noFill/>
          <a:ln/>
        </p:spPr>
        <p:txBody>
          <a:bodyPr wrap="square" lIns="0" tIns="0" rIns="0" bIns="0" rtlCol="0" anchor="ctr"/>
          <a:lstStyle/>
          <a:p>
            <a:pPr algn="ctr" indent="0" marL="0">
              <a:buNone/>
            </a:pPr>
            <a:r>
              <a:rPr lang="en-US" sz="2800" b="1" dirty="0">
                <a:solidFill>
                  <a:srgbClr val="D8A73D"/>
                </a:solidFill>
                <a:latin typeface="Cambria" pitchFamily="34" charset="0"/>
                <a:ea typeface="Cambria" pitchFamily="34" charset="-122"/>
                <a:cs typeface="Cambria" pitchFamily="34" charset="-120"/>
              </a:rPr>
              <a:t>P</a:t>
            </a:r>
            <a:endParaRPr lang="en-US" sz="2800" dirty="0"/>
          </a:p>
        </p:txBody>
      </p:sp>
      <p:sp>
        <p:nvSpPr>
          <p:cNvPr id="18" name="Text 13"/>
          <p:cNvSpPr txBox="1"/>
          <p:nvPr/>
        </p:nvSpPr>
        <p:spPr>
          <a:xfrm>
            <a:off x="6400800" y="3794760"/>
            <a:ext cx="1097280" cy="274320"/>
          </a:xfrm>
          <a:prstGeom prst="rect">
            <a:avLst/>
          </a:prstGeom>
          <a:noFill/>
          <a:ln/>
        </p:spPr>
        <p:txBody>
          <a:bodyPr wrap="square" lIns="0" tIns="0" rIns="0" bIns="0" rtlCol="0" anchor="ctr"/>
          <a:lstStyle/>
          <a:p>
            <a:pPr algn="ctr" indent="0" marL="0">
              <a:buNone/>
            </a:pPr>
            <a:r>
              <a:rPr lang="en-US" sz="1200" dirty="0">
                <a:solidFill>
                  <a:srgbClr val="A9A9B4"/>
                </a:solidFill>
                <a:latin typeface="Calibri" pitchFamily="34" charset="0"/>
                <a:ea typeface="Calibri" pitchFamily="34" charset="-122"/>
                <a:cs typeface="Calibri" pitchFamily="34" charset="-120"/>
              </a:rPr>
              <a:t>Predict</a:t>
            </a:r>
            <a:endParaRPr lang="en-US" sz="1200" dirty="0"/>
          </a:p>
        </p:txBody>
      </p:sp>
      <p:sp>
        <p:nvSpPr>
          <p:cNvPr id="19" name="Shape 14"/>
          <p:cNvSpPr/>
          <p:nvPr/>
        </p:nvSpPr>
        <p:spPr>
          <a:xfrm>
            <a:off x="7470648" y="3063240"/>
            <a:ext cx="914400" cy="685800"/>
          </a:xfrm>
          <a:prstGeom prst="roundRect">
            <a:avLst>
              <a:gd name="adj" fmla="val 8000"/>
            </a:avLst>
          </a:prstGeom>
          <a:solidFill>
            <a:srgbClr val="1E1E24"/>
          </a:solidFill>
          <a:ln w="15875">
            <a:solidFill>
              <a:srgbClr val="D8A73D"/>
            </a:solidFill>
            <a:prstDash val="solid"/>
          </a:ln>
        </p:spPr>
      </p:sp>
      <p:sp>
        <p:nvSpPr>
          <p:cNvPr id="20" name="Text 15"/>
          <p:cNvSpPr txBox="1"/>
          <p:nvPr/>
        </p:nvSpPr>
        <p:spPr>
          <a:xfrm>
            <a:off x="7470648" y="3063240"/>
            <a:ext cx="914400" cy="685800"/>
          </a:xfrm>
          <a:prstGeom prst="rect">
            <a:avLst/>
          </a:prstGeom>
          <a:noFill/>
          <a:ln/>
        </p:spPr>
        <p:txBody>
          <a:bodyPr wrap="square" lIns="0" tIns="0" rIns="0" bIns="0" rtlCol="0" anchor="ctr"/>
          <a:lstStyle/>
          <a:p>
            <a:pPr algn="ctr" indent="0" marL="0">
              <a:buNone/>
            </a:pPr>
            <a:r>
              <a:rPr lang="en-US" sz="2800" b="1" dirty="0">
                <a:solidFill>
                  <a:srgbClr val="D8A73D"/>
                </a:solidFill>
                <a:latin typeface="Cambria" pitchFamily="34" charset="0"/>
                <a:ea typeface="Cambria" pitchFamily="34" charset="-122"/>
                <a:cs typeface="Cambria" pitchFamily="34" charset="-120"/>
              </a:rPr>
              <a:t>R</a:t>
            </a:r>
            <a:endParaRPr lang="en-US" sz="2800" dirty="0"/>
          </a:p>
        </p:txBody>
      </p:sp>
      <p:sp>
        <p:nvSpPr>
          <p:cNvPr id="21" name="Text 16"/>
          <p:cNvSpPr txBox="1"/>
          <p:nvPr/>
        </p:nvSpPr>
        <p:spPr>
          <a:xfrm>
            <a:off x="7379208" y="3794760"/>
            <a:ext cx="1097280" cy="274320"/>
          </a:xfrm>
          <a:prstGeom prst="rect">
            <a:avLst/>
          </a:prstGeom>
          <a:noFill/>
          <a:ln/>
        </p:spPr>
        <p:txBody>
          <a:bodyPr wrap="square" lIns="0" tIns="0" rIns="0" bIns="0" rtlCol="0" anchor="ctr"/>
          <a:lstStyle/>
          <a:p>
            <a:pPr algn="ctr" indent="0" marL="0">
              <a:buNone/>
            </a:pPr>
            <a:r>
              <a:rPr lang="en-US" sz="1200" dirty="0">
                <a:solidFill>
                  <a:srgbClr val="A9A9B4"/>
                </a:solidFill>
                <a:latin typeface="Calibri" pitchFamily="34" charset="0"/>
                <a:ea typeface="Calibri" pitchFamily="34" charset="-122"/>
                <a:cs typeface="Calibri" pitchFamily="34" charset="-120"/>
              </a:rPr>
              <a:t>Run</a:t>
            </a:r>
            <a:endParaRPr lang="en-US" sz="1200" dirty="0"/>
          </a:p>
        </p:txBody>
      </p:sp>
      <p:sp>
        <p:nvSpPr>
          <p:cNvPr id="22" name="Shape 17"/>
          <p:cNvSpPr/>
          <p:nvPr/>
        </p:nvSpPr>
        <p:spPr>
          <a:xfrm>
            <a:off x="8449056" y="3063240"/>
            <a:ext cx="914400" cy="685800"/>
          </a:xfrm>
          <a:prstGeom prst="roundRect">
            <a:avLst>
              <a:gd name="adj" fmla="val 8000"/>
            </a:avLst>
          </a:prstGeom>
          <a:solidFill>
            <a:srgbClr val="1E1E24"/>
          </a:solidFill>
          <a:ln w="15875">
            <a:solidFill>
              <a:srgbClr val="D8A73D"/>
            </a:solidFill>
            <a:prstDash val="solid"/>
          </a:ln>
        </p:spPr>
      </p:sp>
      <p:sp>
        <p:nvSpPr>
          <p:cNvPr id="23" name="Text 18"/>
          <p:cNvSpPr txBox="1"/>
          <p:nvPr/>
        </p:nvSpPr>
        <p:spPr>
          <a:xfrm>
            <a:off x="8449056" y="3063240"/>
            <a:ext cx="914400" cy="685800"/>
          </a:xfrm>
          <a:prstGeom prst="rect">
            <a:avLst/>
          </a:prstGeom>
          <a:noFill/>
          <a:ln/>
        </p:spPr>
        <p:txBody>
          <a:bodyPr wrap="square" lIns="0" tIns="0" rIns="0" bIns="0" rtlCol="0" anchor="ctr"/>
          <a:lstStyle/>
          <a:p>
            <a:pPr algn="ctr" indent="0" marL="0">
              <a:buNone/>
            </a:pPr>
            <a:r>
              <a:rPr lang="en-US" sz="2800" b="1" dirty="0">
                <a:solidFill>
                  <a:srgbClr val="D8A73D"/>
                </a:solidFill>
                <a:latin typeface="Cambria" pitchFamily="34" charset="0"/>
                <a:ea typeface="Cambria" pitchFamily="34" charset="-122"/>
                <a:cs typeface="Cambria" pitchFamily="34" charset="-120"/>
              </a:rPr>
              <a:t>I</a:t>
            </a:r>
            <a:endParaRPr lang="en-US" sz="2800" dirty="0"/>
          </a:p>
        </p:txBody>
      </p:sp>
      <p:sp>
        <p:nvSpPr>
          <p:cNvPr id="24" name="Text 19"/>
          <p:cNvSpPr txBox="1"/>
          <p:nvPr/>
        </p:nvSpPr>
        <p:spPr>
          <a:xfrm>
            <a:off x="8357616" y="3794760"/>
            <a:ext cx="1097280" cy="274320"/>
          </a:xfrm>
          <a:prstGeom prst="rect">
            <a:avLst/>
          </a:prstGeom>
          <a:noFill/>
          <a:ln/>
        </p:spPr>
        <p:txBody>
          <a:bodyPr wrap="square" lIns="0" tIns="0" rIns="0" bIns="0" rtlCol="0" anchor="ctr"/>
          <a:lstStyle/>
          <a:p>
            <a:pPr algn="ctr" indent="0" marL="0">
              <a:buNone/>
            </a:pPr>
            <a:r>
              <a:rPr lang="en-US" sz="1200" dirty="0">
                <a:solidFill>
                  <a:srgbClr val="A9A9B4"/>
                </a:solidFill>
                <a:latin typeface="Calibri" pitchFamily="34" charset="0"/>
                <a:ea typeface="Calibri" pitchFamily="34" charset="-122"/>
                <a:cs typeface="Calibri" pitchFamily="34" charset="-120"/>
              </a:rPr>
              <a:t>Investigate</a:t>
            </a:r>
            <a:endParaRPr lang="en-US" sz="1200" dirty="0"/>
          </a:p>
        </p:txBody>
      </p:sp>
      <p:sp>
        <p:nvSpPr>
          <p:cNvPr id="25" name="Shape 20"/>
          <p:cNvSpPr/>
          <p:nvPr/>
        </p:nvSpPr>
        <p:spPr>
          <a:xfrm>
            <a:off x="9427464" y="3063240"/>
            <a:ext cx="914400" cy="685800"/>
          </a:xfrm>
          <a:prstGeom prst="roundRect">
            <a:avLst>
              <a:gd name="adj" fmla="val 8000"/>
            </a:avLst>
          </a:prstGeom>
          <a:solidFill>
            <a:srgbClr val="1E1E24"/>
          </a:solidFill>
          <a:ln w="15875">
            <a:solidFill>
              <a:srgbClr val="D8A73D"/>
            </a:solidFill>
            <a:prstDash val="solid"/>
          </a:ln>
        </p:spPr>
      </p:sp>
      <p:sp>
        <p:nvSpPr>
          <p:cNvPr id="26" name="Text 21"/>
          <p:cNvSpPr txBox="1"/>
          <p:nvPr/>
        </p:nvSpPr>
        <p:spPr>
          <a:xfrm>
            <a:off x="9427464" y="3063240"/>
            <a:ext cx="914400" cy="685800"/>
          </a:xfrm>
          <a:prstGeom prst="rect">
            <a:avLst/>
          </a:prstGeom>
          <a:noFill/>
          <a:ln/>
        </p:spPr>
        <p:txBody>
          <a:bodyPr wrap="square" lIns="0" tIns="0" rIns="0" bIns="0" rtlCol="0" anchor="ctr"/>
          <a:lstStyle/>
          <a:p>
            <a:pPr algn="ctr" indent="0" marL="0">
              <a:buNone/>
            </a:pPr>
            <a:r>
              <a:rPr lang="en-US" sz="2800" b="1" dirty="0">
                <a:solidFill>
                  <a:srgbClr val="D8A73D"/>
                </a:solidFill>
                <a:latin typeface="Cambria" pitchFamily="34" charset="0"/>
                <a:ea typeface="Cambria" pitchFamily="34" charset="-122"/>
                <a:cs typeface="Cambria" pitchFamily="34" charset="-120"/>
              </a:rPr>
              <a:t>M</a:t>
            </a:r>
            <a:endParaRPr lang="en-US" sz="2800" dirty="0"/>
          </a:p>
        </p:txBody>
      </p:sp>
      <p:sp>
        <p:nvSpPr>
          <p:cNvPr id="27" name="Text 22"/>
          <p:cNvSpPr txBox="1"/>
          <p:nvPr/>
        </p:nvSpPr>
        <p:spPr>
          <a:xfrm>
            <a:off x="9336024" y="3794760"/>
            <a:ext cx="1097280" cy="274320"/>
          </a:xfrm>
          <a:prstGeom prst="rect">
            <a:avLst/>
          </a:prstGeom>
          <a:noFill/>
          <a:ln/>
        </p:spPr>
        <p:txBody>
          <a:bodyPr wrap="square" lIns="0" tIns="0" rIns="0" bIns="0" rtlCol="0" anchor="ctr"/>
          <a:lstStyle/>
          <a:p>
            <a:pPr algn="ctr" indent="0" marL="0">
              <a:buNone/>
            </a:pPr>
            <a:r>
              <a:rPr lang="en-US" sz="1200" dirty="0">
                <a:solidFill>
                  <a:srgbClr val="A9A9B4"/>
                </a:solidFill>
                <a:latin typeface="Calibri" pitchFamily="34" charset="0"/>
                <a:ea typeface="Calibri" pitchFamily="34" charset="-122"/>
                <a:cs typeface="Calibri" pitchFamily="34" charset="-120"/>
              </a:rPr>
              <a:t>Modify</a:t>
            </a:r>
            <a:endParaRPr lang="en-US" sz="1200" dirty="0"/>
          </a:p>
        </p:txBody>
      </p:sp>
      <p:sp>
        <p:nvSpPr>
          <p:cNvPr id="28" name="Shape 23"/>
          <p:cNvSpPr/>
          <p:nvPr/>
        </p:nvSpPr>
        <p:spPr>
          <a:xfrm>
            <a:off x="10405872" y="3063240"/>
            <a:ext cx="914400" cy="685800"/>
          </a:xfrm>
          <a:prstGeom prst="roundRect">
            <a:avLst>
              <a:gd name="adj" fmla="val 8000"/>
            </a:avLst>
          </a:prstGeom>
          <a:solidFill>
            <a:srgbClr val="1E1E24"/>
          </a:solidFill>
          <a:ln w="15875">
            <a:solidFill>
              <a:srgbClr val="D8A73D"/>
            </a:solidFill>
            <a:prstDash val="solid"/>
          </a:ln>
        </p:spPr>
      </p:sp>
      <p:sp>
        <p:nvSpPr>
          <p:cNvPr id="29" name="Text 24"/>
          <p:cNvSpPr txBox="1"/>
          <p:nvPr/>
        </p:nvSpPr>
        <p:spPr>
          <a:xfrm>
            <a:off x="10405872" y="3063240"/>
            <a:ext cx="914400" cy="685800"/>
          </a:xfrm>
          <a:prstGeom prst="rect">
            <a:avLst/>
          </a:prstGeom>
          <a:noFill/>
          <a:ln/>
        </p:spPr>
        <p:txBody>
          <a:bodyPr wrap="square" lIns="0" tIns="0" rIns="0" bIns="0" rtlCol="0" anchor="ctr"/>
          <a:lstStyle/>
          <a:p>
            <a:pPr algn="ctr" indent="0" marL="0">
              <a:buNone/>
            </a:pPr>
            <a:r>
              <a:rPr lang="en-US" sz="2800" b="1" dirty="0">
                <a:solidFill>
                  <a:srgbClr val="D8A73D"/>
                </a:solidFill>
                <a:latin typeface="Cambria" pitchFamily="34" charset="0"/>
                <a:ea typeface="Cambria" pitchFamily="34" charset="-122"/>
                <a:cs typeface="Cambria" pitchFamily="34" charset="-120"/>
              </a:rPr>
              <a:t>M</a:t>
            </a:r>
            <a:endParaRPr lang="en-US" sz="2800" dirty="0"/>
          </a:p>
        </p:txBody>
      </p:sp>
      <p:sp>
        <p:nvSpPr>
          <p:cNvPr id="30" name="Text 25"/>
          <p:cNvSpPr txBox="1"/>
          <p:nvPr/>
        </p:nvSpPr>
        <p:spPr>
          <a:xfrm>
            <a:off x="10314432" y="3794760"/>
            <a:ext cx="1097280" cy="274320"/>
          </a:xfrm>
          <a:prstGeom prst="rect">
            <a:avLst/>
          </a:prstGeom>
          <a:noFill/>
          <a:ln/>
        </p:spPr>
        <p:txBody>
          <a:bodyPr wrap="square" lIns="0" tIns="0" rIns="0" bIns="0" rtlCol="0" anchor="ctr"/>
          <a:lstStyle/>
          <a:p>
            <a:pPr algn="ctr" indent="0" marL="0">
              <a:buNone/>
            </a:pPr>
            <a:r>
              <a:rPr lang="en-US" sz="1200" dirty="0">
                <a:solidFill>
                  <a:srgbClr val="A9A9B4"/>
                </a:solidFill>
                <a:latin typeface="Calibri" pitchFamily="34" charset="0"/>
                <a:ea typeface="Calibri" pitchFamily="34" charset="-122"/>
                <a:cs typeface="Calibri" pitchFamily="34" charset="-120"/>
              </a:rPr>
              <a:t>Make</a:t>
            </a:r>
            <a:endParaRPr lang="en-US" sz="1200" dirty="0"/>
          </a:p>
        </p:txBody>
      </p:sp>
      <p:sp>
        <p:nvSpPr>
          <p:cNvPr id="31" name="Text 26"/>
          <p:cNvSpPr txBox="1"/>
          <p:nvPr/>
        </p:nvSpPr>
        <p:spPr>
          <a:xfrm>
            <a:off x="6492240" y="4343400"/>
            <a:ext cx="4828032" cy="1280160"/>
          </a:xfrm>
          <a:prstGeom prst="rect">
            <a:avLst/>
          </a:prstGeom>
          <a:noFill/>
          <a:ln/>
        </p:spPr>
        <p:txBody>
          <a:bodyPr wrap="square" lIns="0" tIns="0" rIns="0" bIns="0" rtlCol="0" anchor="ctr"/>
          <a:lstStyle/>
          <a:p>
            <a:pPr indent="0" marL="0">
              <a:buNone/>
            </a:pPr>
            <a:r>
              <a:rPr lang="en-US" sz="1900" b="1" dirty="0">
                <a:solidFill>
                  <a:srgbClr val="D8A73D"/>
                </a:solidFill>
                <a:latin typeface="Calibri" pitchFamily="34" charset="0"/>
                <a:ea typeface="Calibri" pitchFamily="34" charset="-122"/>
                <a:cs typeface="Calibri" pitchFamily="34" charset="-120"/>
              </a:rPr>
              <a:t>Modification 1 is your call. </a:t>
            </a:r>
            <a:pPr indent="0" marL="0">
              <a:buNone/>
            </a:pPr>
            <a:r>
              <a:rPr lang="en-US" sz="1900" dirty="0">
                <a:solidFill>
                  <a:srgbClr val="F5F5F3"/>
                </a:solidFill>
                <a:latin typeface="Calibri" pitchFamily="34" charset="0"/>
                <a:ea typeface="Calibri" pitchFamily="34" charset="-122"/>
                <a:cs typeface="Calibri" pitchFamily="34" charset="-120"/>
              </a:rPr>
              <a:t>Airlock or nest.</a:t>
            </a:r>
            <a:endParaRPr lang="en-US" sz="1900" dirty="0"/>
          </a:p>
        </p:txBody>
      </p:sp>
      <p:sp>
        <p:nvSpPr>
          <p:cNvPr id="32" name="Shape 27"/>
          <p:cNvSpPr/>
          <p:nvPr/>
        </p:nvSpPr>
        <p:spPr>
          <a:xfrm>
            <a:off x="10131552" y="1627632"/>
            <a:ext cx="1280160" cy="329184"/>
          </a:xfrm>
          <a:prstGeom prst="roundRect">
            <a:avLst>
              <a:gd name="adj" fmla="val 50000"/>
            </a:avLst>
          </a:prstGeom>
          <a:solidFill>
            <a:srgbClr val="1E1E24"/>
          </a:solidFill>
          <a:ln w="15875">
            <a:solidFill>
              <a:srgbClr val="D8A73D"/>
            </a:solidFill>
            <a:prstDash val="solid"/>
          </a:ln>
        </p:spPr>
      </p:sp>
      <p:sp>
        <p:nvSpPr>
          <p:cNvPr id="33" name="Text 28"/>
          <p:cNvSpPr txBox="1"/>
          <p:nvPr/>
        </p:nvSpPr>
        <p:spPr>
          <a:xfrm>
            <a:off x="10131552" y="1627632"/>
            <a:ext cx="1280160" cy="329184"/>
          </a:xfrm>
          <a:prstGeom prst="rect">
            <a:avLst/>
          </a:prstGeom>
          <a:noFill/>
          <a:ln/>
        </p:spPr>
        <p:txBody>
          <a:bodyPr wrap="square" lIns="0" tIns="0" rIns="0" bIns="0" rtlCol="0" anchor="ctr"/>
          <a:lstStyle/>
          <a:p>
            <a:pPr algn="ctr" indent="0" marL="0">
              <a:buNone/>
            </a:pPr>
            <a:r>
              <a:rPr lang="en-US" sz="1400" b="1" spc="100" kern="0" dirty="0">
                <a:solidFill>
                  <a:srgbClr val="D8A73D"/>
                </a:solidFill>
                <a:latin typeface="Calibri" pitchFamily="34" charset="0"/>
                <a:ea typeface="Calibri" pitchFamily="34" charset="-122"/>
                <a:cs typeface="Calibri" pitchFamily="34" charset="-120"/>
              </a:rPr>
              <a:t>⏱  ≈20 MIN</a:t>
            </a:r>
            <a:endParaRPr lang="en-US" sz="1400" dirty="0"/>
          </a:p>
        </p:txBody>
      </p:sp>
      <p:pic>
        <p:nvPicPr>
          <p:cNvPr id="34" name="Image 3" descr="Deliberate practice">    </p:cNvPr>
          <p:cNvPicPr>
            <a:picLocks noChangeAspect="1"/>
          </p:cNvPicPr>
          <p:nvPr/>
        </p:nvPicPr>
        <p:blipFill>
          <a:blip r:embed="rId4"/>
          <a:stretch>
            <a:fillRect/>
          </a:stretch>
        </p:blipFill>
        <p:spPr>
          <a:xfrm>
            <a:off x="10972800" y="384048"/>
            <a:ext cx="731520" cy="731520"/>
          </a:xfrm>
          <a:prstGeom prst="rect">
            <a:avLst/>
          </a:prstGeom>
        </p:spPr>
      </p:pic>
      <p:sp>
        <p:nvSpPr>
          <p:cNvPr id="35" name="Text 29"/>
          <p:cNvSpPr txBox="1"/>
          <p:nvPr/>
        </p:nvSpPr>
        <p:spPr>
          <a:xfrm>
            <a:off x="4206240" y="6355080"/>
            <a:ext cx="6812280" cy="320040"/>
          </a:xfrm>
          <a:prstGeom prst="rect">
            <a:avLst/>
          </a:prstGeom>
          <a:noFill/>
          <a:ln/>
        </p:spPr>
        <p:txBody>
          <a:bodyPr wrap="square" lIns="0" tIns="0" rIns="0" bIns="0" rtlCol="0" anchor="ctr"/>
          <a:lstStyle/>
          <a:p>
            <a:pPr algn="r" indent="0" marL="0">
              <a:buNone/>
            </a:pPr>
            <a:r>
              <a:rPr lang="en-US" sz="1300" b="1" i="1" dirty="0">
                <a:solidFill>
                  <a:srgbClr val="D8A73D"/>
                </a:solidFill>
                <a:latin typeface="Calibri" pitchFamily="34" charset="0"/>
                <a:ea typeface="Calibri" pitchFamily="34" charset="-122"/>
                <a:cs typeface="Calibri" pitchFamily="34" charset="-120"/>
              </a:rPr>
              <a:t>station('L7')  ·  Ch 7 Last Stand: everything at once; switch layers off as systems are repaired</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station frost" descr="C:\Users\n.houlton_grange.out\source\repos\interactive\_presentations\Y9_Python\station\frost.png">    </p:cNvPr>
          <p:cNvPicPr>
            <a:picLocks noChangeAspect="1"/>
          </p:cNvPicPr>
          <p:nvPr/>
        </p:nvPicPr>
        <p:blipFill>
          <a:blip r:embed="rId1"/>
          <a:stretch>
            <a:fillRect/>
          </a:stretch>
        </p:blipFill>
        <p:spPr>
          <a:xfrm>
            <a:off x="0" y="0"/>
            <a:ext cx="12191695" cy="6858000"/>
          </a:xfrm>
          <a:prstGeom prst="rect">
            <a:avLst/>
          </a:prstGeom>
        </p:spPr>
      </p:pic>
      <p:sp>
        <p:nvSpPr>
          <p:cNvPr id="3" name="station status"/>
          <p:cNvSpPr txBox="1"/>
          <p:nvPr/>
        </p:nvSpPr>
        <p:spPr>
          <a:xfrm>
            <a:off x="548640" y="73152"/>
            <a:ext cx="10241280" cy="237744"/>
          </a:xfrm>
          <a:prstGeom prst="rect">
            <a:avLst/>
          </a:prstGeom>
          <a:noFill/>
          <a:ln/>
        </p:spPr>
        <p:txBody>
          <a:bodyPr wrap="square" lIns="0" tIns="0" rIns="0" bIns="0" rtlCol="0" anchor="ctr"/>
          <a:lstStyle/>
          <a:p>
            <a:pPr indent="0" marL="0">
              <a:buNone/>
            </a:pPr>
            <a:r>
              <a:rPr lang="en-US" sz="1100" spc="100" kern="0" dirty="0">
                <a:solidFill>
                  <a:srgbClr val="E69F00"/>
                </a:solidFill>
                <a:latin typeface="Consolas" pitchFamily="34" charset="0"/>
                <a:ea typeface="Consolas" pitchFamily="34" charset="-122"/>
                <a:cs typeface="Consolas" pitchFamily="34" charset="-120"/>
              </a:rPr>
              <a:t>●  </a:t>
            </a:r>
            <a:pPr indent="0" marL="0">
              <a:buNone/>
            </a:pPr>
            <a:r>
              <a:rPr lang="en-US" sz="1100" spc="100" kern="0" dirty="0">
                <a:solidFill>
                  <a:srgbClr val="6E6E7A"/>
                </a:solidFill>
                <a:latin typeface="Consolas" pitchFamily="34" charset="0"/>
                <a:ea typeface="Consolas" pitchFamily="34" charset="-122"/>
                <a:cs typeface="Consolas" pitchFamily="34" charset="-120"/>
              </a:rPr>
              <a:t>LIFE SUPPORT   ·   O2 94%   ·   POWER 31%   ·   CREW AWAKE 1/5</a:t>
            </a:r>
            <a:endParaRPr lang="en-US" sz="1100" dirty="0"/>
          </a:p>
        </p:txBody>
      </p:sp>
      <p:sp>
        <p:nvSpPr>
          <p:cNvPr id="4" name="Text 1"/>
          <p:cNvSpPr txBox="1"/>
          <p:nvPr/>
        </p:nvSpPr>
        <p:spPr>
          <a:xfrm>
            <a:off x="548640" y="548640"/>
            <a:ext cx="5486400" cy="320040"/>
          </a:xfrm>
          <a:prstGeom prst="rect">
            <a:avLst/>
          </a:prstGeom>
          <a:noFill/>
          <a:ln/>
        </p:spPr>
        <p:txBody>
          <a:bodyPr wrap="square" lIns="0" tIns="0" rIns="0" bIns="0" rtlCol="0" anchor="ctr"/>
          <a:lstStyle/>
          <a:p>
            <a:pPr indent="0" marL="0">
              <a:buNone/>
            </a:pPr>
            <a:r>
              <a:rPr lang="en-US" sz="1400" b="1" spc="300" kern="0" dirty="0">
                <a:solidFill>
                  <a:srgbClr val="D8A73D"/>
                </a:solidFill>
                <a:latin typeface="Calibri" pitchFamily="34" charset="0"/>
                <a:ea typeface="Calibri" pitchFamily="34" charset="-122"/>
                <a:cs typeface="Calibri" pitchFamily="34" charset="-120"/>
              </a:rPr>
              <a:t>CHAPTER 1  ·  PART 2</a:t>
            </a:r>
            <a:endParaRPr lang="en-US" sz="1400" dirty="0"/>
          </a:p>
        </p:txBody>
      </p:sp>
      <p:sp>
        <p:nvSpPr>
          <p:cNvPr id="5" name="Text 2"/>
          <p:cNvSpPr txBox="1"/>
          <p:nvPr/>
        </p:nvSpPr>
        <p:spPr>
          <a:xfrm>
            <a:off x="548640" y="914400"/>
            <a:ext cx="5486400" cy="914400"/>
          </a:xfrm>
          <a:prstGeom prst="rect">
            <a:avLst/>
          </a:prstGeom>
          <a:noFill/>
          <a:ln/>
        </p:spPr>
        <p:txBody>
          <a:bodyPr wrap="square" lIns="0" tIns="0" rIns="0" bIns="0" rtlCol="0" anchor="ctr"/>
          <a:lstStyle/>
          <a:p>
            <a:pPr indent="0" marL="0">
              <a:buNone/>
            </a:pPr>
            <a:r>
              <a:rPr lang="en-US" sz="4800" b="1" dirty="0">
                <a:solidFill>
                  <a:srgbClr val="F5F5F3"/>
                </a:solidFill>
                <a:latin typeface="Cambria" pitchFamily="34" charset="0"/>
                <a:ea typeface="Cambria" pitchFamily="34" charset="-122"/>
                <a:cs typeface="Cambria" pitchFamily="34" charset="-120"/>
              </a:rPr>
              <a:t>Life Support</a:t>
            </a:r>
            <a:endParaRPr lang="en-US" sz="4800" dirty="0"/>
          </a:p>
        </p:txBody>
      </p:sp>
      <p:sp>
        <p:nvSpPr>
          <p:cNvPr id="6" name="terminal"/>
          <p:cNvSpPr/>
          <p:nvPr/>
        </p:nvSpPr>
        <p:spPr>
          <a:xfrm>
            <a:off x="548640" y="2148840"/>
            <a:ext cx="5212080" cy="2788920"/>
          </a:xfrm>
          <a:prstGeom prst="roundRect">
            <a:avLst>
              <a:gd name="adj" fmla="val 2623"/>
            </a:avLst>
          </a:prstGeom>
          <a:solidFill>
            <a:srgbClr val="0D1310"/>
          </a:solidFill>
          <a:ln w="15875">
            <a:solidFill>
              <a:srgbClr val="2C4434"/>
            </a:solidFill>
            <a:prstDash val="solid"/>
          </a:ln>
        </p:spPr>
      </p:sp>
      <p:sp>
        <p:nvSpPr>
          <p:cNvPr id="7" name="Text 4"/>
          <p:cNvSpPr txBox="1"/>
          <p:nvPr/>
        </p:nvSpPr>
        <p:spPr>
          <a:xfrm>
            <a:off x="777240" y="2331720"/>
            <a:ext cx="4754880" cy="274320"/>
          </a:xfrm>
          <a:prstGeom prst="rect">
            <a:avLst/>
          </a:prstGeom>
          <a:noFill/>
          <a:ln/>
        </p:spPr>
        <p:txBody>
          <a:bodyPr wrap="square" lIns="0" tIns="0" rIns="0" bIns="0" rtlCol="0" anchor="ctr"/>
          <a:lstStyle/>
          <a:p>
            <a:pPr indent="0" marL="0">
              <a:buNone/>
            </a:pPr>
            <a:r>
              <a:rPr lang="en-US" sz="1200" b="1" spc="200" kern="0" dirty="0">
                <a:solidFill>
                  <a:srgbClr val="7FD99A"/>
                </a:solidFill>
                <a:latin typeface="Calibri" pitchFamily="34" charset="0"/>
                <a:ea typeface="Calibri" pitchFamily="34" charset="-122"/>
                <a:cs typeface="Calibri" pitchFamily="34" charset="-120"/>
              </a:rPr>
              <a:t>LIFE SUPPORT</a:t>
            </a:r>
            <a:endParaRPr lang="en-US" sz="1200" dirty="0"/>
          </a:p>
        </p:txBody>
      </p:sp>
      <p:sp>
        <p:nvSpPr>
          <p:cNvPr id="8" name="Text 5"/>
          <p:cNvSpPr txBox="1"/>
          <p:nvPr/>
        </p:nvSpPr>
        <p:spPr>
          <a:xfrm>
            <a:off x="777240" y="2697480"/>
            <a:ext cx="4754880" cy="406400"/>
          </a:xfrm>
          <a:prstGeom prst="rect">
            <a:avLst/>
          </a:prstGeom>
          <a:noFill/>
          <a:ln/>
        </p:spPr>
        <p:txBody>
          <a:bodyPr wrap="square" lIns="0" tIns="0" rIns="0" bIns="0" rtlCol="0" anchor="ctr"/>
          <a:lstStyle/>
          <a:p>
            <a:pPr indent="0" marL="0">
              <a:buNone/>
            </a:pPr>
            <a:r>
              <a:rPr lang="en-US" sz="2000" dirty="0">
                <a:solidFill>
                  <a:srgbClr val="7FD99A"/>
                </a:solidFill>
                <a:latin typeface="Consolas" pitchFamily="34" charset="0"/>
                <a:ea typeface="Consolas" pitchFamily="34" charset="-122"/>
                <a:cs typeface="Consolas" pitchFamily="34" charset="-120"/>
              </a:rPr>
              <a:t>The O2 recycler is failing.</a:t>
            </a:r>
            <a:endParaRPr lang="en-US" sz="2000" dirty="0"/>
          </a:p>
        </p:txBody>
      </p:sp>
      <p:sp>
        <p:nvSpPr>
          <p:cNvPr id="9" name="Text 6"/>
          <p:cNvSpPr txBox="1"/>
          <p:nvPr/>
        </p:nvSpPr>
        <p:spPr>
          <a:xfrm>
            <a:off x="777240" y="3103880"/>
            <a:ext cx="4754880" cy="406400"/>
          </a:xfrm>
          <a:prstGeom prst="rect">
            <a:avLst/>
          </a:prstGeom>
          <a:noFill/>
          <a:ln/>
        </p:spPr>
        <p:txBody>
          <a:bodyPr wrap="square" lIns="0" tIns="0" rIns="0" bIns="0" rtlCol="0" anchor="ctr"/>
          <a:lstStyle/>
          <a:p>
            <a:pPr indent="0" marL="0">
              <a:buNone/>
            </a:pPr>
            <a:endParaRPr lang="en-US" sz="2000" dirty="0"/>
          </a:p>
        </p:txBody>
      </p:sp>
      <p:sp>
        <p:nvSpPr>
          <p:cNvPr id="10" name="Text 7"/>
          <p:cNvSpPr txBox="1"/>
          <p:nvPr/>
        </p:nvSpPr>
        <p:spPr>
          <a:xfrm>
            <a:off x="777240" y="3510280"/>
            <a:ext cx="4754880" cy="406400"/>
          </a:xfrm>
          <a:prstGeom prst="rect">
            <a:avLst/>
          </a:prstGeom>
          <a:noFill/>
          <a:ln/>
        </p:spPr>
        <p:txBody>
          <a:bodyPr wrap="square" lIns="0" tIns="0" rIns="0" bIns="0" rtlCol="0" anchor="ctr"/>
          <a:lstStyle/>
          <a:p>
            <a:pPr indent="0" marL="0">
              <a:buNone/>
            </a:pPr>
            <a:r>
              <a:rPr lang="en-US" sz="2000" dirty="0">
                <a:solidFill>
                  <a:srgbClr val="7FD99A"/>
                </a:solidFill>
                <a:latin typeface="Consolas" pitchFamily="34" charset="0"/>
                <a:ea typeface="Consolas" pitchFamily="34" charset="-122"/>
                <a:cs typeface="Consolas" pitchFamily="34" charset="-120"/>
              </a:rPr>
              <a:t>Hale’s last log is</a:t>
            </a:r>
            <a:endParaRPr lang="en-US" sz="2000" dirty="0"/>
          </a:p>
        </p:txBody>
      </p:sp>
      <p:sp>
        <p:nvSpPr>
          <p:cNvPr id="11" name="Text 8"/>
          <p:cNvSpPr txBox="1"/>
          <p:nvPr/>
        </p:nvSpPr>
        <p:spPr>
          <a:xfrm>
            <a:off x="777240" y="3916680"/>
            <a:ext cx="4754880" cy="406400"/>
          </a:xfrm>
          <a:prstGeom prst="rect">
            <a:avLst/>
          </a:prstGeom>
          <a:noFill/>
          <a:ln/>
        </p:spPr>
        <p:txBody>
          <a:bodyPr wrap="square" lIns="0" tIns="0" rIns="0" bIns="0" rtlCol="0" anchor="ctr"/>
          <a:lstStyle/>
          <a:p>
            <a:pPr indent="0" marL="0">
              <a:buNone/>
            </a:pPr>
            <a:r>
              <a:rPr lang="en-US" sz="2000" dirty="0">
                <a:solidFill>
                  <a:srgbClr val="7FD99A"/>
                </a:solidFill>
                <a:latin typeface="Consolas" pitchFamily="34" charset="0"/>
                <a:ea typeface="Consolas" pitchFamily="34" charset="-122"/>
                <a:cs typeface="Consolas" pitchFamily="34" charset="-120"/>
              </a:rPr>
              <a:t>still on the screen.</a:t>
            </a:r>
            <a:endParaRPr lang="en-US" sz="2000" dirty="0"/>
          </a:p>
        </p:txBody>
      </p:sp>
      <p:sp>
        <p:nvSpPr>
          <p:cNvPr id="12" name="Shape 9"/>
          <p:cNvSpPr/>
          <p:nvPr/>
        </p:nvSpPr>
        <p:spPr>
          <a:xfrm>
            <a:off x="6172200" y="1417320"/>
            <a:ext cx="5468112" cy="4434840"/>
          </a:xfrm>
          <a:prstGeom prst="roundRect">
            <a:avLst>
              <a:gd name="adj" fmla="val 1649"/>
            </a:avLst>
          </a:prstGeom>
          <a:solidFill>
            <a:srgbClr val="2A2A32"/>
          </a:solidFill>
          <a:ln w="15875">
            <a:solidFill>
              <a:srgbClr val="3A3A44"/>
            </a:solidFill>
            <a:prstDash val="solid"/>
          </a:ln>
        </p:spPr>
      </p:sp>
      <p:sp>
        <p:nvSpPr>
          <p:cNvPr id="13" name="Text 10"/>
          <p:cNvSpPr txBox="1"/>
          <p:nvPr/>
        </p:nvSpPr>
        <p:spPr>
          <a:xfrm>
            <a:off x="6492240" y="1645920"/>
            <a:ext cx="2743200" cy="274320"/>
          </a:xfrm>
          <a:prstGeom prst="rect">
            <a:avLst/>
          </a:prstGeom>
          <a:noFill/>
          <a:ln/>
        </p:spPr>
        <p:txBody>
          <a:bodyPr wrap="square" lIns="0" tIns="0" rIns="0" bIns="0" rtlCol="0" anchor="ctr"/>
          <a:lstStyle/>
          <a:p>
            <a:pPr indent="0" marL="0">
              <a:buNone/>
            </a:pPr>
            <a:r>
              <a:rPr lang="en-US" sz="1300" b="1" spc="200" kern="0" dirty="0">
                <a:solidFill>
                  <a:srgbClr val="6E6E7A"/>
                </a:solidFill>
                <a:latin typeface="Calibri" pitchFamily="34" charset="0"/>
                <a:ea typeface="Calibri" pitchFamily="34" charset="-122"/>
                <a:cs typeface="Calibri" pitchFamily="34" charset="-120"/>
              </a:rPr>
              <a:t>YOUR TASK</a:t>
            </a:r>
            <a:endParaRPr lang="en-US" sz="1300" dirty="0"/>
          </a:p>
        </p:txBody>
      </p:sp>
      <p:sp>
        <p:nvSpPr>
          <p:cNvPr id="14" name="Text 11"/>
          <p:cNvSpPr txBox="1"/>
          <p:nvPr/>
        </p:nvSpPr>
        <p:spPr>
          <a:xfrm>
            <a:off x="6492240" y="1965960"/>
            <a:ext cx="4828032" cy="822960"/>
          </a:xfrm>
          <a:prstGeom prst="rect">
            <a:avLst/>
          </a:prstGeom>
          <a:noFill/>
          <a:ln/>
        </p:spPr>
        <p:txBody>
          <a:bodyPr wrap="square" lIns="0" tIns="0" rIns="0" bIns="0" rtlCol="0" anchor="ctr"/>
          <a:lstStyle/>
          <a:p>
            <a:pPr indent="0" marL="0">
              <a:buNone/>
            </a:pPr>
            <a:r>
              <a:rPr lang="en-US" sz="2600" dirty="0">
                <a:solidFill>
                  <a:srgbClr val="F5F5F3"/>
                </a:solidFill>
                <a:latin typeface="Calibri" pitchFamily="34" charset="0"/>
                <a:ea typeface="Calibri" pitchFamily="34" charset="-122"/>
                <a:cs typeface="Calibri" pitchFamily="34" charset="-120"/>
              </a:rPr>
              <a:t>Open </a:t>
            </a:r>
            <a:pPr indent="0" marL="0">
              <a:buNone/>
            </a:pPr>
            <a:r>
              <a:rPr lang="en-US" sz="2600" b="1" dirty="0">
                <a:solidFill>
                  <a:srgbClr val="D8A73D"/>
                </a:solidFill>
                <a:latin typeface="Calibri" pitchFamily="34" charset="0"/>
                <a:ea typeface="Calibri" pitchFamily="34" charset="-122"/>
                <a:cs typeface="Calibri" pitchFamily="34" charset="-120"/>
              </a:rPr>
              <a:t>Life Support</a:t>
            </a:r>
            <a:pPr indent="0" marL="0">
              <a:buNone/>
            </a:pPr>
            <a:r>
              <a:rPr lang="en-US" sz="2600" dirty="0">
                <a:solidFill>
                  <a:srgbClr val="F5F5F3"/>
                </a:solidFill>
                <a:latin typeface="Calibri" pitchFamily="34" charset="0"/>
                <a:ea typeface="Calibri" pitchFamily="34" charset="-122"/>
                <a:cs typeface="Calibri" pitchFamily="34" charset="-120"/>
              </a:rPr>
              <a:t> from Google Classroom</a:t>
            </a:r>
            <a:endParaRPr lang="en-US" sz="2600" dirty="0"/>
          </a:p>
        </p:txBody>
      </p:sp>
      <p:sp>
        <p:nvSpPr>
          <p:cNvPr id="15" name="Shape 12"/>
          <p:cNvSpPr/>
          <p:nvPr/>
        </p:nvSpPr>
        <p:spPr>
          <a:xfrm>
            <a:off x="6492240" y="3063240"/>
            <a:ext cx="914400" cy="685800"/>
          </a:xfrm>
          <a:prstGeom prst="roundRect">
            <a:avLst>
              <a:gd name="adj" fmla="val 8000"/>
            </a:avLst>
          </a:prstGeom>
          <a:solidFill>
            <a:srgbClr val="1E1E24"/>
          </a:solidFill>
          <a:ln w="15875">
            <a:solidFill>
              <a:srgbClr val="D8A73D"/>
            </a:solidFill>
            <a:prstDash val="solid"/>
          </a:ln>
        </p:spPr>
      </p:sp>
      <p:sp>
        <p:nvSpPr>
          <p:cNvPr id="16" name="Text 13"/>
          <p:cNvSpPr txBox="1"/>
          <p:nvPr/>
        </p:nvSpPr>
        <p:spPr>
          <a:xfrm>
            <a:off x="6492240" y="3063240"/>
            <a:ext cx="914400" cy="685800"/>
          </a:xfrm>
          <a:prstGeom prst="rect">
            <a:avLst/>
          </a:prstGeom>
          <a:noFill/>
          <a:ln/>
        </p:spPr>
        <p:txBody>
          <a:bodyPr wrap="square" lIns="0" tIns="0" rIns="0" bIns="0" rtlCol="0" anchor="ctr"/>
          <a:lstStyle/>
          <a:p>
            <a:pPr algn="ctr" indent="0" marL="0">
              <a:buNone/>
            </a:pPr>
            <a:r>
              <a:rPr lang="en-US" sz="2800" b="1" dirty="0">
                <a:solidFill>
                  <a:srgbClr val="D8A73D"/>
                </a:solidFill>
                <a:latin typeface="Cambria" pitchFamily="34" charset="0"/>
                <a:ea typeface="Cambria" pitchFamily="34" charset="-122"/>
                <a:cs typeface="Cambria" pitchFamily="34" charset="-120"/>
              </a:rPr>
              <a:t>P</a:t>
            </a:r>
            <a:endParaRPr lang="en-US" sz="2800" dirty="0"/>
          </a:p>
        </p:txBody>
      </p:sp>
      <p:sp>
        <p:nvSpPr>
          <p:cNvPr id="17" name="Text 14"/>
          <p:cNvSpPr txBox="1"/>
          <p:nvPr/>
        </p:nvSpPr>
        <p:spPr>
          <a:xfrm>
            <a:off x="6400800" y="3794760"/>
            <a:ext cx="1097280" cy="274320"/>
          </a:xfrm>
          <a:prstGeom prst="rect">
            <a:avLst/>
          </a:prstGeom>
          <a:noFill/>
          <a:ln/>
        </p:spPr>
        <p:txBody>
          <a:bodyPr wrap="square" lIns="0" tIns="0" rIns="0" bIns="0" rtlCol="0" anchor="ctr"/>
          <a:lstStyle/>
          <a:p>
            <a:pPr algn="ctr" indent="0" marL="0">
              <a:buNone/>
            </a:pPr>
            <a:r>
              <a:rPr lang="en-US" sz="1200" dirty="0">
                <a:solidFill>
                  <a:srgbClr val="A9A9B4"/>
                </a:solidFill>
                <a:latin typeface="Calibri" pitchFamily="34" charset="0"/>
                <a:ea typeface="Calibri" pitchFamily="34" charset="-122"/>
                <a:cs typeface="Calibri" pitchFamily="34" charset="-120"/>
              </a:rPr>
              <a:t>Predict</a:t>
            </a:r>
            <a:endParaRPr lang="en-US" sz="1200" dirty="0"/>
          </a:p>
        </p:txBody>
      </p:sp>
      <p:sp>
        <p:nvSpPr>
          <p:cNvPr id="18" name="Shape 15"/>
          <p:cNvSpPr/>
          <p:nvPr/>
        </p:nvSpPr>
        <p:spPr>
          <a:xfrm>
            <a:off x="7470648" y="3063240"/>
            <a:ext cx="914400" cy="685800"/>
          </a:xfrm>
          <a:prstGeom prst="roundRect">
            <a:avLst>
              <a:gd name="adj" fmla="val 8000"/>
            </a:avLst>
          </a:prstGeom>
          <a:solidFill>
            <a:srgbClr val="1E1E24"/>
          </a:solidFill>
          <a:ln w="15875">
            <a:solidFill>
              <a:srgbClr val="D8A73D"/>
            </a:solidFill>
            <a:prstDash val="solid"/>
          </a:ln>
        </p:spPr>
      </p:sp>
      <p:sp>
        <p:nvSpPr>
          <p:cNvPr id="19" name="Text 16"/>
          <p:cNvSpPr txBox="1"/>
          <p:nvPr/>
        </p:nvSpPr>
        <p:spPr>
          <a:xfrm>
            <a:off x="7470648" y="3063240"/>
            <a:ext cx="914400" cy="685800"/>
          </a:xfrm>
          <a:prstGeom prst="rect">
            <a:avLst/>
          </a:prstGeom>
          <a:noFill/>
          <a:ln/>
        </p:spPr>
        <p:txBody>
          <a:bodyPr wrap="square" lIns="0" tIns="0" rIns="0" bIns="0" rtlCol="0" anchor="ctr"/>
          <a:lstStyle/>
          <a:p>
            <a:pPr algn="ctr" indent="0" marL="0">
              <a:buNone/>
            </a:pPr>
            <a:r>
              <a:rPr lang="en-US" sz="2800" b="1" dirty="0">
                <a:solidFill>
                  <a:srgbClr val="D8A73D"/>
                </a:solidFill>
                <a:latin typeface="Cambria" pitchFamily="34" charset="0"/>
                <a:ea typeface="Cambria" pitchFamily="34" charset="-122"/>
                <a:cs typeface="Cambria" pitchFamily="34" charset="-120"/>
              </a:rPr>
              <a:t>R</a:t>
            </a:r>
            <a:endParaRPr lang="en-US" sz="2800" dirty="0"/>
          </a:p>
        </p:txBody>
      </p:sp>
      <p:sp>
        <p:nvSpPr>
          <p:cNvPr id="20" name="Text 17"/>
          <p:cNvSpPr txBox="1"/>
          <p:nvPr/>
        </p:nvSpPr>
        <p:spPr>
          <a:xfrm>
            <a:off x="7379208" y="3794760"/>
            <a:ext cx="1097280" cy="274320"/>
          </a:xfrm>
          <a:prstGeom prst="rect">
            <a:avLst/>
          </a:prstGeom>
          <a:noFill/>
          <a:ln/>
        </p:spPr>
        <p:txBody>
          <a:bodyPr wrap="square" lIns="0" tIns="0" rIns="0" bIns="0" rtlCol="0" anchor="ctr"/>
          <a:lstStyle/>
          <a:p>
            <a:pPr algn="ctr" indent="0" marL="0">
              <a:buNone/>
            </a:pPr>
            <a:r>
              <a:rPr lang="en-US" sz="1200" dirty="0">
                <a:solidFill>
                  <a:srgbClr val="A9A9B4"/>
                </a:solidFill>
                <a:latin typeface="Calibri" pitchFamily="34" charset="0"/>
                <a:ea typeface="Calibri" pitchFamily="34" charset="-122"/>
                <a:cs typeface="Calibri" pitchFamily="34" charset="-120"/>
              </a:rPr>
              <a:t>Run</a:t>
            </a:r>
            <a:endParaRPr lang="en-US" sz="1200" dirty="0"/>
          </a:p>
        </p:txBody>
      </p:sp>
      <p:sp>
        <p:nvSpPr>
          <p:cNvPr id="21" name="Shape 18"/>
          <p:cNvSpPr/>
          <p:nvPr/>
        </p:nvSpPr>
        <p:spPr>
          <a:xfrm>
            <a:off x="8449056" y="3063240"/>
            <a:ext cx="914400" cy="685800"/>
          </a:xfrm>
          <a:prstGeom prst="roundRect">
            <a:avLst>
              <a:gd name="adj" fmla="val 8000"/>
            </a:avLst>
          </a:prstGeom>
          <a:solidFill>
            <a:srgbClr val="1E1E24"/>
          </a:solidFill>
          <a:ln w="15875">
            <a:solidFill>
              <a:srgbClr val="D8A73D"/>
            </a:solidFill>
            <a:prstDash val="solid"/>
          </a:ln>
        </p:spPr>
      </p:sp>
      <p:sp>
        <p:nvSpPr>
          <p:cNvPr id="22" name="Text 19"/>
          <p:cNvSpPr txBox="1"/>
          <p:nvPr/>
        </p:nvSpPr>
        <p:spPr>
          <a:xfrm>
            <a:off x="8449056" y="3063240"/>
            <a:ext cx="914400" cy="685800"/>
          </a:xfrm>
          <a:prstGeom prst="rect">
            <a:avLst/>
          </a:prstGeom>
          <a:noFill/>
          <a:ln/>
        </p:spPr>
        <p:txBody>
          <a:bodyPr wrap="square" lIns="0" tIns="0" rIns="0" bIns="0" rtlCol="0" anchor="ctr"/>
          <a:lstStyle/>
          <a:p>
            <a:pPr algn="ctr" indent="0" marL="0">
              <a:buNone/>
            </a:pPr>
            <a:r>
              <a:rPr lang="en-US" sz="2800" b="1" dirty="0">
                <a:solidFill>
                  <a:srgbClr val="D8A73D"/>
                </a:solidFill>
                <a:latin typeface="Cambria" pitchFamily="34" charset="0"/>
                <a:ea typeface="Cambria" pitchFamily="34" charset="-122"/>
                <a:cs typeface="Cambria" pitchFamily="34" charset="-120"/>
              </a:rPr>
              <a:t>I</a:t>
            </a:r>
            <a:endParaRPr lang="en-US" sz="2800" dirty="0"/>
          </a:p>
        </p:txBody>
      </p:sp>
      <p:sp>
        <p:nvSpPr>
          <p:cNvPr id="23" name="Text 20"/>
          <p:cNvSpPr txBox="1"/>
          <p:nvPr/>
        </p:nvSpPr>
        <p:spPr>
          <a:xfrm>
            <a:off x="8357616" y="3794760"/>
            <a:ext cx="1097280" cy="274320"/>
          </a:xfrm>
          <a:prstGeom prst="rect">
            <a:avLst/>
          </a:prstGeom>
          <a:noFill/>
          <a:ln/>
        </p:spPr>
        <p:txBody>
          <a:bodyPr wrap="square" lIns="0" tIns="0" rIns="0" bIns="0" rtlCol="0" anchor="ctr"/>
          <a:lstStyle/>
          <a:p>
            <a:pPr algn="ctr" indent="0" marL="0">
              <a:buNone/>
            </a:pPr>
            <a:r>
              <a:rPr lang="en-US" sz="1200" dirty="0">
                <a:solidFill>
                  <a:srgbClr val="A9A9B4"/>
                </a:solidFill>
                <a:latin typeface="Calibri" pitchFamily="34" charset="0"/>
                <a:ea typeface="Calibri" pitchFamily="34" charset="-122"/>
                <a:cs typeface="Calibri" pitchFamily="34" charset="-120"/>
              </a:rPr>
              <a:t>Investigate</a:t>
            </a:r>
            <a:endParaRPr lang="en-US" sz="1200" dirty="0"/>
          </a:p>
        </p:txBody>
      </p:sp>
      <p:sp>
        <p:nvSpPr>
          <p:cNvPr id="24" name="Shape 21"/>
          <p:cNvSpPr/>
          <p:nvPr/>
        </p:nvSpPr>
        <p:spPr>
          <a:xfrm>
            <a:off x="9427464" y="3063240"/>
            <a:ext cx="914400" cy="685800"/>
          </a:xfrm>
          <a:prstGeom prst="roundRect">
            <a:avLst>
              <a:gd name="adj" fmla="val 8000"/>
            </a:avLst>
          </a:prstGeom>
          <a:solidFill>
            <a:srgbClr val="1E1E24"/>
          </a:solidFill>
          <a:ln w="15875">
            <a:solidFill>
              <a:srgbClr val="D8A73D"/>
            </a:solidFill>
            <a:prstDash val="solid"/>
          </a:ln>
        </p:spPr>
      </p:sp>
      <p:sp>
        <p:nvSpPr>
          <p:cNvPr id="25" name="Text 22"/>
          <p:cNvSpPr txBox="1"/>
          <p:nvPr/>
        </p:nvSpPr>
        <p:spPr>
          <a:xfrm>
            <a:off x="9427464" y="3063240"/>
            <a:ext cx="914400" cy="685800"/>
          </a:xfrm>
          <a:prstGeom prst="rect">
            <a:avLst/>
          </a:prstGeom>
          <a:noFill/>
          <a:ln/>
        </p:spPr>
        <p:txBody>
          <a:bodyPr wrap="square" lIns="0" tIns="0" rIns="0" bIns="0" rtlCol="0" anchor="ctr"/>
          <a:lstStyle/>
          <a:p>
            <a:pPr algn="ctr" indent="0" marL="0">
              <a:buNone/>
            </a:pPr>
            <a:r>
              <a:rPr lang="en-US" sz="2800" b="1" dirty="0">
                <a:solidFill>
                  <a:srgbClr val="D8A73D"/>
                </a:solidFill>
                <a:latin typeface="Cambria" pitchFamily="34" charset="0"/>
                <a:ea typeface="Cambria" pitchFamily="34" charset="-122"/>
                <a:cs typeface="Cambria" pitchFamily="34" charset="-120"/>
              </a:rPr>
              <a:t>M</a:t>
            </a:r>
            <a:endParaRPr lang="en-US" sz="2800" dirty="0"/>
          </a:p>
        </p:txBody>
      </p:sp>
      <p:sp>
        <p:nvSpPr>
          <p:cNvPr id="26" name="Text 23"/>
          <p:cNvSpPr txBox="1"/>
          <p:nvPr/>
        </p:nvSpPr>
        <p:spPr>
          <a:xfrm>
            <a:off x="9336024" y="3794760"/>
            <a:ext cx="1097280" cy="274320"/>
          </a:xfrm>
          <a:prstGeom prst="rect">
            <a:avLst/>
          </a:prstGeom>
          <a:noFill/>
          <a:ln/>
        </p:spPr>
        <p:txBody>
          <a:bodyPr wrap="square" lIns="0" tIns="0" rIns="0" bIns="0" rtlCol="0" anchor="ctr"/>
          <a:lstStyle/>
          <a:p>
            <a:pPr algn="ctr" indent="0" marL="0">
              <a:buNone/>
            </a:pPr>
            <a:r>
              <a:rPr lang="en-US" sz="1200" dirty="0">
                <a:solidFill>
                  <a:srgbClr val="A9A9B4"/>
                </a:solidFill>
                <a:latin typeface="Calibri" pitchFamily="34" charset="0"/>
                <a:ea typeface="Calibri" pitchFamily="34" charset="-122"/>
                <a:cs typeface="Calibri" pitchFamily="34" charset="-120"/>
              </a:rPr>
              <a:t>Modify</a:t>
            </a:r>
            <a:endParaRPr lang="en-US" sz="1200" dirty="0"/>
          </a:p>
        </p:txBody>
      </p:sp>
      <p:sp>
        <p:nvSpPr>
          <p:cNvPr id="27" name="Shape 24"/>
          <p:cNvSpPr/>
          <p:nvPr/>
        </p:nvSpPr>
        <p:spPr>
          <a:xfrm>
            <a:off x="10405872" y="3063240"/>
            <a:ext cx="914400" cy="685800"/>
          </a:xfrm>
          <a:prstGeom prst="roundRect">
            <a:avLst>
              <a:gd name="adj" fmla="val 8000"/>
            </a:avLst>
          </a:prstGeom>
          <a:solidFill>
            <a:srgbClr val="1E1E24"/>
          </a:solidFill>
          <a:ln w="15875">
            <a:solidFill>
              <a:srgbClr val="D8A73D"/>
            </a:solidFill>
            <a:prstDash val="solid"/>
          </a:ln>
        </p:spPr>
      </p:sp>
      <p:sp>
        <p:nvSpPr>
          <p:cNvPr id="28" name="Text 25"/>
          <p:cNvSpPr txBox="1"/>
          <p:nvPr/>
        </p:nvSpPr>
        <p:spPr>
          <a:xfrm>
            <a:off x="10405872" y="3063240"/>
            <a:ext cx="914400" cy="685800"/>
          </a:xfrm>
          <a:prstGeom prst="rect">
            <a:avLst/>
          </a:prstGeom>
          <a:noFill/>
          <a:ln/>
        </p:spPr>
        <p:txBody>
          <a:bodyPr wrap="square" lIns="0" tIns="0" rIns="0" bIns="0" rtlCol="0" anchor="ctr"/>
          <a:lstStyle/>
          <a:p>
            <a:pPr algn="ctr" indent="0" marL="0">
              <a:buNone/>
            </a:pPr>
            <a:r>
              <a:rPr lang="en-US" sz="2800" b="1" dirty="0">
                <a:solidFill>
                  <a:srgbClr val="D8A73D"/>
                </a:solidFill>
                <a:latin typeface="Cambria" pitchFamily="34" charset="0"/>
                <a:ea typeface="Cambria" pitchFamily="34" charset="-122"/>
                <a:cs typeface="Cambria" pitchFamily="34" charset="-120"/>
              </a:rPr>
              <a:t>M</a:t>
            </a:r>
            <a:endParaRPr lang="en-US" sz="2800" dirty="0"/>
          </a:p>
        </p:txBody>
      </p:sp>
      <p:sp>
        <p:nvSpPr>
          <p:cNvPr id="29" name="Text 26"/>
          <p:cNvSpPr txBox="1"/>
          <p:nvPr/>
        </p:nvSpPr>
        <p:spPr>
          <a:xfrm>
            <a:off x="10314432" y="3794760"/>
            <a:ext cx="1097280" cy="274320"/>
          </a:xfrm>
          <a:prstGeom prst="rect">
            <a:avLst/>
          </a:prstGeom>
          <a:noFill/>
          <a:ln/>
        </p:spPr>
        <p:txBody>
          <a:bodyPr wrap="square" lIns="0" tIns="0" rIns="0" bIns="0" rtlCol="0" anchor="ctr"/>
          <a:lstStyle/>
          <a:p>
            <a:pPr algn="ctr" indent="0" marL="0">
              <a:buNone/>
            </a:pPr>
            <a:r>
              <a:rPr lang="en-US" sz="1200" dirty="0">
                <a:solidFill>
                  <a:srgbClr val="A9A9B4"/>
                </a:solidFill>
                <a:latin typeface="Calibri" pitchFamily="34" charset="0"/>
                <a:ea typeface="Calibri" pitchFamily="34" charset="-122"/>
                <a:cs typeface="Calibri" pitchFamily="34" charset="-120"/>
              </a:rPr>
              <a:t>Make</a:t>
            </a:r>
            <a:endParaRPr lang="en-US" sz="1200" dirty="0"/>
          </a:p>
        </p:txBody>
      </p:sp>
      <p:sp>
        <p:nvSpPr>
          <p:cNvPr id="30" name="Text 27"/>
          <p:cNvSpPr txBox="1"/>
          <p:nvPr/>
        </p:nvSpPr>
        <p:spPr>
          <a:xfrm>
            <a:off x="6492240" y="4343400"/>
            <a:ext cx="4828032" cy="1280160"/>
          </a:xfrm>
          <a:prstGeom prst="rect">
            <a:avLst/>
          </a:prstGeom>
          <a:noFill/>
          <a:ln/>
        </p:spPr>
        <p:txBody>
          <a:bodyPr wrap="square" lIns="0" tIns="0" rIns="0" bIns="0" rtlCol="0" anchor="ctr"/>
          <a:lstStyle/>
          <a:p>
            <a:pPr indent="0" marL="0">
              <a:buNone/>
            </a:pPr>
            <a:r>
              <a:rPr lang="en-US" sz="1900" b="1" dirty="0">
                <a:solidFill>
                  <a:srgbClr val="D8A73D"/>
                </a:solidFill>
                <a:latin typeface="Calibri" pitchFamily="34" charset="0"/>
                <a:ea typeface="Calibri" pitchFamily="34" charset="-122"/>
                <a:cs typeface="Calibri" pitchFamily="34" charset="-120"/>
              </a:rPr>
              <a:t>Modification 1 is your call. </a:t>
            </a:r>
            <a:pPr indent="0" marL="0">
              <a:buNone/>
            </a:pPr>
            <a:r>
              <a:rPr lang="en-US" sz="1900" dirty="0">
                <a:solidFill>
                  <a:srgbClr val="F5F5F3"/>
                </a:solidFill>
                <a:latin typeface="Calibri" pitchFamily="34" charset="0"/>
                <a:ea typeface="Calibri" pitchFamily="34" charset="-122"/>
                <a:cs typeface="Calibri" pitchFamily="34" charset="-120"/>
              </a:rPr>
              <a:t>It changes the story, not your score.</a:t>
            </a:r>
            <a:endParaRPr lang="en-US" sz="1900" dirty="0"/>
          </a:p>
        </p:txBody>
      </p:sp>
      <p:sp>
        <p:nvSpPr>
          <p:cNvPr id="31" name="Shape 28"/>
          <p:cNvSpPr/>
          <p:nvPr/>
        </p:nvSpPr>
        <p:spPr>
          <a:xfrm>
            <a:off x="10131552" y="1627632"/>
            <a:ext cx="1280160" cy="329184"/>
          </a:xfrm>
          <a:prstGeom prst="roundRect">
            <a:avLst>
              <a:gd name="adj" fmla="val 50000"/>
            </a:avLst>
          </a:prstGeom>
          <a:solidFill>
            <a:srgbClr val="1E1E24"/>
          </a:solidFill>
          <a:ln w="15875">
            <a:solidFill>
              <a:srgbClr val="D8A73D"/>
            </a:solidFill>
            <a:prstDash val="solid"/>
          </a:ln>
        </p:spPr>
      </p:sp>
      <p:sp>
        <p:nvSpPr>
          <p:cNvPr id="32" name="Text 29"/>
          <p:cNvSpPr txBox="1"/>
          <p:nvPr/>
        </p:nvSpPr>
        <p:spPr>
          <a:xfrm>
            <a:off x="10131552" y="1627632"/>
            <a:ext cx="1280160" cy="329184"/>
          </a:xfrm>
          <a:prstGeom prst="rect">
            <a:avLst/>
          </a:prstGeom>
          <a:noFill/>
          <a:ln/>
        </p:spPr>
        <p:txBody>
          <a:bodyPr wrap="square" lIns="0" tIns="0" rIns="0" bIns="0" rtlCol="0" anchor="ctr"/>
          <a:lstStyle/>
          <a:p>
            <a:pPr algn="ctr" indent="0" marL="0">
              <a:buNone/>
            </a:pPr>
            <a:r>
              <a:rPr lang="en-US" sz="1400" b="1" spc="100" kern="0" dirty="0">
                <a:solidFill>
                  <a:srgbClr val="D8A73D"/>
                </a:solidFill>
                <a:latin typeface="Calibri" pitchFamily="34" charset="0"/>
                <a:ea typeface="Calibri" pitchFamily="34" charset="-122"/>
                <a:cs typeface="Calibri" pitchFamily="34" charset="-120"/>
              </a:rPr>
              <a:t>⏱  ≈20 MIN</a:t>
            </a:r>
            <a:endParaRPr lang="en-US" sz="1400" dirty="0"/>
          </a:p>
        </p:txBody>
      </p:sp>
      <p:pic>
        <p:nvPicPr>
          <p:cNvPr id="33" name="Image 1" descr="Deliberate practice">    </p:cNvPr>
          <p:cNvPicPr>
            <a:picLocks noChangeAspect="1"/>
          </p:cNvPicPr>
          <p:nvPr/>
        </p:nvPicPr>
        <p:blipFill>
          <a:blip r:embed="rId2"/>
          <a:stretch>
            <a:fillRect/>
          </a:stretch>
        </p:blipFill>
        <p:spPr>
          <a:xfrm>
            <a:off x="10972800" y="384048"/>
            <a:ext cx="731520" cy="731520"/>
          </a:xfrm>
          <a:prstGeom prst="rect">
            <a:avLst/>
          </a:prstGeom>
        </p:spPr>
      </p:pic>
      <p:sp>
        <p:nvSpPr>
          <p:cNvPr id="35" name="Text 30"/>
          <p:cNvSpPr txBox="1"/>
          <p:nvPr/>
        </p:nvSpPr>
        <p:spPr>
          <a:xfrm>
            <a:off x="4206240" y="6355080"/>
            <a:ext cx="6812280" cy="320040"/>
          </a:xfrm>
          <a:prstGeom prst="rect">
            <a:avLst/>
          </a:prstGeom>
          <a:noFill/>
          <a:ln/>
        </p:spPr>
        <p:txBody>
          <a:bodyPr wrap="square" lIns="0" tIns="0" rIns="0" bIns="0" rtlCol="0" anchor="ctr"/>
          <a:lstStyle/>
          <a:p>
            <a:pPr algn="r" indent="0" marL="0">
              <a:buNone/>
            </a:pPr>
            <a:r>
              <a:rPr lang="en-US" sz="1300" b="1" i="1" dirty="0">
                <a:solidFill>
                  <a:srgbClr val="D8A73D"/>
                </a:solidFill>
                <a:latin typeface="Calibri" pitchFamily="34" charset="0"/>
                <a:ea typeface="Calibri" pitchFamily="34" charset="-122"/>
                <a:cs typeface="Calibri" pitchFamily="34" charset="-120"/>
              </a:rPr>
              <a:t>chapterSlide()  ·  beat demo 1 of 2: station('L1b') before the beat</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auto · station edge_amber" descr="C:\Users\n.houlton_grange.out\source\repos\interactive\_presentations\Y9_Python\station\edge_amber.png">    </p:cNvPr>
          <p:cNvPicPr>
            <a:picLocks noChangeAspect="1"/>
          </p:cNvPicPr>
          <p:nvPr/>
        </p:nvPicPr>
        <p:blipFill>
          <a:blip r:embed="rId1"/>
          <a:stretch>
            <a:fillRect/>
          </a:stretch>
        </p:blipFill>
        <p:spPr>
          <a:xfrm>
            <a:off x="0" y="0"/>
            <a:ext cx="12191695" cy="6858000"/>
          </a:xfrm>
          <a:prstGeom prst="rect">
            <a:avLst/>
          </a:prstGeom>
        </p:spPr>
      </p:pic>
      <p:sp>
        <p:nvSpPr>
          <p:cNvPr id="3" name="station status"/>
          <p:cNvSpPr txBox="1"/>
          <p:nvPr/>
        </p:nvSpPr>
        <p:spPr>
          <a:xfrm>
            <a:off x="548640" y="73152"/>
            <a:ext cx="10241280" cy="237744"/>
          </a:xfrm>
          <a:prstGeom prst="rect">
            <a:avLst/>
          </a:prstGeom>
          <a:noFill/>
          <a:ln/>
        </p:spPr>
        <p:txBody>
          <a:bodyPr wrap="square" lIns="0" tIns="0" rIns="0" bIns="0" rtlCol="0" anchor="ctr"/>
          <a:lstStyle/>
          <a:p>
            <a:pPr indent="0" marL="0">
              <a:buNone/>
            </a:pPr>
            <a:r>
              <a:rPr lang="en-US" sz="1100" spc="100" kern="0" dirty="0">
                <a:solidFill>
                  <a:srgbClr val="E69F00"/>
                </a:solidFill>
                <a:latin typeface="Consolas" pitchFamily="34" charset="0"/>
                <a:ea typeface="Consolas" pitchFamily="34" charset="-122"/>
                <a:cs typeface="Consolas" pitchFamily="34" charset="-120"/>
              </a:rPr>
              <a:t>●  </a:t>
            </a:r>
            <a:pPr indent="0" marL="0">
              <a:buNone/>
            </a:pPr>
            <a:r>
              <a:rPr lang="en-US" sz="1100" spc="100" kern="0" dirty="0">
                <a:solidFill>
                  <a:srgbClr val="6E6E7A"/>
                </a:solidFill>
                <a:latin typeface="Consolas" pitchFamily="34" charset="0"/>
                <a:ea typeface="Consolas" pitchFamily="34" charset="-122"/>
                <a:cs typeface="Consolas" pitchFamily="34" charset="-120"/>
              </a:rPr>
              <a:t>SENSOR OPS   ·   MOTION DETECTED   ·   BIO-SCAN: NOT HUMAN</a:t>
            </a:r>
            <a:endParaRPr lang="en-US" sz="1100" dirty="0"/>
          </a:p>
        </p:txBody>
      </p:sp>
      <p:sp>
        <p:nvSpPr>
          <p:cNvPr id="4"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Plenary</a:t>
            </a:r>
            <a:endParaRPr lang="en-US" sz="3600" dirty="0"/>
          </a:p>
        </p:txBody>
      </p:sp>
      <p:sp>
        <p:nvSpPr>
          <p:cNvPr id="5" name="Shape 2"/>
          <p:cNvSpPr/>
          <p:nvPr/>
        </p:nvSpPr>
        <p:spPr>
          <a:xfrm>
            <a:off x="548640" y="1508760"/>
            <a:ext cx="11091672" cy="1097280"/>
          </a:xfrm>
          <a:prstGeom prst="roundRect">
            <a:avLst>
              <a:gd name="adj" fmla="val 6667"/>
            </a:avLst>
          </a:prstGeom>
          <a:solidFill>
            <a:srgbClr val="2A2A32"/>
          </a:solidFill>
          <a:ln w="25400">
            <a:solidFill>
              <a:srgbClr val="D8A73D"/>
            </a:solidFill>
            <a:prstDash val="solid"/>
          </a:ln>
        </p:spPr>
      </p:sp>
      <p:sp>
        <p:nvSpPr>
          <p:cNvPr id="6" name="Text 3"/>
          <p:cNvSpPr txBox="1"/>
          <p:nvPr/>
        </p:nvSpPr>
        <p:spPr>
          <a:xfrm>
            <a:off x="914400" y="1627632"/>
            <a:ext cx="3657600" cy="274320"/>
          </a:xfrm>
          <a:prstGeom prst="rect">
            <a:avLst/>
          </a:prstGeom>
          <a:noFill/>
          <a:ln/>
        </p:spPr>
        <p:txBody>
          <a:bodyPr wrap="square" lIns="0" tIns="0" rIns="0" bIns="0" rtlCol="0" anchor="ctr"/>
          <a:lstStyle/>
          <a:p>
            <a:pPr indent="0" marL="0">
              <a:buNone/>
            </a:pPr>
            <a:r>
              <a:rPr lang="en-US" sz="1300" b="1" spc="200" kern="0" dirty="0">
                <a:solidFill>
                  <a:srgbClr val="D8A73D"/>
                </a:solidFill>
                <a:latin typeface="Calibri" pitchFamily="34" charset="0"/>
                <a:ea typeface="Calibri" pitchFamily="34" charset="-122"/>
                <a:cs typeface="Calibri" pitchFamily="34" charset="-120"/>
              </a:rPr>
              <a:t>LESSON QUESTION</a:t>
            </a:r>
            <a:endParaRPr lang="en-US" sz="1300" dirty="0"/>
          </a:p>
        </p:txBody>
      </p:sp>
      <p:sp>
        <p:nvSpPr>
          <p:cNvPr id="7" name="Text 4"/>
          <p:cNvSpPr txBox="1"/>
          <p:nvPr/>
        </p:nvSpPr>
        <p:spPr>
          <a:xfrm>
            <a:off x="914400" y="1901952"/>
            <a:ext cx="10332720" cy="594360"/>
          </a:xfrm>
          <a:prstGeom prst="rect">
            <a:avLst/>
          </a:prstGeom>
          <a:noFill/>
          <a:ln/>
        </p:spPr>
        <p:txBody>
          <a:bodyPr wrap="square" lIns="0" tIns="0" rIns="0" bIns="0" rtlCol="0" anchor="ctr"/>
          <a:lstStyle/>
          <a:p>
            <a:pPr indent="0" marL="0">
              <a:buNone/>
            </a:pPr>
            <a:r>
              <a:rPr lang="en-US" sz="2600" b="1" dirty="0">
                <a:solidFill>
                  <a:srgbClr val="F5F5F3"/>
                </a:solidFill>
                <a:latin typeface="Cambria" pitchFamily="34" charset="0"/>
                <a:ea typeface="Cambria" pitchFamily="34" charset="-122"/>
                <a:cs typeface="Cambria" pitchFamily="34" charset="-120"/>
              </a:rPr>
              <a:t>How do we ask for, store and calculate with what a user types?</a:t>
            </a:r>
            <a:endParaRPr lang="en-US" sz="2600" dirty="0"/>
          </a:p>
        </p:txBody>
      </p:sp>
      <p:sp>
        <p:nvSpPr>
          <p:cNvPr id="8" name="Shape 5"/>
          <p:cNvSpPr/>
          <p:nvPr/>
        </p:nvSpPr>
        <p:spPr>
          <a:xfrm>
            <a:off x="548640" y="2953512"/>
            <a:ext cx="438912" cy="438912"/>
          </a:xfrm>
          <a:prstGeom prst="ellipse">
            <a:avLst/>
          </a:prstGeom>
          <a:solidFill>
            <a:srgbClr val="D8A73D"/>
          </a:solidFill>
          <a:ln/>
        </p:spPr>
      </p:sp>
      <p:sp>
        <p:nvSpPr>
          <p:cNvPr id="9" name="Text 6"/>
          <p:cNvSpPr txBox="1"/>
          <p:nvPr/>
        </p:nvSpPr>
        <p:spPr>
          <a:xfrm>
            <a:off x="548640" y="2953512"/>
            <a:ext cx="438912" cy="438912"/>
          </a:xfrm>
          <a:prstGeom prst="rect">
            <a:avLst/>
          </a:prstGeom>
          <a:noFill/>
          <a:ln/>
        </p:spPr>
        <p:txBody>
          <a:bodyPr wrap="square" lIns="0" tIns="0" rIns="0" bIns="0" rtlCol="0" anchor="ctr"/>
          <a:lstStyle/>
          <a:p>
            <a:pPr algn="ctr" indent="0" marL="0">
              <a:buNone/>
            </a:pPr>
            <a:r>
              <a:rPr lang="en-US" sz="2000" b="1" dirty="0">
                <a:solidFill>
                  <a:srgbClr val="1E1E24"/>
                </a:solidFill>
                <a:latin typeface="Cambria" pitchFamily="34" charset="0"/>
                <a:ea typeface="Cambria" pitchFamily="34" charset="-122"/>
                <a:cs typeface="Cambria" pitchFamily="34" charset="-120"/>
              </a:rPr>
              <a:t>1</a:t>
            </a:r>
            <a:endParaRPr lang="en-US" sz="2000" dirty="0"/>
          </a:p>
        </p:txBody>
      </p:sp>
      <p:sp>
        <p:nvSpPr>
          <p:cNvPr id="10" name="Text 7"/>
          <p:cNvSpPr txBox="1"/>
          <p:nvPr/>
        </p:nvSpPr>
        <p:spPr>
          <a:xfrm>
            <a:off x="1188720" y="2880360"/>
            <a:ext cx="10424160" cy="594360"/>
          </a:xfrm>
          <a:prstGeom prst="rect">
            <a:avLst/>
          </a:prstGeom>
          <a:noFill/>
          <a:ln/>
        </p:spPr>
        <p:txBody>
          <a:bodyPr wrap="square" lIns="0" tIns="0" rIns="0" bIns="0" rtlCol="0" anchor="ctr"/>
          <a:lstStyle/>
          <a:p>
            <a:pPr indent="0" marL="0">
              <a:buNone/>
            </a:pPr>
            <a:r>
              <a:rPr lang="en-US" sz="2200" dirty="0">
                <a:solidFill>
                  <a:srgbClr val="F5F5F3"/>
                </a:solidFill>
                <a:latin typeface="Calibri" pitchFamily="34" charset="0"/>
                <a:ea typeface="Calibri" pitchFamily="34" charset="-122"/>
                <a:cs typeface="Calibri" pitchFamily="34" charset="-120"/>
              </a:rPr>
              <a:t>Write one line that asks how many crew are awake and stores it as a whole number in crew.</a:t>
            </a:r>
            <a:endParaRPr lang="en-US" sz="2200" dirty="0"/>
          </a:p>
        </p:txBody>
      </p:sp>
      <p:sp>
        <p:nvSpPr>
          <p:cNvPr id="11" name="Shape 8"/>
          <p:cNvSpPr/>
          <p:nvPr/>
        </p:nvSpPr>
        <p:spPr>
          <a:xfrm>
            <a:off x="548640" y="4096512"/>
            <a:ext cx="438912" cy="438912"/>
          </a:xfrm>
          <a:prstGeom prst="ellipse">
            <a:avLst/>
          </a:prstGeom>
          <a:solidFill>
            <a:srgbClr val="D8A73D"/>
          </a:solidFill>
          <a:ln/>
        </p:spPr>
      </p:sp>
      <p:sp>
        <p:nvSpPr>
          <p:cNvPr id="12" name="Text 9"/>
          <p:cNvSpPr txBox="1"/>
          <p:nvPr/>
        </p:nvSpPr>
        <p:spPr>
          <a:xfrm>
            <a:off x="548640" y="4096512"/>
            <a:ext cx="438912" cy="438912"/>
          </a:xfrm>
          <a:prstGeom prst="rect">
            <a:avLst/>
          </a:prstGeom>
          <a:noFill/>
          <a:ln/>
        </p:spPr>
        <p:txBody>
          <a:bodyPr wrap="square" lIns="0" tIns="0" rIns="0" bIns="0" rtlCol="0" anchor="ctr"/>
          <a:lstStyle/>
          <a:p>
            <a:pPr algn="ctr" indent="0" marL="0">
              <a:buNone/>
            </a:pPr>
            <a:r>
              <a:rPr lang="en-US" sz="2000" b="1" dirty="0">
                <a:solidFill>
                  <a:srgbClr val="1E1E24"/>
                </a:solidFill>
                <a:latin typeface="Cambria" pitchFamily="34" charset="0"/>
                <a:ea typeface="Cambria" pitchFamily="34" charset="-122"/>
                <a:cs typeface="Cambria" pitchFamily="34" charset="-120"/>
              </a:rPr>
              <a:t>2</a:t>
            </a:r>
            <a:endParaRPr lang="en-US" sz="2000" dirty="0"/>
          </a:p>
        </p:txBody>
      </p:sp>
      <p:sp>
        <p:nvSpPr>
          <p:cNvPr id="13" name="Text 10"/>
          <p:cNvSpPr txBox="1"/>
          <p:nvPr/>
        </p:nvSpPr>
        <p:spPr>
          <a:xfrm>
            <a:off x="1188720" y="4023360"/>
            <a:ext cx="10424160" cy="594360"/>
          </a:xfrm>
          <a:prstGeom prst="rect">
            <a:avLst/>
          </a:prstGeom>
          <a:noFill/>
          <a:ln/>
        </p:spPr>
        <p:txBody>
          <a:bodyPr wrap="square" lIns="0" tIns="0" rIns="0" bIns="0" rtlCol="0" anchor="ctr"/>
          <a:lstStyle/>
          <a:p>
            <a:pPr indent="0" marL="0">
              <a:buNone/>
            </a:pPr>
            <a:r>
              <a:rPr lang="en-US" sz="2200" dirty="0">
                <a:solidFill>
                  <a:srgbClr val="F5F5F3"/>
                </a:solidFill>
                <a:latin typeface="Calibri" pitchFamily="34" charset="0"/>
                <a:ea typeface="Calibri" pitchFamily="34" charset="-122"/>
                <a:cs typeface="Calibri" pitchFamily="34" charset="-120"/>
              </a:rPr>
              <a:t>Fix this line, and say why it crashed:</a:t>
            </a:r>
            <a:endParaRPr lang="en-US" sz="2200" dirty="0"/>
          </a:p>
        </p:txBody>
      </p:sp>
      <p:sp>
        <p:nvSpPr>
          <p:cNvPr id="14" name="Text 11"/>
          <p:cNvSpPr txBox="1"/>
          <p:nvPr/>
        </p:nvSpPr>
        <p:spPr>
          <a:xfrm>
            <a:off x="1188720" y="4572000"/>
            <a:ext cx="5943600" cy="457200"/>
          </a:xfrm>
          <a:prstGeom prst="rect">
            <a:avLst/>
          </a:prstGeom>
          <a:noFill/>
          <a:ln/>
        </p:spPr>
        <p:txBody>
          <a:bodyPr wrap="square" lIns="0" tIns="0" rIns="0" bIns="0" rtlCol="0" anchor="ctr"/>
          <a:lstStyle/>
          <a:p>
            <a:pPr indent="0" marL="0">
              <a:buNone/>
            </a:pPr>
            <a:r>
              <a:rPr lang="en-US" sz="2200" dirty="0">
                <a:solidFill>
                  <a:srgbClr val="E8C878"/>
                </a:solidFill>
                <a:latin typeface="Consolas" pitchFamily="34" charset="0"/>
                <a:ea typeface="Consolas" pitchFamily="34" charset="-122"/>
                <a:cs typeface="Consolas" pitchFamily="34" charset="-120"/>
              </a:rPr>
              <a:t>print</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E69F00"/>
                </a:solidFill>
                <a:latin typeface="Consolas" pitchFamily="34" charset="0"/>
                <a:ea typeface="Consolas" pitchFamily="34" charset="-122"/>
                <a:cs typeface="Consolas" pitchFamily="34" charset="-120"/>
              </a:rPr>
              <a:t>"Crew awake: "</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F5F5F3"/>
                </a:solidFill>
                <a:latin typeface="Consolas" pitchFamily="34" charset="0"/>
                <a:ea typeface="Consolas" pitchFamily="34" charset="-122"/>
                <a:cs typeface="Consolas" pitchFamily="34" charset="-120"/>
              </a:rPr>
              <a:t>crew</a:t>
            </a:r>
            <a:pPr indent="0" marL="0">
              <a:buNone/>
            </a:pPr>
            <a:r>
              <a:rPr lang="en-US" sz="2200" dirty="0">
                <a:solidFill>
                  <a:srgbClr val="A9A9B4"/>
                </a:solidFill>
                <a:latin typeface="Consolas" pitchFamily="34" charset="0"/>
                <a:ea typeface="Consolas" pitchFamily="34" charset="-122"/>
                <a:cs typeface="Consolas" pitchFamily="34" charset="-120"/>
              </a:rPr>
              <a:t>)</a:t>
            </a:r>
            <a:endParaRPr lang="en-US" sz="2200" dirty="0"/>
          </a:p>
        </p:txBody>
      </p:sp>
      <p:sp>
        <p:nvSpPr>
          <p:cNvPr id="15" name="terminal"/>
          <p:cNvSpPr/>
          <p:nvPr/>
        </p:nvSpPr>
        <p:spPr>
          <a:xfrm>
            <a:off x="1188720" y="5303520"/>
            <a:ext cx="7589520" cy="685800"/>
          </a:xfrm>
          <a:prstGeom prst="roundRect">
            <a:avLst>
              <a:gd name="adj" fmla="val 10667"/>
            </a:avLst>
          </a:prstGeom>
          <a:solidFill>
            <a:srgbClr val="0D1310"/>
          </a:solidFill>
          <a:ln w="15875">
            <a:solidFill>
              <a:srgbClr val="2C4434"/>
            </a:solidFill>
            <a:prstDash val="solid"/>
          </a:ln>
        </p:spPr>
      </p:sp>
      <p:sp>
        <p:nvSpPr>
          <p:cNvPr id="16" name="Text 13"/>
          <p:cNvSpPr txBox="1"/>
          <p:nvPr/>
        </p:nvSpPr>
        <p:spPr>
          <a:xfrm>
            <a:off x="1417320" y="5532120"/>
            <a:ext cx="7132320" cy="365760"/>
          </a:xfrm>
          <a:prstGeom prst="rect">
            <a:avLst/>
          </a:prstGeom>
          <a:noFill/>
          <a:ln/>
        </p:spPr>
        <p:txBody>
          <a:bodyPr wrap="square" lIns="0" tIns="0" rIns="0" bIns="0" rtlCol="0" anchor="ctr"/>
          <a:lstStyle/>
          <a:p>
            <a:pPr indent="0" marL="0">
              <a:buNone/>
            </a:pPr>
            <a:r>
              <a:rPr lang="en-US" sz="1800" dirty="0">
                <a:solidFill>
                  <a:srgbClr val="7FD99A"/>
                </a:solidFill>
                <a:latin typeface="Consolas" pitchFamily="34" charset="0"/>
                <a:ea typeface="Consolas" pitchFamily="34" charset="-122"/>
                <a:cs typeface="Consolas" pitchFamily="34" charset="-120"/>
              </a:rPr>
              <a:t>MOTION DETECTED · SENSOR OPS · TAG: </a:t>
            </a:r>
            <a:pPr indent="0" marL="0">
              <a:buNone/>
            </a:pPr>
            <a:r>
              <a:rPr lang="en-US" sz="1800" b="1" dirty="0">
                <a:solidFill>
                  <a:srgbClr val="D8A73D"/>
                </a:solidFill>
                <a:latin typeface="Consolas" pitchFamily="34" charset="0"/>
                <a:ea typeface="Consolas" pitchFamily="34" charset="-122"/>
                <a:cs typeface="Consolas" pitchFamily="34" charset="-120"/>
              </a:rPr>
              <a:t>HALE</a:t>
            </a:r>
            <a:endParaRPr lang="en-US" sz="1800" dirty="0"/>
          </a:p>
        </p:txBody>
      </p:sp>
      <p:pic>
        <p:nvPicPr>
          <p:cNvPr id="17" name="Image 1" descr="Recap and recall">    </p:cNvPr>
          <p:cNvPicPr>
            <a:picLocks noChangeAspect="1"/>
          </p:cNvPicPr>
          <p:nvPr/>
        </p:nvPicPr>
        <p:blipFill>
          <a:blip r:embed="rId2"/>
          <a:stretch>
            <a:fillRect/>
          </a:stretch>
        </p:blipFill>
        <p:spPr>
          <a:xfrm>
            <a:off x="10972800" y="384048"/>
            <a:ext cx="731520" cy="731520"/>
          </a:xfrm>
          <a:prstGeom prst="rect">
            <a:avLst/>
          </a:prstGeom>
        </p:spPr>
      </p:pic>
      <p:sp>
        <p:nvSpPr>
          <p:cNvPr id="19" name="Text 14"/>
          <p:cNvSpPr txBox="1"/>
          <p:nvPr/>
        </p:nvSpPr>
        <p:spPr>
          <a:xfrm>
            <a:off x="4206240" y="6355080"/>
            <a:ext cx="6812280" cy="320040"/>
          </a:xfrm>
          <a:prstGeom prst="rect">
            <a:avLst/>
          </a:prstGeom>
          <a:noFill/>
          <a:ln/>
        </p:spPr>
        <p:txBody>
          <a:bodyPr wrap="square" lIns="0" tIns="0" rIns="0" bIns="0" rtlCol="0" anchor="ctr"/>
          <a:lstStyle/>
          <a:p>
            <a:pPr algn="r" indent="0" marL="0">
              <a:buNone/>
            </a:pPr>
            <a:r>
              <a:rPr lang="en-US" sz="1300" b="1" i="1" dirty="0">
                <a:solidFill>
                  <a:srgbClr val="D8A73D"/>
                </a:solidFill>
                <a:latin typeface="Calibri" pitchFamily="34" charset="0"/>
                <a:ea typeface="Calibri" pitchFamily="34" charset="-122"/>
                <a:cs typeface="Calibri" pitchFamily="34" charset="-120"/>
              </a:rPr>
              <a:t>plenarySlide()  ·  beat demo 2 of 2: beat('L2') — lights out, then the alarm creeps in</a:t>
            </a:r>
            <a:endParaRPr lang="en-US" sz="13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7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Station Zero — Y9 Python deck template</dc:title>
  <dc:subject>PptxGenJS Presentation</dc:subject>
  <dc:creator>Nicholas Houlton</dc:creator>
  <cp:lastModifiedBy>Nicholas Houlton</cp:lastModifiedBy>
  <cp:revision>1</cp:revision>
  <dcterms:created xsi:type="dcterms:W3CDTF">2026-10-15T10:26:45Z</dcterms:created>
  <dcterms:modified xsi:type="dcterms:W3CDTF">2026-10-15T10:26:45Z</dcterms:modified>
</cp:coreProperties>
</file>