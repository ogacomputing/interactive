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cap &amp; Recall" id="{470f44fb-7690-27ef-bd02-b5a611f6702f}">
          <p14:sldIdLst>
            <p14:sldId id="256"/>
            <p14:sldId id="257"/>
          </p14:sldIdLst>
        </p14:section>
        <p14:section name="Title" id="{d7c35103-685a-ea54-fbea-b628eb4c937e}">
          <p14:sldIdLst>
            <p14:sldId id="258"/>
            <p14:sldId id="259"/>
          </p14:sldIdLst>
        </p14:section>
        <p14:section name="Conditions" id="{3881e176-4ba2-9c90-17a5-ea77f219ff96}">
          <p14:sldIdLst>
            <p14:sldId id="260"/>
            <p14:sldId id="261"/>
            <p14:sldId id="262"/>
            <p14:sldId id="263"/>
            <p14:sldId id="264"/>
          </p14:sldIdLst>
        </p14:section>
        <p14:section name="Round 1 — numbers" id="{99ac1b39-9823-d392-d133-670a028516b1}">
          <p14:sldIdLst>
            <p14:sldId id="265"/>
            <p14:sldId id="266"/>
            <p14:sldId id="267"/>
            <p14:sldId id="268"/>
          </p14:sldIdLst>
        </p14:section>
        <p14:section name="Round 2 — a variable" id="{4ca17572-89ee-0bd6-0fff-1d8aea18efda}">
          <p14:sldIdLst>
            <p14:sldId id="269"/>
            <p14:sldId id="270"/>
            <p14:sldId id="271"/>
            <p14:sldId id="272"/>
            <p14:sldId id="273"/>
          </p14:sldIdLst>
        </p14:section>
        <p14:section name="elif" id="{6826ad9b-ac87-60d8-c521-e01298055002}">
          <p14:sldIdLst>
            <p14:sldId id="274"/>
            <p14:sldId id="275"/>
          </p14:sldIdLst>
        </p14:section>
        <p14:section name="Proximity" id="{6fdeae83-9ab0-ed9c-81c8-af5f25378c49}">
          <p14:sldIdLst>
            <p14:sldId id="276"/>
            <p14:sldId id="277"/>
          </p14:sldIdLst>
        </p14:section>
        <p14:section name="Plenary" id="{0c8cd85a-3d35-88b8-f9cf-2c64b1a53e29}">
          <p14:sldIdLst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NOW — 5 minutes, silent, no notes. Mini-whiteboards or books.
Q1 is from Year 8 (variables); Q2–4 are from last lesson (joining, TypeError, str()).
Q1–2 are multiple choice (everyone commits to an answer). Q3–4 need a written answer.
Confidence rating 1–3 next to each answer — confident-but-wrong is the one most worth correcting.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and self-mark. Hands up for "confident and wrong" on each.
Q1: = STORES. Don't explain == yet — just say "keep that question in your head, we answer it today".
Q2: "5" and "5" are strings (orange), so + joins them: 55. No space appears because there's no space inside the quotes.
Q3: crew is a number (int), and + can't join text and a number. TypeError. Fix: str(crew).
Q4: 90 − 25 = 65, then str() turns it into text so + can join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the story out loud — don't put it on screen:
"Last lesson the crew locator picked up a tag nobody searched for: HALE. Hale's pod was opened from the inside, and the bio-scan says whatever is wearing his tag is not human. It's heading for Sensor Ops — and that's where you are now. The room is empty, but there's frost on the floor and a vent cover hangs open. The proximity sensors that could tell you how close it is are offline."
Today we rebuild them. A sensor has to DECIDE what to say, depending on the distance — that's selection.
In Slide Show this slide fades in through black and the amber alarm creeps in: let it finish before you speak.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question = the whole unit. Today is the "make decisions" part.
Lesson question = today. You did if / else in Year 8, but it was a year ago, so we start from the beginning: conditions first.
We come back to this question in the plenary.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far every program has been a SEQUENCE: every line runs, top to bottom.
Click: SELECTION. The program asks a question — a condition — and the answer is True or False. True takes one path, False takes the other. Only one of them runs, then the paths join and the program carries on.
Ask: "Where would a proximity sensor need this?" (Close → alarm; far → all clear.)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each operator as words: "&gt;=" is "more than or equal to". Students mix up &lt; and &gt; — "the open side faces the bigger number".
Before each click, ask the class "True or False?" and get a show of hands.
Click 1: 85 &gt;= 50 → True. Click 2: 30 &gt;= 50 → False.
== is TWO equals signs: it ASKS "are these equal?". One = STORES (Do Now Q1). We'll come back to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Silent, 2 minutes. Boards up on 3-2-1.
Number 5 (5 &gt; 5) and number 2 (4 &gt;= 4) are the boundary ones — look for who gets those right.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any the class split on.
The boundary is where programs go wrong: &gt; leaves the number itself out; &gt;= lets it in. The activity tests exactly this (a distance of exactly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clicks: one label per line, then the rule.
Line 1: "if", the condition, then a colon. The colon means "a block comes next".
Line 2: indented = INSIDE the if. It only runs if the condition is True.
Line 3: else has NO condition — it's "everything else". Students often try to write else 30 &lt; 50: — that's an error.
Line 4: inside the else. Runs only when the condition was False.
Ask: 85 &gt;= 50 is True, so what's printed? (All clear — and only All clear.)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 — model it out loud, students just watch. Same three questions every time (the strip at the bottom).
Click 1 — True or False? "Is 30 more than or equal to 50? No. False."
Click 2 — Which lines run? "False, so skip the if block and run the else block. Line 5 isn't indented, so it isn't in either block: it runs every time."
Click 3 — What is printed? Too close, then Scan complete.
Say the steps every time: "condition, block, print".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— students answer each step on boards BEFORE you click.
Step 1: "True or False?" Boards up → click. (== asks "are they equal?" 7 equals 7: True.)
Step 2: "Which lines run?" Cold-call someone to say the line numbers → click. Line 5 runs every time.
Step 3: "What is printed?" Boards up → click. Door open, then Done.
Look for anyone writing Door open AND Door locked: exactly one block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— silent, on your own, 4 minutes. Boards up together at the end.
Students who are stuck: point at the strip from the last two slides — True or False? Which lines run? What is printed?
Number 2 is the boundary trap (20 &gt; 20).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boards. Most common mistakes:
2: "Alarm" — 20 is not MORE than 20, so it's False. And forgetting "Scan done", which runs every time.
3: "Wait" — &gt;= lets 4 equal 4, so it's True. And forgetting "End".
If most of the class got 2 or 3 wrong, do one more together before Round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Do Now Q1's "keep that in your head".
One = STORES: it puts 30 in the box called distance. Nothing is printed, nothing is asked.
Two == ASKS: "is what's in distance equal to 30?" The answer is True or False, so it can go in an if.
Using one = in an if is a SyntaxError — Python won't even start. They'll need == in Modify 4 of today's activity (answer == "y").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 — the same program as Round 1's I do, but the number is now in a variable. One new step: look in the box.
Click 1 — Look in the box: line 1 stores 30 in distance.
Click 2 — True or False? "Swap distance for what's in the box: 30 &gt;= 50. False."
Click 3 — Which lines run? The else block, and line 6 every time.
Click 4 — What is printed? Same as before: Too close, Scan complete.
Point out: the output didn't change — a variable is just a name for the value in the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DO — boards before each click.
Step 1: "What's in the box?" (20) → click.
Step 2: "So the condition is 20 &lt; 20. True or False?" Boards up → click. Is 20 LESS than 20? No: False. (Boundary again.)
Step 3: "Which lines run?" Cold-call → click.
Step 4: "What is printed?" Boards up → click. Oxygen OK, Check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DO — silent, on your own, 4 minutes. Boards up together.
Stuck? Four steps on the strip: look in the box, True or False, which lines run, what is printed.
Number 3 compares text: "n" is not equal to "y". This is exactly Modify 4 in today's activity.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boards.
1: 3 &gt; 2, True → Locked. Nothing after the else, so that's all.
2: 50 &gt;= 50 is True (boundary). Don't forget Done.
3: "n" == "y" is False → Cancelled, then Done. Text needs its quotes when you compare it: answer == y (no quotes) would be a NameError.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elif means "else if": another condition, checked only if the ones above it were False.
Click 1 — box: 35.
Click 2 — the if: 35 &gt;= 70? False, so Python moves down to the elif.
Click 3 — the elif: 35 &gt;= 30? True. Stop checking.
Click 4 — only the elif block runs. Click 5 — Low.
else still has no condition: it runs only when NONE of the conditions were True.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program, battery = 80.
Click 1 — box: 80. Click 2 — 80 &gt;= 70 is True, so the elif is NOT CHECKED, even though 80 &gt;= 30 is also True.
Click 3 — only the if block runs. Click 4 — Full, and only Full.
This is the big one: Python checks from the top and stops at the FIRST True condition. So the order of the conditions matters — they'll test that in Investigate step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open "Proximity — Selection" from Google Classroom (Y9 › Python › Lesson 2).
Predict (5 questions: Program A is if / else, Program B adds one elif) → Run (85, 20, 5) → Investigate (4 steps: swap the numbers, elif → if, &gt;= → &gt;, then Break it: int() removed → TypeError) → Modify (4 steps; step 1 is the lockdown choice) → Make (radiation scanner, plus the power choice).
Circulate. During Investigate, point students back to the debugging recipe (Lesson 1) before they press Get help.
Anyone who missed Lesson 1: the activity's "Previously…" recap catches them up on the story.
Fast finishers: the Make extension (SCANNER FAULT below 0, EVACUATE from 500).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Whole-class feedback after the activity — this was the Break it step in Investigate.
Ask: "Which line did Python point to?" (2) "What's in the box?" (the text "30", orange: a str) "Why can't &gt;= compare it with 50?" (text and a number).
The error shows on the line that USES the value, but the fix is on the line that STORED it. Same rule as last lesson: input() always gives 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Exit task on whiteboards or a sticky note.
1. if temp &gt;= 30: print("Hot") / elif temp &gt;= 15: print("Warm") / else: print("Cold"). Follow-up question: what does yours print when temp = 15? (Warm: 15 &gt;= 15 is True.) Any order that works is fine — check they didn't put &gt;= 15 first (then 30 would print Warm).
2. if answer == "y": — one = stores, an if needs == to ask. It's a SyntaxError.
Close the story: "For one frame, the sensors catch it: a figure in Hale's overalls, moving wrong. Then the airlock seals, and WARDEN changes the access code. Next lesson: you're locked in."
In Slide Show this slide fades in through black and the red alarm creeps in by itself: Chapter 3's state, which Lesson 3's deck opens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DARK">
    <p:bg>
      <p:bgPr>
        <a:solidFill>
          <a:srgbClr val="1E1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LIGHT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8A8A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ZERO  ·  Y9 PYTHON  ·  LESSON 2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Z_COVER">
    <p:bg>
      <p:bgPr>
        <a:solidFill>
          <a:srgbClr val="14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notes. Answer every question — a guess beats a blank. Then rate your confidence: 1, 2 or 3.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stores 70 in score?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70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70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= score</a:t>
            </a:r>
            <a:endParaRPr lang="en-US" sz="1800" dirty="0"/>
          </a:p>
        </p:txBody>
      </p:sp>
      <p:sp>
        <p:nvSpPr>
          <p:cNvPr id="15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6464808" y="265176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</a:t>
            </a:r>
            <a:endParaRPr lang="en-US" sz="1800" dirty="0"/>
          </a:p>
        </p:txBody>
      </p:sp>
      <p:sp>
        <p:nvSpPr>
          <p:cNvPr id="29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Which error?</a:t>
            </a:r>
            <a:endParaRPr lang="en-US" sz="2000" dirty="0"/>
          </a:p>
        </p:txBody>
      </p:sp>
      <p:sp>
        <p:nvSpPr>
          <p:cNvPr id="37" name="Shape 35"/>
          <p:cNvSpPr/>
          <p:nvPr/>
        </p:nvSpPr>
        <p:spPr>
          <a:xfrm>
            <a:off x="777240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40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1E1E2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EDE6D3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7A5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F5F5F3"/>
          </a:solidFill>
          <a:ln w="15875">
            <a:solidFill>
              <a:srgbClr val="D6D5D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555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800" dirty="0"/>
          </a:p>
        </p:txBody>
      </p:sp>
      <p:sp>
        <p:nvSpPr>
          <p:cNvPr id="50" name="Text 48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"O2: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1" name="Shape 49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F5F5F3"/>
          </a:solidFill>
          <a:ln w="15875">
            <a:solidFill>
              <a:srgbClr val="1E1E24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5 MIN</a:t>
            </a:r>
            <a:endParaRPr lang="en-US" sz="1400" dirty="0"/>
          </a:p>
        </p:txBody>
      </p:sp>
      <p:pic>
        <p:nvPicPr>
          <p:cNvPr id="53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Recall — answers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own. Confident but wrong? Those are the ones to fix.</a:t>
            </a:r>
            <a:endParaRPr lang="en-US" sz="1800" dirty="0"/>
          </a:p>
        </p:txBody>
      </p:sp>
      <p:sp>
        <p:nvSpPr>
          <p:cNvPr id="4" name="q1"/>
          <p:cNvSpPr/>
          <p:nvPr/>
        </p:nvSpPr>
        <p:spPr>
          <a:xfrm>
            <a:off x="548640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280160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80160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Y8 · LESSON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71800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71800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 stores 70 in score?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5176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 70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980944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== 70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3310128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= score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886200" y="2651760"/>
            <a:ext cx="189280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does something else: you’ll see it today</a:t>
            </a:r>
            <a:endParaRPr lang="en-US" sz="1800" dirty="0"/>
          </a:p>
        </p:txBody>
      </p:sp>
      <p:sp>
        <p:nvSpPr>
          <p:cNvPr id="16" name="q2"/>
          <p:cNvSpPr/>
          <p:nvPr/>
        </p:nvSpPr>
        <p:spPr>
          <a:xfrm>
            <a:off x="6236208" y="160020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64808" y="180136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64808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67728" y="182880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67728" y="182880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59368" y="182880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59368" y="182880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A, B OR C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224028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print?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464808" y="2651760"/>
            <a:ext cx="2286000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01968" y="27432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"5"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601968" y="304495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8979408" y="26517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8979408" y="29809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 </a:t>
            </a:r>
            <a:pPr indent="0" marL="0">
              <a:buNone/>
            </a:pPr>
            <a:r>
              <a:rPr lang="en-US" sz="18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8979408" y="33101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9756648" y="2651760"/>
            <a:ext cx="1709928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strings, so + joins them</a:t>
            </a:r>
            <a:endParaRPr lang="en-US" sz="1800" dirty="0"/>
          </a:p>
        </p:txBody>
      </p:sp>
      <p:sp>
        <p:nvSpPr>
          <p:cNvPr id="31" name="q3"/>
          <p:cNvSpPr/>
          <p:nvPr/>
        </p:nvSpPr>
        <p:spPr>
          <a:xfrm>
            <a:off x="548640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7240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1280160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280160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971800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71800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77240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line crashes. Which error?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777240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14400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"Crew: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crew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777240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TypeError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fix it with str(crew)</a:t>
            </a:r>
            <a:endParaRPr lang="en-US" sz="2200" dirty="0"/>
          </a:p>
        </p:txBody>
      </p:sp>
      <p:sp>
        <p:nvSpPr>
          <p:cNvPr id="43" name="q4"/>
          <p:cNvSpPr/>
          <p:nvPr/>
        </p:nvSpPr>
        <p:spPr>
          <a:xfrm>
            <a:off x="6236208" y="4023360"/>
            <a:ext cx="5413248" cy="2286000"/>
          </a:xfrm>
          <a:prstGeom prst="roundRect">
            <a:avLst>
              <a:gd name="adj" fmla="val 32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464808" y="4224528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4224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967728" y="4251960"/>
            <a:ext cx="160020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67728" y="4251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LESSON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59368" y="4251960"/>
            <a:ext cx="1783080" cy="310896"/>
          </a:xfrm>
          <a:prstGeom prst="roundRect">
            <a:avLst>
              <a:gd name="adj" fmla="val 5294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659368" y="4251960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IT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464808" y="4663440"/>
            <a:ext cx="4956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this prints.</a:t>
            </a:r>
            <a:endParaRPr lang="en-US" sz="2000" dirty="0"/>
          </a:p>
        </p:txBody>
      </p:sp>
      <p:sp>
        <p:nvSpPr>
          <p:cNvPr id="51" name="Shape 49"/>
          <p:cNvSpPr/>
          <p:nvPr/>
        </p:nvSpPr>
        <p:spPr>
          <a:xfrm>
            <a:off x="6464808" y="5074920"/>
            <a:ext cx="4956048" cy="786384"/>
          </a:xfrm>
          <a:prstGeom prst="roundRect">
            <a:avLst>
              <a:gd name="adj" fmla="val 6977"/>
            </a:avLst>
          </a:prstGeom>
          <a:solidFill>
            <a:srgbClr val="11111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601968" y="5166360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800" dirty="0"/>
          </a:p>
        </p:txBody>
      </p:sp>
      <p:sp>
        <p:nvSpPr>
          <p:cNvPr id="53" name="Text 51"/>
          <p:cNvSpPr txBox="1"/>
          <p:nvPr/>
        </p:nvSpPr>
        <p:spPr>
          <a:xfrm>
            <a:off x="6601968" y="5468112"/>
            <a:ext cx="46817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"O2: 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800" dirty="0"/>
          </a:p>
        </p:txBody>
      </p:sp>
      <p:sp>
        <p:nvSpPr>
          <p:cNvPr id="54" name="Text 52"/>
          <p:cNvSpPr txBox="1"/>
          <p:nvPr/>
        </p:nvSpPr>
        <p:spPr>
          <a:xfrm>
            <a:off x="6464808" y="5934456"/>
            <a:ext cx="4956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O2: 65</a:t>
            </a:r>
            <a:pPr indent="0" marL="0">
              <a:buNone/>
            </a:pPr>
            <a:r>
              <a:rPr lang="en-US" sz="18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str() turns 65 into text</a:t>
            </a:r>
            <a:endParaRPr lang="en-US" sz="2200" dirty="0"/>
          </a:p>
        </p:txBody>
      </p:sp>
      <p:pic>
        <p:nvPicPr>
          <p:cNvPr id="55" name="Image 0" descr="Recap and reca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Y9 PYTHON  ·  LESSON 2  ·  SELECTION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2860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Station Zero</a:t>
            </a:r>
            <a:endParaRPr lang="en-US" sz="6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42900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Chapter 2 — Proximity</a:t>
            </a:r>
            <a:endParaRPr lang="en-US" sz="2800" dirty="0"/>
          </a:p>
        </p:txBody>
      </p:sp>
      <p:sp>
        <p:nvSpPr>
          <p:cNvPr id="7" name="terminal"/>
          <p:cNvSpPr/>
          <p:nvPr/>
        </p:nvSpPr>
        <p:spPr>
          <a:xfrm>
            <a:off x="6903720" y="1600200"/>
            <a:ext cx="4663440" cy="2809240"/>
          </a:xfrm>
          <a:prstGeom prst="roundRect">
            <a:avLst>
              <a:gd name="adj" fmla="val 2604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132320" y="17830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STATUS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21488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..... EMPTY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132320" y="25552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PROXIMITY ...... OFFLINE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29616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MOTION ......... DETECTED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132320" y="33680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TAG ............ </a:t>
            </a:r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HALE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132320" y="3774440"/>
            <a:ext cx="420624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_</a:t>
            </a:r>
            <a:endParaRPr lang="en-US" sz="2000" dirty="0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are we learning?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E1E24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1440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QUESTION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10312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we write programs that make decisions, repeat and reuse code?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32918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2A2A32"/>
          </a:solidFill>
          <a:ln w="31750">
            <a:solidFill>
              <a:srgbClr val="D8A73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3520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388620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make a program choose which lines to run?</a:t>
            </a:r>
            <a:endParaRPr lang="en-US" sz="3600" dirty="0"/>
          </a:p>
        </p:txBody>
      </p:sp>
      <p:pic>
        <p:nvPicPr>
          <p:cNvPr id="11" name="Image 1" descr="Clarity of learning inten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Sequence and selection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FAR: SEQUENCE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1280160" y="187452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80160" y="1874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1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2560320" y="2606040"/>
            <a:ext cx="0" cy="4572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1280160" y="306324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30632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2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560320" y="3794760"/>
            <a:ext cx="0" cy="4572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1280160" y="4251960"/>
            <a:ext cx="256032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280160" y="425196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Line 3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48640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runs, in order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4892040" y="1554480"/>
            <a:ext cx="0" cy="4434840"/>
          </a:xfrm>
          <a:prstGeom prst="line">
            <a:avLst/>
          </a:prstGeom>
          <a:noFill/>
          <a:ln w="12700">
            <a:solidFill>
              <a:srgbClr val="3A3A44"/>
            </a:solidFill>
            <a:prstDash val="solid"/>
          </a:ln>
        </p:spPr>
      </p:sp>
      <p:sp>
        <p:nvSpPr>
          <p:cNvPr id="16" name="click1"/>
          <p:cNvSpPr txBox="1"/>
          <p:nvPr/>
        </p:nvSpPr>
        <p:spPr>
          <a:xfrm>
            <a:off x="5257800" y="1463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SELECTION</a:t>
            </a:r>
            <a:endParaRPr lang="en-US" sz="1300" dirty="0"/>
          </a:p>
        </p:txBody>
      </p:sp>
      <p:sp>
        <p:nvSpPr>
          <p:cNvPr id="17" name="click1"/>
          <p:cNvSpPr/>
          <p:nvPr/>
        </p:nvSpPr>
        <p:spPr>
          <a:xfrm>
            <a:off x="6858000" y="1828800"/>
            <a:ext cx="3291840" cy="1051560"/>
          </a:xfrm>
          <a:prstGeom prst="diamond">
            <a:avLst/>
          </a:prstGeom>
          <a:solidFill>
            <a:srgbClr val="111115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18" name="click1"/>
          <p:cNvSpPr txBox="1"/>
          <p:nvPr/>
        </p:nvSpPr>
        <p:spPr>
          <a:xfrm>
            <a:off x="7406640" y="1828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2000" dirty="0"/>
          </a:p>
        </p:txBody>
      </p:sp>
      <p:sp>
        <p:nvSpPr>
          <p:cNvPr id="19" name="click1"/>
          <p:cNvSpPr/>
          <p:nvPr/>
        </p:nvSpPr>
        <p:spPr>
          <a:xfrm>
            <a:off x="6858000" y="2354580"/>
            <a:ext cx="0" cy="982980"/>
          </a:xfrm>
          <a:prstGeom prst="line">
            <a:avLst/>
          </a:prstGeom>
          <a:noFill/>
          <a:ln w="28575">
            <a:solidFill>
              <a:srgbClr val="7FD99A"/>
            </a:solidFill>
            <a:prstDash val="solid"/>
            <a:tailEnd type="triangle"/>
          </a:ln>
        </p:spPr>
      </p:sp>
      <p:sp>
        <p:nvSpPr>
          <p:cNvPr id="20" name="click1"/>
          <p:cNvSpPr/>
          <p:nvPr/>
        </p:nvSpPr>
        <p:spPr>
          <a:xfrm>
            <a:off x="10149840" y="2354580"/>
            <a:ext cx="0" cy="98298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1" name="click1"/>
          <p:cNvSpPr txBox="1"/>
          <p:nvPr/>
        </p:nvSpPr>
        <p:spPr>
          <a:xfrm>
            <a:off x="5897880" y="251460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2000" dirty="0"/>
          </a:p>
        </p:txBody>
      </p:sp>
      <p:sp>
        <p:nvSpPr>
          <p:cNvPr id="22" name="click1"/>
          <p:cNvSpPr txBox="1"/>
          <p:nvPr/>
        </p:nvSpPr>
        <p:spPr>
          <a:xfrm>
            <a:off x="10259568" y="25146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2000" dirty="0"/>
          </a:p>
        </p:txBody>
      </p:sp>
      <p:sp>
        <p:nvSpPr>
          <p:cNvPr id="23" name="click1"/>
          <p:cNvSpPr/>
          <p:nvPr/>
        </p:nvSpPr>
        <p:spPr>
          <a:xfrm>
            <a:off x="5623560" y="3337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7FD99A"/>
            </a:solidFill>
            <a:prstDash val="solid"/>
          </a:ln>
        </p:spPr>
      </p:sp>
      <p:sp>
        <p:nvSpPr>
          <p:cNvPr id="24" name="click1"/>
          <p:cNvSpPr txBox="1"/>
          <p:nvPr/>
        </p:nvSpPr>
        <p:spPr>
          <a:xfrm>
            <a:off x="5623560" y="3337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True path</a:t>
            </a:r>
            <a:endParaRPr lang="en-US" sz="2200" dirty="0"/>
          </a:p>
        </p:txBody>
      </p:sp>
      <p:sp>
        <p:nvSpPr>
          <p:cNvPr id="25" name="click1"/>
          <p:cNvSpPr/>
          <p:nvPr/>
        </p:nvSpPr>
        <p:spPr>
          <a:xfrm>
            <a:off x="8915400" y="3337560"/>
            <a:ext cx="246888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6" name="click1"/>
          <p:cNvSpPr txBox="1"/>
          <p:nvPr/>
        </p:nvSpPr>
        <p:spPr>
          <a:xfrm>
            <a:off x="8915400" y="333756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False path</a:t>
            </a:r>
            <a:endParaRPr lang="en-US" sz="2200" dirty="0"/>
          </a:p>
        </p:txBody>
      </p:sp>
      <p:sp>
        <p:nvSpPr>
          <p:cNvPr id="27" name="click1"/>
          <p:cNvSpPr/>
          <p:nvPr/>
        </p:nvSpPr>
        <p:spPr>
          <a:xfrm>
            <a:off x="6858000" y="4069080"/>
            <a:ext cx="0" cy="9144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</a:ln>
        </p:spPr>
      </p:sp>
      <p:sp>
        <p:nvSpPr>
          <p:cNvPr id="28" name="click1"/>
          <p:cNvSpPr/>
          <p:nvPr/>
        </p:nvSpPr>
        <p:spPr>
          <a:xfrm>
            <a:off x="10149840" y="4069080"/>
            <a:ext cx="0" cy="91440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</a:ln>
        </p:spPr>
      </p:sp>
      <p:sp>
        <p:nvSpPr>
          <p:cNvPr id="29" name="click1"/>
          <p:cNvSpPr/>
          <p:nvPr/>
        </p:nvSpPr>
        <p:spPr>
          <a:xfrm>
            <a:off x="6858000" y="4983480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1"/>
          <p:cNvSpPr/>
          <p:nvPr/>
        </p:nvSpPr>
        <p:spPr>
          <a:xfrm>
            <a:off x="10149840" y="4983480"/>
            <a:ext cx="-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1" name="click1"/>
          <p:cNvSpPr/>
          <p:nvPr/>
        </p:nvSpPr>
        <p:spPr>
          <a:xfrm>
            <a:off x="7406640" y="4617720"/>
            <a:ext cx="2194560" cy="731520"/>
          </a:xfrm>
          <a:prstGeom prst="roundRect">
            <a:avLst>
              <a:gd name="adj" fmla="val 10000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2" name="click1"/>
          <p:cNvSpPr txBox="1"/>
          <p:nvPr/>
        </p:nvSpPr>
        <p:spPr>
          <a:xfrm>
            <a:off x="7406640" y="46177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5F5F3"/>
                </a:solidFill>
              </a:rPr>
              <a:t>Next line</a:t>
            </a:r>
            <a:endParaRPr lang="en-US" sz="2200" dirty="0"/>
          </a:p>
        </p:txBody>
      </p:sp>
      <p:sp>
        <p:nvSpPr>
          <p:cNvPr id="33" name="click1"/>
          <p:cNvSpPr txBox="1"/>
          <p:nvPr/>
        </p:nvSpPr>
        <p:spPr>
          <a:xfrm>
            <a:off x="5257800" y="5486400"/>
            <a:ext cx="6382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path runs, then they join up</a:t>
            </a:r>
            <a:endParaRPr lang="en-US" sz="2200" dirty="0"/>
          </a:p>
        </p:txBody>
      </p:sp>
      <p:pic>
        <p:nvPicPr>
          <p:cNvPr id="34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8" grpId="0" animBg="1"/>
      <p:bldP spid="21" grpId="0" animBg="1"/>
      <p:bldP spid="22" grpId="0" animBg="1"/>
      <p:bldP spid="24" grpId="0" animBg="1"/>
      <p:bldP spid="26" grpId="0" animBg="1"/>
      <p:bldP spid="32" grpId="0" animBg="1"/>
      <p:bldP spid="3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condition is True or False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OPERATORS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828800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18288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equal to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548640" y="2523744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523744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endParaRPr lang="en-US" sz="2800" dirty="0"/>
          </a:p>
        </p:txBody>
      </p:sp>
      <p:sp>
        <p:nvSpPr>
          <p:cNvPr id="11" name="Text 8"/>
          <p:cNvSpPr txBox="1"/>
          <p:nvPr/>
        </p:nvSpPr>
        <p:spPr>
          <a:xfrm>
            <a:off x="1828800" y="252374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less than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548640" y="3218688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3218688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endParaRPr lang="en-US" sz="2800" dirty="0"/>
          </a:p>
        </p:txBody>
      </p:sp>
      <p:sp>
        <p:nvSpPr>
          <p:cNvPr id="14" name="Text 11"/>
          <p:cNvSpPr txBox="1"/>
          <p:nvPr/>
        </p:nvSpPr>
        <p:spPr>
          <a:xfrm>
            <a:off x="1828800" y="321868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more than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3913632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913632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1828800" y="39136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less than or equal to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548640" y="4608576"/>
            <a:ext cx="1051560" cy="566928"/>
          </a:xfrm>
          <a:prstGeom prst="roundRect">
            <a:avLst>
              <a:gd name="adj" fmla="val 1290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4608576"/>
            <a:ext cx="1051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endParaRPr lang="en-US" sz="2800" dirty="0"/>
          </a:p>
        </p:txBody>
      </p:sp>
      <p:sp>
        <p:nvSpPr>
          <p:cNvPr id="20" name="Text 17"/>
          <p:cNvSpPr txBox="1"/>
          <p:nvPr/>
        </p:nvSpPr>
        <p:spPr>
          <a:xfrm>
            <a:off x="1828800" y="460857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more than or equal to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400800" y="18288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400800" y="18288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3600" dirty="0"/>
          </a:p>
        </p:txBody>
      </p:sp>
      <p:sp>
        <p:nvSpPr>
          <p:cNvPr id="24" name="click1"/>
          <p:cNvSpPr/>
          <p:nvPr/>
        </p:nvSpPr>
        <p:spPr>
          <a:xfrm>
            <a:off x="9601200" y="2286000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5" name="click1"/>
          <p:cNvSpPr/>
          <p:nvPr/>
        </p:nvSpPr>
        <p:spPr>
          <a:xfrm>
            <a:off x="10195560" y="201168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26" name="click1"/>
          <p:cNvSpPr txBox="1"/>
          <p:nvPr/>
        </p:nvSpPr>
        <p:spPr>
          <a:xfrm>
            <a:off x="10195560" y="201168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27" name="click1"/>
          <p:cNvSpPr txBox="1"/>
          <p:nvPr/>
        </p:nvSpPr>
        <p:spPr>
          <a:xfrm>
            <a:off x="6400800" y="283464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85 more than or equal to 50? Yes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400800" y="361188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400800" y="361188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6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3600" dirty="0"/>
          </a:p>
        </p:txBody>
      </p:sp>
      <p:sp>
        <p:nvSpPr>
          <p:cNvPr id="30" name="click2"/>
          <p:cNvSpPr/>
          <p:nvPr/>
        </p:nvSpPr>
        <p:spPr>
          <a:xfrm>
            <a:off x="9601200" y="4069080"/>
            <a:ext cx="50292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1" name="click2"/>
          <p:cNvSpPr/>
          <p:nvPr/>
        </p:nvSpPr>
        <p:spPr>
          <a:xfrm>
            <a:off x="10195560" y="3794760"/>
            <a:ext cx="141732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2" name="click2"/>
          <p:cNvSpPr txBox="1"/>
          <p:nvPr/>
        </p:nvSpPr>
        <p:spPr>
          <a:xfrm>
            <a:off x="10195560" y="379476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600" dirty="0"/>
          </a:p>
        </p:txBody>
      </p:sp>
      <p:sp>
        <p:nvSpPr>
          <p:cNvPr id="33" name="click2"/>
          <p:cNvSpPr txBox="1"/>
          <p:nvPr/>
        </p:nvSpPr>
        <p:spPr>
          <a:xfrm>
            <a:off x="6400800" y="46177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30 more than or equal to 50? No</a:t>
            </a:r>
            <a:endParaRPr lang="en-US" sz="1800" dirty="0"/>
          </a:p>
        </p:txBody>
      </p:sp>
      <p:sp>
        <p:nvSpPr>
          <p:cNvPr id="34" name="Shape 3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914400" y="544068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condition asks a yes / no question.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Python’s answer is True or False.</a:t>
            </a:r>
            <a:endParaRPr lang="en-US" sz="2200" dirty="0"/>
          </a:p>
        </p:txBody>
      </p:sp>
      <p:pic>
        <p:nvPicPr>
          <p:cNvPr id="36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32" grpId="0" animBg="1"/>
      <p:bldP spid="3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or False?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4334256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98848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9884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4974336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8119872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84464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8446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8759952" y="155448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400" dirty="0"/>
          </a:p>
        </p:txBody>
      </p:sp>
      <p:sp>
        <p:nvSpPr>
          <p:cNvPr id="17" name="Shape 14"/>
          <p:cNvSpPr/>
          <p:nvPr/>
        </p:nvSpPr>
        <p:spPr>
          <a:xfrm>
            <a:off x="548640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3232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13232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4334256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498848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498848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4974336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400" dirty="0"/>
          </a:p>
        </p:txBody>
      </p:sp>
      <p:sp>
        <p:nvSpPr>
          <p:cNvPr id="25" name="Shape 22"/>
          <p:cNvSpPr/>
          <p:nvPr/>
        </p:nvSpPr>
        <p:spPr>
          <a:xfrm>
            <a:off x="8119872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84464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284464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759952" y="3108960"/>
            <a:ext cx="2688336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algn="ctr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ctr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3400" dirty="0"/>
          </a:p>
        </p:txBody>
      </p:sp>
      <p:sp>
        <p:nvSpPr>
          <p:cNvPr id="29" name="Shape 26"/>
          <p:cNvSpPr/>
          <p:nvPr/>
        </p:nvSpPr>
        <p:spPr>
          <a:xfrm>
            <a:off x="548640" y="48006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14400" y="4800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 or F for all six. Boards up together.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2 MIN</a:t>
            </a:r>
            <a:endParaRPr lang="en-US" sz="1400" dirty="0"/>
          </a:p>
        </p:txBody>
      </p:sp>
      <p:pic>
        <p:nvPicPr>
          <p:cNvPr id="33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or False?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13232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13232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2871216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871216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4334256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498848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498848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4974336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400" dirty="0"/>
          </a:p>
        </p:txBody>
      </p:sp>
      <p:sp>
        <p:nvSpPr>
          <p:cNvPr id="15" name="Shape 12"/>
          <p:cNvSpPr/>
          <p:nvPr/>
        </p:nvSpPr>
        <p:spPr>
          <a:xfrm>
            <a:off x="6656832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656832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119872" y="155448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84464" y="171907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284464" y="17190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759952" y="155448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400" dirty="0"/>
          </a:p>
        </p:txBody>
      </p:sp>
      <p:sp>
        <p:nvSpPr>
          <p:cNvPr id="21" name="Shape 18"/>
          <p:cNvSpPr/>
          <p:nvPr/>
        </p:nvSpPr>
        <p:spPr>
          <a:xfrm>
            <a:off x="10442448" y="194310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442448" y="19431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13232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713232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3400" dirty="0"/>
          </a:p>
        </p:txBody>
      </p:sp>
      <p:sp>
        <p:nvSpPr>
          <p:cNvPr id="27" name="Shape 24"/>
          <p:cNvSpPr/>
          <p:nvPr/>
        </p:nvSpPr>
        <p:spPr>
          <a:xfrm>
            <a:off x="2871216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7FD99A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871216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400" dirty="0"/>
          </a:p>
        </p:txBody>
      </p:sp>
      <p:sp>
        <p:nvSpPr>
          <p:cNvPr id="29" name="Shape 26"/>
          <p:cNvSpPr/>
          <p:nvPr/>
        </p:nvSpPr>
        <p:spPr>
          <a:xfrm>
            <a:off x="4334256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498848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4498848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4974336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3400" dirty="0"/>
          </a:p>
        </p:txBody>
      </p:sp>
      <p:sp>
        <p:nvSpPr>
          <p:cNvPr id="33" name="Shape 30"/>
          <p:cNvSpPr/>
          <p:nvPr/>
        </p:nvSpPr>
        <p:spPr>
          <a:xfrm>
            <a:off x="6656832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656832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35" name="Shape 32"/>
          <p:cNvSpPr/>
          <p:nvPr/>
        </p:nvSpPr>
        <p:spPr>
          <a:xfrm>
            <a:off x="8119872" y="3108960"/>
            <a:ext cx="3511296" cy="1325880"/>
          </a:xfrm>
          <a:prstGeom prst="roundRect">
            <a:avLst>
              <a:gd name="adj" fmla="val 551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284464" y="3273552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8284464" y="32735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8759952" y="3108960"/>
            <a:ext cx="17830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pPr algn="l" indent="0" marL="0">
              <a:buNone/>
            </a:pPr>
            <a:r>
              <a:rPr lang="en-US" sz="3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algn="l" indent="0" marL="0">
              <a:buNone/>
            </a:pPr>
            <a:r>
              <a:rPr lang="en-US" sz="3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3400" dirty="0"/>
          </a:p>
        </p:txBody>
      </p:sp>
      <p:sp>
        <p:nvSpPr>
          <p:cNvPr id="39" name="Shape 36"/>
          <p:cNvSpPr/>
          <p:nvPr/>
        </p:nvSpPr>
        <p:spPr>
          <a:xfrm>
            <a:off x="10442448" y="3497580"/>
            <a:ext cx="1005840" cy="548640"/>
          </a:xfrm>
          <a:prstGeom prst="roundRect">
            <a:avLst>
              <a:gd name="adj" fmla="val 13333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442448" y="34975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400" dirty="0"/>
          </a:p>
        </p:txBody>
      </p:sp>
      <p:sp>
        <p:nvSpPr>
          <p:cNvPr id="41" name="Shape 38"/>
          <p:cNvSpPr/>
          <p:nvPr/>
        </p:nvSpPr>
        <p:spPr>
          <a:xfrm>
            <a:off x="548640" y="480060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14400" y="48006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&gt; 5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False, but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&gt;= 4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True. The = in &gt;= lets it be equal.</a:t>
            </a:r>
            <a:endParaRPr lang="en-US" sz="2400" dirty="0"/>
          </a:p>
        </p:txBody>
      </p:sp>
      <p:pic>
        <p:nvPicPr>
          <p:cNvPr id="43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and else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5669280" cy="3511296"/>
          </a:xfrm>
          <a:prstGeom prst="roundRect">
            <a:avLst>
              <a:gd name="adj" fmla="val 208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57860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57860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35584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335584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8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4133088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4133088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8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8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800" dirty="0"/>
          </a:p>
        </p:txBody>
      </p:sp>
      <p:sp>
        <p:nvSpPr>
          <p:cNvPr id="14" name="click1"/>
          <p:cNvSpPr/>
          <p:nvPr/>
        </p:nvSpPr>
        <p:spPr>
          <a:xfrm>
            <a:off x="6355080" y="218998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5" name="click1"/>
          <p:cNvSpPr txBox="1"/>
          <p:nvPr/>
        </p:nvSpPr>
        <p:spPr>
          <a:xfrm>
            <a:off x="6949440" y="18242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a condition + a colon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6" name="click2"/>
          <p:cNvSpPr/>
          <p:nvPr/>
        </p:nvSpPr>
        <p:spPr>
          <a:xfrm>
            <a:off x="6355080" y="296722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7" name="click2"/>
          <p:cNvSpPr txBox="1"/>
          <p:nvPr/>
        </p:nvSpPr>
        <p:spPr>
          <a:xfrm>
            <a:off x="6949440" y="260146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4 spaces: </a:t>
            </a:r>
            <a:pPr indent="0" marL="0">
              <a:buNone/>
            </a:pPr>
            <a:r>
              <a:rPr lang="en-US" sz="22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True</a:t>
            </a:r>
            <a:endParaRPr lang="en-US" sz="2200" dirty="0"/>
          </a:p>
        </p:txBody>
      </p:sp>
      <p:sp>
        <p:nvSpPr>
          <p:cNvPr id="18" name="click3"/>
          <p:cNvSpPr/>
          <p:nvPr/>
        </p:nvSpPr>
        <p:spPr>
          <a:xfrm>
            <a:off x="6355080" y="374446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19" name="click3"/>
          <p:cNvSpPr txBox="1"/>
          <p:nvPr/>
        </p:nvSpPr>
        <p:spPr>
          <a:xfrm>
            <a:off x="6949440" y="337870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has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condition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just a colon</a:t>
            </a:r>
            <a:endParaRPr lang="en-US" sz="2200" dirty="0"/>
          </a:p>
        </p:txBody>
      </p:sp>
      <p:sp>
        <p:nvSpPr>
          <p:cNvPr id="20" name="click4"/>
          <p:cNvSpPr/>
          <p:nvPr/>
        </p:nvSpPr>
        <p:spPr>
          <a:xfrm>
            <a:off x="6355080" y="4521708"/>
            <a:ext cx="457200" cy="0"/>
          </a:xfrm>
          <a:prstGeom prst="line">
            <a:avLst/>
          </a:prstGeom>
          <a:noFill/>
          <a:ln w="28575">
            <a:solidFill>
              <a:srgbClr val="6E6E7A"/>
            </a:solidFill>
            <a:prstDash val="solid"/>
            <a:tailEnd type="triangle"/>
          </a:ln>
        </p:spPr>
      </p:sp>
      <p:sp>
        <p:nvSpPr>
          <p:cNvPr id="21" name="click4"/>
          <p:cNvSpPr txBox="1"/>
          <p:nvPr/>
        </p:nvSpPr>
        <p:spPr>
          <a:xfrm>
            <a:off x="6949440" y="41559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Indented 4 spaces: </a:t>
            </a:r>
            <a:pPr indent="0" marL="0">
              <a:buNone/>
            </a:pPr>
            <a:r>
              <a:rPr lang="en-US" sz="22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only if False</a:t>
            </a:r>
            <a:endParaRPr lang="en-US" sz="2200" dirty="0"/>
          </a:p>
        </p:txBody>
      </p:sp>
      <p:sp>
        <p:nvSpPr>
          <p:cNvPr id="22" name="click5"/>
          <p:cNvSpPr/>
          <p:nvPr/>
        </p:nvSpPr>
        <p:spPr>
          <a:xfrm>
            <a:off x="548640" y="4983480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3" name="click5"/>
          <p:cNvSpPr txBox="1"/>
          <p:nvPr/>
        </p:nvSpPr>
        <p:spPr>
          <a:xfrm>
            <a:off x="914400" y="498348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one block runs: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both, never neither.</a:t>
            </a:r>
            <a:endParaRPr lang="en-US" sz="2400" dirty="0"/>
          </a:p>
        </p:txBody>
      </p:sp>
      <p:pic>
        <p:nvPicPr>
          <p:cNvPr id="24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7" grpId="0" animBg="1"/>
      <p:bldP spid="19" grpId="0" animBg="1"/>
      <p:bldP spid="21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236976"/>
          </a:xfrm>
          <a:prstGeom prst="roundRect">
            <a:avLst>
              <a:gd name="adj" fmla="val 226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 complete"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click1"/>
          <p:cNvSpPr txBox="1"/>
          <p:nvPr/>
        </p:nvSpPr>
        <p:spPr>
          <a:xfrm>
            <a:off x="6053328" y="17556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19" name="click1"/>
          <p:cNvSpPr/>
          <p:nvPr/>
        </p:nvSpPr>
        <p:spPr>
          <a:xfrm>
            <a:off x="7516368" y="2039112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0" name="click1"/>
          <p:cNvSpPr/>
          <p:nvPr/>
        </p:nvSpPr>
        <p:spPr>
          <a:xfrm>
            <a:off x="7973568" y="1819656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1" name="click1"/>
          <p:cNvSpPr txBox="1"/>
          <p:nvPr/>
        </p:nvSpPr>
        <p:spPr>
          <a:xfrm>
            <a:off x="7973568" y="1819656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22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click2"/>
          <p:cNvSpPr txBox="1"/>
          <p:nvPr/>
        </p:nvSpPr>
        <p:spPr>
          <a:xfrm>
            <a:off x="6053328" y="34564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25" name="click2"/>
          <p:cNvSpPr txBox="1"/>
          <p:nvPr/>
        </p:nvSpPr>
        <p:spPr>
          <a:xfrm>
            <a:off x="6053328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27" name="click3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8" name="click3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click3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0" name="click3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1" name="click3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close</a:t>
            </a:r>
            <a:endParaRPr lang="en-US" sz="2000" dirty="0"/>
          </a:p>
        </p:txBody>
      </p:sp>
      <p:sp>
        <p:nvSpPr>
          <p:cNvPr id="32" name="click3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complete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34" name="Shape 31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170432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42874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42874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4867656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812596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12596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8564880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45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236976"/>
          </a:xfrm>
          <a:prstGeom prst="roundRect">
            <a:avLst>
              <a:gd name="adj" fmla="val 2260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"Door open"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"Door locked"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click1"/>
          <p:cNvSpPr txBox="1"/>
          <p:nvPr/>
        </p:nvSpPr>
        <p:spPr>
          <a:xfrm>
            <a:off x="6053328" y="175564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2200" dirty="0"/>
          </a:p>
        </p:txBody>
      </p:sp>
      <p:sp>
        <p:nvSpPr>
          <p:cNvPr id="19" name="click1"/>
          <p:cNvSpPr/>
          <p:nvPr/>
        </p:nvSpPr>
        <p:spPr>
          <a:xfrm>
            <a:off x="7516368" y="2039112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0" name="click1"/>
          <p:cNvSpPr/>
          <p:nvPr/>
        </p:nvSpPr>
        <p:spPr>
          <a:xfrm>
            <a:off x="7973568" y="1819656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7FD99A"/>
          </a:solidFill>
          <a:ln/>
        </p:spPr>
      </p:sp>
      <p:sp>
        <p:nvSpPr>
          <p:cNvPr id="21" name="click1"/>
          <p:cNvSpPr txBox="1"/>
          <p:nvPr/>
        </p:nvSpPr>
        <p:spPr>
          <a:xfrm>
            <a:off x="7973568" y="1819656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22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click2"/>
          <p:cNvSpPr txBox="1"/>
          <p:nvPr/>
        </p:nvSpPr>
        <p:spPr>
          <a:xfrm>
            <a:off x="6053328" y="232257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25" name="click2"/>
          <p:cNvSpPr txBox="1"/>
          <p:nvPr/>
        </p:nvSpPr>
        <p:spPr>
          <a:xfrm>
            <a:off x="6053328" y="345643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27" name="click3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8" name="click3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click3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0" name="click3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1" name="click3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Door open</a:t>
            </a:r>
            <a:endParaRPr lang="en-US" sz="2000" dirty="0"/>
          </a:p>
        </p:txBody>
      </p:sp>
      <p:sp>
        <p:nvSpPr>
          <p:cNvPr id="32" name="click3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2000" dirty="0"/>
          </a:p>
        </p:txBody>
      </p:sp>
      <p:sp>
        <p:nvSpPr>
          <p:cNvPr id="33" name="Shape 30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34" name="Shape 31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1170432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42874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42874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9" name="Text 36"/>
          <p:cNvSpPr txBox="1"/>
          <p:nvPr/>
        </p:nvSpPr>
        <p:spPr>
          <a:xfrm>
            <a:off x="4867656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40" name="Shape 37"/>
          <p:cNvSpPr/>
          <p:nvPr/>
        </p:nvSpPr>
        <p:spPr>
          <a:xfrm>
            <a:off x="812596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812596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8564880" y="5559552"/>
            <a:ext cx="301142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43" name="Shape 40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</a:t>
            </a:r>
            <a:endParaRPr lang="en-US" sz="1400" dirty="0"/>
          </a:p>
        </p:txBody>
      </p:sp>
      <p:pic>
        <p:nvPicPr>
          <p:cNvPr id="45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1" grpId="0" animBg="1"/>
      <p:bldP spid="32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code"/>
          <p:cNvSpPr/>
          <p:nvPr/>
        </p:nvSpPr>
        <p:spPr>
          <a:xfrm>
            <a:off x="548640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"High"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code"/>
          <p:cNvSpPr/>
          <p:nvPr/>
        </p:nvSpPr>
        <p:spPr>
          <a:xfrm>
            <a:off x="4334256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17136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517136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"Alarm"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17136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"Quiet"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17136" y="40416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 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code"/>
          <p:cNvSpPr/>
          <p:nvPr/>
        </p:nvSpPr>
        <p:spPr>
          <a:xfrm>
            <a:off x="8119872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02752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8302752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302752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"Wait"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40416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5020056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914400" y="5020056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each program prints.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4 MIN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804672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804672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400" dirty="0"/>
          </a:p>
        </p:txBody>
      </p:sp>
      <p:pic>
        <p:nvPicPr>
          <p:cNvPr id="34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&lt; 12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8" name="code"/>
          <p:cNvSpPr/>
          <p:nvPr/>
        </p:nvSpPr>
        <p:spPr>
          <a:xfrm>
            <a:off x="548640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"High"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terminal"/>
          <p:cNvSpPr/>
          <p:nvPr/>
        </p:nvSpPr>
        <p:spPr>
          <a:xfrm>
            <a:off x="548640" y="4882896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51114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837176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&gt; 20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</a:t>
            </a:r>
            <a:endParaRPr lang="en-US" sz="1800" dirty="0"/>
          </a:p>
        </p:txBody>
      </p:sp>
      <p:sp>
        <p:nvSpPr>
          <p:cNvPr id="18" name="code"/>
          <p:cNvSpPr/>
          <p:nvPr/>
        </p:nvSpPr>
        <p:spPr>
          <a:xfrm>
            <a:off x="4334256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17136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4517136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"Alarm"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4517136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"Quiet"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4517136" y="40416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 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4" name="terminal"/>
          <p:cNvSpPr/>
          <p:nvPr/>
        </p:nvSpPr>
        <p:spPr>
          <a:xfrm>
            <a:off x="4334256" y="4882896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562856" y="51114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Quiet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562856" y="547725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done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862279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&gt;= 4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30" name="code"/>
          <p:cNvSpPr/>
          <p:nvPr/>
        </p:nvSpPr>
        <p:spPr>
          <a:xfrm>
            <a:off x="8119872" y="2011680"/>
            <a:ext cx="3511296" cy="2688336"/>
          </a:xfrm>
          <a:prstGeom prst="roundRect">
            <a:avLst>
              <a:gd name="adj" fmla="val 2721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302752" y="22128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8302752" y="26700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"Ready"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8302752" y="31272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8302752" y="35844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"Wait"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8302752" y="4041648"/>
            <a:ext cx="32369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"End"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6" name="terminal"/>
          <p:cNvSpPr/>
          <p:nvPr/>
        </p:nvSpPr>
        <p:spPr>
          <a:xfrm>
            <a:off x="8119872" y="4882896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348472" y="511149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Ready</a:t>
            </a:r>
            <a:endParaRPr lang="en-US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8348472" y="5477256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800" dirty="0"/>
          </a:p>
        </p:txBody>
      </p:sp>
      <p:pic>
        <p:nvPicPr>
          <p:cNvPr id="39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stores. == asks.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916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892808"/>
            <a:ext cx="393192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4892040" y="2167128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5623560" y="160020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STORES</a:t>
            </a:r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puts 30 in the box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9098280" y="1764792"/>
            <a:ext cx="237744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235440" y="1581912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9235440" y="1581912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int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189720" y="194767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600" dirty="0"/>
          </a:p>
        </p:txBody>
      </p:sp>
      <p:sp>
        <p:nvSpPr>
          <p:cNvPr id="13" name="code"/>
          <p:cNvSpPr/>
          <p:nvPr/>
        </p:nvSpPr>
        <p:spPr>
          <a:xfrm>
            <a:off x="548640" y="315468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31520" y="3355848"/>
            <a:ext cx="393192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8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800" dirty="0"/>
          </a:p>
        </p:txBody>
      </p:sp>
      <p:sp>
        <p:nvSpPr>
          <p:cNvPr id="15" name="Shape 12"/>
          <p:cNvSpPr/>
          <p:nvPr/>
        </p:nvSpPr>
        <p:spPr>
          <a:xfrm>
            <a:off x="4892040" y="3630168"/>
            <a:ext cx="54864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16" name="Text 13"/>
          <p:cNvSpPr txBox="1"/>
          <p:nvPr/>
        </p:nvSpPr>
        <p:spPr>
          <a:xfrm>
            <a:off x="5623560" y="306324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6B4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ASKS</a:t>
            </a:r>
            <a:pPr indent="0" marL="0">
              <a:buNone/>
            </a:pPr>
            <a:endParaRPr lang="en-US" sz="2600" dirty="0"/>
          </a:p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it 30?  →  True or False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9098280" y="3337560"/>
            <a:ext cx="1371600" cy="594360"/>
          </a:xfrm>
          <a:prstGeom prst="roundRect">
            <a:avLst>
              <a:gd name="adj" fmla="val 12308"/>
            </a:avLst>
          </a:prstGeom>
          <a:solidFill>
            <a:srgbClr val="7FD99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098280" y="333756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48640" y="480060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480060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if must use ==.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crashes:  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distance = 30: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</a:t>
            </a:r>
            <a:pPr indent="0" marL="0">
              <a:buNone/>
            </a:pPr>
            <a:r>
              <a:rPr lang="en-US" sz="24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SyntaxError</a:t>
            </a:r>
            <a:endParaRPr lang="en-US" sz="2400" dirty="0"/>
          </a:p>
        </p:txBody>
      </p:sp>
      <p:pic>
        <p:nvPicPr>
          <p:cNvPr id="21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803904"/>
          </a:xfrm>
          <a:prstGeom prst="roundRect">
            <a:avLst>
              <a:gd name="adj" fmla="val 192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"All clear"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"Too close"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59028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5902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"Scan complete"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8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click1"/>
          <p:cNvSpPr/>
          <p:nvPr/>
        </p:nvSpPr>
        <p:spPr>
          <a:xfrm>
            <a:off x="6099048" y="1810512"/>
            <a:ext cx="2148840" cy="475488"/>
          </a:xfrm>
          <a:prstGeom prst="roundRect">
            <a:avLst>
              <a:gd name="adj" fmla="val 11538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1" name="click1"/>
          <p:cNvSpPr/>
          <p:nvPr/>
        </p:nvSpPr>
        <p:spPr>
          <a:xfrm>
            <a:off x="6236208" y="1627632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2" name="click1"/>
          <p:cNvSpPr txBox="1"/>
          <p:nvPr/>
        </p:nvSpPr>
        <p:spPr>
          <a:xfrm>
            <a:off x="6236208" y="1627632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int</a:t>
            </a:r>
            <a:endParaRPr lang="en-US" sz="1400" dirty="0"/>
          </a:p>
        </p:txBody>
      </p:sp>
      <p:sp>
        <p:nvSpPr>
          <p:cNvPr id="23" name="click1"/>
          <p:cNvSpPr txBox="1"/>
          <p:nvPr/>
        </p:nvSpPr>
        <p:spPr>
          <a:xfrm>
            <a:off x="6190488" y="199339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000" dirty="0"/>
          </a:p>
        </p:txBody>
      </p:sp>
      <p:sp>
        <p:nvSpPr>
          <p:cNvPr id="24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232257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200" dirty="0"/>
          </a:p>
        </p:txBody>
      </p:sp>
      <p:sp>
        <p:nvSpPr>
          <p:cNvPr id="27" name="click2"/>
          <p:cNvSpPr/>
          <p:nvPr/>
        </p:nvSpPr>
        <p:spPr>
          <a:xfrm>
            <a:off x="7516368" y="2606040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8" name="click2"/>
          <p:cNvSpPr/>
          <p:nvPr/>
        </p:nvSpPr>
        <p:spPr>
          <a:xfrm>
            <a:off x="7973568" y="2386584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9" name="click2"/>
          <p:cNvSpPr txBox="1"/>
          <p:nvPr/>
        </p:nvSpPr>
        <p:spPr>
          <a:xfrm>
            <a:off x="7973568" y="2386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lick3"/>
          <p:cNvSpPr/>
          <p:nvPr/>
        </p:nvSpPr>
        <p:spPr>
          <a:xfrm>
            <a:off x="5623560" y="30083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click3"/>
          <p:cNvSpPr txBox="1"/>
          <p:nvPr/>
        </p:nvSpPr>
        <p:spPr>
          <a:xfrm>
            <a:off x="56235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click3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3" name="click3"/>
          <p:cNvSpPr txBox="1"/>
          <p:nvPr/>
        </p:nvSpPr>
        <p:spPr>
          <a:xfrm>
            <a:off x="6053328" y="288950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45902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35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6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8" name="click4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9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 close</a:t>
            </a:r>
            <a:endParaRPr lang="en-US" sz="2000" dirty="0"/>
          </a:p>
        </p:txBody>
      </p:sp>
      <p:sp>
        <p:nvSpPr>
          <p:cNvPr id="40" name="click4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complete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170432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350443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0443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3943350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6277356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277356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6716268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1" name="Shape 48"/>
          <p:cNvSpPr/>
          <p:nvPr/>
        </p:nvSpPr>
        <p:spPr>
          <a:xfrm>
            <a:off x="905027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05027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9489186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56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 animBg="1"/>
      <p:bldP spid="23" grpId="0" animBg="1"/>
      <p:bldP spid="25" grpId="0" animBg="1"/>
      <p:bldP spid="2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9" grpId="0" animBg="1"/>
      <p:bldP spid="4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803904"/>
          </a:xfrm>
          <a:prstGeom prst="roundRect">
            <a:avLst>
              <a:gd name="adj" fmla="val 1923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322576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322576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4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889504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8895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"Refill now"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456432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456432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4023360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4023360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"Oxygen OK"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590288"/>
            <a:ext cx="274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590288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4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"Check done"</a:t>
            </a:r>
            <a:pPr indent="0" marL="0">
              <a:buNone/>
            </a:pPr>
            <a:r>
              <a:rPr lang="en-US" sz="24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400" dirty="0"/>
          </a:p>
        </p:txBody>
      </p:sp>
      <p:sp>
        <p:nvSpPr>
          <p:cNvPr id="18" name="click1"/>
          <p:cNvSpPr/>
          <p:nvPr/>
        </p:nvSpPr>
        <p:spPr>
          <a:xfrm>
            <a:off x="5623560" y="187452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9" name="click1"/>
          <p:cNvSpPr txBox="1"/>
          <p:nvPr/>
        </p:nvSpPr>
        <p:spPr>
          <a:xfrm>
            <a:off x="5623560" y="1874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click1"/>
          <p:cNvSpPr/>
          <p:nvPr/>
        </p:nvSpPr>
        <p:spPr>
          <a:xfrm>
            <a:off x="6099048" y="1810512"/>
            <a:ext cx="2148840" cy="475488"/>
          </a:xfrm>
          <a:prstGeom prst="roundRect">
            <a:avLst>
              <a:gd name="adj" fmla="val 11538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1" name="click1"/>
          <p:cNvSpPr/>
          <p:nvPr/>
        </p:nvSpPr>
        <p:spPr>
          <a:xfrm>
            <a:off x="6236208" y="1627632"/>
            <a:ext cx="1682496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2" name="click1"/>
          <p:cNvSpPr txBox="1"/>
          <p:nvPr/>
        </p:nvSpPr>
        <p:spPr>
          <a:xfrm>
            <a:off x="6236208" y="1627632"/>
            <a:ext cx="16824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  ·  int</a:t>
            </a:r>
            <a:endParaRPr lang="en-US" sz="1400" dirty="0"/>
          </a:p>
        </p:txBody>
      </p:sp>
      <p:sp>
        <p:nvSpPr>
          <p:cNvPr id="23" name="click1"/>
          <p:cNvSpPr txBox="1"/>
          <p:nvPr/>
        </p:nvSpPr>
        <p:spPr>
          <a:xfrm>
            <a:off x="6190488" y="199339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000" dirty="0"/>
          </a:p>
        </p:txBody>
      </p:sp>
      <p:sp>
        <p:nvSpPr>
          <p:cNvPr id="24" name="click2"/>
          <p:cNvSpPr/>
          <p:nvPr/>
        </p:nvSpPr>
        <p:spPr>
          <a:xfrm>
            <a:off x="5623560" y="2441448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5" name="click2"/>
          <p:cNvSpPr txBox="1"/>
          <p:nvPr/>
        </p:nvSpPr>
        <p:spPr>
          <a:xfrm>
            <a:off x="562356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click2"/>
          <p:cNvSpPr txBox="1"/>
          <p:nvPr/>
        </p:nvSpPr>
        <p:spPr>
          <a:xfrm>
            <a:off x="6053328" y="232257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2200" dirty="0"/>
          </a:p>
        </p:txBody>
      </p:sp>
      <p:sp>
        <p:nvSpPr>
          <p:cNvPr id="27" name="click2"/>
          <p:cNvSpPr/>
          <p:nvPr/>
        </p:nvSpPr>
        <p:spPr>
          <a:xfrm>
            <a:off x="7516368" y="2606040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28" name="click2"/>
          <p:cNvSpPr/>
          <p:nvPr/>
        </p:nvSpPr>
        <p:spPr>
          <a:xfrm>
            <a:off x="7973568" y="2386584"/>
            <a:ext cx="868680" cy="438912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29" name="click2"/>
          <p:cNvSpPr txBox="1"/>
          <p:nvPr/>
        </p:nvSpPr>
        <p:spPr>
          <a:xfrm>
            <a:off x="7973568" y="2386584"/>
            <a:ext cx="868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0" name="click3"/>
          <p:cNvSpPr/>
          <p:nvPr/>
        </p:nvSpPr>
        <p:spPr>
          <a:xfrm>
            <a:off x="5623560" y="30083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1" name="click3"/>
          <p:cNvSpPr txBox="1"/>
          <p:nvPr/>
        </p:nvSpPr>
        <p:spPr>
          <a:xfrm>
            <a:off x="5623560" y="30083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2" name="click3"/>
          <p:cNvSpPr txBox="1"/>
          <p:nvPr/>
        </p:nvSpPr>
        <p:spPr>
          <a:xfrm>
            <a:off x="6053328" y="402336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3" name="click3"/>
          <p:cNvSpPr txBox="1"/>
          <p:nvPr/>
        </p:nvSpPr>
        <p:spPr>
          <a:xfrm>
            <a:off x="6053328" y="288950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459028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 every time</a:t>
            </a:r>
            <a:endParaRPr lang="en-US" sz="2000" dirty="0"/>
          </a:p>
        </p:txBody>
      </p:sp>
      <p:sp>
        <p:nvSpPr>
          <p:cNvPr id="35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6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38" name="click4 · terminal"/>
          <p:cNvSpPr/>
          <p:nvPr/>
        </p:nvSpPr>
        <p:spPr>
          <a:xfrm>
            <a:off x="9098280" y="2011680"/>
            <a:ext cx="2542032" cy="1270000"/>
          </a:xfrm>
          <a:prstGeom prst="roundRect">
            <a:avLst>
              <a:gd name="adj" fmla="val 576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9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Oxygen OK</a:t>
            </a:r>
            <a:endParaRPr lang="en-US" sz="2000" dirty="0"/>
          </a:p>
        </p:txBody>
      </p:sp>
      <p:sp>
        <p:nvSpPr>
          <p:cNvPr id="40" name="click4"/>
          <p:cNvSpPr txBox="1"/>
          <p:nvPr/>
        </p:nvSpPr>
        <p:spPr>
          <a:xfrm>
            <a:off x="9326880" y="26466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done</a:t>
            </a:r>
            <a:endParaRPr lang="en-US" sz="2000" dirty="0"/>
          </a:p>
        </p:txBody>
      </p:sp>
      <p:sp>
        <p:nvSpPr>
          <p:cNvPr id="41" name="Shape 38"/>
          <p:cNvSpPr/>
          <p:nvPr/>
        </p:nvSpPr>
        <p:spPr>
          <a:xfrm>
            <a:off x="548640" y="5559552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2" name="Shape 39"/>
          <p:cNvSpPr/>
          <p:nvPr/>
        </p:nvSpPr>
        <p:spPr>
          <a:xfrm>
            <a:off x="731520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731520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4" name="Text 41"/>
          <p:cNvSpPr txBox="1"/>
          <p:nvPr/>
        </p:nvSpPr>
        <p:spPr>
          <a:xfrm>
            <a:off x="1170432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3504438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3504438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7" name="Text 44"/>
          <p:cNvSpPr txBox="1"/>
          <p:nvPr/>
        </p:nvSpPr>
        <p:spPr>
          <a:xfrm>
            <a:off x="3943350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or False?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6277356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6277356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47"/>
          <p:cNvSpPr txBox="1"/>
          <p:nvPr/>
        </p:nvSpPr>
        <p:spPr>
          <a:xfrm>
            <a:off x="6716268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1" name="Shape 48"/>
          <p:cNvSpPr/>
          <p:nvPr/>
        </p:nvSpPr>
        <p:spPr>
          <a:xfrm>
            <a:off x="9050274" y="5678424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9050274" y="56784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3" name="Text 50"/>
          <p:cNvSpPr txBox="1"/>
          <p:nvPr/>
        </p:nvSpPr>
        <p:spPr>
          <a:xfrm>
            <a:off x="9489186" y="5559552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4" name="Shape 51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</a:t>
            </a:r>
            <a:endParaRPr lang="en-US" sz="1400" dirty="0"/>
          </a:p>
        </p:txBody>
      </p:sp>
      <p:pic>
        <p:nvPicPr>
          <p:cNvPr id="56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2" grpId="0" animBg="1"/>
      <p:bldP spid="23" grpId="0" animBg="1"/>
      <p:bldP spid="25" grpId="0" animBg="1"/>
      <p:bldP spid="26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  <p:bldP spid="39" grpId="0" animBg="1"/>
      <p:bldP spid="4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code"/>
          <p:cNvSpPr/>
          <p:nvPr/>
        </p:nvSpPr>
        <p:spPr>
          <a:xfrm>
            <a:off x="548640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"Locked"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code"/>
          <p:cNvSpPr/>
          <p:nvPr/>
        </p:nvSpPr>
        <p:spPr>
          <a:xfrm>
            <a:off x="4334256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517136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4517136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4517136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"Systems on"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517136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4517136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"Backup"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4" name="code"/>
          <p:cNvSpPr/>
          <p:nvPr/>
        </p:nvSpPr>
        <p:spPr>
          <a:xfrm>
            <a:off x="8119872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302752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</a:t>
            </a:r>
            <a:endParaRPr lang="en-US" sz="2000" dirty="0"/>
          </a:p>
        </p:txBody>
      </p:sp>
      <p:sp>
        <p:nvSpPr>
          <p:cNvPr id="26" name="Text 23"/>
          <p:cNvSpPr txBox="1"/>
          <p:nvPr/>
        </p:nvSpPr>
        <p:spPr>
          <a:xfrm>
            <a:off x="8302752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830275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8302752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8302752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"Cancelled"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0" name="Text 27"/>
          <p:cNvSpPr txBox="1"/>
          <p:nvPr/>
        </p:nvSpPr>
        <p:spPr>
          <a:xfrm>
            <a:off x="8302752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148072"/>
            <a:ext cx="11091672" cy="9144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914400" y="5148072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your board: </a:t>
            </a:r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exactly what each program prints.</a:t>
            </a:r>
            <a:endParaRPr lang="en-US" sz="2400" dirty="0"/>
          </a:p>
        </p:txBody>
      </p:sp>
      <p:sp>
        <p:nvSpPr>
          <p:cNvPr id="33" name="Shape 30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4 MIN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804672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04672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</a:t>
            </a:r>
            <a:endParaRPr lang="en-US" sz="1400" dirty="0"/>
          </a:p>
        </p:txBody>
      </p:sp>
      <p:pic>
        <p:nvPicPr>
          <p:cNvPr id="37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printed? — answers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&gt; 2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8" name="code"/>
          <p:cNvSpPr/>
          <p:nvPr/>
        </p:nvSpPr>
        <p:spPr>
          <a:xfrm>
            <a:off x="548640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level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31520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"Locked"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14" name="terminal"/>
          <p:cNvSpPr/>
          <p:nvPr/>
        </p:nvSpPr>
        <p:spPr>
          <a:xfrm>
            <a:off x="548640" y="5010912"/>
            <a:ext cx="3511296" cy="822960"/>
          </a:xfrm>
          <a:prstGeom prst="roundRect">
            <a:avLst>
              <a:gd name="adj" fmla="val 8889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Locked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4334256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34256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4837176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 &gt;= 50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True</a:t>
            </a:r>
            <a:endParaRPr lang="en-US" sz="1800" dirty="0"/>
          </a:p>
        </p:txBody>
      </p:sp>
      <p:sp>
        <p:nvSpPr>
          <p:cNvPr id="19" name="code"/>
          <p:cNvSpPr/>
          <p:nvPr/>
        </p:nvSpPr>
        <p:spPr>
          <a:xfrm>
            <a:off x="4334256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517136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4517136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2" name="Text 19"/>
          <p:cNvSpPr txBox="1"/>
          <p:nvPr/>
        </p:nvSpPr>
        <p:spPr>
          <a:xfrm>
            <a:off x="4517136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"Systems on"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4517136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4517136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"Backup"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4517136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26" name="terminal"/>
          <p:cNvSpPr/>
          <p:nvPr/>
        </p:nvSpPr>
        <p:spPr>
          <a:xfrm>
            <a:off x="4334256" y="5010912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62856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Systems on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562856" y="56052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119872" y="1508760"/>
            <a:ext cx="384048" cy="384048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8119872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8622792" y="1463040"/>
            <a:ext cx="30083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 == "y"</a:t>
            </a:r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False</a:t>
            </a:r>
            <a:endParaRPr lang="en-US" sz="1800" dirty="0"/>
          </a:p>
        </p:txBody>
      </p:sp>
      <p:sp>
        <p:nvSpPr>
          <p:cNvPr id="32" name="code"/>
          <p:cNvSpPr/>
          <p:nvPr/>
        </p:nvSpPr>
        <p:spPr>
          <a:xfrm>
            <a:off x="8119872" y="2011680"/>
            <a:ext cx="3511296" cy="2816352"/>
          </a:xfrm>
          <a:prstGeom prst="roundRect">
            <a:avLst>
              <a:gd name="adj" fmla="val 2597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302752" y="221284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"n"</a:t>
            </a:r>
            <a:endParaRPr lang="en-US" sz="2000" dirty="0"/>
          </a:p>
        </p:txBody>
      </p:sp>
      <p:sp>
        <p:nvSpPr>
          <p:cNvPr id="34" name="Text 31"/>
          <p:cNvSpPr txBox="1"/>
          <p:nvPr/>
        </p:nvSpPr>
        <p:spPr>
          <a:xfrm>
            <a:off x="8302752" y="2615184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==</a:t>
            </a:r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5" name="Text 32"/>
          <p:cNvSpPr txBox="1"/>
          <p:nvPr/>
        </p:nvSpPr>
        <p:spPr>
          <a:xfrm>
            <a:off x="830275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"Sent"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6" name="Text 33"/>
          <p:cNvSpPr txBox="1"/>
          <p:nvPr/>
        </p:nvSpPr>
        <p:spPr>
          <a:xfrm>
            <a:off x="8302752" y="3419856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8302752" y="38221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"Cancelled"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8" name="Text 35"/>
          <p:cNvSpPr txBox="1"/>
          <p:nvPr/>
        </p:nvSpPr>
        <p:spPr>
          <a:xfrm>
            <a:off x="8302752" y="4224528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0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"Done"</a:t>
            </a:r>
            <a:pPr indent="0" marL="0">
              <a:buNone/>
            </a:pPr>
            <a:r>
              <a:rPr lang="en-US" sz="20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000" dirty="0"/>
          </a:p>
        </p:txBody>
      </p:sp>
      <p:sp>
        <p:nvSpPr>
          <p:cNvPr id="39" name="terminal"/>
          <p:cNvSpPr/>
          <p:nvPr/>
        </p:nvSpPr>
        <p:spPr>
          <a:xfrm>
            <a:off x="8119872" y="5010912"/>
            <a:ext cx="3511296" cy="1188720"/>
          </a:xfrm>
          <a:prstGeom prst="roundRect">
            <a:avLst>
              <a:gd name="adj" fmla="val 6154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348472" y="523951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Cancelled</a:t>
            </a:r>
            <a:endParaRPr lang="en-US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8348472" y="5605272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800" dirty="0"/>
          </a:p>
        </p:txBody>
      </p:sp>
      <p:pic>
        <p:nvPicPr>
          <p:cNvPr id="42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elif: a third path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922776"/>
          </a:xfrm>
          <a:prstGeom prst="roundRect">
            <a:avLst>
              <a:gd name="adj" fmla="val 1865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585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58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6148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"Full"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644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644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76732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2702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47731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7731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"Critical"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click1"/>
          <p:cNvSpPr/>
          <p:nvPr/>
        </p:nvSpPr>
        <p:spPr>
          <a:xfrm>
            <a:off x="5623560" y="18425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1"/>
          <p:cNvSpPr txBox="1"/>
          <p:nvPr/>
        </p:nvSpPr>
        <p:spPr>
          <a:xfrm>
            <a:off x="5623560" y="1842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click1"/>
          <p:cNvSpPr/>
          <p:nvPr/>
        </p:nvSpPr>
        <p:spPr>
          <a:xfrm>
            <a:off x="6099048" y="1810512"/>
            <a:ext cx="2148840" cy="411480"/>
          </a:xfrm>
          <a:prstGeom prst="roundRect">
            <a:avLst>
              <a:gd name="adj" fmla="val 13333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3" name="click1"/>
          <p:cNvSpPr/>
          <p:nvPr/>
        </p:nvSpPr>
        <p:spPr>
          <a:xfrm>
            <a:off x="6236208" y="1627632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4" name="click1"/>
          <p:cNvSpPr txBox="1"/>
          <p:nvPr/>
        </p:nvSpPr>
        <p:spPr>
          <a:xfrm>
            <a:off x="6236208" y="16276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 ·  int</a:t>
            </a:r>
            <a:endParaRPr lang="en-US" sz="1400" dirty="0"/>
          </a:p>
        </p:txBody>
      </p:sp>
      <p:sp>
        <p:nvSpPr>
          <p:cNvPr id="25" name="click1"/>
          <p:cNvSpPr txBox="1"/>
          <p:nvPr/>
        </p:nvSpPr>
        <p:spPr>
          <a:xfrm>
            <a:off x="6190488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endParaRPr lang="en-US" sz="2000" dirty="0"/>
          </a:p>
        </p:txBody>
      </p:sp>
      <p:sp>
        <p:nvSpPr>
          <p:cNvPr id="26" name="click2"/>
          <p:cNvSpPr/>
          <p:nvPr/>
        </p:nvSpPr>
        <p:spPr>
          <a:xfrm>
            <a:off x="5623560" y="23454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click2"/>
          <p:cNvSpPr txBox="1"/>
          <p:nvPr/>
        </p:nvSpPr>
        <p:spPr>
          <a:xfrm>
            <a:off x="5623560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click2"/>
          <p:cNvSpPr txBox="1"/>
          <p:nvPr/>
        </p:nvSpPr>
        <p:spPr>
          <a:xfrm>
            <a:off x="6053328" y="22585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2200" dirty="0"/>
          </a:p>
        </p:txBody>
      </p:sp>
      <p:sp>
        <p:nvSpPr>
          <p:cNvPr id="29" name="click2"/>
          <p:cNvSpPr/>
          <p:nvPr/>
        </p:nvSpPr>
        <p:spPr>
          <a:xfrm>
            <a:off x="7516368" y="251002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2"/>
          <p:cNvSpPr/>
          <p:nvPr/>
        </p:nvSpPr>
        <p:spPr>
          <a:xfrm>
            <a:off x="7973568" y="232257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1E1E24"/>
          </a:solidFill>
          <a:ln w="19050">
            <a:solidFill>
              <a:srgbClr val="A9A9B4"/>
            </a:solidFill>
            <a:prstDash val="solid"/>
          </a:ln>
        </p:spPr>
      </p:sp>
      <p:sp>
        <p:nvSpPr>
          <p:cNvPr id="31" name="click2"/>
          <p:cNvSpPr txBox="1"/>
          <p:nvPr/>
        </p:nvSpPr>
        <p:spPr>
          <a:xfrm>
            <a:off x="7973568" y="232257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2000" dirty="0"/>
          </a:p>
        </p:txBody>
      </p:sp>
      <p:sp>
        <p:nvSpPr>
          <p:cNvPr id="32" name="click3"/>
          <p:cNvSpPr/>
          <p:nvPr/>
        </p:nvSpPr>
        <p:spPr>
          <a:xfrm>
            <a:off x="5623560" y="335127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3" name="click3"/>
          <p:cNvSpPr txBox="1"/>
          <p:nvPr/>
        </p:nvSpPr>
        <p:spPr>
          <a:xfrm>
            <a:off x="5623560" y="33512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4" name="click3"/>
          <p:cNvSpPr txBox="1"/>
          <p:nvPr/>
        </p:nvSpPr>
        <p:spPr>
          <a:xfrm>
            <a:off x="6053328" y="326440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2200" dirty="0"/>
          </a:p>
        </p:txBody>
      </p:sp>
      <p:sp>
        <p:nvSpPr>
          <p:cNvPr id="35" name="click3"/>
          <p:cNvSpPr/>
          <p:nvPr/>
        </p:nvSpPr>
        <p:spPr>
          <a:xfrm>
            <a:off x="7516368" y="351586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6" name="click3"/>
          <p:cNvSpPr/>
          <p:nvPr/>
        </p:nvSpPr>
        <p:spPr>
          <a:xfrm>
            <a:off x="7973568" y="332841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7FD99A"/>
          </a:solidFill>
          <a:ln/>
        </p:spPr>
      </p:sp>
      <p:sp>
        <p:nvSpPr>
          <p:cNvPr id="37" name="click3"/>
          <p:cNvSpPr txBox="1"/>
          <p:nvPr/>
        </p:nvSpPr>
        <p:spPr>
          <a:xfrm>
            <a:off x="7973568" y="332841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38" name="click4"/>
          <p:cNvSpPr/>
          <p:nvPr/>
        </p:nvSpPr>
        <p:spPr>
          <a:xfrm>
            <a:off x="5623560" y="284835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9" name="click4"/>
          <p:cNvSpPr txBox="1"/>
          <p:nvPr/>
        </p:nvSpPr>
        <p:spPr>
          <a:xfrm>
            <a:off x="5623560" y="28483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0" name="click4"/>
          <p:cNvSpPr txBox="1"/>
          <p:nvPr/>
        </p:nvSpPr>
        <p:spPr>
          <a:xfrm>
            <a:off x="6053328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41" name="click4"/>
          <p:cNvSpPr txBox="1"/>
          <p:nvPr/>
        </p:nvSpPr>
        <p:spPr>
          <a:xfrm>
            <a:off x="6053328" y="27614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42" name="click4"/>
          <p:cNvSpPr txBox="1"/>
          <p:nvPr/>
        </p:nvSpPr>
        <p:spPr>
          <a:xfrm>
            <a:off x="6053328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43" name="click5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4" name="click5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5" name="click5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46" name="click5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7" name="click5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</a:t>
            </a:r>
            <a:endParaRPr lang="en-US" sz="2000" dirty="0"/>
          </a:p>
        </p:txBody>
      </p:sp>
      <p:sp>
        <p:nvSpPr>
          <p:cNvPr id="48" name="Shape 45"/>
          <p:cNvSpPr/>
          <p:nvPr/>
        </p:nvSpPr>
        <p:spPr>
          <a:xfrm>
            <a:off x="548640" y="55961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9" name="Shape 46"/>
          <p:cNvSpPr/>
          <p:nvPr/>
        </p:nvSpPr>
        <p:spPr>
          <a:xfrm>
            <a:off x="731520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731520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8"/>
          <p:cNvSpPr txBox="1"/>
          <p:nvPr/>
        </p:nvSpPr>
        <p:spPr>
          <a:xfrm>
            <a:off x="1170432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52" name="Shape 49"/>
          <p:cNvSpPr/>
          <p:nvPr/>
        </p:nvSpPr>
        <p:spPr>
          <a:xfrm>
            <a:off x="3504438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3504438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3943350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from the top</a:t>
            </a:r>
            <a:endParaRPr lang="en-US" sz="1800" dirty="0"/>
          </a:p>
        </p:txBody>
      </p:sp>
      <p:sp>
        <p:nvSpPr>
          <p:cNvPr id="55" name="Shape 52"/>
          <p:cNvSpPr/>
          <p:nvPr/>
        </p:nvSpPr>
        <p:spPr>
          <a:xfrm>
            <a:off x="6277356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6277356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7" name="Text 54"/>
          <p:cNvSpPr txBox="1"/>
          <p:nvPr/>
        </p:nvSpPr>
        <p:spPr>
          <a:xfrm>
            <a:off x="6716268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9050274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9" name="Text 56"/>
          <p:cNvSpPr txBox="1"/>
          <p:nvPr/>
        </p:nvSpPr>
        <p:spPr>
          <a:xfrm>
            <a:off x="9050274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9489186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61" name="Shape 58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63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5" grpId="0" animBg="1"/>
      <p:bldP spid="27" grpId="0" animBg="1"/>
      <p:bldP spid="28" grpId="0" animBg="1"/>
      <p:bldP spid="31" grpId="0" animBg="1"/>
      <p:bldP spid="33" grpId="0" animBg="1"/>
      <p:bldP spid="34" grpId="0" animBg="1"/>
      <p:bldP spid="37" grpId="0" animBg="1"/>
      <p:bldP spid="39" grpId="0" animBg="1"/>
      <p:bldP spid="40" grpId="0" animBg="1"/>
      <p:bldP spid="41" grpId="0" animBg="1"/>
      <p:bldP spid="42" grpId="0" animBg="1"/>
      <p:bldP spid="44" grpId="0" animBg="1"/>
      <p:bldP spid="45" grpId="0" animBg="1"/>
      <p:bldP spid="4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True one wins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554480"/>
            <a:ext cx="4846320" cy="3922776"/>
          </a:xfrm>
          <a:prstGeom prst="roundRect">
            <a:avLst>
              <a:gd name="adj" fmla="val 1865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7556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7556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2585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22585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76148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276148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"Full"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658368" y="326440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188720" y="326440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76732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76732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"Low"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27024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427024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4773168"/>
            <a:ext cx="274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188720" y="47731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"Critical"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20" name="click1"/>
          <p:cNvSpPr/>
          <p:nvPr/>
        </p:nvSpPr>
        <p:spPr>
          <a:xfrm>
            <a:off x="5623560" y="184251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1" name="click1"/>
          <p:cNvSpPr txBox="1"/>
          <p:nvPr/>
        </p:nvSpPr>
        <p:spPr>
          <a:xfrm>
            <a:off x="5623560" y="18425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click1"/>
          <p:cNvSpPr/>
          <p:nvPr/>
        </p:nvSpPr>
        <p:spPr>
          <a:xfrm>
            <a:off x="6099048" y="1810512"/>
            <a:ext cx="2148840" cy="411480"/>
          </a:xfrm>
          <a:prstGeom prst="roundRect">
            <a:avLst>
              <a:gd name="adj" fmla="val 13333"/>
            </a:avLst>
          </a:prstGeom>
          <a:solidFill>
            <a:srgbClr val="111115"/>
          </a:solidFill>
          <a:ln w="25400">
            <a:solidFill>
              <a:srgbClr val="56B4E9"/>
            </a:solidFill>
            <a:prstDash val="solid"/>
          </a:ln>
        </p:spPr>
      </p:sp>
      <p:sp>
        <p:nvSpPr>
          <p:cNvPr id="23" name="click1"/>
          <p:cNvSpPr/>
          <p:nvPr/>
        </p:nvSpPr>
        <p:spPr>
          <a:xfrm>
            <a:off x="6236208" y="1627632"/>
            <a:ext cx="1783080" cy="347472"/>
          </a:xfrm>
          <a:prstGeom prst="roundRect">
            <a:avLst>
              <a:gd name="adj" fmla="val 13158"/>
            </a:avLst>
          </a:prstGeom>
          <a:solidFill>
            <a:srgbClr val="56B4E9"/>
          </a:solidFill>
          <a:ln/>
        </p:spPr>
      </p:sp>
      <p:sp>
        <p:nvSpPr>
          <p:cNvPr id="24" name="click1"/>
          <p:cNvSpPr txBox="1"/>
          <p:nvPr/>
        </p:nvSpPr>
        <p:spPr>
          <a:xfrm>
            <a:off x="6236208" y="1627632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battery  ·  int</a:t>
            </a:r>
            <a:endParaRPr lang="en-US" sz="1400" dirty="0"/>
          </a:p>
        </p:txBody>
      </p:sp>
      <p:sp>
        <p:nvSpPr>
          <p:cNvPr id="25" name="click1"/>
          <p:cNvSpPr txBox="1"/>
          <p:nvPr/>
        </p:nvSpPr>
        <p:spPr>
          <a:xfrm>
            <a:off x="6190488" y="1993392"/>
            <a:ext cx="1965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2000" dirty="0"/>
          </a:p>
        </p:txBody>
      </p:sp>
      <p:sp>
        <p:nvSpPr>
          <p:cNvPr id="26" name="click2"/>
          <p:cNvSpPr/>
          <p:nvPr/>
        </p:nvSpPr>
        <p:spPr>
          <a:xfrm>
            <a:off x="5623560" y="234543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27" name="click2"/>
          <p:cNvSpPr txBox="1"/>
          <p:nvPr/>
        </p:nvSpPr>
        <p:spPr>
          <a:xfrm>
            <a:off x="5623560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8" name="click2"/>
          <p:cNvSpPr txBox="1"/>
          <p:nvPr/>
        </p:nvSpPr>
        <p:spPr>
          <a:xfrm>
            <a:off x="6053328" y="2258568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2200" dirty="0"/>
          </a:p>
        </p:txBody>
      </p:sp>
      <p:sp>
        <p:nvSpPr>
          <p:cNvPr id="29" name="click2"/>
          <p:cNvSpPr/>
          <p:nvPr/>
        </p:nvSpPr>
        <p:spPr>
          <a:xfrm>
            <a:off x="7516368" y="2510028"/>
            <a:ext cx="365760" cy="0"/>
          </a:xfrm>
          <a:prstGeom prst="line">
            <a:avLst/>
          </a:prstGeom>
          <a:noFill/>
          <a:ln w="28575">
            <a:solidFill>
              <a:srgbClr val="A9A9B4"/>
            </a:solidFill>
            <a:prstDash val="solid"/>
            <a:tailEnd type="triangle"/>
          </a:ln>
        </p:spPr>
      </p:sp>
      <p:sp>
        <p:nvSpPr>
          <p:cNvPr id="30" name="click2"/>
          <p:cNvSpPr/>
          <p:nvPr/>
        </p:nvSpPr>
        <p:spPr>
          <a:xfrm>
            <a:off x="7973568" y="2322576"/>
            <a:ext cx="868680" cy="374904"/>
          </a:xfrm>
          <a:prstGeom prst="roundRect">
            <a:avLst>
              <a:gd name="adj" fmla="val 19512"/>
            </a:avLst>
          </a:prstGeom>
          <a:solidFill>
            <a:srgbClr val="7FD99A"/>
          </a:solidFill>
          <a:ln/>
        </p:spPr>
      </p:sp>
      <p:sp>
        <p:nvSpPr>
          <p:cNvPr id="31" name="click2"/>
          <p:cNvSpPr txBox="1"/>
          <p:nvPr/>
        </p:nvSpPr>
        <p:spPr>
          <a:xfrm>
            <a:off x="7973568" y="2322576"/>
            <a:ext cx="868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endParaRPr lang="en-US" sz="2000" dirty="0"/>
          </a:p>
        </p:txBody>
      </p:sp>
      <p:sp>
        <p:nvSpPr>
          <p:cNvPr id="32" name="click2"/>
          <p:cNvSpPr txBox="1"/>
          <p:nvPr/>
        </p:nvSpPr>
        <p:spPr>
          <a:xfrm>
            <a:off x="6053328" y="326440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checked</a:t>
            </a:r>
            <a:endParaRPr lang="en-US" sz="1800" dirty="0"/>
          </a:p>
        </p:txBody>
      </p:sp>
      <p:sp>
        <p:nvSpPr>
          <p:cNvPr id="33" name="click3"/>
          <p:cNvSpPr/>
          <p:nvPr/>
        </p:nvSpPr>
        <p:spPr>
          <a:xfrm>
            <a:off x="5623560" y="2848356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4" name="click3"/>
          <p:cNvSpPr txBox="1"/>
          <p:nvPr/>
        </p:nvSpPr>
        <p:spPr>
          <a:xfrm>
            <a:off x="5623560" y="28483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5" name="click3"/>
          <p:cNvSpPr txBox="1"/>
          <p:nvPr/>
        </p:nvSpPr>
        <p:spPr>
          <a:xfrm>
            <a:off x="6053328" y="276148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runs</a:t>
            </a:r>
            <a:endParaRPr lang="en-US" sz="2000" dirty="0"/>
          </a:p>
        </p:txBody>
      </p:sp>
      <p:sp>
        <p:nvSpPr>
          <p:cNvPr id="36" name="click3"/>
          <p:cNvSpPr txBox="1"/>
          <p:nvPr/>
        </p:nvSpPr>
        <p:spPr>
          <a:xfrm>
            <a:off x="6053328" y="376732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7" name="click3"/>
          <p:cNvSpPr txBox="1"/>
          <p:nvPr/>
        </p:nvSpPr>
        <p:spPr>
          <a:xfrm>
            <a:off x="6053328" y="4773168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</a:t>
            </a:r>
            <a:endParaRPr lang="en-US" sz="2000" dirty="0"/>
          </a:p>
        </p:txBody>
      </p:sp>
      <p:sp>
        <p:nvSpPr>
          <p:cNvPr id="38" name="click4"/>
          <p:cNvSpPr/>
          <p:nvPr/>
        </p:nvSpPr>
        <p:spPr>
          <a:xfrm>
            <a:off x="9098280" y="155448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39" name="click4"/>
          <p:cNvSpPr txBox="1"/>
          <p:nvPr/>
        </p:nvSpPr>
        <p:spPr>
          <a:xfrm>
            <a:off x="9098280" y="1554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0" name="click4"/>
          <p:cNvSpPr txBox="1"/>
          <p:nvPr/>
        </p:nvSpPr>
        <p:spPr>
          <a:xfrm>
            <a:off x="9555480" y="1554480"/>
            <a:ext cx="20848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</a:t>
            </a:r>
            <a:endParaRPr lang="en-US" sz="1300" dirty="0"/>
          </a:p>
        </p:txBody>
      </p:sp>
      <p:sp>
        <p:nvSpPr>
          <p:cNvPr id="41" name="click4 · terminal"/>
          <p:cNvSpPr/>
          <p:nvPr/>
        </p:nvSpPr>
        <p:spPr>
          <a:xfrm>
            <a:off x="9098280" y="2011680"/>
            <a:ext cx="2542032" cy="863600"/>
          </a:xfrm>
          <a:prstGeom prst="roundRect">
            <a:avLst>
              <a:gd name="adj" fmla="val 8471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42" name="click4"/>
          <p:cNvSpPr txBox="1"/>
          <p:nvPr/>
        </p:nvSpPr>
        <p:spPr>
          <a:xfrm>
            <a:off x="9326880" y="2240280"/>
            <a:ext cx="2084832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Full</a:t>
            </a:r>
            <a:endParaRPr lang="en-US" sz="2000" dirty="0"/>
          </a:p>
        </p:txBody>
      </p:sp>
      <p:sp>
        <p:nvSpPr>
          <p:cNvPr id="43" name="Shape 40"/>
          <p:cNvSpPr/>
          <p:nvPr/>
        </p:nvSpPr>
        <p:spPr>
          <a:xfrm>
            <a:off x="548640" y="55961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2A2A32"/>
          </a:solidFill>
          <a:ln/>
        </p:spPr>
      </p:sp>
      <p:sp>
        <p:nvSpPr>
          <p:cNvPr id="44" name="Shape 41"/>
          <p:cNvSpPr/>
          <p:nvPr/>
        </p:nvSpPr>
        <p:spPr>
          <a:xfrm>
            <a:off x="731520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731520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1170432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in the box</a:t>
            </a:r>
            <a:endParaRPr lang="en-US" sz="1800" dirty="0"/>
          </a:p>
        </p:txBody>
      </p:sp>
      <p:sp>
        <p:nvSpPr>
          <p:cNvPr id="47" name="Shape 44"/>
          <p:cNvSpPr/>
          <p:nvPr/>
        </p:nvSpPr>
        <p:spPr>
          <a:xfrm>
            <a:off x="3504438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3504438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9" name="Text 46"/>
          <p:cNvSpPr txBox="1"/>
          <p:nvPr/>
        </p:nvSpPr>
        <p:spPr>
          <a:xfrm>
            <a:off x="3943350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from the top</a:t>
            </a:r>
            <a:endParaRPr lang="en-US" sz="1800" dirty="0"/>
          </a:p>
        </p:txBody>
      </p:sp>
      <p:sp>
        <p:nvSpPr>
          <p:cNvPr id="50" name="Shape 47"/>
          <p:cNvSpPr/>
          <p:nvPr/>
        </p:nvSpPr>
        <p:spPr>
          <a:xfrm>
            <a:off x="6277356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1" name="Text 48"/>
          <p:cNvSpPr txBox="1"/>
          <p:nvPr/>
        </p:nvSpPr>
        <p:spPr>
          <a:xfrm>
            <a:off x="6277356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2" name="Text 49"/>
          <p:cNvSpPr txBox="1"/>
          <p:nvPr/>
        </p:nvSpPr>
        <p:spPr>
          <a:xfrm>
            <a:off x="6716268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lines run?</a:t>
            </a:r>
            <a:endParaRPr lang="en-US" sz="1800" dirty="0"/>
          </a:p>
        </p:txBody>
      </p:sp>
      <p:sp>
        <p:nvSpPr>
          <p:cNvPr id="53" name="Shape 50"/>
          <p:cNvSpPr/>
          <p:nvPr/>
        </p:nvSpPr>
        <p:spPr>
          <a:xfrm>
            <a:off x="9050274" y="5715000"/>
            <a:ext cx="329184" cy="329184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050274" y="5715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5" name="Text 52"/>
          <p:cNvSpPr txBox="1"/>
          <p:nvPr/>
        </p:nvSpPr>
        <p:spPr>
          <a:xfrm>
            <a:off x="9489186" y="5596128"/>
            <a:ext cx="20871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printed?</a:t>
            </a:r>
            <a:endParaRPr lang="en-US" sz="1800" dirty="0"/>
          </a:p>
        </p:txBody>
      </p:sp>
      <p:sp>
        <p:nvSpPr>
          <p:cNvPr id="56" name="Shape 53"/>
          <p:cNvSpPr/>
          <p:nvPr/>
        </p:nvSpPr>
        <p:spPr>
          <a:xfrm>
            <a:off x="9464040" y="566928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D8A73D"/>
          </a:solidFill>
          <a:ln/>
        </p:spPr>
      </p:sp>
      <p:sp>
        <p:nvSpPr>
          <p:cNvPr id="57" name="Text 54"/>
          <p:cNvSpPr txBox="1"/>
          <p:nvPr/>
        </p:nvSpPr>
        <p:spPr>
          <a:xfrm>
            <a:off x="9464040" y="56692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1E1E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DO</a:t>
            </a:r>
            <a:endParaRPr lang="en-US" sz="1400" dirty="0"/>
          </a:p>
        </p:txBody>
      </p:sp>
      <p:pic>
        <p:nvPicPr>
          <p:cNvPr id="58" name="Image 1" descr="New inform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4" grpId="0" animBg="1"/>
      <p:bldP spid="25" grpId="0" animBg="1"/>
      <p:bldP spid="27" grpId="0" animBg="1"/>
      <p:bldP spid="28" grpId="0" animBg="1"/>
      <p:bldP spid="31" grpId="0" animBg="1"/>
      <p:bldP spid="32" grpId="0" animBg="1"/>
      <p:bldP spid="34" grpId="0" animBg="1"/>
      <p:bldP spid="35" grpId="0" animBg="1"/>
      <p:bldP spid="36" grpId="0" animBg="1"/>
      <p:bldP spid="37" grpId="0" animBg="1"/>
      <p:bldP spid="39" grpId="0" animBg="1"/>
      <p:bldP spid="40" grpId="0" animBg="1"/>
      <p:bldP spid="4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548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9144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Proximity</a:t>
            </a:r>
            <a:endParaRPr lang="en-US" sz="4800" dirty="0"/>
          </a:p>
        </p:txBody>
      </p:sp>
      <p:sp>
        <p:nvSpPr>
          <p:cNvPr id="6" name="terminal"/>
          <p:cNvSpPr/>
          <p:nvPr/>
        </p:nvSpPr>
        <p:spPr>
          <a:xfrm>
            <a:off x="548640" y="2148840"/>
            <a:ext cx="5212080" cy="2788920"/>
          </a:xfrm>
          <a:prstGeom prst="roundRect">
            <a:avLst>
              <a:gd name="adj" fmla="val 2623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2331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D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OPS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6974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room is empty.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1038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5102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Frost on the floor.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166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vent cover hangs open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23080"/>
            <a:ext cx="475488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above the console.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172200" y="1417320"/>
            <a:ext cx="5468112" cy="4434840"/>
          </a:xfrm>
          <a:prstGeom prst="roundRect">
            <a:avLst>
              <a:gd name="adj" fmla="val 1649"/>
            </a:avLst>
          </a:prstGeom>
          <a:solidFill>
            <a:srgbClr val="2A2A32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92240" y="1645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TASK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1965960"/>
            <a:ext cx="4828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pPr indent="0" marL="0">
              <a:buNone/>
            </a:pPr>
            <a:r>
              <a:rPr lang="en-US" sz="26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Proximity</a:t>
            </a:r>
            <a:pPr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Google Classroom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6492240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92240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8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470648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470648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449056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449056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8357616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9427464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427464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9336024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Modify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405872" y="3063240"/>
            <a:ext cx="914400" cy="685800"/>
          </a:xfrm>
          <a:prstGeom prst="roundRect">
            <a:avLst>
              <a:gd name="adj" fmla="val 8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405872" y="306324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8A7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10314432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492240" y="4343400"/>
            <a:ext cx="4828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calls this time: </a:t>
            </a:r>
            <a:pPr indent="0" marL="0">
              <a:buNone/>
            </a:pPr>
            <a:r>
              <a:rPr lang="en-US" sz="19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 Modify, one in Make. They change the story, not your score.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10131552" y="1627632"/>
            <a:ext cx="1280160" cy="329184"/>
          </a:xfrm>
          <a:prstGeom prst="roundRect">
            <a:avLst>
              <a:gd name="adj" fmla="val 50000"/>
            </a:avLst>
          </a:prstGeom>
          <a:solidFill>
            <a:srgbClr val="1E1E24"/>
          </a:solidFill>
          <a:ln w="15875">
            <a:solidFill>
              <a:srgbClr val="D8A73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131552" y="16276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≈30 MIN</a:t>
            </a:r>
            <a:endParaRPr lang="en-US" sz="1400" dirty="0"/>
          </a:p>
        </p:txBody>
      </p:sp>
      <p:pic>
        <p:nvPicPr>
          <p:cNvPr id="34" name="Image 1" descr="Deliberate pract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tation edge_amber" descr="C:\Users\n.houlton_grange.out\source\repos\interactive\_presentations\Y9_Python\station\edge_amb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 OPS   ·   MOTION DETECTED   ·   BIO-SCAN: NOT HUMAN</a:t>
            </a:r>
            <a:endParaRPr lang="en-US" sz="1100" dirty="0"/>
          </a:p>
        </p:txBody>
      </p:sp>
      <p:sp>
        <p:nvSpPr>
          <p:cNvPr id="4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input() gives text, so convert it</a:t>
            </a:r>
            <a:endParaRPr lang="en-US" sz="3600" dirty="0"/>
          </a:p>
        </p:txBody>
      </p:sp>
      <p:sp>
        <p:nvSpPr>
          <p:cNvPr id="5" name="code"/>
          <p:cNvSpPr/>
          <p:nvPr/>
        </p:nvSpPr>
        <p:spPr>
          <a:xfrm>
            <a:off x="548640" y="1600200"/>
            <a:ext cx="7498080" cy="1324356"/>
          </a:xfrm>
          <a:prstGeom prst="roundRect">
            <a:avLst>
              <a:gd name="adj" fmla="val 5524"/>
            </a:avLst>
          </a:prstGeom>
          <a:solidFill>
            <a:srgbClr val="111115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8368" y="180136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80136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8C8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"Distance: 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603504" y="2262378"/>
            <a:ext cx="7388352" cy="461010"/>
          </a:xfrm>
          <a:prstGeom prst="rect">
            <a:avLst/>
          </a:prstGeom>
          <a:solidFill>
            <a:srgbClr val="2B261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" y="2262378"/>
            <a:ext cx="27432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1188720" y="2262378"/>
            <a:ext cx="6766560" cy="461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56B4E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1" name="terminal"/>
          <p:cNvSpPr/>
          <p:nvPr/>
        </p:nvSpPr>
        <p:spPr>
          <a:xfrm>
            <a:off x="548640" y="3153156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0A0A0D"/>
          </a:solidFill>
          <a:ln w="15875">
            <a:solidFill>
              <a:srgbClr val="3A3A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336036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A9A9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— LAST LINE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701796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TypeError: </a:t>
            </a:r>
            <a:pPr indent="0" marL="0">
              <a:buNone/>
            </a:pPr>
            <a:r>
              <a:rPr lang="en-US" sz="180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'&gt;=' not supported between instances of 'str' and 'int'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412480" y="1554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E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MEMORY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412480" y="2103120"/>
            <a:ext cx="2743200" cy="868680"/>
          </a:xfrm>
          <a:prstGeom prst="roundRect">
            <a:avLst>
              <a:gd name="adj" fmla="val 6316"/>
            </a:avLst>
          </a:prstGeom>
          <a:solidFill>
            <a:srgbClr val="111115"/>
          </a:solidFill>
          <a:ln w="25400">
            <a:solidFill>
              <a:srgbClr val="E69F0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9640" y="1920240"/>
            <a:ext cx="1883664" cy="347472"/>
          </a:xfrm>
          <a:prstGeom prst="roundRect">
            <a:avLst>
              <a:gd name="adj" fmla="val 13158"/>
            </a:avLst>
          </a:prstGeom>
          <a:solidFill>
            <a:srgbClr val="E69F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549640" y="1920240"/>
            <a:ext cx="1883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 ·  str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8503920" y="22860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"30"</a:t>
            </a:r>
            <a:endParaRPr lang="en-US" sz="2600" dirty="0"/>
          </a:p>
        </p:txBody>
      </p:sp>
      <p:sp>
        <p:nvSpPr>
          <p:cNvPr id="19" name="Shape 16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6154"/>
            </a:avLst>
          </a:prstGeom>
          <a:solidFill>
            <a:srgbClr val="1E1E24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points at line 2, but the fix is on line 1:</a:t>
            </a:r>
            <a:pPr indent="0" marL="0">
              <a:buNone/>
            </a:pP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distance = int(input("Distance: "))</a:t>
            </a:r>
            <a:endParaRPr lang="en-US" sz="2400" dirty="0"/>
          </a:p>
        </p:txBody>
      </p:sp>
      <p:pic>
        <p:nvPicPr>
          <p:cNvPr id="21" name="Image 1" descr="Feedb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uto · station edge_red" descr="C:\Users\n.houlton_grange.out\source\repos\interactive\_presentations\Y9_Python\station\edge_r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uto · station hazard" descr="C:\Users\n.houlton_grange.out\source\repos\interactive\_presentations\Y9_Python\station\haz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tation status"/>
          <p:cNvSpPr txBox="1"/>
          <p:nvPr/>
        </p:nvSpPr>
        <p:spPr>
          <a:xfrm>
            <a:off x="548640" y="73152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FF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 </a:t>
            </a:r>
            <a:pPr indent="0" marL="0">
              <a:buNone/>
            </a:pPr>
            <a:r>
              <a:rPr lang="en-US" sz="1100" spc="100" kern="0" dirty="0">
                <a:solidFill>
                  <a:srgbClr val="6E6E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LOCKDOWN   ·   AIRLOCK CYCLING   ·   WARDEN: NO RESPONSE</a:t>
            </a:r>
            <a:endParaRPr lang="en-US" sz="1100" dirty="0"/>
          </a:p>
        </p:txBody>
      </p:sp>
      <p:sp>
        <p:nvSpPr>
          <p:cNvPr id="5" name="Text 1"/>
          <p:cNvSpPr/>
          <p:nvPr>
            <p:ph idx="101" type="title" hasCustomPrompt="1"/>
          </p:nvPr>
        </p:nvSpPr>
        <p:spPr>
          <a:xfrm>
            <a:off x="548640" y="411480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Plenary</a:t>
            </a:r>
            <a:endParaRPr lang="en-US" sz="3600" dirty="0"/>
          </a:p>
        </p:txBody>
      </p:sp>
      <p:sp>
        <p:nvSpPr>
          <p:cNvPr id="6" name="Shape 2"/>
          <p:cNvSpPr/>
          <p:nvPr/>
        </p:nvSpPr>
        <p:spPr>
          <a:xfrm>
            <a:off x="548640" y="1508760"/>
            <a:ext cx="11091672" cy="1097280"/>
          </a:xfrm>
          <a:prstGeom prst="roundRect">
            <a:avLst>
              <a:gd name="adj" fmla="val 6667"/>
            </a:avLst>
          </a:prstGeom>
          <a:solidFill>
            <a:srgbClr val="2A2A32"/>
          </a:solidFill>
          <a:ln w="25400">
            <a:solidFill>
              <a:srgbClr val="D8A73D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14400" y="16276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8A7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QUESTION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1901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F5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do we make a program choose which lines to run?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548640" y="2953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548640" y="2953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1188720" y="2880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if / elif / else for temp: 30 or more → Hot, 15 or more → Warm, else Cold.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548640" y="4096512"/>
            <a:ext cx="438912" cy="438912"/>
          </a:xfrm>
          <a:prstGeom prst="ellipse">
            <a:avLst/>
          </a:prstGeom>
          <a:solidFill>
            <a:srgbClr val="D8A73D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48640" y="409651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1E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1188720" y="4023360"/>
            <a:ext cx="10424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this line, and say why it crashed: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45720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answer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2200" dirty="0">
                <a:solidFill>
                  <a:srgbClr val="F5F5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2200" dirty="0">
                <a:solidFill>
                  <a:srgbClr val="E69F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"y"</a:t>
            </a:r>
            <a:pPr indent="0" marL="0">
              <a:buNone/>
            </a:pPr>
            <a:r>
              <a:rPr lang="en-US" sz="2200" dirty="0">
                <a:solidFill>
                  <a:srgbClr val="A9A9B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endParaRPr lang="en-US" sz="2200" dirty="0"/>
          </a:p>
        </p:txBody>
      </p:sp>
      <p:sp>
        <p:nvSpPr>
          <p:cNvPr id="16" name="terminal"/>
          <p:cNvSpPr/>
          <p:nvPr/>
        </p:nvSpPr>
        <p:spPr>
          <a:xfrm>
            <a:off x="1188720" y="5303520"/>
            <a:ext cx="7589520" cy="685800"/>
          </a:xfrm>
          <a:prstGeom prst="roundRect">
            <a:avLst>
              <a:gd name="adj" fmla="val 10667"/>
            </a:avLst>
          </a:prstGeom>
          <a:solidFill>
            <a:srgbClr val="0D1310"/>
          </a:solidFill>
          <a:ln w="15875">
            <a:solidFill>
              <a:srgbClr val="2C4434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417320" y="55321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D9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AIRLOCK: SEALED · ACCESS CODE CHANGED · BY: </a:t>
            </a:r>
            <a:pPr indent="0" marL="0">
              <a:buNone/>
            </a:pPr>
            <a:r>
              <a:rPr lang="en-US" sz="1800" b="1" dirty="0">
                <a:solidFill>
                  <a:srgbClr val="D8A7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WARDEN</a:t>
            </a:r>
            <a:endParaRPr lang="en-US" sz="1800" dirty="0"/>
          </a:p>
        </p:txBody>
      </p:sp>
      <p:pic>
        <p:nvPicPr>
          <p:cNvPr id="18" name="Image 2" descr="Recap and recal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384048"/>
            <a:ext cx="731520" cy="731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82512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6E6E7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slow">
    <p:fade thruBlk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Station Zero — Y9 Python Lesson 2: Selection</dc:title>
  <dc:subject>PptxGenJS Presentation</dc:subject>
  <dc:creator>Nicholas Houlton</dc:creator>
  <cp:lastModifiedBy>Nicholas Houlton</cp:lastModifiedBy>
  <cp:revision>1</cp:revision>
  <dcterms:created xsi:type="dcterms:W3CDTF">2026-10-14T09:43:08Z</dcterms:created>
  <dcterms:modified xsi:type="dcterms:W3CDTF">2026-10-14T09:43:08Z</dcterms:modified>
</cp:coreProperties>
</file>