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cap &amp; Recall" id="{ee76b27e-1419-224c-f283-0229c6f1bfff}">
          <p14:sldIdLst>
            <p14:sldId id="256"/>
            <p14:sldId id="257"/>
          </p14:sldIdLst>
        </p14:section>
        <p14:section name="Title" id="{a99d684a-3414-e73a-5bab-451c7f8df6bd}">
          <p14:sldIdLst>
            <p14:sldId id="258"/>
            <p14:sldId id="259"/>
          </p14:sldIdLst>
        </p14:section>
        <p14:section name="Conditions" id="{79c447dc-2902-9f4e-c1d7-07e1c3b0d4d3}">
          <p14:sldIdLst>
            <p14:sldId id="260"/>
            <p14:sldId id="261"/>
            <p14:sldId id="262"/>
            <p14:sldId id="263"/>
            <p14:sldId id="264"/>
          </p14:sldIdLst>
        </p14:section>
        <p14:section name="Round 1 — numbers" id="{72733196-a4be-f1da-eb07-d87194d6ea98}">
          <p14:sldIdLst>
            <p14:sldId id="265"/>
            <p14:sldId id="266"/>
            <p14:sldId id="267"/>
            <p14:sldId id="268"/>
            <p14:sldId id="269"/>
          </p14:sldIdLst>
        </p14:section>
        <p14:section name="Round 2 — a variable" id="{ed5f6d1c-5729-407c-1f40-c7f2e06ceb14}">
          <p14:sldIdLst>
            <p14:sldId id="270"/>
            <p14:sldId id="271"/>
          </p14:sldIdLst>
        </p14:section>
        <p14:section name="Numbers from input" id="{7ee4dd0d-599c-0d38-a1d5-3492f7c42019}">
          <p14:sldIdLst>
            <p14:sldId id="272"/>
          </p14:sldIdLst>
        </p14:section>
        <p14:section name="Proximity" id="{36bc5322-83b2-8bec-6cec-74452bacb165}">
          <p14:sldIdLst>
            <p14:sldId id="273"/>
            <p14:sldId id="277"/>
          </p14:sldIdLst>
        </p14:section>
        <p14:section name="Before Modify" id="{8893cbee-0d63-37d0-3c80-0f4929193f8d}">
          <p14:sldIdLst>
            <p14:sldId id="274"/>
            <p14:sldId id="275"/>
            <p14:sldId id="276"/>
          </p14:sldIdLst>
        </p14:section>
        <p14:section name="Feedback" id="{b607fd8d-e61b-1605-022b-d73294492ff1}">
          <p14:sldIdLst>
            <p14:sldId id="278"/>
            <p14:sldId id="279"/>
            <p14:sldId id="280"/>
          </p14:sldIdLst>
        </p14:section>
        <p14:section name="Plenary" id="{98acf375-93cc-e636-cc5e-f63a91407339}">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5 minutes, silent, no notes. Mini-whiteboards or books.
Q1 is from Year 8 (variables); Q2–4 are from last lesson, Wake Up (joining, the NameError bug, input()).
Q1–2 are multiple choice (everyone commits to an answer). Q3–4 need a written answer.
Confidence rating 1–3 next to each answer — confident-but-wrong is the one most worth correcting.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self-mark. Hands up for "confident and wrong" on each.
Q1: = STORES. Don't explain == yet — just say "keep that question in your head, we answer it today".
Q2: "5" and "5" are strings (orange), so + joins them: 55. No space appears because there's no space inside the quotes.
Q3: Python is case-sensitive: name and Name are different boxes, and Name was never stored. NameError — the Break it bug from Wake Up.
Q4: input() always gives back text, even when you type a number: age holds "14", so + JOINS it to itself: 1414, not 28. Don't fix it yet — "we'll see how to turn it into a number before the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story out loud — don't put it on screen:
"Last lesson the crew locator picked up a tag nobody searched for: HALE. Hale's pod was opened from the inside, and the bio-scan says whatever is wearing his tag is not human. It's heading for Sensor Ops — and that's where you are now. The room is empty, but there's frost on the floor and a vent cover hangs open. The proximity sensors that could tell you how close it is are offline."
Today we rebuild them. A sensor has to DECIDE what to say, depending on the distance — that's selection.
In Slide Show this slide fades in through black and the amber alarm creeps in: let it finish before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question = the whole unit. Today is the "make decisions" part.
Lesson question = today. You did if / else in Year 8, but it was a year ago, so we start from the beginning: conditions first.
We come back to this question in the plenary.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every program has been a SEQUENCE: every line runs, top to bottom.
Click: SELECTION. The program asks a question — a condition — and the answer is True or False. True takes one path, False takes the other. Only one of them runs, then the paths join and the program carries on.
Ask: "Where would a proximity sensor need this?" (Close → alarm; far → all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operator as words: "&gt;=" is "more than or equal to". Students mix up &lt; and &gt; — "the open side faces the bigger number".
Before each click, ask the class "True or False?" and get a show of hands.
Click 1: 85 &gt;= 50 → True. Click 2: 30 &gt;= 50 → False.
== is TWO equals signs: it ASKS "are these equal?". One = STORES (Do Now Q1). We'll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2 minutes. Boards up on 3-2-1.
Number 5 (5 &gt; 5) and number 2 (4 &gt;= 4) are the boundary ones — look for who gets those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any the class split on.
The boundary is where programs go wrong: &gt; leaves the number itself out; &gt;= lets it in. The activity tests exactly this (a distance of exactly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clicks: one label per line, then the rule.
The coloured bands are on from the start: green = what runs when the condition is True, amber = what runs when it is False. Point at them as you go.
Line 1: "if", the condition, then a colon. The colon means "a block comes next".
Line 2: indented = INSIDE the if. It only runs if the condition is True. The dots stand for the 4 spaces (one Tab): Python can't see the block without them. The activity draws spaces the same way in Investigate step 2.
Line 3: else has NO condition — it's "everything else". Students often try to write else 30 &lt; 50: — that's an error.
Line 4: inside the else. Runs only when the condition was False.
Ask: 85 &gt;= 50 is True, so what's printed? (All clear — and only All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in 20 seconds, then into "What is printed?". The story so far, for anyone who missed Lesson 1.
It leaves out Lesson 1's choices (the door, Pod 5): they differ from student to student, and the activity's own "Previously…" recap covers them.
Link it: a proximity sensor has to choose what to say — that's what we're about to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model it out loud, students just watch. Same three questions every time (the strip at the bottom).
Click 1 — True or False? "Is 30 more than or equal to 50? No. False."
Click 2 — Which lines run? "False, so skip the if block and run the else block."
Click 3 — What is printed? Too close — and only Too close.
Say the steps every time: "condition, block,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students answer each step on boards BEFORE you click.
Step 1: "True or False?" Boards up → click. (== asks "are they equal?" 7 equals 7: True.)
Step 2: "Which lines run?" Cold-call someone to say the line numbers → click.
Step 3: "What is printed?" Boards up → click. Door open.
Look for anyone writing Door open AND Door locked: exactly one block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silent, on your own, 4 minutes. Boards up together at the end.
Students who are stuck: point at the strip from the last two slides — True or False? Which lines run? What is printed?
Number 2 is the boundary trap (20 &gt;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boards. Most common mistakes:
2: "Alarm" — 20 is not MORE than 20, so it's False.
3: "Wait" — &gt;= lets 4 equal 4, so it's True.
Anyone who wrote both messages for a program: exactly one block runs.
If most of the class got 2 or 3 wrong, do one more together before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Round 1's I do program with two changes: the number is now in a variable (one new step: look in the box), and a last line that isn't indented.
Click 1 — Look in the box: line 1 stores 30 in distance.
Click 2 — True or False? "Swap distance for what's in the box: 30 &gt;= 50. False."
Click 3 — Which lines run? "The else block. Line 6 isn't indented, so it isn't inside the if or the else: it runs every time, after them."
Click 4 — What is printed? Too close, then Scan complete.
Point out: Too close is the same as Round 1 — a variable is just a name for the value in the box. Scan complete is new, and it would print whatever distance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the same program with one change: line 6 now has 4 spaces in front. Point at the spaces before you start.
Click 1 — box: 85. Click 2 — 85 &gt;= 50 is True.
Click 3 — Which lines run? "The if block. Line 6 is indented under else, so it's INSIDE the else block now, and it's skipped with line 5."
Click 4 — All clear, and that's all: Scan complete is gone.
Ask: "What would it print if distance were 10?" (Too close, Scan complete: the else block runs, both of its lines.)
This is exactly Investigate step 2 in today's activity (run it with 85, then 10). Students get stuck on the spaces: line 6 must line up exactly with line 5. Press Tab once; don't mix Tab and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Casting is new for most of the class this year: it was in Lesson 1's second round (Life Support), which most students didn't reach.
Link to Do Now Q4: age + age gave 1414 because input() gives TEXT.
6 clicks: each line, then what's on screen, then what's in memory. The screen is the same both times: the difference is only in memory.
Line 1: the box is orange (str) and holds "30" in quotes. An if can't compare that with 50: Python gives a TypeError (they'll do exactly this in Investigate's Break it step).
Line 2: read it inside-out with your finger: input() asks, int() converts, = stores. The box is now an int: 30, no quotes.
If someone types a word, like thirty, int() can't convert it: ValueError. The activity's "Remind me" card on the bug step says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open "Proximity — Selection" from Google Classroom (Y9 › Python › Lesson 2).
Predict, Run and Investigate all use one plain if / else sensor program (&gt;= 50 → All clear, else IT'S RIGHT BEHIND YOU, then Scan complete).
Predict (5 questions: 30, when does Scan complete run, 85, exactly 50, 49) → Run (85, 50, 5) → Investigate (4 steps: change 50 to 20; indent print("Scan complete") into the else and run 85, then 10; move it back and change &gt;= to &gt; at exactly 20; then Break it: int() removed → TypeError) → Modify (4 steps: 1 the lockdown choice; 2 the first elif, a Movement detected band for 20 to 49, code given; 3 a Proximity alert band for 10 to 19, no code; 4 Send alert? y/n with ==) → Make (radiation scanner, plus the power choice).
Each ⚡ Check types its test numbers into the program for the student ("typed for you"). The boundary values are the same every time, but the others change from check to check, so students can't hard-code an answer.
The three calls: Investigate step 1 opens with the CRISIS — frost is spreading across Pods 3 and 5, and the heaters can save one. Whoever isn't heated (Chen or Patel) goes critical, and their heart rate falls on every report until the lockdown (Modify 1) and power (Make) calls save them, or don't. There's no right answer to the crisis: let students argue about it. Step 1's task only appears once they've picked.
Students whose Wake Up choices left Patel critical see that on the crisis card: heating Pod 5 saves him.
Stop the class for the next 3 slides (about 5 minutes) when the first students reach Modify: = / == and elif are both new there. Early finishers of Investigate can start Modification 1 (the lockdown call), which needs neither.
Circulate. Investigate step 2 (indenting) is where most students get stuck: line 6 must line up exactly with line 5, so press Tab once and don't mix Tab and spaces. The page shows dots for the spaces, and Reset to original puts the code back.
During Investigate, point students back to the debugging recipe (Lesson 1) before they press Get help.
Anyone who missed Lesson 1, or didn't finish Wake Up: the activity's "Previously…" recap tells them all of it (Hale's pod, his last log, the tag that isn't human). They don't need to go back to Lesson 1. Life Support is now an optional bonus round, not needed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mid-activity stop: everyone looks up. This is the answer to Do Now Q1's "keep that in your head".
One = STORES: it puts 30 in the box called distance. Nothing is printed, nothing is asked.
Two == ASKS: "is what's in distance equal to 30?" The answer is True or False, so it can go in an if.
Using one = in an if is a SyntaxError — Python won't even start. They'll need == in Modify 4 of today's activity (answer ==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elif means "else if": another condition, checked only if the ones above it were False.
Click 1 — box: 35.
Click 2 — the if: 35 &gt;= 70? False, so Python moves down to the elif.
Click 3 — the elif: 35 &gt;= 30? True. Stop checking.
Click 4 — only the elif block runs. Click 5 — Low.
else still has no condition: it runs only when NONE of the conditions were True.
In the activity, elif first appears in Modification 2: the sensor gets a middle band (elif distance &gt;= 20: → Movement detected), with the code given. Predict, Run and Investigate are if / else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program, battery = 80.
Click 1 — box: 80. Click 2 — 80 &gt;= 70 is True, so the elif is NOT CHECKED, even though 80 &gt;= 30 is also True.
Click 3 — only the if block runs. Click 4 — Full, and only Full.
This is the big one: Python checks from the top and stops at the FIRST True condition. So the order of the conditions matters — they'll need that in Modification 3, where the new Proximity alert band (10 to 19) has to go after the Movement detected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activity. Leave this up while students work.
Modification 2 gives the first elif (a Movement detected band for 20 to 49). Modification 3 has no code: the Proximity alert band (10 to 19) goes after it, because the first True one wins. Modification 4 is Send alert? y/n, with ==.
Fast finishers: the Make extension (SCANNER FAULT below 0, EVACUATE from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after the activity — silent, on your own, 3 minutes. Boards up together.
Stuck? Four steps on the strip: look in the box, True or False, which lines run, what is printed.
Number 2 has an indented last line: look at the spaces (Investigate step 2).
Number 3 compares text: "n" is not equal to "y" (Modification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boards.
1: 3 &gt; 2, True → Locked. Nothing after the else, so that's all.
2: 50 &gt;= 50 is True (boundary) → Systems on, and NOT Done: Done is indented, so it's inside the else block and is skipped.
3: "n" == "y" is False → Cancelled, then Done. Text needs its quotes when you compare it: answer == y (no quotes) would be a NameError.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Whole-class feedback after the activity — this was the Break it step in Investigate.
Ask: "Which line did Python point to?" (2) "What's in the box?" (the text "30", orange: a str) "Why can't &gt;= compare it with 50?" (text and a number).
The error shows on the line that USES the value, but the fix is on the line that STORED it. Same rule as last lesson: input() always gives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task on whiteboards or a sticky note.
1. if temp &gt;= 30: print("Hot") / elif temp &gt;= 15: print("Warm") / else: print("Cold"). Follow-up question: what does yours print when temp = 15? (Warm: 15 &gt;= 15 is True.) Any order that works is fine — check they didn't put &gt;= 15 first (then 30 would print Warm).
2. if answer == "y": — one = stores, an if needs == to ask. It's a SyntaxError.
Close the story: "For one frame, the sensors catch it: a figure in Hale's overalls, moving wrong. Then the airlock seals, and WARDEN changes the access code. Next lesson: you're locked in."
Quick hands-up: "Whose crew member is still critical?" (Only students whose lockdown left the Cryo Bay open AND sent power to the sensors.) Their crew member can still be saved later: the rescue ship has to be fast.
In Slide Show this slide fades in through black and the red alarm creeps in by itself: Chapter 3's state, which Lesson 3's deck opens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LESSON 2</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LESSON 2</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Which line stores 70 in score?</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score = 70</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score == 70</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70 = score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786384"/>
          </a:xfrm>
          <a:prstGeom prst="roundRect">
            <a:avLst>
              <a:gd name="adj" fmla="val 6977"/>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6" name="Text 24"/>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10</a:t>
            </a:r>
            <a:endParaRPr lang="en-US" sz="1800" dirty="0"/>
          </a:p>
        </p:txBody>
      </p:sp>
      <p:sp>
        <p:nvSpPr>
          <p:cNvPr id="27" name="Text 25"/>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55</a:t>
            </a:r>
            <a:endParaRPr lang="en-US" sz="1800" dirty="0"/>
          </a:p>
        </p:txBody>
      </p:sp>
      <p:sp>
        <p:nvSpPr>
          <p:cNvPr id="28" name="Text 26"/>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5 5</a:t>
            </a:r>
            <a:endParaRPr lang="en-US" sz="1800" dirty="0"/>
          </a:p>
        </p:txBody>
      </p:sp>
      <p:sp>
        <p:nvSpPr>
          <p:cNvPr id="29"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0" name="Shape 28"/>
          <p:cNvSpPr/>
          <p:nvPr/>
        </p:nvSpPr>
        <p:spPr>
          <a:xfrm>
            <a:off x="777240" y="4224528"/>
            <a:ext cx="384048" cy="384048"/>
          </a:xfrm>
          <a:prstGeom prst="ellipse">
            <a:avLst/>
          </a:prstGeom>
          <a:solidFill>
            <a:srgbClr val="1E1E24"/>
          </a:solidFill>
          <a:ln/>
        </p:spPr>
      </p:sp>
      <p:sp>
        <p:nvSpPr>
          <p:cNvPr id="31" name="Text 29"/>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2" name="Shape 30"/>
          <p:cNvSpPr/>
          <p:nvPr/>
        </p:nvSpPr>
        <p:spPr>
          <a:xfrm>
            <a:off x="1280160" y="4251960"/>
            <a:ext cx="1600200" cy="310896"/>
          </a:xfrm>
          <a:prstGeom prst="roundRect">
            <a:avLst>
              <a:gd name="adj" fmla="val 52941"/>
            </a:avLst>
          </a:prstGeom>
          <a:solidFill>
            <a:srgbClr val="EDE6D3"/>
          </a:solidFill>
          <a:ln/>
        </p:spPr>
      </p:sp>
      <p:sp>
        <p:nvSpPr>
          <p:cNvPr id="33" name="Text 31"/>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34" name="Shape 32"/>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5" name="Text 33"/>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6" name="Text 34"/>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Line 2 crashes. Which error?</a:t>
            </a:r>
            <a:endParaRPr lang="en-US" sz="2000" dirty="0"/>
          </a:p>
        </p:txBody>
      </p:sp>
      <p:sp>
        <p:nvSpPr>
          <p:cNvPr id="37" name="Shape 35"/>
          <p:cNvSpPr/>
          <p:nvPr/>
        </p:nvSpPr>
        <p:spPr>
          <a:xfrm>
            <a:off x="777240" y="5074920"/>
            <a:ext cx="4956048" cy="786384"/>
          </a:xfrm>
          <a:prstGeom prst="roundRect">
            <a:avLst>
              <a:gd name="adj" fmla="val 6977"/>
            </a:avLst>
          </a:prstGeom>
          <a:solidFill>
            <a:srgbClr val="111115"/>
          </a:solidFill>
          <a:ln/>
        </p:spPr>
      </p:sp>
      <p:sp>
        <p:nvSpPr>
          <p:cNvPr id="38" name="Text 36"/>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"Name?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39" name="Text 37"/>
          <p:cNvSpPr txBox="1"/>
          <p:nvPr/>
        </p:nvSpPr>
        <p:spPr>
          <a:xfrm>
            <a:off x="914400"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They type 14. What is printed?</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"Age?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Which line stores 70 in score?</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score = 70</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score == 70</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70 = score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 does something else: you’ll see it today</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786384"/>
          </a:xfrm>
          <a:prstGeom prst="roundRect">
            <a:avLst>
              <a:gd name="adj" fmla="val 6977"/>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10</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55</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5 5</a:t>
            </a:r>
            <a:endParaRPr lang="en-US" sz="1800" dirty="0"/>
          </a:p>
        </p:txBody>
      </p:sp>
      <p:sp>
        <p:nvSpPr>
          <p:cNvPr id="30" name="Text 28"/>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two strings, so + joins them</a:t>
            </a:r>
            <a:endParaRPr lang="en-US" sz="1800" dirty="0"/>
          </a:p>
        </p:txBody>
      </p:sp>
      <p:sp>
        <p:nvSpPr>
          <p:cNvPr id="31"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2" name="Shape 30"/>
          <p:cNvSpPr/>
          <p:nvPr/>
        </p:nvSpPr>
        <p:spPr>
          <a:xfrm>
            <a:off x="777240" y="4224528"/>
            <a:ext cx="384048" cy="384048"/>
          </a:xfrm>
          <a:prstGeom prst="ellipse">
            <a:avLst/>
          </a:prstGeom>
          <a:solidFill>
            <a:srgbClr val="D8A73D"/>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36" name="Shape 34"/>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Line 2 crashes. Which error?</a:t>
            </a:r>
            <a:endParaRPr lang="en-US" sz="2000" dirty="0"/>
          </a:p>
        </p:txBody>
      </p:sp>
      <p:sp>
        <p:nvSpPr>
          <p:cNvPr id="39" name="Shape 37"/>
          <p:cNvSpPr/>
          <p:nvPr/>
        </p:nvSpPr>
        <p:spPr>
          <a:xfrm>
            <a:off x="777240" y="5074920"/>
            <a:ext cx="4956048" cy="786384"/>
          </a:xfrm>
          <a:prstGeom prst="roundRect">
            <a:avLst>
              <a:gd name="adj" fmla="val 6977"/>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"Name?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1" name="Text 39"/>
          <p:cNvSpPr txBox="1"/>
          <p:nvPr/>
        </p:nvSpPr>
        <p:spPr>
          <a:xfrm>
            <a:off x="914400"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2" name="Text 40"/>
          <p:cNvSpPr txBox="1"/>
          <p:nvPr/>
        </p:nvSpPr>
        <p:spPr>
          <a:xfrm>
            <a:off x="777240"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NameError</a:t>
            </a:r>
            <a:pPr indent="0" marL="0">
              <a:buNone/>
            </a:pPr>
            <a:r>
              <a:rPr lang="en-US" sz="1800" dirty="0">
                <a:solidFill>
                  <a:srgbClr val="A9A9B4"/>
                </a:solidFill>
                <a:latin typeface="Calibri" pitchFamily="34" charset="0"/>
                <a:ea typeface="Calibri" pitchFamily="34" charset="-122"/>
                <a:cs typeface="Calibri" pitchFamily="34" charset="-120"/>
              </a:rPr>
              <a:t>   Name (capital N) was never stored</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They type 14. What is printed?</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"Age?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1414</a:t>
            </a:r>
            <a:pPr indent="0" marL="0">
              <a:buNone/>
            </a:pPr>
            <a:r>
              <a:rPr lang="en-US" sz="1800" dirty="0">
                <a:solidFill>
                  <a:srgbClr val="A9A9B4"/>
                </a:solidFill>
                <a:latin typeface="Calibri" pitchFamily="34" charset="0"/>
                <a:ea typeface="Calibri" pitchFamily="34" charset="-122"/>
                <a:cs typeface="Calibri" pitchFamily="34" charset="-120"/>
              </a:rPr>
              <a:t>   input() gives text, so + joins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2  ·  SELECTION</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2 — Proximity</a:t>
            </a:r>
            <a:endParaRPr lang="en-US" sz="2800" dirty="0"/>
          </a:p>
        </p:txBody>
      </p:sp>
      <p:sp>
        <p:nvSpPr>
          <p:cNvPr id="7"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SENSOR OPS ..... EMPTY</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PROXIMITY ...... OFFLINE</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MOTION ......... DETECTED</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TAG ............ </a:t>
            </a:r>
            <a:pPr indent="0" marL="0">
              <a:buNone/>
            </a:pPr>
            <a:r>
              <a:rPr lang="en-US" sz="2000" b="1" dirty="0">
                <a:solidFill>
                  <a:srgbClr val="D8A73D"/>
                </a:solidFill>
                <a:latin typeface="Consolas" pitchFamily="34" charset="0"/>
                <a:ea typeface="Consolas" pitchFamily="34" charset="-122"/>
                <a:cs typeface="Consolas" pitchFamily="34" charset="-120"/>
              </a:rPr>
              <a:t>HALE</a:t>
            </a:r>
            <a:endParaRPr lang="en-US" sz="2000" dirty="0"/>
          </a:p>
        </p:txBody>
      </p:sp>
      <p:sp>
        <p:nvSpPr>
          <p:cNvPr id="13" name="Text 10"/>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5"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6"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7"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8"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9"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10"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make a program choose which lines to run?</a:t>
            </a:r>
            <a:endParaRPr lang="en-US" sz="3600" dirty="0"/>
          </a:p>
        </p:txBody>
      </p:sp>
      <p:pic>
        <p:nvPicPr>
          <p:cNvPr id="11" name="Image 1" descr="Clarity of learning intentions">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Sequence and selection</a:t>
            </a:r>
            <a:endParaRPr lang="en-US" sz="3600" dirty="0"/>
          </a:p>
        </p:txBody>
      </p:sp>
      <p:sp>
        <p:nvSpPr>
          <p:cNvPr id="5" name="Text 2"/>
          <p:cNvSpPr txBox="1"/>
          <p:nvPr/>
        </p:nvSpPr>
        <p:spPr>
          <a:xfrm>
            <a:off x="548640" y="1463040"/>
            <a:ext cx="41148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SO FAR: SEQUENCE</a:t>
            </a:r>
            <a:endParaRPr lang="en-US" sz="1300" dirty="0"/>
          </a:p>
        </p:txBody>
      </p:sp>
      <p:sp>
        <p:nvSpPr>
          <p:cNvPr id="6" name="Shape 3"/>
          <p:cNvSpPr/>
          <p:nvPr/>
        </p:nvSpPr>
        <p:spPr>
          <a:xfrm>
            <a:off x="1280160" y="1874520"/>
            <a:ext cx="2560320" cy="731520"/>
          </a:xfrm>
          <a:prstGeom prst="roundRect">
            <a:avLst>
              <a:gd name="adj" fmla="val 10000"/>
            </a:avLst>
          </a:prstGeom>
          <a:solidFill>
            <a:srgbClr val="2A2A32"/>
          </a:solidFill>
          <a:ln w="15875">
            <a:solidFill>
              <a:srgbClr val="3A3A44"/>
            </a:solidFill>
            <a:prstDash val="solid"/>
          </a:ln>
        </p:spPr>
      </p:sp>
      <p:sp>
        <p:nvSpPr>
          <p:cNvPr id="7" name="Text 4"/>
          <p:cNvSpPr txBox="1"/>
          <p:nvPr/>
        </p:nvSpPr>
        <p:spPr>
          <a:xfrm>
            <a:off x="1280160" y="187452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1</a:t>
            </a:r>
            <a:endParaRPr lang="en-US" sz="2200" dirty="0"/>
          </a:p>
        </p:txBody>
      </p:sp>
      <p:sp>
        <p:nvSpPr>
          <p:cNvPr id="8" name="Shape 5"/>
          <p:cNvSpPr/>
          <p:nvPr/>
        </p:nvSpPr>
        <p:spPr>
          <a:xfrm>
            <a:off x="2560320" y="2606040"/>
            <a:ext cx="0" cy="457200"/>
          </a:xfrm>
          <a:prstGeom prst="line">
            <a:avLst/>
          </a:prstGeom>
          <a:noFill/>
          <a:ln w="28575">
            <a:solidFill>
              <a:srgbClr val="A9A9B4"/>
            </a:solidFill>
            <a:prstDash val="solid"/>
            <a:tailEnd type="triangle"/>
          </a:ln>
        </p:spPr>
      </p:sp>
      <p:sp>
        <p:nvSpPr>
          <p:cNvPr id="9" name="Shape 6"/>
          <p:cNvSpPr/>
          <p:nvPr/>
        </p:nvSpPr>
        <p:spPr>
          <a:xfrm>
            <a:off x="1280160" y="3063240"/>
            <a:ext cx="2560320" cy="731520"/>
          </a:xfrm>
          <a:prstGeom prst="roundRect">
            <a:avLst>
              <a:gd name="adj" fmla="val 10000"/>
            </a:avLst>
          </a:prstGeom>
          <a:solidFill>
            <a:srgbClr val="2A2A32"/>
          </a:solidFill>
          <a:ln w="15875">
            <a:solidFill>
              <a:srgbClr val="3A3A44"/>
            </a:solidFill>
            <a:prstDash val="solid"/>
          </a:ln>
        </p:spPr>
      </p:sp>
      <p:sp>
        <p:nvSpPr>
          <p:cNvPr id="10" name="Text 7"/>
          <p:cNvSpPr txBox="1"/>
          <p:nvPr/>
        </p:nvSpPr>
        <p:spPr>
          <a:xfrm>
            <a:off x="1280160" y="306324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2</a:t>
            </a:r>
            <a:endParaRPr lang="en-US" sz="2200" dirty="0"/>
          </a:p>
        </p:txBody>
      </p:sp>
      <p:sp>
        <p:nvSpPr>
          <p:cNvPr id="11" name="Shape 8"/>
          <p:cNvSpPr/>
          <p:nvPr/>
        </p:nvSpPr>
        <p:spPr>
          <a:xfrm>
            <a:off x="2560320" y="3794760"/>
            <a:ext cx="0" cy="457200"/>
          </a:xfrm>
          <a:prstGeom prst="line">
            <a:avLst/>
          </a:prstGeom>
          <a:noFill/>
          <a:ln w="28575">
            <a:solidFill>
              <a:srgbClr val="A9A9B4"/>
            </a:solidFill>
            <a:prstDash val="solid"/>
            <a:tailEnd type="triangle"/>
          </a:ln>
        </p:spPr>
      </p:sp>
      <p:sp>
        <p:nvSpPr>
          <p:cNvPr id="12" name="Shape 9"/>
          <p:cNvSpPr/>
          <p:nvPr/>
        </p:nvSpPr>
        <p:spPr>
          <a:xfrm>
            <a:off x="1280160" y="4251960"/>
            <a:ext cx="2560320" cy="731520"/>
          </a:xfrm>
          <a:prstGeom prst="roundRect">
            <a:avLst>
              <a:gd name="adj" fmla="val 10000"/>
            </a:avLst>
          </a:prstGeom>
          <a:solidFill>
            <a:srgbClr val="2A2A32"/>
          </a:solidFill>
          <a:ln w="15875">
            <a:solidFill>
              <a:srgbClr val="3A3A44"/>
            </a:solidFill>
            <a:prstDash val="solid"/>
          </a:ln>
        </p:spPr>
      </p:sp>
      <p:sp>
        <p:nvSpPr>
          <p:cNvPr id="13" name="Text 10"/>
          <p:cNvSpPr txBox="1"/>
          <p:nvPr/>
        </p:nvSpPr>
        <p:spPr>
          <a:xfrm>
            <a:off x="1280160" y="425196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3</a:t>
            </a:r>
            <a:endParaRPr lang="en-US" sz="2200" dirty="0"/>
          </a:p>
        </p:txBody>
      </p:sp>
      <p:sp>
        <p:nvSpPr>
          <p:cNvPr id="14" name="Text 11"/>
          <p:cNvSpPr txBox="1"/>
          <p:nvPr/>
        </p:nvSpPr>
        <p:spPr>
          <a:xfrm>
            <a:off x="548640" y="5486400"/>
            <a:ext cx="4023360" cy="457200"/>
          </a:xfrm>
          <a:prstGeom prst="rect">
            <a:avLst/>
          </a:prstGeom>
          <a:noFill/>
          <a:ln/>
        </p:spPr>
        <p:txBody>
          <a:bodyPr wrap="square" lIns="0" tIns="0" rIns="0" bIns="0" rtlCol="0" anchor="ctr"/>
          <a:lstStyle/>
          <a:p>
            <a:pPr algn="ctr" indent="0" marL="0">
              <a:buNone/>
            </a:pPr>
            <a:r>
              <a:rPr lang="en-US" sz="2200" dirty="0">
                <a:solidFill>
                  <a:srgbClr val="A9A9B4"/>
                </a:solidFill>
                <a:latin typeface="Calibri" pitchFamily="34" charset="0"/>
                <a:ea typeface="Calibri" pitchFamily="34" charset="-122"/>
                <a:cs typeface="Calibri" pitchFamily="34" charset="-120"/>
              </a:rPr>
              <a:t>Every line runs, in order</a:t>
            </a:r>
            <a:endParaRPr lang="en-US" sz="2200" dirty="0"/>
          </a:p>
        </p:txBody>
      </p:sp>
      <p:sp>
        <p:nvSpPr>
          <p:cNvPr id="15" name="Shape 12"/>
          <p:cNvSpPr/>
          <p:nvPr/>
        </p:nvSpPr>
        <p:spPr>
          <a:xfrm>
            <a:off x="4892040" y="1554480"/>
            <a:ext cx="0" cy="4434840"/>
          </a:xfrm>
          <a:prstGeom prst="line">
            <a:avLst/>
          </a:prstGeom>
          <a:noFill/>
          <a:ln w="12700">
            <a:solidFill>
              <a:srgbClr val="3A3A44"/>
            </a:solidFill>
            <a:prstDash val="solid"/>
          </a:ln>
        </p:spPr>
      </p:sp>
      <p:sp>
        <p:nvSpPr>
          <p:cNvPr id="16" name="click1"/>
          <p:cNvSpPr txBox="1"/>
          <p:nvPr/>
        </p:nvSpPr>
        <p:spPr>
          <a:xfrm>
            <a:off x="5257800" y="1463040"/>
            <a:ext cx="41148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TODAY: SELECTION</a:t>
            </a:r>
            <a:endParaRPr lang="en-US" sz="1300" dirty="0"/>
          </a:p>
        </p:txBody>
      </p:sp>
      <p:sp>
        <p:nvSpPr>
          <p:cNvPr id="17" name="click1"/>
          <p:cNvSpPr/>
          <p:nvPr/>
        </p:nvSpPr>
        <p:spPr>
          <a:xfrm>
            <a:off x="6858000" y="1828800"/>
            <a:ext cx="3291840" cy="1051560"/>
          </a:xfrm>
          <a:prstGeom prst="diamond">
            <a:avLst/>
          </a:prstGeom>
          <a:solidFill>
            <a:srgbClr val="111115"/>
          </a:solidFill>
          <a:ln w="25400">
            <a:solidFill>
              <a:srgbClr val="D8A73D"/>
            </a:solidFill>
            <a:prstDash val="solid"/>
          </a:ln>
        </p:spPr>
      </p:sp>
      <p:sp>
        <p:nvSpPr>
          <p:cNvPr id="18" name="click1"/>
          <p:cNvSpPr txBox="1"/>
          <p:nvPr/>
        </p:nvSpPr>
        <p:spPr>
          <a:xfrm>
            <a:off x="7406640" y="1828800"/>
            <a:ext cx="2194560" cy="1051560"/>
          </a:xfrm>
          <a:prstGeom prst="rect">
            <a:avLst/>
          </a:prstGeom>
          <a:noFill/>
          <a:ln/>
        </p:spPr>
        <p:txBody>
          <a:bodyPr wrap="square" lIns="0" tIns="0" rIns="0" bIns="0" rtlCol="0" anchor="ctr"/>
          <a:lstStyle/>
          <a:p>
            <a:pPr algn="ctr" indent="0" marL="0">
              <a:buNone/>
            </a:pPr>
            <a:r>
              <a:rPr lang="en-US" sz="2000" b="1" dirty="0">
                <a:solidFill>
                  <a:srgbClr val="F5F5F3"/>
                </a:solidFill>
                <a:latin typeface="Calibri" pitchFamily="34" charset="0"/>
                <a:ea typeface="Calibri" pitchFamily="34" charset="-122"/>
                <a:cs typeface="Calibri" pitchFamily="34" charset="-120"/>
              </a:rPr>
              <a:t>condition</a:t>
            </a:r>
            <a:pPr algn="ctr" indent="0" marL="0">
              <a:buNone/>
            </a:pPr>
            <a:endParaRPr lang="en-US" sz="2000" dirty="0"/>
          </a:p>
          <a:p>
            <a:pPr algn="ctr" indent="0" marL="0">
              <a:buNone/>
            </a:pPr>
            <a:r>
              <a:rPr lang="en-US" sz="1600" dirty="0">
                <a:solidFill>
                  <a:srgbClr val="A9A9B4"/>
                </a:solidFill>
                <a:latin typeface="Calibri" pitchFamily="34" charset="0"/>
                <a:ea typeface="Calibri" pitchFamily="34" charset="-122"/>
                <a:cs typeface="Calibri" pitchFamily="34" charset="-120"/>
              </a:rPr>
              <a:t>True or False?</a:t>
            </a:r>
            <a:endParaRPr lang="en-US" sz="2000" dirty="0"/>
          </a:p>
        </p:txBody>
      </p:sp>
      <p:sp>
        <p:nvSpPr>
          <p:cNvPr id="19" name="click1"/>
          <p:cNvSpPr/>
          <p:nvPr/>
        </p:nvSpPr>
        <p:spPr>
          <a:xfrm>
            <a:off x="6858000" y="2354580"/>
            <a:ext cx="0" cy="982980"/>
          </a:xfrm>
          <a:prstGeom prst="line">
            <a:avLst/>
          </a:prstGeom>
          <a:noFill/>
          <a:ln w="28575">
            <a:solidFill>
              <a:srgbClr val="7FD99A"/>
            </a:solidFill>
            <a:prstDash val="solid"/>
            <a:tailEnd type="triangle"/>
          </a:ln>
        </p:spPr>
      </p:sp>
      <p:sp>
        <p:nvSpPr>
          <p:cNvPr id="20" name="click1"/>
          <p:cNvSpPr/>
          <p:nvPr/>
        </p:nvSpPr>
        <p:spPr>
          <a:xfrm>
            <a:off x="10149840" y="2354580"/>
            <a:ext cx="0" cy="982980"/>
          </a:xfrm>
          <a:prstGeom prst="line">
            <a:avLst/>
          </a:prstGeom>
          <a:noFill/>
          <a:ln w="28575">
            <a:solidFill>
              <a:srgbClr val="A9A9B4"/>
            </a:solidFill>
            <a:prstDash val="solid"/>
            <a:tailEnd type="triangle"/>
          </a:ln>
        </p:spPr>
      </p:sp>
      <p:sp>
        <p:nvSpPr>
          <p:cNvPr id="21" name="click1"/>
          <p:cNvSpPr txBox="1"/>
          <p:nvPr/>
        </p:nvSpPr>
        <p:spPr>
          <a:xfrm>
            <a:off x="5897880" y="2514600"/>
            <a:ext cx="868680" cy="365760"/>
          </a:xfrm>
          <a:prstGeom prst="rect">
            <a:avLst/>
          </a:prstGeom>
          <a:noFill/>
          <a:ln/>
        </p:spPr>
        <p:txBody>
          <a:bodyPr wrap="square" lIns="0" tIns="0" rIns="0" bIns="0" rtlCol="0" anchor="ctr"/>
          <a:lstStyle/>
          <a:p>
            <a:pPr algn="r" indent="0" marL="0">
              <a:buNone/>
            </a:pPr>
            <a:r>
              <a:rPr lang="en-US" sz="2000" b="1" dirty="0">
                <a:solidFill>
                  <a:srgbClr val="7FD99A"/>
                </a:solidFill>
                <a:latin typeface="Calibri" pitchFamily="34" charset="0"/>
                <a:ea typeface="Calibri" pitchFamily="34" charset="-122"/>
                <a:cs typeface="Calibri" pitchFamily="34" charset="-120"/>
              </a:rPr>
              <a:t>True</a:t>
            </a:r>
            <a:endParaRPr lang="en-US" sz="2000" dirty="0"/>
          </a:p>
        </p:txBody>
      </p:sp>
      <p:sp>
        <p:nvSpPr>
          <p:cNvPr id="22" name="click1"/>
          <p:cNvSpPr txBox="1"/>
          <p:nvPr/>
        </p:nvSpPr>
        <p:spPr>
          <a:xfrm>
            <a:off x="10259568" y="2514600"/>
            <a:ext cx="914400" cy="365760"/>
          </a:xfrm>
          <a:prstGeom prst="rect">
            <a:avLst/>
          </a:prstGeom>
          <a:noFill/>
          <a:ln/>
        </p:spPr>
        <p:txBody>
          <a:bodyPr wrap="square" lIns="0" tIns="0" rIns="0" bIns="0" rtlCol="0" anchor="ctr"/>
          <a:lstStyle/>
          <a:p>
            <a:pPr indent="0" marL="0">
              <a:buNone/>
            </a:pPr>
            <a:r>
              <a:rPr lang="en-US" sz="2000" b="1" dirty="0">
                <a:solidFill>
                  <a:srgbClr val="A9A9B4"/>
                </a:solidFill>
                <a:latin typeface="Calibri" pitchFamily="34" charset="0"/>
                <a:ea typeface="Calibri" pitchFamily="34" charset="-122"/>
                <a:cs typeface="Calibri" pitchFamily="34" charset="-120"/>
              </a:rPr>
              <a:t>False</a:t>
            </a:r>
            <a:endParaRPr lang="en-US" sz="2000" dirty="0"/>
          </a:p>
        </p:txBody>
      </p:sp>
      <p:sp>
        <p:nvSpPr>
          <p:cNvPr id="23" name="click1"/>
          <p:cNvSpPr/>
          <p:nvPr/>
        </p:nvSpPr>
        <p:spPr>
          <a:xfrm>
            <a:off x="5623560" y="3337560"/>
            <a:ext cx="2468880" cy="731520"/>
          </a:xfrm>
          <a:prstGeom prst="roundRect">
            <a:avLst>
              <a:gd name="adj" fmla="val 10000"/>
            </a:avLst>
          </a:prstGeom>
          <a:solidFill>
            <a:srgbClr val="2A2A32"/>
          </a:solidFill>
          <a:ln w="15875">
            <a:solidFill>
              <a:srgbClr val="7FD99A"/>
            </a:solidFill>
            <a:prstDash val="solid"/>
          </a:ln>
        </p:spPr>
      </p:sp>
      <p:sp>
        <p:nvSpPr>
          <p:cNvPr id="24" name="click1"/>
          <p:cNvSpPr txBox="1"/>
          <p:nvPr/>
        </p:nvSpPr>
        <p:spPr>
          <a:xfrm>
            <a:off x="5623560" y="3337560"/>
            <a:ext cx="2468880" cy="731520"/>
          </a:xfrm>
          <a:prstGeom prst="rect">
            <a:avLst/>
          </a:prstGeom>
          <a:noFill/>
          <a:ln/>
        </p:spPr>
        <p:txBody>
          <a:bodyPr wrap="square" lIns="0" tIns="0" rIns="0" bIns="0" rtlCol="0" anchor="ctr"/>
          <a:lstStyle/>
          <a:p>
            <a:pPr algn="ctr" indent="0" marL="0">
              <a:buNone/>
            </a:pPr>
            <a:r>
              <a:rPr lang="en-US" sz="2200" dirty="0">
                <a:solidFill>
                  <a:srgbClr val="F5F5F3"/>
                </a:solidFill>
              </a:rPr>
              <a:t>True path</a:t>
            </a:r>
            <a:endParaRPr lang="en-US" sz="2200" dirty="0"/>
          </a:p>
        </p:txBody>
      </p:sp>
      <p:sp>
        <p:nvSpPr>
          <p:cNvPr id="25" name="click1"/>
          <p:cNvSpPr/>
          <p:nvPr/>
        </p:nvSpPr>
        <p:spPr>
          <a:xfrm>
            <a:off x="8915400" y="3337560"/>
            <a:ext cx="2468880" cy="731520"/>
          </a:xfrm>
          <a:prstGeom prst="roundRect">
            <a:avLst>
              <a:gd name="adj" fmla="val 10000"/>
            </a:avLst>
          </a:prstGeom>
          <a:solidFill>
            <a:srgbClr val="2A2A32"/>
          </a:solidFill>
          <a:ln w="15875">
            <a:solidFill>
              <a:srgbClr val="3A3A44"/>
            </a:solidFill>
            <a:prstDash val="solid"/>
          </a:ln>
        </p:spPr>
      </p:sp>
      <p:sp>
        <p:nvSpPr>
          <p:cNvPr id="26" name="click1"/>
          <p:cNvSpPr txBox="1"/>
          <p:nvPr/>
        </p:nvSpPr>
        <p:spPr>
          <a:xfrm>
            <a:off x="8915400" y="3337560"/>
            <a:ext cx="2468880" cy="731520"/>
          </a:xfrm>
          <a:prstGeom prst="rect">
            <a:avLst/>
          </a:prstGeom>
          <a:noFill/>
          <a:ln/>
        </p:spPr>
        <p:txBody>
          <a:bodyPr wrap="square" lIns="0" tIns="0" rIns="0" bIns="0" rtlCol="0" anchor="ctr"/>
          <a:lstStyle/>
          <a:p>
            <a:pPr algn="ctr" indent="0" marL="0">
              <a:buNone/>
            </a:pPr>
            <a:r>
              <a:rPr lang="en-US" sz="2200" dirty="0">
                <a:solidFill>
                  <a:srgbClr val="F5F5F3"/>
                </a:solidFill>
              </a:rPr>
              <a:t>False path</a:t>
            </a:r>
            <a:endParaRPr lang="en-US" sz="2200" dirty="0"/>
          </a:p>
        </p:txBody>
      </p:sp>
      <p:sp>
        <p:nvSpPr>
          <p:cNvPr id="27" name="click1"/>
          <p:cNvSpPr/>
          <p:nvPr/>
        </p:nvSpPr>
        <p:spPr>
          <a:xfrm>
            <a:off x="6858000" y="4069080"/>
            <a:ext cx="0" cy="914400"/>
          </a:xfrm>
          <a:prstGeom prst="line">
            <a:avLst/>
          </a:prstGeom>
          <a:noFill/>
          <a:ln w="28575">
            <a:solidFill>
              <a:srgbClr val="A9A9B4"/>
            </a:solidFill>
            <a:prstDash val="solid"/>
          </a:ln>
        </p:spPr>
      </p:sp>
      <p:sp>
        <p:nvSpPr>
          <p:cNvPr id="28" name="click1"/>
          <p:cNvSpPr/>
          <p:nvPr/>
        </p:nvSpPr>
        <p:spPr>
          <a:xfrm>
            <a:off x="10149840" y="4069080"/>
            <a:ext cx="0" cy="914400"/>
          </a:xfrm>
          <a:prstGeom prst="line">
            <a:avLst/>
          </a:prstGeom>
          <a:noFill/>
          <a:ln w="28575">
            <a:solidFill>
              <a:srgbClr val="A9A9B4"/>
            </a:solidFill>
            <a:prstDash val="solid"/>
          </a:ln>
        </p:spPr>
      </p:sp>
      <p:sp>
        <p:nvSpPr>
          <p:cNvPr id="29" name="click1"/>
          <p:cNvSpPr/>
          <p:nvPr/>
        </p:nvSpPr>
        <p:spPr>
          <a:xfrm>
            <a:off x="6858000" y="4983480"/>
            <a:ext cx="548640" cy="0"/>
          </a:xfrm>
          <a:prstGeom prst="line">
            <a:avLst/>
          </a:prstGeom>
          <a:noFill/>
          <a:ln w="28575">
            <a:solidFill>
              <a:srgbClr val="A9A9B4"/>
            </a:solidFill>
            <a:prstDash val="solid"/>
            <a:tailEnd type="triangle"/>
          </a:ln>
        </p:spPr>
      </p:sp>
      <p:sp>
        <p:nvSpPr>
          <p:cNvPr id="30" name="click1"/>
          <p:cNvSpPr/>
          <p:nvPr/>
        </p:nvSpPr>
        <p:spPr>
          <a:xfrm flipH="1">
            <a:off x="9601200" y="4983480"/>
            <a:ext cx="548640" cy="0"/>
          </a:xfrm>
          <a:prstGeom prst="line">
            <a:avLst/>
          </a:prstGeom>
          <a:noFill/>
          <a:ln w="28575">
            <a:solidFill>
              <a:srgbClr val="A9A9B4"/>
            </a:solidFill>
            <a:prstDash val="solid"/>
            <a:tailEnd type="triangle"/>
          </a:ln>
        </p:spPr>
      </p:sp>
      <p:sp>
        <p:nvSpPr>
          <p:cNvPr id="31" name="click1"/>
          <p:cNvSpPr/>
          <p:nvPr/>
        </p:nvSpPr>
        <p:spPr>
          <a:xfrm>
            <a:off x="7406640" y="4617720"/>
            <a:ext cx="2194560" cy="731520"/>
          </a:xfrm>
          <a:prstGeom prst="roundRect">
            <a:avLst>
              <a:gd name="adj" fmla="val 10000"/>
            </a:avLst>
          </a:prstGeom>
          <a:solidFill>
            <a:srgbClr val="2A2A32"/>
          </a:solidFill>
          <a:ln w="15875">
            <a:solidFill>
              <a:srgbClr val="3A3A44"/>
            </a:solidFill>
            <a:prstDash val="solid"/>
          </a:ln>
        </p:spPr>
      </p:sp>
      <p:sp>
        <p:nvSpPr>
          <p:cNvPr id="32" name="click1"/>
          <p:cNvSpPr txBox="1"/>
          <p:nvPr/>
        </p:nvSpPr>
        <p:spPr>
          <a:xfrm>
            <a:off x="7406640" y="4617720"/>
            <a:ext cx="2194560" cy="731520"/>
          </a:xfrm>
          <a:prstGeom prst="rect">
            <a:avLst/>
          </a:prstGeom>
          <a:noFill/>
          <a:ln/>
        </p:spPr>
        <p:txBody>
          <a:bodyPr wrap="square" lIns="0" tIns="0" rIns="0" bIns="0" rtlCol="0" anchor="ctr"/>
          <a:lstStyle/>
          <a:p>
            <a:pPr algn="ctr" indent="0" marL="0">
              <a:buNone/>
            </a:pPr>
            <a:r>
              <a:rPr lang="en-US" sz="2200" dirty="0">
                <a:solidFill>
                  <a:srgbClr val="F5F5F3"/>
                </a:solidFill>
              </a:rPr>
              <a:t>Next line</a:t>
            </a:r>
            <a:endParaRPr lang="en-US" sz="2200" dirty="0"/>
          </a:p>
        </p:txBody>
      </p:sp>
      <p:sp>
        <p:nvSpPr>
          <p:cNvPr id="33" name="click1"/>
          <p:cNvSpPr txBox="1"/>
          <p:nvPr/>
        </p:nvSpPr>
        <p:spPr>
          <a:xfrm>
            <a:off x="5257800" y="5486400"/>
            <a:ext cx="6382512" cy="457200"/>
          </a:xfrm>
          <a:prstGeom prst="rect">
            <a:avLst/>
          </a:prstGeom>
          <a:noFill/>
          <a:ln/>
        </p:spPr>
        <p:txBody>
          <a:bodyPr wrap="square" lIns="0" tIns="0" rIns="0" bIns="0" rtlCol="0" anchor="ctr"/>
          <a:lstStyle/>
          <a:p>
            <a:pPr algn="ctr" indent="0" marL="0">
              <a:buNone/>
            </a:pPr>
            <a:r>
              <a:rPr lang="en-US" sz="2200" b="1" dirty="0">
                <a:solidFill>
                  <a:srgbClr val="D8A73D"/>
                </a:solidFill>
                <a:latin typeface="Calibri" pitchFamily="34" charset="0"/>
                <a:ea typeface="Calibri" pitchFamily="34" charset="-122"/>
                <a:cs typeface="Calibri" pitchFamily="34" charset="-120"/>
              </a:rPr>
              <a:t>Only ONE path runs, then they join up</a:t>
            </a:r>
            <a:endParaRPr lang="en-US" sz="2200" dirty="0"/>
          </a:p>
        </p:txBody>
      </p:sp>
      <p:pic>
        <p:nvPicPr>
          <p:cNvPr id="34"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500"/>
                                        <p:tgtEl>
                                          <p:spTgt spid="27"/>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500"/>
                                        <p:tgtEl>
                                          <p:spTgt spid="28"/>
                                        </p:tgtEl>
                                      </p:cBhvr>
                                    </p:animEffect>
                                  </p:childTnLst>
                                </p:cTn>
                              </p:par>
                              <p:par>
                                <p:cTn id="44" presetID="10" presetClass="entr" presetSubtype="0" fill="hold" nodeType="with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500"/>
                                        <p:tgtEl>
                                          <p:spTgt spid="29"/>
                                        </p:tgtEl>
                                      </p:cBhvr>
                                    </p:animEffect>
                                  </p:childTnLst>
                                </p:cTn>
                              </p:par>
                              <p:par>
                                <p:cTn id="47" presetID="10" presetClass="entr" presetSubtype="0" fill="hold" nodeType="withEffect">
                                  <p:stCondLst>
                                    <p:cond delay="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500"/>
                                        <p:tgtEl>
                                          <p:spTgt spid="30"/>
                                        </p:tgtEl>
                                      </p:cBhvr>
                                    </p:animEffect>
                                  </p:childTnLst>
                                </p:cTn>
                              </p:par>
                              <p:par>
                                <p:cTn id="50" presetID="10" presetClass="entr" presetSubtype="0" fill="hold" nodeType="withEffect">
                                  <p:stCondLst>
                                    <p:cond delay="0"/>
                                  </p:stCondLst>
                                  <p:childTnLst>
                                    <p:set>
                                      <p:cBhvr>
                                        <p:cTn id="51" dur="1" fill="hold">
                                          <p:stCondLst>
                                            <p:cond delay="0"/>
                                          </p:stCondLst>
                                        </p:cTn>
                                        <p:tgtEl>
                                          <p:spTgt spid="31"/>
                                        </p:tgtEl>
                                        <p:attrNameLst>
                                          <p:attrName>style.visibility</p:attrName>
                                        </p:attrNameLst>
                                      </p:cBhvr>
                                      <p:to>
                                        <p:strVal val="visible"/>
                                      </p:to>
                                    </p:set>
                                    <p:animEffect transition="in" filter="fade">
                                      <p:cBhvr>
                                        <p:cTn id="52" dur="500"/>
                                        <p:tgtEl>
                                          <p:spTgt spid="3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500"/>
                                        <p:tgtEl>
                                          <p:spTgt spid="3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21" grpId="0" animBg="1"/>
      <p:bldP spid="22" grpId="0" animBg="1"/>
      <p:bldP spid="24" grpId="0" animBg="1"/>
      <p:bldP spid="26" grpId="0" animBg="1"/>
      <p:bldP spid="32"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A condition is True or False</a:t>
            </a:r>
            <a:endParaRPr lang="en-US" sz="3600" dirty="0"/>
          </a:p>
        </p:txBody>
      </p:sp>
      <p:sp>
        <p:nvSpPr>
          <p:cNvPr id="5" name="Text 2"/>
          <p:cNvSpPr txBox="1"/>
          <p:nvPr/>
        </p:nvSpPr>
        <p:spPr>
          <a:xfrm>
            <a:off x="54864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COMPARISON OPERATORS</a:t>
            </a:r>
            <a:endParaRPr lang="en-US" sz="1300" dirty="0"/>
          </a:p>
        </p:txBody>
      </p:sp>
      <p:sp>
        <p:nvSpPr>
          <p:cNvPr id="6" name="Shape 3"/>
          <p:cNvSpPr/>
          <p:nvPr/>
        </p:nvSpPr>
        <p:spPr>
          <a:xfrm>
            <a:off x="548640" y="1828800"/>
            <a:ext cx="1051560" cy="566928"/>
          </a:xfrm>
          <a:prstGeom prst="roundRect">
            <a:avLst>
              <a:gd name="adj" fmla="val 12903"/>
            </a:avLst>
          </a:prstGeom>
          <a:solidFill>
            <a:srgbClr val="111115"/>
          </a:solidFill>
          <a:ln w="15875">
            <a:solidFill>
              <a:srgbClr val="3A3A44"/>
            </a:solidFill>
            <a:prstDash val="solid"/>
          </a:ln>
        </p:spPr>
      </p:sp>
      <p:sp>
        <p:nvSpPr>
          <p:cNvPr id="7" name="Text 4"/>
          <p:cNvSpPr txBox="1"/>
          <p:nvPr/>
        </p:nvSpPr>
        <p:spPr>
          <a:xfrm>
            <a:off x="548640" y="1828800"/>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a:t>
            </a:r>
            <a:endParaRPr lang="en-US" sz="2800" dirty="0"/>
          </a:p>
        </p:txBody>
      </p:sp>
      <p:sp>
        <p:nvSpPr>
          <p:cNvPr id="8" name="Text 5"/>
          <p:cNvSpPr txBox="1"/>
          <p:nvPr/>
        </p:nvSpPr>
        <p:spPr>
          <a:xfrm>
            <a:off x="1828800" y="1828800"/>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equal to</a:t>
            </a:r>
            <a:endParaRPr lang="en-US" sz="2200" dirty="0"/>
          </a:p>
        </p:txBody>
      </p:sp>
      <p:sp>
        <p:nvSpPr>
          <p:cNvPr id="9" name="Shape 6"/>
          <p:cNvSpPr/>
          <p:nvPr/>
        </p:nvSpPr>
        <p:spPr>
          <a:xfrm>
            <a:off x="548640" y="2523744"/>
            <a:ext cx="1051560" cy="566928"/>
          </a:xfrm>
          <a:prstGeom prst="roundRect">
            <a:avLst>
              <a:gd name="adj" fmla="val 12903"/>
            </a:avLst>
          </a:prstGeom>
          <a:solidFill>
            <a:srgbClr val="111115"/>
          </a:solidFill>
          <a:ln w="15875">
            <a:solidFill>
              <a:srgbClr val="3A3A44"/>
            </a:solidFill>
            <a:prstDash val="solid"/>
          </a:ln>
        </p:spPr>
      </p:sp>
      <p:sp>
        <p:nvSpPr>
          <p:cNvPr id="10" name="Text 7"/>
          <p:cNvSpPr txBox="1"/>
          <p:nvPr/>
        </p:nvSpPr>
        <p:spPr>
          <a:xfrm>
            <a:off x="548640" y="2523744"/>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&lt;</a:t>
            </a:r>
            <a:endParaRPr lang="en-US" sz="2800" dirty="0"/>
          </a:p>
        </p:txBody>
      </p:sp>
      <p:sp>
        <p:nvSpPr>
          <p:cNvPr id="11" name="Text 8"/>
          <p:cNvSpPr txBox="1"/>
          <p:nvPr/>
        </p:nvSpPr>
        <p:spPr>
          <a:xfrm>
            <a:off x="1828800" y="2523744"/>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less than</a:t>
            </a:r>
            <a:endParaRPr lang="en-US" sz="2200" dirty="0"/>
          </a:p>
        </p:txBody>
      </p:sp>
      <p:sp>
        <p:nvSpPr>
          <p:cNvPr id="12" name="Shape 9"/>
          <p:cNvSpPr/>
          <p:nvPr/>
        </p:nvSpPr>
        <p:spPr>
          <a:xfrm>
            <a:off x="548640" y="3218688"/>
            <a:ext cx="1051560" cy="566928"/>
          </a:xfrm>
          <a:prstGeom prst="roundRect">
            <a:avLst>
              <a:gd name="adj" fmla="val 12903"/>
            </a:avLst>
          </a:prstGeom>
          <a:solidFill>
            <a:srgbClr val="111115"/>
          </a:solidFill>
          <a:ln w="15875">
            <a:solidFill>
              <a:srgbClr val="3A3A44"/>
            </a:solidFill>
            <a:prstDash val="solid"/>
          </a:ln>
        </p:spPr>
      </p:sp>
      <p:sp>
        <p:nvSpPr>
          <p:cNvPr id="13" name="Text 10"/>
          <p:cNvSpPr txBox="1"/>
          <p:nvPr/>
        </p:nvSpPr>
        <p:spPr>
          <a:xfrm>
            <a:off x="548640" y="3218688"/>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&gt;</a:t>
            </a:r>
            <a:endParaRPr lang="en-US" sz="2800" dirty="0"/>
          </a:p>
        </p:txBody>
      </p:sp>
      <p:sp>
        <p:nvSpPr>
          <p:cNvPr id="14" name="Text 11"/>
          <p:cNvSpPr txBox="1"/>
          <p:nvPr/>
        </p:nvSpPr>
        <p:spPr>
          <a:xfrm>
            <a:off x="1828800" y="3218688"/>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more than</a:t>
            </a:r>
            <a:endParaRPr lang="en-US" sz="2200" dirty="0"/>
          </a:p>
        </p:txBody>
      </p:sp>
      <p:sp>
        <p:nvSpPr>
          <p:cNvPr id="15" name="Shape 12"/>
          <p:cNvSpPr/>
          <p:nvPr/>
        </p:nvSpPr>
        <p:spPr>
          <a:xfrm>
            <a:off x="548640" y="3913632"/>
            <a:ext cx="1051560" cy="566928"/>
          </a:xfrm>
          <a:prstGeom prst="roundRect">
            <a:avLst>
              <a:gd name="adj" fmla="val 12903"/>
            </a:avLst>
          </a:prstGeom>
          <a:solidFill>
            <a:srgbClr val="111115"/>
          </a:solidFill>
          <a:ln w="15875">
            <a:solidFill>
              <a:srgbClr val="3A3A44"/>
            </a:solidFill>
            <a:prstDash val="solid"/>
          </a:ln>
        </p:spPr>
      </p:sp>
      <p:sp>
        <p:nvSpPr>
          <p:cNvPr id="16" name="Text 13"/>
          <p:cNvSpPr txBox="1"/>
          <p:nvPr/>
        </p:nvSpPr>
        <p:spPr>
          <a:xfrm>
            <a:off x="548640" y="3913632"/>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&lt;=</a:t>
            </a:r>
            <a:endParaRPr lang="en-US" sz="2800" dirty="0"/>
          </a:p>
        </p:txBody>
      </p:sp>
      <p:sp>
        <p:nvSpPr>
          <p:cNvPr id="17" name="Text 14"/>
          <p:cNvSpPr txBox="1"/>
          <p:nvPr/>
        </p:nvSpPr>
        <p:spPr>
          <a:xfrm>
            <a:off x="1828800" y="3913632"/>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less than or equal to</a:t>
            </a:r>
            <a:endParaRPr lang="en-US" sz="2200" dirty="0"/>
          </a:p>
        </p:txBody>
      </p:sp>
      <p:sp>
        <p:nvSpPr>
          <p:cNvPr id="18" name="Shape 15"/>
          <p:cNvSpPr/>
          <p:nvPr/>
        </p:nvSpPr>
        <p:spPr>
          <a:xfrm>
            <a:off x="548640" y="4608576"/>
            <a:ext cx="1051560" cy="566928"/>
          </a:xfrm>
          <a:prstGeom prst="roundRect">
            <a:avLst>
              <a:gd name="adj" fmla="val 12903"/>
            </a:avLst>
          </a:prstGeom>
          <a:solidFill>
            <a:srgbClr val="111115"/>
          </a:solidFill>
          <a:ln w="15875">
            <a:solidFill>
              <a:srgbClr val="3A3A44"/>
            </a:solidFill>
            <a:prstDash val="solid"/>
          </a:ln>
        </p:spPr>
      </p:sp>
      <p:sp>
        <p:nvSpPr>
          <p:cNvPr id="19" name="Text 16"/>
          <p:cNvSpPr txBox="1"/>
          <p:nvPr/>
        </p:nvSpPr>
        <p:spPr>
          <a:xfrm>
            <a:off x="548640" y="4608576"/>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&gt;=</a:t>
            </a:r>
            <a:endParaRPr lang="en-US" sz="2800" dirty="0"/>
          </a:p>
        </p:txBody>
      </p:sp>
      <p:sp>
        <p:nvSpPr>
          <p:cNvPr id="20" name="Text 17"/>
          <p:cNvSpPr txBox="1"/>
          <p:nvPr/>
        </p:nvSpPr>
        <p:spPr>
          <a:xfrm>
            <a:off x="1828800" y="4608576"/>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more than or equal to</a:t>
            </a:r>
            <a:endParaRPr lang="en-US" sz="2200" dirty="0"/>
          </a:p>
        </p:txBody>
      </p:sp>
      <p:sp>
        <p:nvSpPr>
          <p:cNvPr id="21" name="Text 18"/>
          <p:cNvSpPr txBox="1"/>
          <p:nvPr/>
        </p:nvSpPr>
        <p:spPr>
          <a:xfrm>
            <a:off x="640080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TRUE OR FALSE?</a:t>
            </a:r>
            <a:endParaRPr lang="en-US" sz="1300" dirty="0"/>
          </a:p>
        </p:txBody>
      </p:sp>
      <p:sp>
        <p:nvSpPr>
          <p:cNvPr id="22" name="Shape 19"/>
          <p:cNvSpPr/>
          <p:nvPr/>
        </p:nvSpPr>
        <p:spPr>
          <a:xfrm>
            <a:off x="6400800" y="1828800"/>
            <a:ext cx="3108960" cy="914400"/>
          </a:xfrm>
          <a:prstGeom prst="roundRect">
            <a:avLst>
              <a:gd name="adj" fmla="val 8000"/>
            </a:avLst>
          </a:prstGeom>
          <a:solidFill>
            <a:srgbClr val="111115"/>
          </a:solidFill>
          <a:ln w="15875">
            <a:solidFill>
              <a:srgbClr val="3A3A44"/>
            </a:solidFill>
            <a:prstDash val="solid"/>
          </a:ln>
        </p:spPr>
      </p:sp>
      <p:sp>
        <p:nvSpPr>
          <p:cNvPr id="23" name="Text 20"/>
          <p:cNvSpPr txBox="1"/>
          <p:nvPr/>
        </p:nvSpPr>
        <p:spPr>
          <a:xfrm>
            <a:off x="6400800" y="1828800"/>
            <a:ext cx="3108960" cy="914400"/>
          </a:xfrm>
          <a:prstGeom prst="rect">
            <a:avLst/>
          </a:prstGeom>
          <a:noFill/>
          <a:ln/>
        </p:spPr>
        <p:txBody>
          <a:bodyPr wrap="square" lIns="0" tIns="0" rIns="0" bIns="0" rtlCol="0" anchor="ctr"/>
          <a:lstStyle/>
          <a:p>
            <a:pPr algn="ctr" indent="0" marL="0">
              <a:buNone/>
            </a:pPr>
            <a:r>
              <a:rPr lang="en-US" sz="3600" dirty="0">
                <a:solidFill>
                  <a:srgbClr val="56B4E9"/>
                </a:solidFill>
                <a:latin typeface="Consolas" pitchFamily="34" charset="0"/>
                <a:ea typeface="Consolas" pitchFamily="34" charset="-122"/>
                <a:cs typeface="Consolas" pitchFamily="34" charset="-120"/>
              </a:rPr>
              <a:t>85</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b="1" dirty="0">
                <a:solidFill>
                  <a:srgbClr val="F5F5F3"/>
                </a:solidFill>
                <a:latin typeface="Consolas" pitchFamily="34" charset="0"/>
                <a:ea typeface="Consolas" pitchFamily="34" charset="-122"/>
                <a:cs typeface="Consolas" pitchFamily="34" charset="-120"/>
              </a:rPr>
              <a:t>&gt;=</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dirty="0">
                <a:solidFill>
                  <a:srgbClr val="56B4E9"/>
                </a:solidFill>
                <a:latin typeface="Consolas" pitchFamily="34" charset="0"/>
                <a:ea typeface="Consolas" pitchFamily="34" charset="-122"/>
                <a:cs typeface="Consolas" pitchFamily="34" charset="-120"/>
              </a:rPr>
              <a:t>50</a:t>
            </a:r>
            <a:endParaRPr lang="en-US" sz="3600" dirty="0"/>
          </a:p>
        </p:txBody>
      </p:sp>
      <p:sp>
        <p:nvSpPr>
          <p:cNvPr id="24" name="click1"/>
          <p:cNvSpPr/>
          <p:nvPr/>
        </p:nvSpPr>
        <p:spPr>
          <a:xfrm>
            <a:off x="9601200" y="2286000"/>
            <a:ext cx="502920" cy="0"/>
          </a:xfrm>
          <a:prstGeom prst="line">
            <a:avLst/>
          </a:prstGeom>
          <a:noFill/>
          <a:ln w="28575">
            <a:solidFill>
              <a:srgbClr val="A9A9B4"/>
            </a:solidFill>
            <a:prstDash val="solid"/>
            <a:tailEnd type="triangle"/>
          </a:ln>
        </p:spPr>
      </p:sp>
      <p:sp>
        <p:nvSpPr>
          <p:cNvPr id="25" name="click1"/>
          <p:cNvSpPr/>
          <p:nvPr/>
        </p:nvSpPr>
        <p:spPr>
          <a:xfrm>
            <a:off x="10195560" y="2011680"/>
            <a:ext cx="1417320" cy="548640"/>
          </a:xfrm>
          <a:prstGeom prst="roundRect">
            <a:avLst>
              <a:gd name="adj" fmla="val 13333"/>
            </a:avLst>
          </a:prstGeom>
          <a:solidFill>
            <a:srgbClr val="7FD99A"/>
          </a:solidFill>
          <a:ln/>
        </p:spPr>
      </p:sp>
      <p:sp>
        <p:nvSpPr>
          <p:cNvPr id="26" name="click1"/>
          <p:cNvSpPr txBox="1"/>
          <p:nvPr/>
        </p:nvSpPr>
        <p:spPr>
          <a:xfrm>
            <a:off x="10195560" y="2011680"/>
            <a:ext cx="1417320" cy="548640"/>
          </a:xfrm>
          <a:prstGeom prst="rect">
            <a:avLst/>
          </a:prstGeom>
          <a:noFill/>
          <a:ln/>
        </p:spPr>
        <p:txBody>
          <a:bodyPr wrap="square" lIns="0" tIns="0" rIns="0" bIns="0" rtlCol="0" anchor="ctr"/>
          <a:lstStyle/>
          <a:p>
            <a:pPr algn="ctr" indent="0" marL="0">
              <a:buNone/>
            </a:pPr>
            <a:r>
              <a:rPr lang="en-US" sz="2600" b="1" dirty="0">
                <a:solidFill>
                  <a:srgbClr val="111115"/>
                </a:solidFill>
                <a:latin typeface="Consolas" pitchFamily="34" charset="0"/>
                <a:ea typeface="Consolas" pitchFamily="34" charset="-122"/>
                <a:cs typeface="Consolas" pitchFamily="34" charset="-120"/>
              </a:rPr>
              <a:t>True</a:t>
            </a:r>
            <a:endParaRPr lang="en-US" sz="2600" dirty="0"/>
          </a:p>
        </p:txBody>
      </p:sp>
      <p:sp>
        <p:nvSpPr>
          <p:cNvPr id="27" name="click1"/>
          <p:cNvSpPr txBox="1"/>
          <p:nvPr/>
        </p:nvSpPr>
        <p:spPr>
          <a:xfrm>
            <a:off x="6400800" y="2834640"/>
            <a:ext cx="521208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Is 85 more than or equal to 50? Yes</a:t>
            </a:r>
            <a:endParaRPr lang="en-US" sz="1800" dirty="0"/>
          </a:p>
        </p:txBody>
      </p:sp>
      <p:sp>
        <p:nvSpPr>
          <p:cNvPr id="28" name="Shape 25"/>
          <p:cNvSpPr/>
          <p:nvPr/>
        </p:nvSpPr>
        <p:spPr>
          <a:xfrm>
            <a:off x="6400800" y="3611880"/>
            <a:ext cx="3108960" cy="914400"/>
          </a:xfrm>
          <a:prstGeom prst="roundRect">
            <a:avLst>
              <a:gd name="adj" fmla="val 8000"/>
            </a:avLst>
          </a:prstGeom>
          <a:solidFill>
            <a:srgbClr val="111115"/>
          </a:solidFill>
          <a:ln w="15875">
            <a:solidFill>
              <a:srgbClr val="3A3A44"/>
            </a:solidFill>
            <a:prstDash val="solid"/>
          </a:ln>
        </p:spPr>
      </p:sp>
      <p:sp>
        <p:nvSpPr>
          <p:cNvPr id="29" name="Text 26"/>
          <p:cNvSpPr txBox="1"/>
          <p:nvPr/>
        </p:nvSpPr>
        <p:spPr>
          <a:xfrm>
            <a:off x="6400800" y="3611880"/>
            <a:ext cx="3108960" cy="914400"/>
          </a:xfrm>
          <a:prstGeom prst="rect">
            <a:avLst/>
          </a:prstGeom>
          <a:noFill/>
          <a:ln/>
        </p:spPr>
        <p:txBody>
          <a:bodyPr wrap="square" lIns="0" tIns="0" rIns="0" bIns="0" rtlCol="0" anchor="ctr"/>
          <a:lstStyle/>
          <a:p>
            <a:pPr algn="ctr" indent="0" marL="0">
              <a:buNone/>
            </a:pPr>
            <a:r>
              <a:rPr lang="en-US" sz="3600" dirty="0">
                <a:solidFill>
                  <a:srgbClr val="56B4E9"/>
                </a:solidFill>
                <a:latin typeface="Consolas" pitchFamily="34" charset="0"/>
                <a:ea typeface="Consolas" pitchFamily="34" charset="-122"/>
                <a:cs typeface="Consolas" pitchFamily="34" charset="-120"/>
              </a:rPr>
              <a:t>30</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b="1" dirty="0">
                <a:solidFill>
                  <a:srgbClr val="F5F5F3"/>
                </a:solidFill>
                <a:latin typeface="Consolas" pitchFamily="34" charset="0"/>
                <a:ea typeface="Consolas" pitchFamily="34" charset="-122"/>
                <a:cs typeface="Consolas" pitchFamily="34" charset="-120"/>
              </a:rPr>
              <a:t>&gt;=</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dirty="0">
                <a:solidFill>
                  <a:srgbClr val="56B4E9"/>
                </a:solidFill>
                <a:latin typeface="Consolas" pitchFamily="34" charset="0"/>
                <a:ea typeface="Consolas" pitchFamily="34" charset="-122"/>
                <a:cs typeface="Consolas" pitchFamily="34" charset="-120"/>
              </a:rPr>
              <a:t>50</a:t>
            </a:r>
            <a:endParaRPr lang="en-US" sz="3600" dirty="0"/>
          </a:p>
        </p:txBody>
      </p:sp>
      <p:sp>
        <p:nvSpPr>
          <p:cNvPr id="30" name="click2"/>
          <p:cNvSpPr/>
          <p:nvPr/>
        </p:nvSpPr>
        <p:spPr>
          <a:xfrm>
            <a:off x="9601200" y="4069080"/>
            <a:ext cx="502920" cy="0"/>
          </a:xfrm>
          <a:prstGeom prst="line">
            <a:avLst/>
          </a:prstGeom>
          <a:noFill/>
          <a:ln w="28575">
            <a:solidFill>
              <a:srgbClr val="A9A9B4"/>
            </a:solidFill>
            <a:prstDash val="solid"/>
            <a:tailEnd type="triangle"/>
          </a:ln>
        </p:spPr>
      </p:sp>
      <p:sp>
        <p:nvSpPr>
          <p:cNvPr id="31" name="click2"/>
          <p:cNvSpPr/>
          <p:nvPr/>
        </p:nvSpPr>
        <p:spPr>
          <a:xfrm>
            <a:off x="10195560" y="3794760"/>
            <a:ext cx="1417320" cy="548640"/>
          </a:xfrm>
          <a:prstGeom prst="roundRect">
            <a:avLst>
              <a:gd name="adj" fmla="val 13333"/>
            </a:avLst>
          </a:prstGeom>
          <a:solidFill>
            <a:srgbClr val="1E1E24"/>
          </a:solidFill>
          <a:ln w="19050">
            <a:solidFill>
              <a:srgbClr val="A9A9B4"/>
            </a:solidFill>
            <a:prstDash val="solid"/>
          </a:ln>
        </p:spPr>
      </p:sp>
      <p:sp>
        <p:nvSpPr>
          <p:cNvPr id="32" name="click2"/>
          <p:cNvSpPr txBox="1"/>
          <p:nvPr/>
        </p:nvSpPr>
        <p:spPr>
          <a:xfrm>
            <a:off x="10195560" y="3794760"/>
            <a:ext cx="1417320" cy="548640"/>
          </a:xfrm>
          <a:prstGeom prst="rect">
            <a:avLst/>
          </a:prstGeom>
          <a:noFill/>
          <a:ln/>
        </p:spPr>
        <p:txBody>
          <a:bodyPr wrap="square" lIns="0" tIns="0" rIns="0" bIns="0" rtlCol="0" anchor="ctr"/>
          <a:lstStyle/>
          <a:p>
            <a:pPr algn="ctr" indent="0" marL="0">
              <a:buNone/>
            </a:pPr>
            <a:r>
              <a:rPr lang="en-US" sz="2600" b="1" dirty="0">
                <a:solidFill>
                  <a:srgbClr val="F5F5F3"/>
                </a:solidFill>
                <a:latin typeface="Consolas" pitchFamily="34" charset="0"/>
                <a:ea typeface="Consolas" pitchFamily="34" charset="-122"/>
                <a:cs typeface="Consolas" pitchFamily="34" charset="-120"/>
              </a:rPr>
              <a:t>False</a:t>
            </a:r>
            <a:endParaRPr lang="en-US" sz="2600" dirty="0"/>
          </a:p>
        </p:txBody>
      </p:sp>
      <p:sp>
        <p:nvSpPr>
          <p:cNvPr id="33" name="click2"/>
          <p:cNvSpPr txBox="1"/>
          <p:nvPr/>
        </p:nvSpPr>
        <p:spPr>
          <a:xfrm>
            <a:off x="6400800" y="4617720"/>
            <a:ext cx="521208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Is 30 more than or equal to 50? No</a:t>
            </a:r>
            <a:endParaRPr lang="en-US" sz="1800" dirty="0"/>
          </a:p>
        </p:txBody>
      </p:sp>
      <p:sp>
        <p:nvSpPr>
          <p:cNvPr id="34" name="Shape 31"/>
          <p:cNvSpPr/>
          <p:nvPr/>
        </p:nvSpPr>
        <p:spPr>
          <a:xfrm>
            <a:off x="548640" y="5440680"/>
            <a:ext cx="11091672" cy="731520"/>
          </a:xfrm>
          <a:prstGeom prst="roundRect">
            <a:avLst>
              <a:gd name="adj" fmla="val 10000"/>
            </a:avLst>
          </a:prstGeom>
          <a:solidFill>
            <a:srgbClr val="1E1E24"/>
          </a:solidFill>
          <a:ln w="25400">
            <a:solidFill>
              <a:srgbClr val="D8A73D"/>
            </a:solidFill>
            <a:prstDash val="solid"/>
          </a:ln>
        </p:spPr>
      </p:sp>
      <p:sp>
        <p:nvSpPr>
          <p:cNvPr id="35" name="Text 32"/>
          <p:cNvSpPr txBox="1"/>
          <p:nvPr/>
        </p:nvSpPr>
        <p:spPr>
          <a:xfrm>
            <a:off x="914400" y="5440680"/>
            <a:ext cx="10332720" cy="73152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A condition asks a yes / no question. </a:t>
            </a:r>
            <a:pPr indent="0" marL="0">
              <a:buNone/>
            </a:pPr>
            <a:r>
              <a:rPr lang="en-US" sz="2200" dirty="0">
                <a:solidFill>
                  <a:srgbClr val="F5F5F3"/>
                </a:solidFill>
                <a:latin typeface="Calibri" pitchFamily="34" charset="0"/>
                <a:ea typeface="Calibri" pitchFamily="34" charset="-122"/>
                <a:cs typeface="Calibri" pitchFamily="34" charset="-120"/>
              </a:rPr>
              <a:t>Python’s answer is True or False.</a:t>
            </a:r>
            <a:endParaRPr lang="en-US" sz="2200" dirty="0"/>
          </a:p>
        </p:txBody>
      </p:sp>
      <p:pic>
        <p:nvPicPr>
          <p:cNvPr id="36"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10" presetClass="entr" presetSubtype="0" fill="hold" nodeType="withEffect">
                                  <p:stCondLst>
                                    <p:cond delay="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fade">
                                      <p:cBhvr>
                                        <p:cTn id="3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32" grpId="0" animBg="1"/>
      <p:bldP spid="3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5" name="Shape 2"/>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6" name="Shape 3"/>
          <p:cNvSpPr/>
          <p:nvPr/>
        </p:nvSpPr>
        <p:spPr>
          <a:xfrm>
            <a:off x="713232" y="1719072"/>
            <a:ext cx="384048" cy="384048"/>
          </a:xfrm>
          <a:prstGeom prst="ellipse">
            <a:avLst/>
          </a:prstGeom>
          <a:solidFill>
            <a:srgbClr val="D8A73D"/>
          </a:solidFill>
          <a:ln/>
        </p:spPr>
      </p:sp>
      <p:sp>
        <p:nvSpPr>
          <p:cNvPr id="7" name="Text 4"/>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8</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9" name="Shape 6"/>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10" name="Shape 7"/>
          <p:cNvSpPr/>
          <p:nvPr/>
        </p:nvSpPr>
        <p:spPr>
          <a:xfrm>
            <a:off x="4498848" y="1719072"/>
            <a:ext cx="384048" cy="384048"/>
          </a:xfrm>
          <a:prstGeom prst="ellipse">
            <a:avLst/>
          </a:prstGeom>
          <a:solidFill>
            <a:srgbClr val="D8A73D"/>
          </a:solidFill>
          <a:ln/>
        </p:spPr>
      </p:sp>
      <p:sp>
        <p:nvSpPr>
          <p:cNvPr id="11" name="Text 8"/>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4</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3" name="Shape 10"/>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4" name="Shape 11"/>
          <p:cNvSpPr/>
          <p:nvPr/>
        </p:nvSpPr>
        <p:spPr>
          <a:xfrm>
            <a:off x="8284464" y="1719072"/>
            <a:ext cx="384048" cy="384048"/>
          </a:xfrm>
          <a:prstGeom prst="ellipse">
            <a:avLst/>
          </a:prstGeom>
          <a:solidFill>
            <a:srgbClr val="D8A73D"/>
          </a:solidFill>
          <a:ln/>
        </p:spPr>
      </p:sp>
      <p:sp>
        <p:nvSpPr>
          <p:cNvPr id="15" name="Text 12"/>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6" name="Text 13"/>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10</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17" name="Shape 14"/>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8" name="Shape 15"/>
          <p:cNvSpPr/>
          <p:nvPr/>
        </p:nvSpPr>
        <p:spPr>
          <a:xfrm>
            <a:off x="713232" y="3273552"/>
            <a:ext cx="384048" cy="384048"/>
          </a:xfrm>
          <a:prstGeom prst="ellipse">
            <a:avLst/>
          </a:prstGeom>
          <a:solidFill>
            <a:srgbClr val="D8A73D"/>
          </a:solidFill>
          <a:ln/>
        </p:spPr>
      </p:sp>
      <p:sp>
        <p:nvSpPr>
          <p:cNvPr id="19" name="Text 16"/>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20" name="Text 17"/>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21" name="Shape 18"/>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2" name="Shape 19"/>
          <p:cNvSpPr/>
          <p:nvPr/>
        </p:nvSpPr>
        <p:spPr>
          <a:xfrm>
            <a:off x="4498848" y="3273552"/>
            <a:ext cx="384048" cy="384048"/>
          </a:xfrm>
          <a:prstGeom prst="ellipse">
            <a:avLst/>
          </a:prstGeom>
          <a:solidFill>
            <a:srgbClr val="D8A73D"/>
          </a:solidFill>
          <a:ln/>
        </p:spPr>
      </p:sp>
      <p:sp>
        <p:nvSpPr>
          <p:cNvPr id="23" name="Text 20"/>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4" name="Text 21"/>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25" name="Shape 22"/>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6" name="Shape 23"/>
          <p:cNvSpPr/>
          <p:nvPr/>
        </p:nvSpPr>
        <p:spPr>
          <a:xfrm>
            <a:off x="8284464" y="3273552"/>
            <a:ext cx="384048" cy="384048"/>
          </a:xfrm>
          <a:prstGeom prst="ellipse">
            <a:avLst/>
          </a:prstGeom>
          <a:solidFill>
            <a:srgbClr val="D8A73D"/>
          </a:solidFill>
          <a:ln/>
        </p:spPr>
      </p:sp>
      <p:sp>
        <p:nvSpPr>
          <p:cNvPr id="27" name="Text 24"/>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8" name="Text 25"/>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29" name="Shape 26"/>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30" name="Text 27"/>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31" name="Shape 28"/>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 — answers</a:t>
            </a:r>
            <a:endParaRPr lang="en-US" sz="3600" dirty="0"/>
          </a:p>
        </p:txBody>
      </p:sp>
      <p:sp>
        <p:nvSpPr>
          <p:cNvPr id="5" name="Shape 2"/>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6" name="Shape 3"/>
          <p:cNvSpPr/>
          <p:nvPr/>
        </p:nvSpPr>
        <p:spPr>
          <a:xfrm>
            <a:off x="713232" y="1719072"/>
            <a:ext cx="384048" cy="384048"/>
          </a:xfrm>
          <a:prstGeom prst="ellipse">
            <a:avLst/>
          </a:prstGeom>
          <a:solidFill>
            <a:srgbClr val="D8A73D"/>
          </a:solidFill>
          <a:ln/>
        </p:spPr>
      </p:sp>
      <p:sp>
        <p:nvSpPr>
          <p:cNvPr id="7" name="Text 4"/>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1188720"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8</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9" name="Shape 6"/>
          <p:cNvSpPr/>
          <p:nvPr/>
        </p:nvSpPr>
        <p:spPr>
          <a:xfrm>
            <a:off x="2871216" y="1943100"/>
            <a:ext cx="1005840" cy="548640"/>
          </a:xfrm>
          <a:prstGeom prst="roundRect">
            <a:avLst>
              <a:gd name="adj" fmla="val 13333"/>
            </a:avLst>
          </a:prstGeom>
          <a:solidFill>
            <a:srgbClr val="7FD99A"/>
          </a:solidFill>
          <a:ln/>
        </p:spPr>
      </p:sp>
      <p:sp>
        <p:nvSpPr>
          <p:cNvPr id="10" name="Text 7"/>
          <p:cNvSpPr txBox="1"/>
          <p:nvPr/>
        </p:nvSpPr>
        <p:spPr>
          <a:xfrm>
            <a:off x="2871216" y="194310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11" name="Shape 8"/>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12" name="Shape 9"/>
          <p:cNvSpPr/>
          <p:nvPr/>
        </p:nvSpPr>
        <p:spPr>
          <a:xfrm>
            <a:off x="4498848" y="1719072"/>
            <a:ext cx="384048" cy="384048"/>
          </a:xfrm>
          <a:prstGeom prst="ellipse">
            <a:avLst/>
          </a:prstGeom>
          <a:solidFill>
            <a:srgbClr val="D8A73D"/>
          </a:solidFill>
          <a:ln/>
        </p:spPr>
      </p:sp>
      <p:sp>
        <p:nvSpPr>
          <p:cNvPr id="13" name="Text 10"/>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4974336"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4</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5" name="Shape 12"/>
          <p:cNvSpPr/>
          <p:nvPr/>
        </p:nvSpPr>
        <p:spPr>
          <a:xfrm>
            <a:off x="6656832" y="1943100"/>
            <a:ext cx="1005840" cy="548640"/>
          </a:xfrm>
          <a:prstGeom prst="roundRect">
            <a:avLst>
              <a:gd name="adj" fmla="val 13333"/>
            </a:avLst>
          </a:prstGeom>
          <a:solidFill>
            <a:srgbClr val="7FD99A"/>
          </a:solidFill>
          <a:ln/>
        </p:spPr>
      </p:sp>
      <p:sp>
        <p:nvSpPr>
          <p:cNvPr id="16" name="Text 13"/>
          <p:cNvSpPr txBox="1"/>
          <p:nvPr/>
        </p:nvSpPr>
        <p:spPr>
          <a:xfrm>
            <a:off x="6656832" y="194310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17" name="Shape 14"/>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8" name="Shape 15"/>
          <p:cNvSpPr/>
          <p:nvPr/>
        </p:nvSpPr>
        <p:spPr>
          <a:xfrm>
            <a:off x="8284464" y="1719072"/>
            <a:ext cx="384048" cy="384048"/>
          </a:xfrm>
          <a:prstGeom prst="ellipse">
            <a:avLst/>
          </a:prstGeom>
          <a:solidFill>
            <a:srgbClr val="D8A73D"/>
          </a:solidFill>
          <a:ln/>
        </p:spPr>
      </p:sp>
      <p:sp>
        <p:nvSpPr>
          <p:cNvPr id="19" name="Text 16"/>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0" name="Text 17"/>
          <p:cNvSpPr txBox="1"/>
          <p:nvPr/>
        </p:nvSpPr>
        <p:spPr>
          <a:xfrm>
            <a:off x="8759952"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10</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&lt;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21" name="Shape 18"/>
          <p:cNvSpPr/>
          <p:nvPr/>
        </p:nvSpPr>
        <p:spPr>
          <a:xfrm>
            <a:off x="10442448" y="1943100"/>
            <a:ext cx="1005840" cy="548640"/>
          </a:xfrm>
          <a:prstGeom prst="roundRect">
            <a:avLst>
              <a:gd name="adj" fmla="val 13333"/>
            </a:avLst>
          </a:prstGeom>
          <a:solidFill>
            <a:srgbClr val="1E1E24"/>
          </a:solidFill>
          <a:ln w="19050">
            <a:solidFill>
              <a:srgbClr val="A9A9B4"/>
            </a:solidFill>
            <a:prstDash val="solid"/>
          </a:ln>
        </p:spPr>
      </p:sp>
      <p:sp>
        <p:nvSpPr>
          <p:cNvPr id="22" name="Text 19"/>
          <p:cNvSpPr txBox="1"/>
          <p:nvPr/>
        </p:nvSpPr>
        <p:spPr>
          <a:xfrm>
            <a:off x="10442448" y="194310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23" name="Shape 20"/>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24" name="Shape 21"/>
          <p:cNvSpPr/>
          <p:nvPr/>
        </p:nvSpPr>
        <p:spPr>
          <a:xfrm>
            <a:off x="713232" y="3273552"/>
            <a:ext cx="384048" cy="384048"/>
          </a:xfrm>
          <a:prstGeom prst="ellipse">
            <a:avLst/>
          </a:prstGeom>
          <a:solidFill>
            <a:srgbClr val="D8A73D"/>
          </a:solidFill>
          <a:ln/>
        </p:spPr>
      </p:sp>
      <p:sp>
        <p:nvSpPr>
          <p:cNvPr id="25" name="Text 22"/>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26" name="Text 23"/>
          <p:cNvSpPr txBox="1"/>
          <p:nvPr/>
        </p:nvSpPr>
        <p:spPr>
          <a:xfrm>
            <a:off x="1188720"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7</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27" name="Shape 24"/>
          <p:cNvSpPr/>
          <p:nvPr/>
        </p:nvSpPr>
        <p:spPr>
          <a:xfrm>
            <a:off x="2871216" y="3497580"/>
            <a:ext cx="1005840" cy="548640"/>
          </a:xfrm>
          <a:prstGeom prst="roundRect">
            <a:avLst>
              <a:gd name="adj" fmla="val 13333"/>
            </a:avLst>
          </a:prstGeom>
          <a:solidFill>
            <a:srgbClr val="7FD99A"/>
          </a:solidFill>
          <a:ln/>
        </p:spPr>
      </p:sp>
      <p:sp>
        <p:nvSpPr>
          <p:cNvPr id="28" name="Text 25"/>
          <p:cNvSpPr txBox="1"/>
          <p:nvPr/>
        </p:nvSpPr>
        <p:spPr>
          <a:xfrm>
            <a:off x="2871216" y="349758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29" name="Shape 26"/>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30" name="Shape 27"/>
          <p:cNvSpPr/>
          <p:nvPr/>
        </p:nvSpPr>
        <p:spPr>
          <a:xfrm>
            <a:off x="4498848" y="3273552"/>
            <a:ext cx="384048" cy="384048"/>
          </a:xfrm>
          <a:prstGeom prst="ellipse">
            <a:avLst/>
          </a:prstGeom>
          <a:solidFill>
            <a:srgbClr val="D8A73D"/>
          </a:solidFill>
          <a:ln/>
        </p:spPr>
      </p:sp>
      <p:sp>
        <p:nvSpPr>
          <p:cNvPr id="31" name="Text 28"/>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32" name="Text 29"/>
          <p:cNvSpPr txBox="1"/>
          <p:nvPr/>
        </p:nvSpPr>
        <p:spPr>
          <a:xfrm>
            <a:off x="4974336"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5</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33" name="Shape 30"/>
          <p:cNvSpPr/>
          <p:nvPr/>
        </p:nvSpPr>
        <p:spPr>
          <a:xfrm>
            <a:off x="6656832" y="3497580"/>
            <a:ext cx="1005840" cy="548640"/>
          </a:xfrm>
          <a:prstGeom prst="roundRect">
            <a:avLst>
              <a:gd name="adj" fmla="val 13333"/>
            </a:avLst>
          </a:prstGeom>
          <a:solidFill>
            <a:srgbClr val="1E1E24"/>
          </a:solidFill>
          <a:ln w="19050">
            <a:solidFill>
              <a:srgbClr val="A9A9B4"/>
            </a:solidFill>
            <a:prstDash val="solid"/>
          </a:ln>
        </p:spPr>
      </p:sp>
      <p:sp>
        <p:nvSpPr>
          <p:cNvPr id="34" name="Text 31"/>
          <p:cNvSpPr txBox="1"/>
          <p:nvPr/>
        </p:nvSpPr>
        <p:spPr>
          <a:xfrm>
            <a:off x="6656832" y="349758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35" name="Shape 32"/>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36" name="Shape 33"/>
          <p:cNvSpPr/>
          <p:nvPr/>
        </p:nvSpPr>
        <p:spPr>
          <a:xfrm>
            <a:off x="8284464" y="3273552"/>
            <a:ext cx="384048" cy="384048"/>
          </a:xfrm>
          <a:prstGeom prst="ellipse">
            <a:avLst/>
          </a:prstGeom>
          <a:solidFill>
            <a:srgbClr val="D8A73D"/>
          </a:solidFill>
          <a:ln/>
        </p:spPr>
      </p:sp>
      <p:sp>
        <p:nvSpPr>
          <p:cNvPr id="37" name="Text 34"/>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38" name="Text 35"/>
          <p:cNvSpPr txBox="1"/>
          <p:nvPr/>
        </p:nvSpPr>
        <p:spPr>
          <a:xfrm>
            <a:off x="8759952"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9</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&lt;=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39" name="Shape 36"/>
          <p:cNvSpPr/>
          <p:nvPr/>
        </p:nvSpPr>
        <p:spPr>
          <a:xfrm>
            <a:off x="10442448" y="3497580"/>
            <a:ext cx="1005840" cy="548640"/>
          </a:xfrm>
          <a:prstGeom prst="roundRect">
            <a:avLst>
              <a:gd name="adj" fmla="val 13333"/>
            </a:avLst>
          </a:prstGeom>
          <a:solidFill>
            <a:srgbClr val="1E1E24"/>
          </a:solidFill>
          <a:ln w="19050">
            <a:solidFill>
              <a:srgbClr val="A9A9B4"/>
            </a:solidFill>
            <a:prstDash val="solid"/>
          </a:ln>
        </p:spPr>
      </p:sp>
      <p:sp>
        <p:nvSpPr>
          <p:cNvPr id="40" name="Text 37"/>
          <p:cNvSpPr txBox="1"/>
          <p:nvPr/>
        </p:nvSpPr>
        <p:spPr>
          <a:xfrm>
            <a:off x="10442448" y="349758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41" name="Shape 38"/>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42" name="Text 39"/>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Watch out: </a:t>
            </a:r>
            <a:pPr indent="0" marL="0">
              <a:buNone/>
            </a:pPr>
            <a:r>
              <a:rPr lang="en-US" sz="2400" b="1" dirty="0">
                <a:solidFill>
                  <a:srgbClr val="F5F5F3"/>
                </a:solidFill>
                <a:latin typeface="Consolas" pitchFamily="34" charset="0"/>
                <a:ea typeface="Consolas" pitchFamily="34" charset="-122"/>
                <a:cs typeface="Consolas" pitchFamily="34" charset="-120"/>
              </a:rPr>
              <a:t>5 &gt; 5</a:t>
            </a:r>
            <a:pPr indent="0" marL="0">
              <a:buNone/>
            </a:pPr>
            <a:r>
              <a:rPr lang="en-US" sz="2400" dirty="0">
                <a:solidFill>
                  <a:srgbClr val="F5F5F3"/>
                </a:solidFill>
                <a:latin typeface="Calibri" pitchFamily="34" charset="0"/>
                <a:ea typeface="Calibri" pitchFamily="34" charset="-122"/>
                <a:cs typeface="Calibri" pitchFamily="34" charset="-120"/>
              </a:rPr>
              <a:t> is False, but </a:t>
            </a:r>
            <a:pPr indent="0" marL="0">
              <a:buNone/>
            </a:pPr>
            <a:r>
              <a:rPr lang="en-US" sz="2400" b="1" dirty="0">
                <a:solidFill>
                  <a:srgbClr val="F5F5F3"/>
                </a:solidFill>
                <a:latin typeface="Consolas" pitchFamily="34" charset="0"/>
                <a:ea typeface="Consolas" pitchFamily="34" charset="-122"/>
                <a:cs typeface="Consolas" pitchFamily="34" charset="-120"/>
              </a:rPr>
              <a:t>4 &gt;= 4</a:t>
            </a:r>
            <a:pPr indent="0" marL="0">
              <a:buNone/>
            </a:pPr>
            <a:r>
              <a:rPr lang="en-US" sz="2400" dirty="0">
                <a:solidFill>
                  <a:srgbClr val="F5F5F3"/>
                </a:solidFill>
                <a:latin typeface="Calibri" pitchFamily="34" charset="0"/>
                <a:ea typeface="Calibri" pitchFamily="34" charset="-122"/>
                <a:cs typeface="Calibri" pitchFamily="34" charset="-120"/>
              </a:rPr>
              <a:t> is True. The = in &gt;= lets it be equal.</a:t>
            </a:r>
            <a:endParaRPr lang="en-US" sz="2400" dirty="0"/>
          </a:p>
        </p:txBody>
      </p:sp>
      <p:pic>
        <p:nvPicPr>
          <p:cNvPr id="43"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4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if and else</a:t>
            </a:r>
            <a:endParaRPr lang="en-US" sz="3600" dirty="0"/>
          </a:p>
        </p:txBody>
      </p:sp>
      <p:sp>
        <p:nvSpPr>
          <p:cNvPr id="5" name="code"/>
          <p:cNvSpPr/>
          <p:nvPr/>
        </p:nvSpPr>
        <p:spPr>
          <a:xfrm>
            <a:off x="548640" y="1554480"/>
            <a:ext cx="5257800" cy="3511296"/>
          </a:xfrm>
          <a:prstGeom prst="roundRect">
            <a:avLst>
              <a:gd name="adj" fmla="val 2083"/>
            </a:avLst>
          </a:prstGeom>
          <a:solidFill>
            <a:srgbClr val="111115"/>
          </a:solidFill>
          <a:ln w="15875">
            <a:solidFill>
              <a:srgbClr val="3A3A44"/>
            </a:solidFill>
            <a:prstDash val="solid"/>
          </a:ln>
        </p:spPr>
      </p:sp>
      <p:sp>
        <p:nvSpPr>
          <p:cNvPr id="6" name="runs if True"/>
          <p:cNvSpPr/>
          <p:nvPr/>
        </p:nvSpPr>
        <p:spPr>
          <a:xfrm>
            <a:off x="603504" y="2569464"/>
            <a:ext cx="11036808" cy="704088"/>
          </a:xfrm>
          <a:prstGeom prst="rect">
            <a:avLst/>
          </a:prstGeom>
          <a:solidFill>
            <a:srgbClr val="1C3A27"/>
          </a:solidFill>
          <a:ln/>
        </p:spPr>
      </p:sp>
      <p:sp>
        <p:nvSpPr>
          <p:cNvPr id="7" name="runs if False"/>
          <p:cNvSpPr/>
          <p:nvPr/>
        </p:nvSpPr>
        <p:spPr>
          <a:xfrm>
            <a:off x="603504" y="4123944"/>
            <a:ext cx="11036808" cy="704088"/>
          </a:xfrm>
          <a:prstGeom prst="rect">
            <a:avLst/>
          </a:prstGeom>
          <a:solidFill>
            <a:srgbClr val="3D3014"/>
          </a:solidFill>
          <a:ln/>
        </p:spPr>
      </p:sp>
      <p:sp>
        <p:nvSpPr>
          <p:cNvPr id="8" name="Text 5"/>
          <p:cNvSpPr txBox="1"/>
          <p:nvPr/>
        </p:nvSpPr>
        <p:spPr>
          <a:xfrm>
            <a:off x="658368" y="175564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1</a:t>
            </a:r>
            <a:endParaRPr lang="en-US" sz="2400" dirty="0"/>
          </a:p>
        </p:txBody>
      </p:sp>
      <p:sp>
        <p:nvSpPr>
          <p:cNvPr id="9" name="Text 6"/>
          <p:cNvSpPr txBox="1"/>
          <p:nvPr/>
        </p:nvSpPr>
        <p:spPr>
          <a:xfrm>
            <a:off x="1188720" y="1755648"/>
            <a:ext cx="4526280" cy="777240"/>
          </a:xfrm>
          <a:prstGeom prst="rect">
            <a:avLst/>
          </a:prstGeom>
          <a:noFill/>
          <a:ln/>
        </p:spPr>
        <p:txBody>
          <a:bodyPr wrap="square" lIns="0" tIns="0" rIns="0" bIns="0" rtlCol="0" anchor="ctr"/>
          <a:lstStyle/>
          <a:p>
            <a:pPr indent="0" marL="0">
              <a:buNone/>
            </a:pPr>
            <a:r>
              <a:rPr lang="en-US" sz="2800" b="1" dirty="0">
                <a:solidFill>
                  <a:srgbClr val="F5F5F3"/>
                </a:solidFill>
                <a:latin typeface="Consolas" pitchFamily="34" charset="0"/>
                <a:ea typeface="Consolas" pitchFamily="34" charset="-122"/>
                <a:cs typeface="Consolas" pitchFamily="34" charset="-120"/>
              </a:rPr>
              <a:t>if</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85</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b="1" dirty="0">
                <a:solidFill>
                  <a:srgbClr val="F5F5F3"/>
                </a:solidFill>
                <a:latin typeface="Consolas" pitchFamily="34" charset="0"/>
                <a:ea typeface="Consolas" pitchFamily="34" charset="-122"/>
                <a:cs typeface="Consolas" pitchFamily="34" charset="-120"/>
              </a:rPr>
              <a:t>&gt;=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50</a:t>
            </a:r>
            <a:pPr indent="0" marL="0">
              <a:buNone/>
            </a:pPr>
            <a:r>
              <a:rPr lang="en-US" sz="2800" b="1" dirty="0">
                <a:solidFill>
                  <a:srgbClr val="D8A73D"/>
                </a:solidFill>
                <a:latin typeface="Consolas" pitchFamily="34" charset="0"/>
                <a:ea typeface="Consolas" pitchFamily="34" charset="-122"/>
                <a:cs typeface="Consolas" pitchFamily="34" charset="-120"/>
              </a:rPr>
              <a:t>:</a:t>
            </a:r>
            <a:endParaRPr lang="en-US" sz="2800" dirty="0"/>
          </a:p>
        </p:txBody>
      </p:sp>
      <p:sp>
        <p:nvSpPr>
          <p:cNvPr id="10" name="Text 7"/>
          <p:cNvSpPr txBox="1"/>
          <p:nvPr/>
        </p:nvSpPr>
        <p:spPr>
          <a:xfrm>
            <a:off x="658368" y="253288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2</a:t>
            </a:r>
            <a:endParaRPr lang="en-US" sz="2400" dirty="0"/>
          </a:p>
        </p:txBody>
      </p:sp>
      <p:sp>
        <p:nvSpPr>
          <p:cNvPr id="11" name="Text 8"/>
          <p:cNvSpPr txBox="1"/>
          <p:nvPr/>
        </p:nvSpPr>
        <p:spPr>
          <a:xfrm>
            <a:off x="1188720" y="2532888"/>
            <a:ext cx="4526280" cy="777240"/>
          </a:xfrm>
          <a:prstGeom prst="rect">
            <a:avLst/>
          </a:prstGeom>
          <a:noFill/>
          <a:ln/>
        </p:spPr>
        <p:txBody>
          <a:bodyPr wrap="square" lIns="0" tIns="0" rIns="0" bIns="0" rtlCol="0" anchor="ctr"/>
          <a:lstStyle/>
          <a:p>
            <a:pPr indent="0" marL="0">
              <a:buNone/>
            </a:pPr>
            <a:r>
              <a:rPr lang="en-US" sz="2800" dirty="0">
                <a:solidFill>
                  <a:srgbClr val="6E6E7A"/>
                </a:solidFill>
                <a:latin typeface="Consolas" pitchFamily="34" charset="0"/>
                <a:ea typeface="Consolas" pitchFamily="34" charset="-122"/>
                <a:cs typeface="Consolas" pitchFamily="34" charset="-120"/>
              </a:rPr>
              <a:t>····</a:t>
            </a:r>
            <a:pPr indent="0" marL="0">
              <a:buNone/>
            </a:pPr>
            <a:r>
              <a:rPr lang="en-US" sz="2800" dirty="0">
                <a:solidFill>
                  <a:srgbClr val="E8C878"/>
                </a:solidFill>
                <a:latin typeface="Consolas" pitchFamily="34" charset="0"/>
                <a:ea typeface="Consolas" pitchFamily="34" charset="-122"/>
                <a:cs typeface="Consolas" pitchFamily="34" charset="-120"/>
              </a:rPr>
              <a:t>print</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E69F00"/>
                </a:solidFill>
                <a:latin typeface="Consolas" pitchFamily="34" charset="0"/>
                <a:ea typeface="Consolas" pitchFamily="34" charset="-122"/>
                <a:cs typeface="Consolas" pitchFamily="34" charset="-120"/>
              </a:rPr>
              <a:t>"All clear"</a:t>
            </a:r>
            <a:pPr indent="0" marL="0">
              <a:buNone/>
            </a:pPr>
            <a:r>
              <a:rPr lang="en-US" sz="2800" dirty="0">
                <a:solidFill>
                  <a:srgbClr val="A9A9B4"/>
                </a:solidFill>
                <a:latin typeface="Consolas" pitchFamily="34" charset="0"/>
                <a:ea typeface="Consolas" pitchFamily="34" charset="-122"/>
                <a:cs typeface="Consolas" pitchFamily="34" charset="-120"/>
              </a:rPr>
              <a:t>)</a:t>
            </a:r>
            <a:endParaRPr lang="en-US" sz="2800" dirty="0"/>
          </a:p>
        </p:txBody>
      </p:sp>
      <p:sp>
        <p:nvSpPr>
          <p:cNvPr id="12" name="Text 9"/>
          <p:cNvSpPr txBox="1"/>
          <p:nvPr/>
        </p:nvSpPr>
        <p:spPr>
          <a:xfrm>
            <a:off x="658368" y="331012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3</a:t>
            </a:r>
            <a:endParaRPr lang="en-US" sz="2400" dirty="0"/>
          </a:p>
        </p:txBody>
      </p:sp>
      <p:sp>
        <p:nvSpPr>
          <p:cNvPr id="13" name="Text 10"/>
          <p:cNvSpPr txBox="1"/>
          <p:nvPr/>
        </p:nvSpPr>
        <p:spPr>
          <a:xfrm>
            <a:off x="1188720" y="3310128"/>
            <a:ext cx="4526280" cy="777240"/>
          </a:xfrm>
          <a:prstGeom prst="rect">
            <a:avLst/>
          </a:prstGeom>
          <a:noFill/>
          <a:ln/>
        </p:spPr>
        <p:txBody>
          <a:bodyPr wrap="square" lIns="0" tIns="0" rIns="0" bIns="0" rtlCol="0" anchor="ctr"/>
          <a:lstStyle/>
          <a:p>
            <a:pPr indent="0" marL="0">
              <a:buNone/>
            </a:pPr>
            <a:r>
              <a:rPr lang="en-US" sz="2800" b="1" dirty="0">
                <a:solidFill>
                  <a:srgbClr val="F5F5F3"/>
                </a:solidFill>
                <a:latin typeface="Consolas" pitchFamily="34" charset="0"/>
                <a:ea typeface="Consolas" pitchFamily="34" charset="-122"/>
                <a:cs typeface="Consolas" pitchFamily="34" charset="-120"/>
              </a:rPr>
              <a:t>else</a:t>
            </a:r>
            <a:pPr indent="0" marL="0">
              <a:buNone/>
            </a:pPr>
            <a:r>
              <a:rPr lang="en-US" sz="2800" b="1" dirty="0">
                <a:solidFill>
                  <a:srgbClr val="D8A73D"/>
                </a:solidFill>
                <a:latin typeface="Consolas" pitchFamily="34" charset="0"/>
                <a:ea typeface="Consolas" pitchFamily="34" charset="-122"/>
                <a:cs typeface="Consolas" pitchFamily="34" charset="-120"/>
              </a:rPr>
              <a:t>:</a:t>
            </a:r>
            <a:endParaRPr lang="en-US" sz="2800" dirty="0"/>
          </a:p>
        </p:txBody>
      </p:sp>
      <p:sp>
        <p:nvSpPr>
          <p:cNvPr id="14" name="Text 11"/>
          <p:cNvSpPr txBox="1"/>
          <p:nvPr/>
        </p:nvSpPr>
        <p:spPr>
          <a:xfrm>
            <a:off x="658368" y="408736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4</a:t>
            </a:r>
            <a:endParaRPr lang="en-US" sz="2400" dirty="0"/>
          </a:p>
        </p:txBody>
      </p:sp>
      <p:sp>
        <p:nvSpPr>
          <p:cNvPr id="15" name="Text 12"/>
          <p:cNvSpPr txBox="1"/>
          <p:nvPr/>
        </p:nvSpPr>
        <p:spPr>
          <a:xfrm>
            <a:off x="1188720" y="4087368"/>
            <a:ext cx="4526280" cy="777240"/>
          </a:xfrm>
          <a:prstGeom prst="rect">
            <a:avLst/>
          </a:prstGeom>
          <a:noFill/>
          <a:ln/>
        </p:spPr>
        <p:txBody>
          <a:bodyPr wrap="square" lIns="0" tIns="0" rIns="0" bIns="0" rtlCol="0" anchor="ctr"/>
          <a:lstStyle/>
          <a:p>
            <a:pPr indent="0" marL="0">
              <a:buNone/>
            </a:pPr>
            <a:r>
              <a:rPr lang="en-US" sz="2800" dirty="0">
                <a:solidFill>
                  <a:srgbClr val="6E6E7A"/>
                </a:solidFill>
                <a:latin typeface="Consolas" pitchFamily="34" charset="0"/>
                <a:ea typeface="Consolas" pitchFamily="34" charset="-122"/>
                <a:cs typeface="Consolas" pitchFamily="34" charset="-120"/>
              </a:rPr>
              <a:t>····</a:t>
            </a:r>
            <a:pPr indent="0" marL="0">
              <a:buNone/>
            </a:pPr>
            <a:r>
              <a:rPr lang="en-US" sz="2800" dirty="0">
                <a:solidFill>
                  <a:srgbClr val="E8C878"/>
                </a:solidFill>
                <a:latin typeface="Consolas" pitchFamily="34" charset="0"/>
                <a:ea typeface="Consolas" pitchFamily="34" charset="-122"/>
                <a:cs typeface="Consolas" pitchFamily="34" charset="-120"/>
              </a:rPr>
              <a:t>print</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E69F00"/>
                </a:solidFill>
                <a:latin typeface="Consolas" pitchFamily="34" charset="0"/>
                <a:ea typeface="Consolas" pitchFamily="34" charset="-122"/>
                <a:cs typeface="Consolas" pitchFamily="34" charset="-120"/>
              </a:rPr>
              <a:t>"Too close"</a:t>
            </a:r>
            <a:pPr indent="0" marL="0">
              <a:buNone/>
            </a:pPr>
            <a:r>
              <a:rPr lang="en-US" sz="2800" dirty="0">
                <a:solidFill>
                  <a:srgbClr val="A9A9B4"/>
                </a:solidFill>
                <a:latin typeface="Consolas" pitchFamily="34" charset="0"/>
                <a:ea typeface="Consolas" pitchFamily="34" charset="-122"/>
                <a:cs typeface="Consolas" pitchFamily="34" charset="-120"/>
              </a:rPr>
              <a:t>)</a:t>
            </a:r>
            <a:endParaRPr lang="en-US" sz="2800" dirty="0"/>
          </a:p>
        </p:txBody>
      </p:sp>
      <p:sp>
        <p:nvSpPr>
          <p:cNvPr id="16" name="click1"/>
          <p:cNvSpPr/>
          <p:nvPr/>
        </p:nvSpPr>
        <p:spPr>
          <a:xfrm>
            <a:off x="5897880" y="2144268"/>
            <a:ext cx="365760" cy="0"/>
          </a:xfrm>
          <a:prstGeom prst="line">
            <a:avLst/>
          </a:prstGeom>
          <a:noFill/>
          <a:ln w="28575">
            <a:solidFill>
              <a:srgbClr val="6E6E7A"/>
            </a:solidFill>
            <a:prstDash val="solid"/>
            <a:tailEnd type="triangle"/>
          </a:ln>
        </p:spPr>
      </p:sp>
      <p:sp>
        <p:nvSpPr>
          <p:cNvPr id="17" name="click1"/>
          <p:cNvSpPr txBox="1"/>
          <p:nvPr/>
        </p:nvSpPr>
        <p:spPr>
          <a:xfrm>
            <a:off x="6355080" y="1778508"/>
            <a:ext cx="5285232" cy="7315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alibri" pitchFamily="34" charset="0"/>
                <a:ea typeface="Calibri" pitchFamily="34" charset="-122"/>
                <a:cs typeface="Calibri" pitchFamily="34" charset="-120"/>
              </a:rPr>
              <a:t> + a condition + a colon </a:t>
            </a:r>
            <a:pPr indent="0" marL="0">
              <a:buNone/>
            </a:pPr>
            <a:r>
              <a:rPr lang="en-US" sz="2200" b="1" dirty="0">
                <a:solidFill>
                  <a:srgbClr val="D8A73D"/>
                </a:solidFill>
                <a:latin typeface="Consolas" pitchFamily="34" charset="0"/>
                <a:ea typeface="Consolas" pitchFamily="34" charset="-122"/>
                <a:cs typeface="Consolas" pitchFamily="34" charset="-120"/>
              </a:rPr>
              <a:t>:</a:t>
            </a:r>
            <a:endParaRPr lang="en-US" sz="2200" dirty="0"/>
          </a:p>
        </p:txBody>
      </p:sp>
      <p:sp>
        <p:nvSpPr>
          <p:cNvPr id="18" name="click2"/>
          <p:cNvSpPr/>
          <p:nvPr/>
        </p:nvSpPr>
        <p:spPr>
          <a:xfrm>
            <a:off x="5897880" y="2921508"/>
            <a:ext cx="365760" cy="0"/>
          </a:xfrm>
          <a:prstGeom prst="line">
            <a:avLst/>
          </a:prstGeom>
          <a:noFill/>
          <a:ln w="28575">
            <a:solidFill>
              <a:srgbClr val="A9A9B4"/>
            </a:solidFill>
            <a:prstDash val="solid"/>
            <a:tailEnd type="triangle"/>
          </a:ln>
        </p:spPr>
      </p:sp>
      <p:sp>
        <p:nvSpPr>
          <p:cNvPr id="19" name="click2"/>
          <p:cNvSpPr txBox="1"/>
          <p:nvPr/>
        </p:nvSpPr>
        <p:spPr>
          <a:xfrm>
            <a:off x="6355080" y="2555748"/>
            <a:ext cx="5285232" cy="73152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4 spaces </a:t>
            </a:r>
            <a:pPr indent="0" marL="0">
              <a:buNone/>
            </a:pPr>
            <a:r>
              <a:rPr lang="en-US" sz="2200" b="1"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alibri" pitchFamily="34" charset="0"/>
                <a:ea typeface="Calibri" pitchFamily="34" charset="-122"/>
                <a:cs typeface="Calibri" pitchFamily="34" charset="-120"/>
              </a:rPr>
              <a:t> in front: </a:t>
            </a:r>
            <a:pPr indent="0" marL="0">
              <a:buNone/>
            </a:pPr>
            <a:r>
              <a:rPr lang="en-US" sz="2200" b="1" dirty="0">
                <a:solidFill>
                  <a:srgbClr val="7FD99A"/>
                </a:solidFill>
                <a:latin typeface="Calibri" pitchFamily="34" charset="0"/>
                <a:ea typeface="Calibri" pitchFamily="34" charset="-122"/>
                <a:cs typeface="Calibri" pitchFamily="34" charset="-120"/>
              </a:rPr>
              <a:t>runs only if True</a:t>
            </a:r>
            <a:endParaRPr lang="en-US" sz="2200" dirty="0"/>
          </a:p>
        </p:txBody>
      </p:sp>
      <p:sp>
        <p:nvSpPr>
          <p:cNvPr id="20" name="click3"/>
          <p:cNvSpPr/>
          <p:nvPr/>
        </p:nvSpPr>
        <p:spPr>
          <a:xfrm>
            <a:off x="5897880" y="3698748"/>
            <a:ext cx="365760" cy="0"/>
          </a:xfrm>
          <a:prstGeom prst="line">
            <a:avLst/>
          </a:prstGeom>
          <a:noFill/>
          <a:ln w="28575">
            <a:solidFill>
              <a:srgbClr val="6E6E7A"/>
            </a:solidFill>
            <a:prstDash val="solid"/>
            <a:tailEnd type="triangle"/>
          </a:ln>
        </p:spPr>
      </p:sp>
      <p:sp>
        <p:nvSpPr>
          <p:cNvPr id="21" name="click3"/>
          <p:cNvSpPr txBox="1"/>
          <p:nvPr/>
        </p:nvSpPr>
        <p:spPr>
          <a:xfrm>
            <a:off x="6355080" y="3332988"/>
            <a:ext cx="5285232" cy="7315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F5F5F3"/>
                </a:solidFill>
                <a:latin typeface="Calibri" pitchFamily="34" charset="0"/>
                <a:ea typeface="Calibri" pitchFamily="34" charset="-122"/>
                <a:cs typeface="Calibri" pitchFamily="34" charset="-120"/>
              </a:rPr>
              <a:t> has </a:t>
            </a:r>
            <a:pPr indent="0" marL="0">
              <a:buNone/>
            </a:pPr>
            <a:r>
              <a:rPr lang="en-US" sz="2200" b="1" dirty="0">
                <a:solidFill>
                  <a:srgbClr val="F5F5F3"/>
                </a:solidFill>
                <a:latin typeface="Calibri" pitchFamily="34" charset="0"/>
                <a:ea typeface="Calibri" pitchFamily="34" charset="-122"/>
                <a:cs typeface="Calibri" pitchFamily="34" charset="-120"/>
              </a:rPr>
              <a:t>no condition</a:t>
            </a:r>
            <a:pPr indent="0" marL="0">
              <a:buNone/>
            </a:pPr>
            <a:r>
              <a:rPr lang="en-US" sz="2200" dirty="0">
                <a:solidFill>
                  <a:srgbClr val="F5F5F3"/>
                </a:solidFill>
                <a:latin typeface="Calibri" pitchFamily="34" charset="0"/>
                <a:ea typeface="Calibri" pitchFamily="34" charset="-122"/>
                <a:cs typeface="Calibri" pitchFamily="34" charset="-120"/>
              </a:rPr>
              <a:t>, just a colon </a:t>
            </a:r>
            <a:pPr indent="0" marL="0">
              <a:buNone/>
            </a:pPr>
            <a:r>
              <a:rPr lang="en-US" sz="2200" b="1" dirty="0">
                <a:solidFill>
                  <a:srgbClr val="D8A73D"/>
                </a:solidFill>
                <a:latin typeface="Consolas" pitchFamily="34" charset="0"/>
                <a:ea typeface="Consolas" pitchFamily="34" charset="-122"/>
                <a:cs typeface="Consolas" pitchFamily="34" charset="-120"/>
              </a:rPr>
              <a:t>:</a:t>
            </a:r>
            <a:endParaRPr lang="en-US" sz="2200" dirty="0"/>
          </a:p>
        </p:txBody>
      </p:sp>
      <p:sp>
        <p:nvSpPr>
          <p:cNvPr id="22" name="click4"/>
          <p:cNvSpPr/>
          <p:nvPr/>
        </p:nvSpPr>
        <p:spPr>
          <a:xfrm>
            <a:off x="5897880" y="4475988"/>
            <a:ext cx="365760" cy="0"/>
          </a:xfrm>
          <a:prstGeom prst="line">
            <a:avLst/>
          </a:prstGeom>
          <a:noFill/>
          <a:ln w="28575">
            <a:solidFill>
              <a:srgbClr val="A9A9B4"/>
            </a:solidFill>
            <a:prstDash val="solid"/>
            <a:tailEnd type="triangle"/>
          </a:ln>
        </p:spPr>
      </p:sp>
      <p:sp>
        <p:nvSpPr>
          <p:cNvPr id="23" name="click4"/>
          <p:cNvSpPr txBox="1"/>
          <p:nvPr/>
        </p:nvSpPr>
        <p:spPr>
          <a:xfrm>
            <a:off x="6355080" y="4110228"/>
            <a:ext cx="5285232" cy="73152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4 spaces </a:t>
            </a:r>
            <a:pPr indent="0" marL="0">
              <a:buNone/>
            </a:pPr>
            <a:r>
              <a:rPr lang="en-US" sz="2200" b="1"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alibri" pitchFamily="34" charset="0"/>
                <a:ea typeface="Calibri" pitchFamily="34" charset="-122"/>
                <a:cs typeface="Calibri" pitchFamily="34" charset="-120"/>
              </a:rPr>
              <a:t> in front: </a:t>
            </a:r>
            <a:pPr indent="0" marL="0">
              <a:buNone/>
            </a:pPr>
            <a:r>
              <a:rPr lang="en-US" sz="2200" b="1" dirty="0">
                <a:solidFill>
                  <a:srgbClr val="D8A73D"/>
                </a:solidFill>
                <a:latin typeface="Calibri" pitchFamily="34" charset="0"/>
                <a:ea typeface="Calibri" pitchFamily="34" charset="-122"/>
                <a:cs typeface="Calibri" pitchFamily="34" charset="-120"/>
              </a:rPr>
              <a:t>runs only if False</a:t>
            </a:r>
            <a:endParaRPr lang="en-US" sz="2200" dirty="0"/>
          </a:p>
        </p:txBody>
      </p:sp>
      <p:sp>
        <p:nvSpPr>
          <p:cNvPr id="24" name="click5"/>
          <p:cNvSpPr/>
          <p:nvPr/>
        </p:nvSpPr>
        <p:spPr>
          <a:xfrm>
            <a:off x="548640" y="5166360"/>
            <a:ext cx="11091672" cy="822960"/>
          </a:xfrm>
          <a:prstGeom prst="roundRect">
            <a:avLst>
              <a:gd name="adj" fmla="val 8889"/>
            </a:avLst>
          </a:prstGeom>
          <a:solidFill>
            <a:srgbClr val="1E1E24"/>
          </a:solidFill>
          <a:ln w="25400">
            <a:solidFill>
              <a:srgbClr val="D8A73D"/>
            </a:solidFill>
            <a:prstDash val="solid"/>
          </a:ln>
        </p:spPr>
      </p:sp>
      <p:sp>
        <p:nvSpPr>
          <p:cNvPr id="25" name="click5"/>
          <p:cNvSpPr txBox="1"/>
          <p:nvPr/>
        </p:nvSpPr>
        <p:spPr>
          <a:xfrm>
            <a:off x="914400" y="5166360"/>
            <a:ext cx="10332720" cy="82296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Exactly one block runs: </a:t>
            </a:r>
            <a:pPr indent="0" marL="0">
              <a:buNone/>
            </a:pPr>
            <a:r>
              <a:rPr lang="en-US" sz="2400" dirty="0">
                <a:solidFill>
                  <a:srgbClr val="F5F5F3"/>
                </a:solidFill>
                <a:latin typeface="Calibri" pitchFamily="34" charset="0"/>
                <a:ea typeface="Calibri" pitchFamily="34" charset="-122"/>
                <a:cs typeface="Calibri" pitchFamily="34" charset="-120"/>
              </a:rPr>
              <a:t>never both, never neither.</a:t>
            </a:r>
            <a:endParaRPr lang="en-US" sz="2400" dirty="0"/>
          </a:p>
        </p:txBody>
      </p:sp>
      <p:pic>
        <p:nvPicPr>
          <p:cNvPr id="26"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1" grpId="0" animBg="1"/>
      <p:bldP spid="23" grpId="0" animBg="1"/>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5" name="Text 2"/>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Proximity</a:t>
            </a:r>
            <a:endParaRPr lang="en-US" sz="4800" dirty="0"/>
          </a:p>
        </p:txBody>
      </p:sp>
      <p:sp>
        <p:nvSpPr>
          <p:cNvPr id="6"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7" name="Text 4"/>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SENSOR OPS</a:t>
            </a:r>
            <a:endParaRPr lang="en-US" sz="1200" dirty="0"/>
          </a:p>
        </p:txBody>
      </p:sp>
      <p:sp>
        <p:nvSpPr>
          <p:cNvPr id="8" name="Text 5"/>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Hale’s tag is walking the station: not human.</a:t>
            </a:r>
            <a:endParaRPr lang="en-US" sz="2600" dirty="0"/>
          </a:p>
        </p:txBody>
      </p:sp>
      <p:sp>
        <p:nvSpPr>
          <p:cNvPr id="9" name="Text 6"/>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10" name="Text 7"/>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It was heading for Sensor Ops. So are you.</a:t>
            </a:r>
            <a:endParaRPr lang="en-US" sz="2600" dirty="0"/>
          </a:p>
        </p:txBody>
      </p:sp>
      <p:sp>
        <p:nvSpPr>
          <p:cNvPr id="11" name="Text 8"/>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2" name="Text 9"/>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The proximity sensors are offline.</a:t>
            </a:r>
            <a:endParaRPr lang="en-US" sz="2600" dirty="0"/>
          </a:p>
        </p:txBody>
      </p:sp>
      <p:pic>
        <p:nvPicPr>
          <p:cNvPr id="1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328416"/>
          </a:xfrm>
          <a:prstGeom prst="roundRect">
            <a:avLst>
              <a:gd name="adj" fmla="val 2198"/>
            </a:avLst>
          </a:prstGeom>
          <a:solidFill>
            <a:srgbClr val="111115"/>
          </a:solidFill>
          <a:ln w="15875">
            <a:solidFill>
              <a:srgbClr val="3A3A44"/>
            </a:solidFill>
            <a:prstDash val="solid"/>
          </a:ln>
        </p:spPr>
      </p:sp>
      <p:sp>
        <p:nvSpPr>
          <p:cNvPr id="6" name="Text 3"/>
          <p:cNvSpPr txBox="1"/>
          <p:nvPr/>
        </p:nvSpPr>
        <p:spPr>
          <a:xfrm>
            <a:off x="658368" y="175564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5"/>
          <p:cNvSpPr txBox="1"/>
          <p:nvPr/>
        </p:nvSpPr>
        <p:spPr>
          <a:xfrm>
            <a:off x="658368" y="248716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48716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321868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321868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95020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95020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click1"/>
          <p:cNvSpPr/>
          <p:nvPr/>
        </p:nvSpPr>
        <p:spPr>
          <a:xfrm>
            <a:off x="5623560" y="1956816"/>
            <a:ext cx="329184" cy="329184"/>
          </a:xfrm>
          <a:prstGeom prst="ellipse">
            <a:avLst/>
          </a:prstGeom>
          <a:solidFill>
            <a:srgbClr val="D8A73D"/>
          </a:solidFill>
          <a:ln/>
        </p:spPr>
      </p:sp>
      <p:sp>
        <p:nvSpPr>
          <p:cNvPr id="15" name="click1"/>
          <p:cNvSpPr txBox="1"/>
          <p:nvPr/>
        </p:nvSpPr>
        <p:spPr>
          <a:xfrm>
            <a:off x="5623560" y="19568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6" name="click1"/>
          <p:cNvSpPr txBox="1"/>
          <p:nvPr/>
        </p:nvSpPr>
        <p:spPr>
          <a:xfrm>
            <a:off x="6053328" y="1755648"/>
            <a:ext cx="1417320" cy="7315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17" name="click1"/>
          <p:cNvSpPr/>
          <p:nvPr/>
        </p:nvSpPr>
        <p:spPr>
          <a:xfrm>
            <a:off x="7516368" y="2121408"/>
            <a:ext cx="365760" cy="0"/>
          </a:xfrm>
          <a:prstGeom prst="line">
            <a:avLst/>
          </a:prstGeom>
          <a:noFill/>
          <a:ln w="28575">
            <a:solidFill>
              <a:srgbClr val="A9A9B4"/>
            </a:solidFill>
            <a:prstDash val="solid"/>
            <a:tailEnd type="triangle"/>
          </a:ln>
        </p:spPr>
      </p:sp>
      <p:sp>
        <p:nvSpPr>
          <p:cNvPr id="18" name="click1"/>
          <p:cNvSpPr/>
          <p:nvPr/>
        </p:nvSpPr>
        <p:spPr>
          <a:xfrm>
            <a:off x="7973568" y="1819656"/>
            <a:ext cx="868680" cy="603504"/>
          </a:xfrm>
          <a:prstGeom prst="roundRect">
            <a:avLst>
              <a:gd name="adj" fmla="val 12121"/>
            </a:avLst>
          </a:prstGeom>
          <a:solidFill>
            <a:srgbClr val="1E1E24"/>
          </a:solidFill>
          <a:ln w="19050">
            <a:solidFill>
              <a:srgbClr val="A9A9B4"/>
            </a:solidFill>
            <a:prstDash val="solid"/>
          </a:ln>
        </p:spPr>
      </p:sp>
      <p:sp>
        <p:nvSpPr>
          <p:cNvPr id="19" name="click1"/>
          <p:cNvSpPr txBox="1"/>
          <p:nvPr/>
        </p:nvSpPr>
        <p:spPr>
          <a:xfrm>
            <a:off x="7973568" y="1819656"/>
            <a:ext cx="868680" cy="603504"/>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20" name="click2"/>
          <p:cNvSpPr/>
          <p:nvPr/>
        </p:nvSpPr>
        <p:spPr>
          <a:xfrm>
            <a:off x="5623560" y="2688336"/>
            <a:ext cx="329184" cy="329184"/>
          </a:xfrm>
          <a:prstGeom prst="ellipse">
            <a:avLst/>
          </a:prstGeom>
          <a:solidFill>
            <a:srgbClr val="D8A73D"/>
          </a:solidFill>
          <a:ln/>
        </p:spPr>
      </p:sp>
      <p:sp>
        <p:nvSpPr>
          <p:cNvPr id="21" name="click2"/>
          <p:cNvSpPr txBox="1"/>
          <p:nvPr/>
        </p:nvSpPr>
        <p:spPr>
          <a:xfrm>
            <a:off x="5623560" y="26883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2" name="click2"/>
          <p:cNvSpPr txBox="1"/>
          <p:nvPr/>
        </p:nvSpPr>
        <p:spPr>
          <a:xfrm>
            <a:off x="6053328" y="3950208"/>
            <a:ext cx="2651760" cy="7315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23" name="click2"/>
          <p:cNvSpPr txBox="1"/>
          <p:nvPr/>
        </p:nvSpPr>
        <p:spPr>
          <a:xfrm>
            <a:off x="6053328" y="2487168"/>
            <a:ext cx="2651760" cy="7315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24" name="click3"/>
          <p:cNvSpPr/>
          <p:nvPr/>
        </p:nvSpPr>
        <p:spPr>
          <a:xfrm>
            <a:off x="9098280" y="1554480"/>
            <a:ext cx="329184" cy="329184"/>
          </a:xfrm>
          <a:prstGeom prst="ellipse">
            <a:avLst/>
          </a:prstGeom>
          <a:solidFill>
            <a:srgbClr val="D8A73D"/>
          </a:solidFill>
          <a:ln/>
        </p:spPr>
      </p:sp>
      <p:sp>
        <p:nvSpPr>
          <p:cNvPr id="25" name="click3"/>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6" name="click3"/>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27" name="click3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28" name="click3"/>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29" name="Shape 26"/>
          <p:cNvSpPr/>
          <p:nvPr/>
        </p:nvSpPr>
        <p:spPr>
          <a:xfrm>
            <a:off x="548640" y="5559552"/>
            <a:ext cx="11091672" cy="566928"/>
          </a:xfrm>
          <a:prstGeom prst="roundRect">
            <a:avLst>
              <a:gd name="adj" fmla="val 12903"/>
            </a:avLst>
          </a:prstGeom>
          <a:solidFill>
            <a:srgbClr val="2A2A32"/>
          </a:solidFill>
          <a:ln/>
        </p:spPr>
      </p:sp>
      <p:sp>
        <p:nvSpPr>
          <p:cNvPr id="30" name="Shape 27"/>
          <p:cNvSpPr/>
          <p:nvPr/>
        </p:nvSpPr>
        <p:spPr>
          <a:xfrm>
            <a:off x="731520" y="5678424"/>
            <a:ext cx="329184" cy="329184"/>
          </a:xfrm>
          <a:prstGeom prst="ellipse">
            <a:avLst/>
          </a:prstGeom>
          <a:solidFill>
            <a:srgbClr val="D8A73D"/>
          </a:solidFill>
          <a:ln/>
        </p:spPr>
      </p:sp>
      <p:sp>
        <p:nvSpPr>
          <p:cNvPr id="31" name="Text 28"/>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32" name="Text 29"/>
          <p:cNvSpPr txBox="1"/>
          <p:nvPr/>
        </p:nvSpPr>
        <p:spPr>
          <a:xfrm>
            <a:off x="1170432"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33" name="Shape 30"/>
          <p:cNvSpPr/>
          <p:nvPr/>
        </p:nvSpPr>
        <p:spPr>
          <a:xfrm>
            <a:off x="4428744" y="5678424"/>
            <a:ext cx="329184" cy="329184"/>
          </a:xfrm>
          <a:prstGeom prst="ellipse">
            <a:avLst/>
          </a:prstGeom>
          <a:solidFill>
            <a:srgbClr val="D8A73D"/>
          </a:solidFill>
          <a:ln/>
        </p:spPr>
      </p:sp>
      <p:sp>
        <p:nvSpPr>
          <p:cNvPr id="34" name="Text 31"/>
          <p:cNvSpPr txBox="1"/>
          <p:nvPr/>
        </p:nvSpPr>
        <p:spPr>
          <a:xfrm>
            <a:off x="442874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5" name="Text 32"/>
          <p:cNvSpPr txBox="1"/>
          <p:nvPr/>
        </p:nvSpPr>
        <p:spPr>
          <a:xfrm>
            <a:off x="4867656"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36" name="Shape 33"/>
          <p:cNvSpPr/>
          <p:nvPr/>
        </p:nvSpPr>
        <p:spPr>
          <a:xfrm>
            <a:off x="8125968" y="5678424"/>
            <a:ext cx="329184" cy="329184"/>
          </a:xfrm>
          <a:prstGeom prst="ellipse">
            <a:avLst/>
          </a:prstGeom>
          <a:solidFill>
            <a:srgbClr val="D8A73D"/>
          </a:solidFill>
          <a:ln/>
        </p:spPr>
      </p:sp>
      <p:sp>
        <p:nvSpPr>
          <p:cNvPr id="37" name="Text 34"/>
          <p:cNvSpPr txBox="1"/>
          <p:nvPr/>
        </p:nvSpPr>
        <p:spPr>
          <a:xfrm>
            <a:off x="812596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8" name="Text 35"/>
          <p:cNvSpPr txBox="1"/>
          <p:nvPr/>
        </p:nvSpPr>
        <p:spPr>
          <a:xfrm>
            <a:off x="8564880"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39" name="Shape 36"/>
          <p:cNvSpPr/>
          <p:nvPr/>
        </p:nvSpPr>
        <p:spPr>
          <a:xfrm>
            <a:off x="9464040" y="566928"/>
            <a:ext cx="1280160" cy="329184"/>
          </a:xfrm>
          <a:prstGeom prst="roundRect">
            <a:avLst>
              <a:gd name="adj" fmla="val 50000"/>
            </a:avLst>
          </a:prstGeom>
          <a:solidFill>
            <a:srgbClr val="D8A73D"/>
          </a:solidFill>
          <a:ln/>
        </p:spPr>
      </p:sp>
      <p:sp>
        <p:nvSpPr>
          <p:cNvPr id="40" name="Text 3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41"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42"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1" grpId="0" animBg="1"/>
      <p:bldP spid="22" grpId="0" animBg="1"/>
      <p:bldP spid="23" grpId="0" animBg="1"/>
      <p:bldP spid="25" grpId="0" animBg="1"/>
      <p:bldP spid="26" grpId="0" animBg="1"/>
      <p:bldP spid="2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328416"/>
          </a:xfrm>
          <a:prstGeom prst="roundRect">
            <a:avLst>
              <a:gd name="adj" fmla="val 2198"/>
            </a:avLst>
          </a:prstGeom>
          <a:solidFill>
            <a:srgbClr val="111115"/>
          </a:solidFill>
          <a:ln w="15875">
            <a:solidFill>
              <a:srgbClr val="3A3A44"/>
            </a:solidFill>
            <a:prstDash val="solid"/>
          </a:ln>
        </p:spPr>
      </p:sp>
      <p:sp>
        <p:nvSpPr>
          <p:cNvPr id="6" name="Text 3"/>
          <p:cNvSpPr txBox="1"/>
          <p:nvPr/>
        </p:nvSpPr>
        <p:spPr>
          <a:xfrm>
            <a:off x="658368" y="175564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7</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7</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5"/>
          <p:cNvSpPr txBox="1"/>
          <p:nvPr/>
        </p:nvSpPr>
        <p:spPr>
          <a:xfrm>
            <a:off x="658368" y="248716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48716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"Door open"</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321868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321868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95020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95020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"Door locked"</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click1"/>
          <p:cNvSpPr/>
          <p:nvPr/>
        </p:nvSpPr>
        <p:spPr>
          <a:xfrm>
            <a:off x="5623560" y="1956816"/>
            <a:ext cx="329184" cy="329184"/>
          </a:xfrm>
          <a:prstGeom prst="ellipse">
            <a:avLst/>
          </a:prstGeom>
          <a:solidFill>
            <a:srgbClr val="D8A73D"/>
          </a:solidFill>
          <a:ln/>
        </p:spPr>
      </p:sp>
      <p:sp>
        <p:nvSpPr>
          <p:cNvPr id="15" name="click1"/>
          <p:cNvSpPr txBox="1"/>
          <p:nvPr/>
        </p:nvSpPr>
        <p:spPr>
          <a:xfrm>
            <a:off x="5623560" y="19568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6" name="click1"/>
          <p:cNvSpPr txBox="1"/>
          <p:nvPr/>
        </p:nvSpPr>
        <p:spPr>
          <a:xfrm>
            <a:off x="6053328" y="1755648"/>
            <a:ext cx="1417320" cy="7315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7</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a:t>
            </a:r>
            <a:endParaRPr lang="en-US" sz="2200" dirty="0"/>
          </a:p>
        </p:txBody>
      </p:sp>
      <p:sp>
        <p:nvSpPr>
          <p:cNvPr id="17" name="click1"/>
          <p:cNvSpPr/>
          <p:nvPr/>
        </p:nvSpPr>
        <p:spPr>
          <a:xfrm>
            <a:off x="7516368" y="2121408"/>
            <a:ext cx="365760" cy="0"/>
          </a:xfrm>
          <a:prstGeom prst="line">
            <a:avLst/>
          </a:prstGeom>
          <a:noFill/>
          <a:ln w="28575">
            <a:solidFill>
              <a:srgbClr val="A9A9B4"/>
            </a:solidFill>
            <a:prstDash val="solid"/>
            <a:tailEnd type="triangle"/>
          </a:ln>
        </p:spPr>
      </p:sp>
      <p:sp>
        <p:nvSpPr>
          <p:cNvPr id="18" name="click1"/>
          <p:cNvSpPr/>
          <p:nvPr/>
        </p:nvSpPr>
        <p:spPr>
          <a:xfrm>
            <a:off x="7973568" y="1819656"/>
            <a:ext cx="868680" cy="603504"/>
          </a:xfrm>
          <a:prstGeom prst="roundRect">
            <a:avLst>
              <a:gd name="adj" fmla="val 12121"/>
            </a:avLst>
          </a:prstGeom>
          <a:solidFill>
            <a:srgbClr val="7FD99A"/>
          </a:solidFill>
          <a:ln/>
        </p:spPr>
      </p:sp>
      <p:sp>
        <p:nvSpPr>
          <p:cNvPr id="19" name="click1"/>
          <p:cNvSpPr txBox="1"/>
          <p:nvPr/>
        </p:nvSpPr>
        <p:spPr>
          <a:xfrm>
            <a:off x="7973568" y="1819656"/>
            <a:ext cx="868680" cy="6035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20" name="click2"/>
          <p:cNvSpPr/>
          <p:nvPr/>
        </p:nvSpPr>
        <p:spPr>
          <a:xfrm>
            <a:off x="5623560" y="2688336"/>
            <a:ext cx="329184" cy="329184"/>
          </a:xfrm>
          <a:prstGeom prst="ellipse">
            <a:avLst/>
          </a:prstGeom>
          <a:solidFill>
            <a:srgbClr val="D8A73D"/>
          </a:solidFill>
          <a:ln/>
        </p:spPr>
      </p:sp>
      <p:sp>
        <p:nvSpPr>
          <p:cNvPr id="21" name="click2"/>
          <p:cNvSpPr txBox="1"/>
          <p:nvPr/>
        </p:nvSpPr>
        <p:spPr>
          <a:xfrm>
            <a:off x="5623560" y="26883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2" name="click2"/>
          <p:cNvSpPr txBox="1"/>
          <p:nvPr/>
        </p:nvSpPr>
        <p:spPr>
          <a:xfrm>
            <a:off x="6053328" y="2487168"/>
            <a:ext cx="2651760" cy="7315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23" name="click2"/>
          <p:cNvSpPr txBox="1"/>
          <p:nvPr/>
        </p:nvSpPr>
        <p:spPr>
          <a:xfrm>
            <a:off x="6053328" y="3950208"/>
            <a:ext cx="2651760" cy="7315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24" name="click3"/>
          <p:cNvSpPr/>
          <p:nvPr/>
        </p:nvSpPr>
        <p:spPr>
          <a:xfrm>
            <a:off x="9098280" y="1554480"/>
            <a:ext cx="329184" cy="329184"/>
          </a:xfrm>
          <a:prstGeom prst="ellipse">
            <a:avLst/>
          </a:prstGeom>
          <a:solidFill>
            <a:srgbClr val="D8A73D"/>
          </a:solidFill>
          <a:ln/>
        </p:spPr>
      </p:sp>
      <p:sp>
        <p:nvSpPr>
          <p:cNvPr id="25" name="click3"/>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6" name="click3"/>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27" name="click3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28" name="click3"/>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Door open</a:t>
            </a:r>
            <a:endParaRPr lang="en-US" sz="2000" dirty="0"/>
          </a:p>
        </p:txBody>
      </p:sp>
      <p:sp>
        <p:nvSpPr>
          <p:cNvPr id="29" name="Shape 26"/>
          <p:cNvSpPr/>
          <p:nvPr/>
        </p:nvSpPr>
        <p:spPr>
          <a:xfrm>
            <a:off x="548640" y="5559552"/>
            <a:ext cx="11091672" cy="566928"/>
          </a:xfrm>
          <a:prstGeom prst="roundRect">
            <a:avLst>
              <a:gd name="adj" fmla="val 12903"/>
            </a:avLst>
          </a:prstGeom>
          <a:solidFill>
            <a:srgbClr val="2A2A32"/>
          </a:solidFill>
          <a:ln/>
        </p:spPr>
      </p:sp>
      <p:sp>
        <p:nvSpPr>
          <p:cNvPr id="30" name="Shape 27"/>
          <p:cNvSpPr/>
          <p:nvPr/>
        </p:nvSpPr>
        <p:spPr>
          <a:xfrm>
            <a:off x="731520" y="5678424"/>
            <a:ext cx="329184" cy="329184"/>
          </a:xfrm>
          <a:prstGeom prst="ellipse">
            <a:avLst/>
          </a:prstGeom>
          <a:solidFill>
            <a:srgbClr val="D8A73D"/>
          </a:solidFill>
          <a:ln/>
        </p:spPr>
      </p:sp>
      <p:sp>
        <p:nvSpPr>
          <p:cNvPr id="31" name="Text 28"/>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32" name="Text 29"/>
          <p:cNvSpPr txBox="1"/>
          <p:nvPr/>
        </p:nvSpPr>
        <p:spPr>
          <a:xfrm>
            <a:off x="1170432"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33" name="Shape 30"/>
          <p:cNvSpPr/>
          <p:nvPr/>
        </p:nvSpPr>
        <p:spPr>
          <a:xfrm>
            <a:off x="4428744" y="5678424"/>
            <a:ext cx="329184" cy="329184"/>
          </a:xfrm>
          <a:prstGeom prst="ellipse">
            <a:avLst/>
          </a:prstGeom>
          <a:solidFill>
            <a:srgbClr val="D8A73D"/>
          </a:solidFill>
          <a:ln/>
        </p:spPr>
      </p:sp>
      <p:sp>
        <p:nvSpPr>
          <p:cNvPr id="34" name="Text 31"/>
          <p:cNvSpPr txBox="1"/>
          <p:nvPr/>
        </p:nvSpPr>
        <p:spPr>
          <a:xfrm>
            <a:off x="442874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5" name="Text 32"/>
          <p:cNvSpPr txBox="1"/>
          <p:nvPr/>
        </p:nvSpPr>
        <p:spPr>
          <a:xfrm>
            <a:off x="4867656"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36" name="Shape 33"/>
          <p:cNvSpPr/>
          <p:nvPr/>
        </p:nvSpPr>
        <p:spPr>
          <a:xfrm>
            <a:off x="8125968" y="5678424"/>
            <a:ext cx="329184" cy="329184"/>
          </a:xfrm>
          <a:prstGeom prst="ellipse">
            <a:avLst/>
          </a:prstGeom>
          <a:solidFill>
            <a:srgbClr val="D8A73D"/>
          </a:solidFill>
          <a:ln/>
        </p:spPr>
      </p:sp>
      <p:sp>
        <p:nvSpPr>
          <p:cNvPr id="37" name="Text 34"/>
          <p:cNvSpPr txBox="1"/>
          <p:nvPr/>
        </p:nvSpPr>
        <p:spPr>
          <a:xfrm>
            <a:off x="812596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8" name="Text 35"/>
          <p:cNvSpPr txBox="1"/>
          <p:nvPr/>
        </p:nvSpPr>
        <p:spPr>
          <a:xfrm>
            <a:off x="8564880"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39" name="Shape 36"/>
          <p:cNvSpPr/>
          <p:nvPr/>
        </p:nvSpPr>
        <p:spPr>
          <a:xfrm>
            <a:off x="9464040" y="566928"/>
            <a:ext cx="1280160" cy="329184"/>
          </a:xfrm>
          <a:prstGeom prst="roundRect">
            <a:avLst>
              <a:gd name="adj" fmla="val 50000"/>
            </a:avLst>
          </a:prstGeom>
          <a:solidFill>
            <a:srgbClr val="D8A73D"/>
          </a:solidFill>
          <a:ln/>
        </p:spPr>
      </p:sp>
      <p:sp>
        <p:nvSpPr>
          <p:cNvPr id="40" name="Text 3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WE DO</a:t>
            </a:r>
            <a:endParaRPr lang="en-US" sz="1400" dirty="0"/>
          </a:p>
        </p:txBody>
      </p:sp>
      <p:pic>
        <p:nvPicPr>
          <p:cNvPr id="41"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42"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1" grpId="0" animBg="1"/>
      <p:bldP spid="22" grpId="0" animBg="1"/>
      <p:bldP spid="23" grpId="0" animBg="1"/>
      <p:bldP spid="25" grpId="0" animBg="1"/>
      <p:bldP spid="26" grpId="0" animBg="1"/>
      <p:bldP spid="2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code"/>
          <p:cNvSpPr/>
          <p:nvPr/>
        </p:nvSpPr>
        <p:spPr>
          <a:xfrm>
            <a:off x="548640" y="2011680"/>
            <a:ext cx="3511296" cy="2231136"/>
          </a:xfrm>
          <a:prstGeom prst="roundRect">
            <a:avLst>
              <a:gd name="adj" fmla="val 3279"/>
            </a:avLst>
          </a:prstGeom>
          <a:solidFill>
            <a:srgbClr val="111115"/>
          </a:solidFill>
          <a:ln w="15875">
            <a:solidFill>
              <a:srgbClr val="3A3A44"/>
            </a:solidFill>
            <a:prstDash val="solid"/>
          </a:ln>
        </p:spPr>
      </p:sp>
      <p:sp>
        <p:nvSpPr>
          <p:cNvPr id="8" name="Text 5"/>
          <p:cNvSpPr txBox="1"/>
          <p:nvPr/>
        </p:nvSpPr>
        <p:spPr>
          <a:xfrm>
            <a:off x="731520"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9</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6"/>
          <p:cNvSpPr txBox="1"/>
          <p:nvPr/>
        </p:nvSpPr>
        <p:spPr>
          <a:xfrm>
            <a:off x="731520"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"Low"</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"High"</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Shape 9"/>
          <p:cNvSpPr/>
          <p:nvPr/>
        </p:nvSpPr>
        <p:spPr>
          <a:xfrm>
            <a:off x="4334256" y="1508760"/>
            <a:ext cx="384048" cy="384048"/>
          </a:xfrm>
          <a:prstGeom prst="ellipse">
            <a:avLst/>
          </a:prstGeom>
          <a:solidFill>
            <a:srgbClr val="D8A73D"/>
          </a:solidFill>
          <a:ln/>
        </p:spPr>
      </p:sp>
      <p:sp>
        <p:nvSpPr>
          <p:cNvPr id="13"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4" name="code"/>
          <p:cNvSpPr/>
          <p:nvPr/>
        </p:nvSpPr>
        <p:spPr>
          <a:xfrm>
            <a:off x="4334256" y="2011680"/>
            <a:ext cx="3511296" cy="2231136"/>
          </a:xfrm>
          <a:prstGeom prst="roundRect">
            <a:avLst>
              <a:gd name="adj" fmla="val 3279"/>
            </a:avLst>
          </a:prstGeom>
          <a:solidFill>
            <a:srgbClr val="111115"/>
          </a:solidFill>
          <a:ln w="15875">
            <a:solidFill>
              <a:srgbClr val="3A3A44"/>
            </a:solidFill>
            <a:prstDash val="solid"/>
          </a:ln>
        </p:spPr>
      </p:sp>
      <p:sp>
        <p:nvSpPr>
          <p:cNvPr id="15" name="Text 12"/>
          <p:cNvSpPr txBox="1"/>
          <p:nvPr/>
        </p:nvSpPr>
        <p:spPr>
          <a:xfrm>
            <a:off x="4517136"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6" name="Text 13"/>
          <p:cNvSpPr txBox="1"/>
          <p:nvPr/>
        </p:nvSpPr>
        <p:spPr>
          <a:xfrm>
            <a:off x="4517136"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"Alarm"</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4"/>
          <p:cNvSpPr txBox="1"/>
          <p:nvPr/>
        </p:nvSpPr>
        <p:spPr>
          <a:xfrm>
            <a:off x="4517136"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5"/>
          <p:cNvSpPr txBox="1"/>
          <p:nvPr/>
        </p:nvSpPr>
        <p:spPr>
          <a:xfrm>
            <a:off x="4517136"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"Quiet"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Shape 16"/>
          <p:cNvSpPr/>
          <p:nvPr/>
        </p:nvSpPr>
        <p:spPr>
          <a:xfrm>
            <a:off x="8119872" y="1508760"/>
            <a:ext cx="384048" cy="384048"/>
          </a:xfrm>
          <a:prstGeom prst="ellipse">
            <a:avLst/>
          </a:prstGeom>
          <a:solidFill>
            <a:srgbClr val="D8A73D"/>
          </a:solidFill>
          <a:ln/>
        </p:spPr>
      </p:sp>
      <p:sp>
        <p:nvSpPr>
          <p:cNvPr id="20" name="Text 17"/>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1" name="code"/>
          <p:cNvSpPr/>
          <p:nvPr/>
        </p:nvSpPr>
        <p:spPr>
          <a:xfrm>
            <a:off x="8119872" y="2011680"/>
            <a:ext cx="3511296" cy="2231136"/>
          </a:xfrm>
          <a:prstGeom prst="roundRect">
            <a:avLst>
              <a:gd name="adj" fmla="val 3279"/>
            </a:avLst>
          </a:prstGeom>
          <a:solidFill>
            <a:srgbClr val="111115"/>
          </a:solidFill>
          <a:ln w="15875">
            <a:solidFill>
              <a:srgbClr val="3A3A44"/>
            </a:solidFill>
            <a:prstDash val="solid"/>
          </a:ln>
        </p:spPr>
      </p:sp>
      <p:sp>
        <p:nvSpPr>
          <p:cNvPr id="22" name="Text 19"/>
          <p:cNvSpPr txBox="1"/>
          <p:nvPr/>
        </p:nvSpPr>
        <p:spPr>
          <a:xfrm>
            <a:off x="8302752"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xt 20"/>
          <p:cNvSpPr txBox="1"/>
          <p:nvPr/>
        </p:nvSpPr>
        <p:spPr>
          <a:xfrm>
            <a:off x="8302752"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"Ready"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4" name="Text 21"/>
          <p:cNvSpPr txBox="1"/>
          <p:nvPr/>
        </p:nvSpPr>
        <p:spPr>
          <a:xfrm>
            <a:off x="8302752"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2"/>
          <p:cNvSpPr txBox="1"/>
          <p:nvPr/>
        </p:nvSpPr>
        <p:spPr>
          <a:xfrm>
            <a:off x="8302752"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"Wait"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Shape 23"/>
          <p:cNvSpPr/>
          <p:nvPr/>
        </p:nvSpPr>
        <p:spPr>
          <a:xfrm>
            <a:off x="548640" y="4562856"/>
            <a:ext cx="11091672" cy="914400"/>
          </a:xfrm>
          <a:prstGeom prst="roundRect">
            <a:avLst>
              <a:gd name="adj" fmla="val 8000"/>
            </a:avLst>
          </a:prstGeom>
          <a:solidFill>
            <a:srgbClr val="1E1E24"/>
          </a:solidFill>
          <a:ln w="25400">
            <a:solidFill>
              <a:srgbClr val="D8A73D"/>
            </a:solidFill>
            <a:prstDash val="solid"/>
          </a:ln>
        </p:spPr>
      </p:sp>
      <p:sp>
        <p:nvSpPr>
          <p:cNvPr id="27" name="Text 24"/>
          <p:cNvSpPr txBox="1"/>
          <p:nvPr/>
        </p:nvSpPr>
        <p:spPr>
          <a:xfrm>
            <a:off x="914400" y="4562856"/>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28" name="Shape 25"/>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9" name="Text 26"/>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0" name="Shape 27"/>
          <p:cNvSpPr/>
          <p:nvPr/>
        </p:nvSpPr>
        <p:spPr>
          <a:xfrm>
            <a:off x="8046720" y="566928"/>
            <a:ext cx="1280160" cy="329184"/>
          </a:xfrm>
          <a:prstGeom prst="roundRect">
            <a:avLst>
              <a:gd name="adj" fmla="val 50000"/>
            </a:avLst>
          </a:prstGeom>
          <a:solidFill>
            <a:srgbClr val="D8A73D"/>
          </a:solidFill>
          <a:ln/>
        </p:spPr>
      </p:sp>
      <p:sp>
        <p:nvSpPr>
          <p:cNvPr id="31" name="Text 28"/>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2"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 — answers</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051560"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9 &lt; 12</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8" name="code"/>
          <p:cNvSpPr/>
          <p:nvPr/>
        </p:nvSpPr>
        <p:spPr>
          <a:xfrm>
            <a:off x="548640" y="2011680"/>
            <a:ext cx="3511296" cy="2231136"/>
          </a:xfrm>
          <a:prstGeom prst="roundRect">
            <a:avLst>
              <a:gd name="adj" fmla="val 3279"/>
            </a:avLst>
          </a:prstGeom>
          <a:solidFill>
            <a:srgbClr val="111115"/>
          </a:solidFill>
          <a:ln w="15875">
            <a:solidFill>
              <a:srgbClr val="3A3A44"/>
            </a:solidFill>
            <a:prstDash val="solid"/>
          </a:ln>
        </p:spPr>
      </p:sp>
      <p:sp>
        <p:nvSpPr>
          <p:cNvPr id="9" name="Text 6"/>
          <p:cNvSpPr txBox="1"/>
          <p:nvPr/>
        </p:nvSpPr>
        <p:spPr>
          <a:xfrm>
            <a:off x="731520"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9</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"Low"</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"High"</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rminal"/>
          <p:cNvSpPr/>
          <p:nvPr/>
        </p:nvSpPr>
        <p:spPr>
          <a:xfrm>
            <a:off x="548640" y="4425696"/>
            <a:ext cx="3511296" cy="822960"/>
          </a:xfrm>
          <a:prstGeom prst="roundRect">
            <a:avLst>
              <a:gd name="adj" fmla="val 8889"/>
            </a:avLst>
          </a:prstGeom>
          <a:solidFill>
            <a:srgbClr val="0A0A0D"/>
          </a:solidFill>
          <a:ln w="15875">
            <a:solidFill>
              <a:srgbClr val="3A3A44"/>
            </a:solidFill>
            <a:prstDash val="solid"/>
          </a:ln>
        </p:spPr>
      </p:sp>
      <p:sp>
        <p:nvSpPr>
          <p:cNvPr id="14" name="Text 11"/>
          <p:cNvSpPr txBox="1"/>
          <p:nvPr/>
        </p:nvSpPr>
        <p:spPr>
          <a:xfrm>
            <a:off x="777240"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Low</a:t>
            </a:r>
            <a:endParaRPr lang="en-US" sz="1800" dirty="0"/>
          </a:p>
        </p:txBody>
      </p:sp>
      <p:sp>
        <p:nvSpPr>
          <p:cNvPr id="15" name="Shape 12"/>
          <p:cNvSpPr/>
          <p:nvPr/>
        </p:nvSpPr>
        <p:spPr>
          <a:xfrm>
            <a:off x="4334256" y="1508760"/>
            <a:ext cx="384048" cy="384048"/>
          </a:xfrm>
          <a:prstGeom prst="ellipse">
            <a:avLst/>
          </a:prstGeom>
          <a:solidFill>
            <a:srgbClr val="D8A73D"/>
          </a:solidFill>
          <a:ln/>
        </p:spPr>
      </p:sp>
      <p:sp>
        <p:nvSpPr>
          <p:cNvPr id="16" name="Text 13"/>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7" name="Text 14"/>
          <p:cNvSpPr txBox="1"/>
          <p:nvPr/>
        </p:nvSpPr>
        <p:spPr>
          <a:xfrm>
            <a:off x="4837176"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20 &gt; 20</a:t>
            </a:r>
            <a:pPr indent="0" marL="0">
              <a:buNone/>
            </a:pPr>
            <a:r>
              <a:rPr lang="en-US" sz="1800" dirty="0">
                <a:solidFill>
                  <a:srgbClr val="F5F5F3"/>
                </a:solidFill>
                <a:latin typeface="Calibri" pitchFamily="34" charset="0"/>
                <a:ea typeface="Calibri" pitchFamily="34" charset="-122"/>
                <a:cs typeface="Calibri" pitchFamily="34" charset="-120"/>
              </a:rPr>
              <a:t> is False</a:t>
            </a:r>
            <a:endParaRPr lang="en-US" sz="1800" dirty="0"/>
          </a:p>
        </p:txBody>
      </p:sp>
      <p:sp>
        <p:nvSpPr>
          <p:cNvPr id="18" name="code"/>
          <p:cNvSpPr/>
          <p:nvPr/>
        </p:nvSpPr>
        <p:spPr>
          <a:xfrm>
            <a:off x="4334256" y="2011680"/>
            <a:ext cx="3511296" cy="2231136"/>
          </a:xfrm>
          <a:prstGeom prst="roundRect">
            <a:avLst>
              <a:gd name="adj" fmla="val 3279"/>
            </a:avLst>
          </a:prstGeom>
          <a:solidFill>
            <a:srgbClr val="111115"/>
          </a:solidFill>
          <a:ln w="15875">
            <a:solidFill>
              <a:srgbClr val="3A3A44"/>
            </a:solidFill>
            <a:prstDash val="solid"/>
          </a:ln>
        </p:spPr>
      </p:sp>
      <p:sp>
        <p:nvSpPr>
          <p:cNvPr id="19" name="Text 16"/>
          <p:cNvSpPr txBox="1"/>
          <p:nvPr/>
        </p:nvSpPr>
        <p:spPr>
          <a:xfrm>
            <a:off x="4517136"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Text 17"/>
          <p:cNvSpPr txBox="1"/>
          <p:nvPr/>
        </p:nvSpPr>
        <p:spPr>
          <a:xfrm>
            <a:off x="4517136"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"Alarm"</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1" name="Text 18"/>
          <p:cNvSpPr txBox="1"/>
          <p:nvPr/>
        </p:nvSpPr>
        <p:spPr>
          <a:xfrm>
            <a:off x="4517136"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Text 19"/>
          <p:cNvSpPr txBox="1"/>
          <p:nvPr/>
        </p:nvSpPr>
        <p:spPr>
          <a:xfrm>
            <a:off x="4517136"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"Quiet"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rminal"/>
          <p:cNvSpPr/>
          <p:nvPr/>
        </p:nvSpPr>
        <p:spPr>
          <a:xfrm>
            <a:off x="4334256" y="4425696"/>
            <a:ext cx="3511296" cy="822960"/>
          </a:xfrm>
          <a:prstGeom prst="roundRect">
            <a:avLst>
              <a:gd name="adj" fmla="val 8889"/>
            </a:avLst>
          </a:prstGeom>
          <a:solidFill>
            <a:srgbClr val="0A0A0D"/>
          </a:solidFill>
          <a:ln w="15875">
            <a:solidFill>
              <a:srgbClr val="3A3A44"/>
            </a:solidFill>
            <a:prstDash val="solid"/>
          </a:ln>
        </p:spPr>
      </p:sp>
      <p:sp>
        <p:nvSpPr>
          <p:cNvPr id="24" name="Text 21"/>
          <p:cNvSpPr txBox="1"/>
          <p:nvPr/>
        </p:nvSpPr>
        <p:spPr>
          <a:xfrm>
            <a:off x="4562856"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Quiet</a:t>
            </a:r>
            <a:endParaRPr lang="en-US" sz="1800" dirty="0"/>
          </a:p>
        </p:txBody>
      </p:sp>
      <p:sp>
        <p:nvSpPr>
          <p:cNvPr id="25" name="Shape 22"/>
          <p:cNvSpPr/>
          <p:nvPr/>
        </p:nvSpPr>
        <p:spPr>
          <a:xfrm>
            <a:off x="8119872" y="1508760"/>
            <a:ext cx="384048" cy="384048"/>
          </a:xfrm>
          <a:prstGeom prst="ellipse">
            <a:avLst/>
          </a:prstGeom>
          <a:solidFill>
            <a:srgbClr val="D8A73D"/>
          </a:solidFill>
          <a:ln/>
        </p:spPr>
      </p:sp>
      <p:sp>
        <p:nvSpPr>
          <p:cNvPr id="26" name="Text 23"/>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7" name="Text 24"/>
          <p:cNvSpPr txBox="1"/>
          <p:nvPr/>
        </p:nvSpPr>
        <p:spPr>
          <a:xfrm>
            <a:off x="8622792"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4 &gt;= 4</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28" name="code"/>
          <p:cNvSpPr/>
          <p:nvPr/>
        </p:nvSpPr>
        <p:spPr>
          <a:xfrm>
            <a:off x="8119872" y="2011680"/>
            <a:ext cx="3511296" cy="2231136"/>
          </a:xfrm>
          <a:prstGeom prst="roundRect">
            <a:avLst>
              <a:gd name="adj" fmla="val 3279"/>
            </a:avLst>
          </a:prstGeom>
          <a:solidFill>
            <a:srgbClr val="111115"/>
          </a:solidFill>
          <a:ln w="15875">
            <a:solidFill>
              <a:srgbClr val="3A3A44"/>
            </a:solidFill>
            <a:prstDash val="solid"/>
          </a:ln>
        </p:spPr>
      </p:sp>
      <p:sp>
        <p:nvSpPr>
          <p:cNvPr id="29" name="Text 26"/>
          <p:cNvSpPr txBox="1"/>
          <p:nvPr/>
        </p:nvSpPr>
        <p:spPr>
          <a:xfrm>
            <a:off x="8302752"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0" name="Text 27"/>
          <p:cNvSpPr txBox="1"/>
          <p:nvPr/>
        </p:nvSpPr>
        <p:spPr>
          <a:xfrm>
            <a:off x="8302752"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"Ready"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1" name="Text 28"/>
          <p:cNvSpPr txBox="1"/>
          <p:nvPr/>
        </p:nvSpPr>
        <p:spPr>
          <a:xfrm>
            <a:off x="8302752"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2" name="Text 29"/>
          <p:cNvSpPr txBox="1"/>
          <p:nvPr/>
        </p:nvSpPr>
        <p:spPr>
          <a:xfrm>
            <a:off x="8302752"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"Wait"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3" name="terminal"/>
          <p:cNvSpPr/>
          <p:nvPr/>
        </p:nvSpPr>
        <p:spPr>
          <a:xfrm>
            <a:off x="8119872" y="4425696"/>
            <a:ext cx="3511296" cy="822960"/>
          </a:xfrm>
          <a:prstGeom prst="roundRect">
            <a:avLst>
              <a:gd name="adj" fmla="val 8889"/>
            </a:avLst>
          </a:prstGeom>
          <a:solidFill>
            <a:srgbClr val="0A0A0D"/>
          </a:solidFill>
          <a:ln w="15875">
            <a:solidFill>
              <a:srgbClr val="3A3A44"/>
            </a:solidFill>
            <a:prstDash val="solid"/>
          </a:ln>
        </p:spPr>
      </p:sp>
      <p:sp>
        <p:nvSpPr>
          <p:cNvPr id="34" name="Text 31"/>
          <p:cNvSpPr txBox="1"/>
          <p:nvPr/>
        </p:nvSpPr>
        <p:spPr>
          <a:xfrm>
            <a:off x="8348472"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Ready</a:t>
            </a:r>
            <a:endParaRPr lang="en-US" sz="1800" dirty="0"/>
          </a:p>
        </p:txBody>
      </p:sp>
      <p:pic>
        <p:nvPicPr>
          <p:cNvPr id="35"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3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6" name="Text 3"/>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endParaRPr lang="en-US" sz="2400" dirty="0"/>
          </a:p>
        </p:txBody>
      </p:sp>
      <p:sp>
        <p:nvSpPr>
          <p:cNvPr id="8" name="Text 5"/>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1"/>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5" name="Text 12"/>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Text 13"/>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7" name="Text 14"/>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"Scan complete"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click1"/>
          <p:cNvSpPr/>
          <p:nvPr/>
        </p:nvSpPr>
        <p:spPr>
          <a:xfrm>
            <a:off x="5623560" y="1874520"/>
            <a:ext cx="329184" cy="329184"/>
          </a:xfrm>
          <a:prstGeom prst="ellipse">
            <a:avLst/>
          </a:prstGeom>
          <a:solidFill>
            <a:srgbClr val="D8A73D"/>
          </a:solidFill>
          <a:ln/>
        </p:spPr>
      </p:sp>
      <p:sp>
        <p:nvSpPr>
          <p:cNvPr id="19"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0"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21" name="click1"/>
          <p:cNvSpPr/>
          <p:nvPr/>
        </p:nvSpPr>
        <p:spPr>
          <a:xfrm>
            <a:off x="6236208" y="1627632"/>
            <a:ext cx="1883664" cy="347472"/>
          </a:xfrm>
          <a:prstGeom prst="roundRect">
            <a:avLst>
              <a:gd name="adj" fmla="val 13158"/>
            </a:avLst>
          </a:prstGeom>
          <a:solidFill>
            <a:srgbClr val="56B4E9"/>
          </a:solidFill>
          <a:ln/>
        </p:spPr>
      </p:sp>
      <p:sp>
        <p:nvSpPr>
          <p:cNvPr id="22"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3"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30</a:t>
            </a:r>
            <a:endParaRPr lang="en-US" sz="2000" dirty="0"/>
          </a:p>
        </p:txBody>
      </p:sp>
      <p:sp>
        <p:nvSpPr>
          <p:cNvPr id="24" name="click2"/>
          <p:cNvSpPr/>
          <p:nvPr/>
        </p:nvSpPr>
        <p:spPr>
          <a:xfrm>
            <a:off x="5623560" y="2441448"/>
            <a:ext cx="329184" cy="329184"/>
          </a:xfrm>
          <a:prstGeom prst="ellipse">
            <a:avLst/>
          </a:prstGeom>
          <a:solidFill>
            <a:srgbClr val="D8A73D"/>
          </a:solidFill>
          <a:ln/>
        </p:spPr>
      </p:sp>
      <p:sp>
        <p:nvSpPr>
          <p:cNvPr id="25"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6"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7" name="click2"/>
          <p:cNvSpPr/>
          <p:nvPr/>
        </p:nvSpPr>
        <p:spPr>
          <a:xfrm>
            <a:off x="7516368" y="2606040"/>
            <a:ext cx="365760" cy="0"/>
          </a:xfrm>
          <a:prstGeom prst="line">
            <a:avLst/>
          </a:prstGeom>
          <a:noFill/>
          <a:ln w="28575">
            <a:solidFill>
              <a:srgbClr val="A9A9B4"/>
            </a:solidFill>
            <a:prstDash val="solid"/>
            <a:tailEnd type="triangle"/>
          </a:ln>
        </p:spPr>
      </p:sp>
      <p:sp>
        <p:nvSpPr>
          <p:cNvPr id="28"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9"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30" name="click3"/>
          <p:cNvSpPr/>
          <p:nvPr/>
        </p:nvSpPr>
        <p:spPr>
          <a:xfrm>
            <a:off x="5623560" y="3008376"/>
            <a:ext cx="329184" cy="329184"/>
          </a:xfrm>
          <a:prstGeom prst="ellipse">
            <a:avLst/>
          </a:prstGeom>
          <a:solidFill>
            <a:srgbClr val="D8A73D"/>
          </a:solidFill>
          <a:ln/>
        </p:spPr>
      </p:sp>
      <p:sp>
        <p:nvSpPr>
          <p:cNvPr id="31"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2"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3"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4"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5" name="click4"/>
          <p:cNvSpPr/>
          <p:nvPr/>
        </p:nvSpPr>
        <p:spPr>
          <a:xfrm>
            <a:off x="9098280" y="1554480"/>
            <a:ext cx="329184" cy="329184"/>
          </a:xfrm>
          <a:prstGeom prst="ellipse">
            <a:avLst/>
          </a:prstGeom>
          <a:solidFill>
            <a:srgbClr val="D8A73D"/>
          </a:solidFill>
          <a:ln/>
        </p:spPr>
      </p:sp>
      <p:sp>
        <p:nvSpPr>
          <p:cNvPr id="36"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7"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8"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9"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40"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 complete</a:t>
            </a:r>
            <a:endParaRPr lang="en-US" sz="2000" dirty="0"/>
          </a:p>
        </p:txBody>
      </p:sp>
      <p:sp>
        <p:nvSpPr>
          <p:cNvPr id="41" name="Shape 38"/>
          <p:cNvSpPr/>
          <p:nvPr/>
        </p:nvSpPr>
        <p:spPr>
          <a:xfrm>
            <a:off x="548640" y="5559552"/>
            <a:ext cx="11091672" cy="566928"/>
          </a:xfrm>
          <a:prstGeom prst="roundRect">
            <a:avLst>
              <a:gd name="adj" fmla="val 12903"/>
            </a:avLst>
          </a:prstGeom>
          <a:solidFill>
            <a:srgbClr val="2A2A32"/>
          </a:solidFill>
          <a:ln/>
        </p:spPr>
      </p:sp>
      <p:sp>
        <p:nvSpPr>
          <p:cNvPr id="42" name="Shape 39"/>
          <p:cNvSpPr/>
          <p:nvPr/>
        </p:nvSpPr>
        <p:spPr>
          <a:xfrm>
            <a:off x="731520" y="5678424"/>
            <a:ext cx="329184" cy="329184"/>
          </a:xfrm>
          <a:prstGeom prst="ellipse">
            <a:avLst/>
          </a:prstGeom>
          <a:solidFill>
            <a:srgbClr val="D8A73D"/>
          </a:solidFill>
          <a:ln/>
        </p:spPr>
      </p:sp>
      <p:sp>
        <p:nvSpPr>
          <p:cNvPr id="43" name="Text 40"/>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4" name="Text 41"/>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5" name="Shape 42"/>
          <p:cNvSpPr/>
          <p:nvPr/>
        </p:nvSpPr>
        <p:spPr>
          <a:xfrm>
            <a:off x="3504438" y="5678424"/>
            <a:ext cx="329184" cy="329184"/>
          </a:xfrm>
          <a:prstGeom prst="ellipse">
            <a:avLst/>
          </a:prstGeom>
          <a:solidFill>
            <a:srgbClr val="D8A73D"/>
          </a:solidFill>
          <a:ln/>
        </p:spPr>
      </p:sp>
      <p:sp>
        <p:nvSpPr>
          <p:cNvPr id="46" name="Text 43"/>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7" name="Text 44"/>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8" name="Shape 45"/>
          <p:cNvSpPr/>
          <p:nvPr/>
        </p:nvSpPr>
        <p:spPr>
          <a:xfrm>
            <a:off x="6277356" y="5678424"/>
            <a:ext cx="329184" cy="329184"/>
          </a:xfrm>
          <a:prstGeom prst="ellipse">
            <a:avLst/>
          </a:prstGeom>
          <a:solidFill>
            <a:srgbClr val="D8A73D"/>
          </a:solidFill>
          <a:ln/>
        </p:spPr>
      </p:sp>
      <p:sp>
        <p:nvSpPr>
          <p:cNvPr id="49" name="Text 46"/>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0" name="Text 47"/>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1" name="Shape 48"/>
          <p:cNvSpPr/>
          <p:nvPr/>
        </p:nvSpPr>
        <p:spPr>
          <a:xfrm>
            <a:off x="9050274" y="5678424"/>
            <a:ext cx="329184" cy="329184"/>
          </a:xfrm>
          <a:prstGeom prst="ellipse">
            <a:avLst/>
          </a:prstGeom>
          <a:solidFill>
            <a:srgbClr val="D8A73D"/>
          </a:solidFill>
          <a:ln/>
        </p:spPr>
      </p:sp>
      <p:sp>
        <p:nvSpPr>
          <p:cNvPr id="52" name="Text 49"/>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3" name="Text 50"/>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4" name="Shape 51"/>
          <p:cNvSpPr/>
          <p:nvPr/>
        </p:nvSpPr>
        <p:spPr>
          <a:xfrm>
            <a:off x="9464040" y="566928"/>
            <a:ext cx="1280160" cy="329184"/>
          </a:xfrm>
          <a:prstGeom prst="roundRect">
            <a:avLst>
              <a:gd name="adj" fmla="val 50000"/>
            </a:avLst>
          </a:prstGeom>
          <a:solidFill>
            <a:srgbClr val="D8A73D"/>
          </a:solidFill>
          <a:ln/>
        </p:spPr>
      </p:sp>
      <p:sp>
        <p:nvSpPr>
          <p:cNvPr id="55" name="Text 5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6"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0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50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00"/>
                                        <p:tgtEl>
                                          <p:spTgt spid="3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00"/>
                                        <p:tgtEl>
                                          <p:spTgt spid="3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5"/>
                                        </p:tgtEl>
                                        <p:attrNameLst>
                                          <p:attrName>style.visibility</p:attrName>
                                        </p:attrNameLst>
                                      </p:cBhvr>
                                      <p:to>
                                        <p:strVal val="visible"/>
                                      </p:to>
                                    </p:set>
                                    <p:animEffect transition="in" filter="fade">
                                      <p:cBhvr>
                                        <p:cTn id="64" dur="500"/>
                                        <p:tgtEl>
                                          <p:spTgt spid="3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childTnLst>
                                </p:cTn>
                              </p:par>
                              <p:par>
                                <p:cTn id="71" presetID="10" presetClass="entr" presetSubtype="0" fill="hold"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5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5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3" grpId="0" animBg="1"/>
      <p:bldP spid="25" grpId="0" animBg="1"/>
      <p:bldP spid="26" grpId="0" animBg="1"/>
      <p:bldP spid="29" grpId="0" animBg="1"/>
      <p:bldP spid="31" grpId="0" animBg="1"/>
      <p:bldP spid="32" grpId="0" animBg="1"/>
      <p:bldP spid="33" grpId="0" animBg="1"/>
      <p:bldP spid="34" grpId="0" animBg="1"/>
      <p:bldP spid="36" grpId="0" animBg="1"/>
      <p:bldP spid="37" grpId="0" animBg="1"/>
      <p:bldP spid="39" grpId="0" animBg="1"/>
      <p:bldP spid="4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Spaces decide the block</a:t>
            </a:r>
            <a:endParaRPr lang="en-US" sz="3600" dirty="0"/>
          </a:p>
        </p:txBody>
      </p:sp>
      <p:sp>
        <p:nvSpPr>
          <p:cNvPr id="5"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6" name="Text 3"/>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1</a:t>
            </a:r>
            <a:endParaRPr lang="en-US" sz="1700" dirty="0"/>
          </a:p>
        </p:txBody>
      </p:sp>
      <p:sp>
        <p:nvSpPr>
          <p:cNvPr id="7" name="Text 4"/>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distance</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56B4E9"/>
                </a:solidFill>
                <a:latin typeface="Consolas" pitchFamily="34" charset="0"/>
                <a:ea typeface="Consolas" pitchFamily="34" charset="-122"/>
                <a:cs typeface="Consolas" pitchFamily="34" charset="-120"/>
              </a:rPr>
              <a:t>85</a:t>
            </a:r>
            <a:endParaRPr lang="en-US" sz="2100" dirty="0"/>
          </a:p>
        </p:txBody>
      </p:sp>
      <p:sp>
        <p:nvSpPr>
          <p:cNvPr id="8" name="Text 5"/>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2</a:t>
            </a:r>
            <a:endParaRPr lang="en-US" sz="1700" dirty="0"/>
          </a:p>
        </p:txBody>
      </p:sp>
      <p:sp>
        <p:nvSpPr>
          <p:cNvPr id="9" name="Text 6"/>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100" b="1" dirty="0">
                <a:solidFill>
                  <a:srgbClr val="F5F5F3"/>
                </a:solidFill>
                <a:latin typeface="Consolas" pitchFamily="34" charset="0"/>
                <a:ea typeface="Consolas" pitchFamily="34" charset="-122"/>
                <a:cs typeface="Consolas" pitchFamily="34" charset="-120"/>
              </a:rPr>
              <a:t>if</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F5F5F3"/>
                </a:solidFill>
                <a:latin typeface="Consolas" pitchFamily="34" charset="0"/>
                <a:ea typeface="Consolas" pitchFamily="34" charset="-122"/>
                <a:cs typeface="Consolas" pitchFamily="34" charset="-120"/>
              </a:rPr>
              <a:t>distance</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b="1" dirty="0">
                <a:solidFill>
                  <a:srgbClr val="F5F5F3"/>
                </a:solidFill>
                <a:latin typeface="Consolas" pitchFamily="34" charset="0"/>
                <a:ea typeface="Consolas" pitchFamily="34" charset="-122"/>
                <a:cs typeface="Consolas" pitchFamily="34" charset="-120"/>
              </a:rPr>
              <a:t>&gt;=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56B4E9"/>
                </a:solidFill>
                <a:latin typeface="Consolas" pitchFamily="34" charset="0"/>
                <a:ea typeface="Consolas" pitchFamily="34" charset="-122"/>
                <a:cs typeface="Consolas" pitchFamily="34" charset="-120"/>
              </a:rPr>
              <a:t>50</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0" name="Text 7"/>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3</a:t>
            </a:r>
            <a:endParaRPr lang="en-US" sz="1700" dirty="0"/>
          </a:p>
        </p:txBody>
      </p:sp>
      <p:sp>
        <p:nvSpPr>
          <p:cNvPr id="11" name="Text 8"/>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print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"All clear"</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2" name="Text 9"/>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4</a:t>
            </a:r>
            <a:endParaRPr lang="en-US" sz="1700" dirty="0"/>
          </a:p>
        </p:txBody>
      </p:sp>
      <p:sp>
        <p:nvSpPr>
          <p:cNvPr id="13" name="Text 10"/>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100" b="1" dirty="0">
                <a:solidFill>
                  <a:srgbClr val="F5F5F3"/>
                </a:solidFill>
                <a:latin typeface="Consolas" pitchFamily="34" charset="0"/>
                <a:ea typeface="Consolas" pitchFamily="34" charset="-122"/>
                <a:cs typeface="Consolas" pitchFamily="34" charset="-120"/>
              </a:rPr>
              <a:t>else</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4" name="Text 11"/>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5</a:t>
            </a:r>
            <a:endParaRPr lang="en-US" sz="1700" dirty="0"/>
          </a:p>
        </p:txBody>
      </p:sp>
      <p:sp>
        <p:nvSpPr>
          <p:cNvPr id="15" name="Text 12"/>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print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"Too close"</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6" name="Text 13"/>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6</a:t>
            </a:r>
            <a:endParaRPr lang="en-US" sz="1700" dirty="0"/>
          </a:p>
        </p:txBody>
      </p:sp>
      <p:sp>
        <p:nvSpPr>
          <p:cNvPr id="17" name="Text 14"/>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print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"Scan complete"</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8" name="click1"/>
          <p:cNvSpPr/>
          <p:nvPr/>
        </p:nvSpPr>
        <p:spPr>
          <a:xfrm>
            <a:off x="5623560" y="1874520"/>
            <a:ext cx="329184" cy="329184"/>
          </a:xfrm>
          <a:prstGeom prst="ellipse">
            <a:avLst/>
          </a:prstGeom>
          <a:solidFill>
            <a:srgbClr val="D8A73D"/>
          </a:solidFill>
          <a:ln/>
        </p:spPr>
      </p:sp>
      <p:sp>
        <p:nvSpPr>
          <p:cNvPr id="19"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0"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21" name="click1"/>
          <p:cNvSpPr/>
          <p:nvPr/>
        </p:nvSpPr>
        <p:spPr>
          <a:xfrm>
            <a:off x="6236208" y="1627632"/>
            <a:ext cx="1883664" cy="347472"/>
          </a:xfrm>
          <a:prstGeom prst="roundRect">
            <a:avLst>
              <a:gd name="adj" fmla="val 13158"/>
            </a:avLst>
          </a:prstGeom>
          <a:solidFill>
            <a:srgbClr val="56B4E9"/>
          </a:solidFill>
          <a:ln/>
        </p:spPr>
      </p:sp>
      <p:sp>
        <p:nvSpPr>
          <p:cNvPr id="22"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3"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85</a:t>
            </a:r>
            <a:endParaRPr lang="en-US" sz="2000" dirty="0"/>
          </a:p>
        </p:txBody>
      </p:sp>
      <p:sp>
        <p:nvSpPr>
          <p:cNvPr id="24" name="click2"/>
          <p:cNvSpPr/>
          <p:nvPr/>
        </p:nvSpPr>
        <p:spPr>
          <a:xfrm>
            <a:off x="5623560" y="2441448"/>
            <a:ext cx="329184" cy="329184"/>
          </a:xfrm>
          <a:prstGeom prst="ellipse">
            <a:avLst/>
          </a:prstGeom>
          <a:solidFill>
            <a:srgbClr val="D8A73D"/>
          </a:solidFill>
          <a:ln/>
        </p:spPr>
      </p:sp>
      <p:sp>
        <p:nvSpPr>
          <p:cNvPr id="25"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6"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85</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7" name="click2"/>
          <p:cNvSpPr/>
          <p:nvPr/>
        </p:nvSpPr>
        <p:spPr>
          <a:xfrm>
            <a:off x="7516368" y="2606040"/>
            <a:ext cx="365760" cy="0"/>
          </a:xfrm>
          <a:prstGeom prst="line">
            <a:avLst/>
          </a:prstGeom>
          <a:noFill/>
          <a:ln w="28575">
            <a:solidFill>
              <a:srgbClr val="A9A9B4"/>
            </a:solidFill>
            <a:prstDash val="solid"/>
            <a:tailEnd type="triangle"/>
          </a:ln>
        </p:spPr>
      </p:sp>
      <p:sp>
        <p:nvSpPr>
          <p:cNvPr id="28" name="click2"/>
          <p:cNvSpPr/>
          <p:nvPr/>
        </p:nvSpPr>
        <p:spPr>
          <a:xfrm>
            <a:off x="7973568" y="2386584"/>
            <a:ext cx="868680" cy="438912"/>
          </a:xfrm>
          <a:prstGeom prst="roundRect">
            <a:avLst>
              <a:gd name="adj" fmla="val 16667"/>
            </a:avLst>
          </a:prstGeom>
          <a:solidFill>
            <a:srgbClr val="7FD99A"/>
          </a:solidFill>
          <a:ln/>
        </p:spPr>
      </p:sp>
      <p:sp>
        <p:nvSpPr>
          <p:cNvPr id="29"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30" name="click3"/>
          <p:cNvSpPr/>
          <p:nvPr/>
        </p:nvSpPr>
        <p:spPr>
          <a:xfrm>
            <a:off x="5623560" y="3008376"/>
            <a:ext cx="329184" cy="329184"/>
          </a:xfrm>
          <a:prstGeom prst="ellipse">
            <a:avLst/>
          </a:prstGeom>
          <a:solidFill>
            <a:srgbClr val="D8A73D"/>
          </a:solidFill>
          <a:ln/>
        </p:spPr>
      </p:sp>
      <p:sp>
        <p:nvSpPr>
          <p:cNvPr id="31"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2"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3"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4"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5" name="click4"/>
          <p:cNvSpPr/>
          <p:nvPr/>
        </p:nvSpPr>
        <p:spPr>
          <a:xfrm>
            <a:off x="9098280" y="1554480"/>
            <a:ext cx="329184" cy="329184"/>
          </a:xfrm>
          <a:prstGeom prst="ellipse">
            <a:avLst/>
          </a:prstGeom>
          <a:solidFill>
            <a:srgbClr val="D8A73D"/>
          </a:solidFill>
          <a:ln/>
        </p:spPr>
      </p:sp>
      <p:sp>
        <p:nvSpPr>
          <p:cNvPr id="36"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7"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8" name="click4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39"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All clear</a:t>
            </a:r>
            <a:endParaRPr lang="en-US" sz="2000" dirty="0"/>
          </a:p>
        </p:txBody>
      </p:sp>
      <p:sp>
        <p:nvSpPr>
          <p:cNvPr id="40" name="Shape 37"/>
          <p:cNvSpPr/>
          <p:nvPr/>
        </p:nvSpPr>
        <p:spPr>
          <a:xfrm>
            <a:off x="548640" y="5559552"/>
            <a:ext cx="11091672" cy="566928"/>
          </a:xfrm>
          <a:prstGeom prst="roundRect">
            <a:avLst>
              <a:gd name="adj" fmla="val 12903"/>
            </a:avLst>
          </a:prstGeom>
          <a:solidFill>
            <a:srgbClr val="2A2A32"/>
          </a:solidFill>
          <a:ln/>
        </p:spPr>
      </p:sp>
      <p:sp>
        <p:nvSpPr>
          <p:cNvPr id="41" name="Shape 38"/>
          <p:cNvSpPr/>
          <p:nvPr/>
        </p:nvSpPr>
        <p:spPr>
          <a:xfrm>
            <a:off x="731520" y="5678424"/>
            <a:ext cx="329184" cy="329184"/>
          </a:xfrm>
          <a:prstGeom prst="ellipse">
            <a:avLst/>
          </a:prstGeom>
          <a:solidFill>
            <a:srgbClr val="D8A73D"/>
          </a:solidFill>
          <a:ln/>
        </p:spPr>
      </p:sp>
      <p:sp>
        <p:nvSpPr>
          <p:cNvPr id="42" name="Text 39"/>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3" name="Text 40"/>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4" name="Shape 41"/>
          <p:cNvSpPr/>
          <p:nvPr/>
        </p:nvSpPr>
        <p:spPr>
          <a:xfrm>
            <a:off x="3504438" y="5678424"/>
            <a:ext cx="329184" cy="329184"/>
          </a:xfrm>
          <a:prstGeom prst="ellipse">
            <a:avLst/>
          </a:prstGeom>
          <a:solidFill>
            <a:srgbClr val="D8A73D"/>
          </a:solidFill>
          <a:ln/>
        </p:spPr>
      </p:sp>
      <p:sp>
        <p:nvSpPr>
          <p:cNvPr id="45" name="Text 42"/>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6" name="Text 43"/>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7" name="Shape 44"/>
          <p:cNvSpPr/>
          <p:nvPr/>
        </p:nvSpPr>
        <p:spPr>
          <a:xfrm>
            <a:off x="6277356" y="5678424"/>
            <a:ext cx="329184" cy="329184"/>
          </a:xfrm>
          <a:prstGeom prst="ellipse">
            <a:avLst/>
          </a:prstGeom>
          <a:solidFill>
            <a:srgbClr val="D8A73D"/>
          </a:solidFill>
          <a:ln/>
        </p:spPr>
      </p:sp>
      <p:sp>
        <p:nvSpPr>
          <p:cNvPr id="48" name="Text 45"/>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9" name="Text 46"/>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0" name="Shape 47"/>
          <p:cNvSpPr/>
          <p:nvPr/>
        </p:nvSpPr>
        <p:spPr>
          <a:xfrm>
            <a:off x="9050274" y="5678424"/>
            <a:ext cx="329184" cy="329184"/>
          </a:xfrm>
          <a:prstGeom prst="ellipse">
            <a:avLst/>
          </a:prstGeom>
          <a:solidFill>
            <a:srgbClr val="D8A73D"/>
          </a:solidFill>
          <a:ln/>
        </p:spPr>
      </p:sp>
      <p:sp>
        <p:nvSpPr>
          <p:cNvPr id="51" name="Text 48"/>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2" name="Text 49"/>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3" name="Shape 50"/>
          <p:cNvSpPr/>
          <p:nvPr/>
        </p:nvSpPr>
        <p:spPr>
          <a:xfrm>
            <a:off x="9464040" y="566928"/>
            <a:ext cx="1280160" cy="329184"/>
          </a:xfrm>
          <a:prstGeom prst="roundRect">
            <a:avLst>
              <a:gd name="adj" fmla="val 50000"/>
            </a:avLst>
          </a:prstGeom>
          <a:solidFill>
            <a:srgbClr val="D8A73D"/>
          </a:solidFill>
          <a:ln/>
        </p:spPr>
      </p:sp>
      <p:sp>
        <p:nvSpPr>
          <p:cNvPr id="54"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5"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0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50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00"/>
                                        <p:tgtEl>
                                          <p:spTgt spid="3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00"/>
                                        <p:tgtEl>
                                          <p:spTgt spid="3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5"/>
                                        </p:tgtEl>
                                        <p:attrNameLst>
                                          <p:attrName>style.visibility</p:attrName>
                                        </p:attrNameLst>
                                      </p:cBhvr>
                                      <p:to>
                                        <p:strVal val="visible"/>
                                      </p:to>
                                    </p:set>
                                    <p:animEffect transition="in" filter="fade">
                                      <p:cBhvr>
                                        <p:cTn id="64" dur="500"/>
                                        <p:tgtEl>
                                          <p:spTgt spid="3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childTnLst>
                                </p:cTn>
                              </p:par>
                              <p:par>
                                <p:cTn id="71" presetID="10" presetClass="entr" presetSubtype="0" fill="hold"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5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3" grpId="0" animBg="1"/>
      <p:bldP spid="25" grpId="0" animBg="1"/>
      <p:bldP spid="26" grpId="0" animBg="1"/>
      <p:bldP spid="29" grpId="0" animBg="1"/>
      <p:bldP spid="31" grpId="0" animBg="1"/>
      <p:bldP spid="32" grpId="0" animBg="1"/>
      <p:bldP spid="33" grpId="0" animBg="1"/>
      <p:bldP spid="34" grpId="0" animBg="1"/>
      <p:bldP spid="36" grpId="0" animBg="1"/>
      <p:bldP spid="37" grpId="0" animBg="1"/>
      <p:bldP spid="3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input() gives text. int() makes it a number.</a:t>
            </a:r>
            <a:endParaRPr lang="en-US" sz="3600" dirty="0"/>
          </a:p>
        </p:txBody>
      </p:sp>
      <p:sp>
        <p:nvSpPr>
          <p:cNvPr id="5"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6"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7"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8"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9" name="click1"/>
          <p:cNvSpPr txBox="1"/>
          <p:nvPr/>
        </p:nvSpPr>
        <p:spPr>
          <a:xfrm>
            <a:off x="658368" y="2075688"/>
            <a:ext cx="274320" cy="440055"/>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1</a:t>
            </a:r>
            <a:endParaRPr lang="en-US" sz="1700" dirty="0"/>
          </a:p>
        </p:txBody>
      </p:sp>
      <p:sp>
        <p:nvSpPr>
          <p:cNvPr id="10" name="click1"/>
          <p:cNvSpPr txBox="1"/>
          <p:nvPr/>
        </p:nvSpPr>
        <p:spPr>
          <a:xfrm>
            <a:off x="1188720" y="2075688"/>
            <a:ext cx="4846320" cy="440055"/>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dist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input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"Dist? "</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1"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and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was typed, as </a:t>
            </a:r>
            <a:pPr indent="0" marL="0">
              <a:buNone/>
            </a:pPr>
            <a:r>
              <a:rPr lang="en-US" sz="2000" b="1" dirty="0">
                <a:solidFill>
                  <a:srgbClr val="E69F00"/>
                </a:solidFill>
                <a:latin typeface="Calibri" pitchFamily="34" charset="0"/>
                <a:ea typeface="Calibri" pitchFamily="34" charset="-122"/>
                <a:cs typeface="Calibri" pitchFamily="34" charset="-120"/>
              </a:rPr>
              <a:t>text</a:t>
            </a:r>
            <a:pPr indent="0" marL="0">
              <a:buNone/>
            </a:pPr>
            <a:r>
              <a:rPr lang="en-US" sz="2000" dirty="0">
                <a:solidFill>
                  <a:srgbClr val="F5F5F3"/>
                </a:solidFill>
                <a:latin typeface="Calibri" pitchFamily="34" charset="0"/>
                <a:ea typeface="Calibri" pitchFamily="34" charset="-122"/>
                <a:cs typeface="Calibri" pitchFamily="34" charset="-120"/>
              </a:rPr>
              <a:t>, even though it looks like a number</a:t>
            </a:r>
            <a:endParaRPr lang="en-US" sz="2000" dirty="0"/>
          </a:p>
        </p:txBody>
      </p:sp>
      <p:sp>
        <p:nvSpPr>
          <p:cNvPr id="12"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3"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 </a:t>
            </a:r>
            <a:pPr indent="0" marL="0">
              <a:buNone/>
            </a:pPr>
            <a:r>
              <a:rPr lang="en-US" sz="2200" b="1" dirty="0">
                <a:solidFill>
                  <a:srgbClr val="E69F00"/>
                </a:solidFill>
                <a:latin typeface="Consolas" pitchFamily="34" charset="0"/>
                <a:ea typeface="Consolas" pitchFamily="34" charset="-122"/>
                <a:cs typeface="Consolas" pitchFamily="34" charset="-120"/>
              </a:rPr>
              <a:t>30</a:t>
            </a:r>
            <a:endParaRPr lang="en-US" sz="2200" dirty="0"/>
          </a:p>
        </p:txBody>
      </p:sp>
      <p:sp>
        <p:nvSpPr>
          <p:cNvPr id="14"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30</a:t>
            </a:r>
            <a:endParaRPr lang="en-US" sz="1400" dirty="0"/>
          </a:p>
        </p:txBody>
      </p:sp>
      <p:sp>
        <p:nvSpPr>
          <p:cNvPr id="15"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6" name="click3"/>
          <p:cNvSpPr/>
          <p:nvPr/>
        </p:nvSpPr>
        <p:spPr>
          <a:xfrm>
            <a:off x="9738360" y="1965960"/>
            <a:ext cx="1481328" cy="347472"/>
          </a:xfrm>
          <a:prstGeom prst="roundRect">
            <a:avLst>
              <a:gd name="adj" fmla="val 13158"/>
            </a:avLst>
          </a:prstGeom>
          <a:solidFill>
            <a:srgbClr val="E69F00"/>
          </a:solidFill>
          <a:ln/>
        </p:spPr>
      </p:sp>
      <p:sp>
        <p:nvSpPr>
          <p:cNvPr id="17"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  ·  str</a:t>
            </a:r>
            <a:endParaRPr lang="en-US" sz="1400" dirty="0"/>
          </a:p>
        </p:txBody>
      </p:sp>
      <p:sp>
        <p:nvSpPr>
          <p:cNvPr id="18"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"30"</a:t>
            </a:r>
            <a:endParaRPr lang="en-US" sz="2400" dirty="0"/>
          </a:p>
        </p:txBody>
      </p:sp>
      <p:sp>
        <p:nvSpPr>
          <p:cNvPr id="19" name="click3"/>
          <p:cNvSpPr txBox="1"/>
          <p:nvPr/>
        </p:nvSpPr>
        <p:spPr>
          <a:xfrm>
            <a:off x="9601200" y="310896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Text: can’t compare with 50</a:t>
            </a:r>
            <a:endParaRPr lang="en-US" sz="1400" dirty="0"/>
          </a:p>
        </p:txBody>
      </p:sp>
      <p:sp>
        <p:nvSpPr>
          <p:cNvPr id="20" name="click4"/>
          <p:cNvSpPr/>
          <p:nvPr/>
        </p:nvSpPr>
        <p:spPr>
          <a:xfrm>
            <a:off x="548640" y="3977640"/>
            <a:ext cx="11091672" cy="0"/>
          </a:xfrm>
          <a:prstGeom prst="line">
            <a:avLst/>
          </a:prstGeom>
          <a:noFill/>
          <a:ln w="12700">
            <a:solidFill>
              <a:srgbClr val="3A3A44"/>
            </a:solidFill>
            <a:prstDash val="solid"/>
          </a:ln>
        </p:spPr>
      </p:sp>
      <p:sp>
        <p:nvSpPr>
          <p:cNvPr id="21"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click4"/>
          <p:cNvSpPr txBox="1"/>
          <p:nvPr/>
        </p:nvSpPr>
        <p:spPr>
          <a:xfrm>
            <a:off x="658368" y="4270248"/>
            <a:ext cx="274320" cy="440055"/>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2</a:t>
            </a:r>
            <a:endParaRPr lang="en-US" sz="1700" dirty="0"/>
          </a:p>
        </p:txBody>
      </p:sp>
      <p:sp>
        <p:nvSpPr>
          <p:cNvPr id="23" name="click4"/>
          <p:cNvSpPr txBox="1"/>
          <p:nvPr/>
        </p:nvSpPr>
        <p:spPr>
          <a:xfrm>
            <a:off x="1188720" y="4270248"/>
            <a:ext cx="4846320" cy="440055"/>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dist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8C878"/>
                </a:solidFill>
                <a:latin typeface="Consolas" pitchFamily="34" charset="0"/>
                <a:ea typeface="Consolas" pitchFamily="34" charset="-122"/>
                <a:cs typeface="Consolas" pitchFamily="34" charset="-120"/>
              </a:rPr>
              <a:t>input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"Dist?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24"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dirty="0">
                <a:solidFill>
                  <a:srgbClr val="F5F5F3"/>
                </a:solidFill>
                <a:latin typeface="Consolas" pitchFamily="34" charset="0"/>
                <a:ea typeface="Consolas" pitchFamily="34" charset="-122"/>
                <a:cs typeface="Consolas" pitchFamily="34" charset="-120"/>
              </a:rPr>
              <a:t>int()</a:t>
            </a:r>
            <a:pPr indent="0" marL="0">
              <a:buNone/>
            </a:pPr>
            <a:r>
              <a:rPr lang="en-US" sz="2000" dirty="0">
                <a:solidFill>
                  <a:srgbClr val="F5F5F3"/>
                </a:solidFill>
                <a:latin typeface="Calibri" pitchFamily="34" charset="0"/>
                <a:ea typeface="Calibri" pitchFamily="34" charset="-122"/>
                <a:cs typeface="Calibri" pitchFamily="34" charset="-120"/>
              </a:rPr>
              <a:t> turns the text into a </a:t>
            </a:r>
            <a:pPr indent="0" marL="0">
              <a:buNone/>
            </a:pPr>
            <a:r>
              <a:rPr lang="en-US" sz="2000" b="1" dirty="0">
                <a:solidFill>
                  <a:srgbClr val="56B4E9"/>
                </a:solidFill>
                <a:latin typeface="Calibri" pitchFamily="34" charset="0"/>
                <a:ea typeface="Calibri" pitchFamily="34" charset="-122"/>
                <a:cs typeface="Calibri" pitchFamily="34" charset="-120"/>
              </a:rPr>
              <a:t>whole number</a:t>
            </a:r>
            <a:pPr indent="0" marL="0">
              <a:buNone/>
            </a:pPr>
            <a:r>
              <a:rPr lang="en-US" sz="2000" dirty="0">
                <a:solidFill>
                  <a:srgbClr val="F5F5F3"/>
                </a:solidFill>
                <a:latin typeface="Calibri" pitchFamily="34" charset="0"/>
                <a:ea typeface="Calibri" pitchFamily="34" charset="-122"/>
                <a:cs typeface="Calibri" pitchFamily="34" charset="-120"/>
              </a:rPr>
              <a:t> before = stores it</a:t>
            </a:r>
            <a:endParaRPr lang="en-US" sz="2000" dirty="0"/>
          </a:p>
        </p:txBody>
      </p:sp>
      <p:sp>
        <p:nvSpPr>
          <p:cNvPr id="25"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 </a:t>
            </a:r>
            <a:pPr indent="0" marL="0">
              <a:buNone/>
            </a:pPr>
            <a:r>
              <a:rPr lang="en-US" sz="2200" b="1" dirty="0">
                <a:solidFill>
                  <a:srgbClr val="E69F00"/>
                </a:solidFill>
                <a:latin typeface="Consolas" pitchFamily="34" charset="0"/>
                <a:ea typeface="Consolas" pitchFamily="34" charset="-122"/>
                <a:cs typeface="Consolas" pitchFamily="34" charset="-120"/>
              </a:rPr>
              <a:t>30</a:t>
            </a:r>
            <a:endParaRPr lang="en-US" sz="2200" dirty="0"/>
          </a:p>
        </p:txBody>
      </p:sp>
      <p:sp>
        <p:nvSpPr>
          <p:cNvPr id="27" name="click5"/>
          <p:cNvSpPr txBox="1"/>
          <p:nvPr/>
        </p:nvSpPr>
        <p:spPr>
          <a:xfrm>
            <a:off x="6446520" y="548640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same 30 typed</a:t>
            </a:r>
            <a:endParaRPr lang="en-US" sz="1400" dirty="0"/>
          </a:p>
        </p:txBody>
      </p:sp>
      <p:sp>
        <p:nvSpPr>
          <p:cNvPr id="28" name="click6"/>
          <p:cNvSpPr/>
          <p:nvPr/>
        </p:nvSpPr>
        <p:spPr>
          <a:xfrm>
            <a:off x="9601200" y="4343400"/>
            <a:ext cx="2039112" cy="868680"/>
          </a:xfrm>
          <a:prstGeom prst="roundRect">
            <a:avLst>
              <a:gd name="adj" fmla="val 6316"/>
            </a:avLst>
          </a:prstGeom>
          <a:solidFill>
            <a:srgbClr val="111115"/>
          </a:solidFill>
          <a:ln w="25400">
            <a:solidFill>
              <a:srgbClr val="56B4E9"/>
            </a:solidFill>
            <a:prstDash val="solid"/>
          </a:ln>
        </p:spPr>
      </p:sp>
      <p:sp>
        <p:nvSpPr>
          <p:cNvPr id="29" name="click6"/>
          <p:cNvSpPr/>
          <p:nvPr/>
        </p:nvSpPr>
        <p:spPr>
          <a:xfrm>
            <a:off x="9738360" y="4160520"/>
            <a:ext cx="1481328" cy="347472"/>
          </a:xfrm>
          <a:prstGeom prst="roundRect">
            <a:avLst>
              <a:gd name="adj" fmla="val 13158"/>
            </a:avLst>
          </a:prstGeom>
          <a:solidFill>
            <a:srgbClr val="56B4E9"/>
          </a:solidFill>
          <a:ln/>
        </p:spPr>
      </p:sp>
      <p:sp>
        <p:nvSpPr>
          <p:cNvPr id="30"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  ·  int</a:t>
            </a:r>
            <a:endParaRPr lang="en-US" sz="1400" dirty="0"/>
          </a:p>
        </p:txBody>
      </p:sp>
      <p:sp>
        <p:nvSpPr>
          <p:cNvPr id="31"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30</a:t>
            </a:r>
            <a:endParaRPr lang="en-US" sz="2400" dirty="0"/>
          </a:p>
        </p:txBody>
      </p:sp>
      <p:sp>
        <p:nvSpPr>
          <p:cNvPr id="32"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A number: 30 &gt;= 50 works</a:t>
            </a:r>
            <a:endParaRPr lang="en-US" sz="1400" dirty="0"/>
          </a:p>
        </p:txBody>
      </p:sp>
      <p:pic>
        <p:nvPicPr>
          <p:cNvPr id="33"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par>
                                <p:cTn id="33" presetID="10"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00"/>
                                        <p:tgtEl>
                                          <p:spTgt spid="30"/>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500"/>
                                        <p:tgtEl>
                                          <p:spTgt spid="31"/>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7" grpId="0" animBg="1"/>
      <p:bldP spid="18" grpId="0" animBg="1"/>
      <p:bldP spid="19" grpId="0" animBg="1"/>
      <p:bldP spid="22" grpId="0" animBg="1"/>
      <p:bldP spid="23" grpId="0" animBg="1"/>
      <p:bldP spid="24" grpId="0" animBg="1"/>
      <p:bldP spid="26" grpId="0" animBg="1"/>
      <p:bldP spid="27" grpId="0" animBg="1"/>
      <p:bldP spid="30" grpId="0" animBg="1"/>
      <p:bldP spid="31" grpId="0" animBg="1"/>
      <p:bldP spid="3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Proximity</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SENSOR OPS</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room is empty.</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Frost on the floor.</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 vent cover hangs open</a:t>
            </a:r>
            <a:endParaRPr lang="en-US" sz="2000" dirty="0"/>
          </a:p>
        </p:txBody>
      </p:sp>
      <p:sp>
        <p:nvSpPr>
          <p:cNvPr id="12" name="Text 9"/>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above the console.</a:t>
            </a:r>
            <a:endParaRPr lang="en-US" sz="2000" dirty="0"/>
          </a:p>
        </p:txBody>
      </p:sp>
      <p:sp>
        <p:nvSpPr>
          <p:cNvPr id="13" name="Shape 10"/>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11"/>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2"/>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Proximity</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3"/>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4"/>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5"/>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6"/>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7"/>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8"/>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9"/>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20"/>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21"/>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2"/>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3"/>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4"/>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5"/>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6"/>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7"/>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8"/>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Three calls this time: </a:t>
            </a:r>
            <a:pPr indent="0" marL="0">
              <a:buNone/>
            </a:pPr>
            <a:r>
              <a:rPr lang="en-US" sz="1900" dirty="0">
                <a:solidFill>
                  <a:srgbClr val="F5F5F3"/>
                </a:solidFill>
                <a:latin typeface="Calibri" pitchFamily="34" charset="0"/>
                <a:ea typeface="Calibri" pitchFamily="34" charset="-122"/>
                <a:cs typeface="Calibri" pitchFamily="34" charset="-120"/>
              </a:rPr>
              <a:t>in Investigate, Modify and Make. They change the story, not your score.</a:t>
            </a:r>
            <a:endParaRPr lang="en-US" sz="1900" dirty="0"/>
          </a:p>
        </p:txBody>
      </p:sp>
      <p:sp>
        <p:nvSpPr>
          <p:cNvPr id="32" name="Shape 29"/>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30"/>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≈30 MIN</a:t>
            </a:r>
            <a:endParaRPr lang="en-US" sz="1400" dirty="0"/>
          </a:p>
        </p:txBody>
      </p:sp>
      <p:pic>
        <p:nvPicPr>
          <p:cNvPr id="34"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 stores. == asks.</a:t>
            </a:r>
            <a:endParaRPr lang="en-US" sz="3600" dirty="0"/>
          </a:p>
        </p:txBody>
      </p:sp>
      <p:sp>
        <p:nvSpPr>
          <p:cNvPr id="5" name="code"/>
          <p:cNvSpPr/>
          <p:nvPr/>
        </p:nvSpPr>
        <p:spPr>
          <a:xfrm>
            <a:off x="548640" y="1691640"/>
            <a:ext cx="4206240" cy="960120"/>
          </a:xfrm>
          <a:prstGeom prst="roundRect">
            <a:avLst>
              <a:gd name="adj" fmla="val 7619"/>
            </a:avLst>
          </a:prstGeom>
          <a:solidFill>
            <a:srgbClr val="111115"/>
          </a:solidFill>
          <a:ln w="15875">
            <a:solidFill>
              <a:srgbClr val="3A3A44"/>
            </a:solidFill>
            <a:prstDash val="solid"/>
          </a:ln>
        </p:spPr>
      </p:sp>
      <p:sp>
        <p:nvSpPr>
          <p:cNvPr id="6" name="Text 3"/>
          <p:cNvSpPr txBox="1"/>
          <p:nvPr/>
        </p:nvSpPr>
        <p:spPr>
          <a:xfrm>
            <a:off x="731520" y="1892808"/>
            <a:ext cx="3931920" cy="586740"/>
          </a:xfrm>
          <a:prstGeom prst="rect">
            <a:avLst/>
          </a:prstGeom>
          <a:noFill/>
          <a:ln/>
        </p:spPr>
        <p:txBody>
          <a:bodyPr wrap="square" lIns="0" tIns="0" rIns="0" bIns="0" rtlCol="0" anchor="ctr"/>
          <a:lstStyle/>
          <a:p>
            <a:pPr indent="0" marL="0">
              <a:buNone/>
            </a:pPr>
            <a:r>
              <a:rPr lang="en-US" sz="2800" dirty="0">
                <a:solidFill>
                  <a:srgbClr val="F5F5F3"/>
                </a:solidFill>
                <a:latin typeface="Consolas" pitchFamily="34" charset="0"/>
                <a:ea typeface="Consolas" pitchFamily="34" charset="-122"/>
                <a:cs typeface="Consolas" pitchFamily="34" charset="-120"/>
              </a:rPr>
              <a:t>distance</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30</a:t>
            </a:r>
            <a:endParaRPr lang="en-US" sz="2800" dirty="0"/>
          </a:p>
        </p:txBody>
      </p:sp>
      <p:sp>
        <p:nvSpPr>
          <p:cNvPr id="7" name="Shape 4"/>
          <p:cNvSpPr/>
          <p:nvPr/>
        </p:nvSpPr>
        <p:spPr>
          <a:xfrm>
            <a:off x="4892040" y="2167128"/>
            <a:ext cx="548640" cy="0"/>
          </a:xfrm>
          <a:prstGeom prst="line">
            <a:avLst/>
          </a:prstGeom>
          <a:noFill/>
          <a:ln w="28575">
            <a:solidFill>
              <a:srgbClr val="A9A9B4"/>
            </a:solidFill>
            <a:prstDash val="solid"/>
            <a:tailEnd type="triangle"/>
          </a:ln>
        </p:spPr>
      </p:sp>
      <p:sp>
        <p:nvSpPr>
          <p:cNvPr id="8" name="Text 5"/>
          <p:cNvSpPr txBox="1"/>
          <p:nvPr/>
        </p:nvSpPr>
        <p:spPr>
          <a:xfrm>
            <a:off x="5623560" y="1600200"/>
            <a:ext cx="3291840" cy="1143000"/>
          </a:xfrm>
          <a:prstGeom prst="rect">
            <a:avLst/>
          </a:prstGeom>
          <a:noFill/>
          <a:ln/>
        </p:spPr>
        <p:txBody>
          <a:bodyPr wrap="square" lIns="0" tIns="0" rIns="0" bIns="0" rtlCol="0" anchor="ctr"/>
          <a:lstStyle/>
          <a:p>
            <a:pPr indent="0" marL="0">
              <a:buNone/>
            </a:pPr>
            <a:r>
              <a:rPr lang="en-US" sz="2600" b="1" dirty="0">
                <a:solidFill>
                  <a:srgbClr val="D8A73D"/>
                </a:solidFill>
                <a:latin typeface="Cambria" pitchFamily="34" charset="0"/>
                <a:ea typeface="Cambria" pitchFamily="34" charset="-122"/>
                <a:cs typeface="Cambria" pitchFamily="34" charset="-120"/>
              </a:rPr>
              <a:t>STORES</a:t>
            </a:r>
            <a:pPr indent="0" marL="0">
              <a:buNone/>
            </a:pPr>
            <a:endParaRPr lang="en-US" sz="2600" dirty="0"/>
          </a:p>
          <a:p>
            <a:pPr indent="0" marL="0">
              <a:buNone/>
            </a:pPr>
            <a:r>
              <a:rPr lang="en-US" sz="2200" dirty="0">
                <a:solidFill>
                  <a:srgbClr val="F5F5F3"/>
                </a:solidFill>
                <a:latin typeface="Calibri" pitchFamily="34" charset="0"/>
                <a:ea typeface="Calibri" pitchFamily="34" charset="-122"/>
                <a:cs typeface="Calibri" pitchFamily="34" charset="-120"/>
              </a:rPr>
              <a:t>puts 30 in the box</a:t>
            </a:r>
            <a:endParaRPr lang="en-US" sz="2600" dirty="0"/>
          </a:p>
        </p:txBody>
      </p:sp>
      <p:sp>
        <p:nvSpPr>
          <p:cNvPr id="9" name="Shape 6"/>
          <p:cNvSpPr/>
          <p:nvPr/>
        </p:nvSpPr>
        <p:spPr>
          <a:xfrm>
            <a:off x="9098280" y="1764792"/>
            <a:ext cx="2377440" cy="868680"/>
          </a:xfrm>
          <a:prstGeom prst="roundRect">
            <a:avLst>
              <a:gd name="adj" fmla="val 6316"/>
            </a:avLst>
          </a:prstGeom>
          <a:solidFill>
            <a:srgbClr val="111115"/>
          </a:solidFill>
          <a:ln w="25400">
            <a:solidFill>
              <a:srgbClr val="56B4E9"/>
            </a:solidFill>
            <a:prstDash val="solid"/>
          </a:ln>
        </p:spPr>
      </p:sp>
      <p:sp>
        <p:nvSpPr>
          <p:cNvPr id="10" name="Shape 7"/>
          <p:cNvSpPr/>
          <p:nvPr/>
        </p:nvSpPr>
        <p:spPr>
          <a:xfrm>
            <a:off x="9235440" y="1581912"/>
            <a:ext cx="1883664" cy="347472"/>
          </a:xfrm>
          <a:prstGeom prst="roundRect">
            <a:avLst>
              <a:gd name="adj" fmla="val 13158"/>
            </a:avLst>
          </a:prstGeom>
          <a:solidFill>
            <a:srgbClr val="56B4E9"/>
          </a:solidFill>
          <a:ln/>
        </p:spPr>
      </p:sp>
      <p:sp>
        <p:nvSpPr>
          <p:cNvPr id="11" name="Text 8"/>
          <p:cNvSpPr txBox="1"/>
          <p:nvPr/>
        </p:nvSpPr>
        <p:spPr>
          <a:xfrm>
            <a:off x="9235440" y="158191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12" name="Text 9"/>
          <p:cNvSpPr txBox="1"/>
          <p:nvPr/>
        </p:nvSpPr>
        <p:spPr>
          <a:xfrm>
            <a:off x="9189720" y="1947672"/>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30</a:t>
            </a:r>
            <a:endParaRPr lang="en-US" sz="2600" dirty="0"/>
          </a:p>
        </p:txBody>
      </p:sp>
      <p:sp>
        <p:nvSpPr>
          <p:cNvPr id="13" name="code"/>
          <p:cNvSpPr/>
          <p:nvPr/>
        </p:nvSpPr>
        <p:spPr>
          <a:xfrm>
            <a:off x="548640" y="3154680"/>
            <a:ext cx="4206240" cy="960120"/>
          </a:xfrm>
          <a:prstGeom prst="roundRect">
            <a:avLst>
              <a:gd name="adj" fmla="val 7619"/>
            </a:avLst>
          </a:prstGeom>
          <a:solidFill>
            <a:srgbClr val="111115"/>
          </a:solidFill>
          <a:ln w="15875">
            <a:solidFill>
              <a:srgbClr val="3A3A44"/>
            </a:solidFill>
            <a:prstDash val="solid"/>
          </a:ln>
        </p:spPr>
      </p:sp>
      <p:sp>
        <p:nvSpPr>
          <p:cNvPr id="14" name="Text 11"/>
          <p:cNvSpPr txBox="1"/>
          <p:nvPr/>
        </p:nvSpPr>
        <p:spPr>
          <a:xfrm>
            <a:off x="731520" y="3355848"/>
            <a:ext cx="3931920" cy="586740"/>
          </a:xfrm>
          <a:prstGeom prst="rect">
            <a:avLst/>
          </a:prstGeom>
          <a:noFill/>
          <a:ln/>
        </p:spPr>
        <p:txBody>
          <a:bodyPr wrap="square" lIns="0" tIns="0" rIns="0" bIns="0" rtlCol="0" anchor="ctr"/>
          <a:lstStyle/>
          <a:p>
            <a:pPr indent="0" marL="0">
              <a:buNone/>
            </a:pPr>
            <a:r>
              <a:rPr lang="en-US" sz="2800" dirty="0">
                <a:solidFill>
                  <a:srgbClr val="F5F5F3"/>
                </a:solidFill>
                <a:latin typeface="Consolas" pitchFamily="34" charset="0"/>
                <a:ea typeface="Consolas" pitchFamily="34" charset="-122"/>
                <a:cs typeface="Consolas" pitchFamily="34" charset="-120"/>
              </a:rPr>
              <a:t>distance</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b="1" dirty="0">
                <a:solidFill>
                  <a:srgbClr val="F5F5F3"/>
                </a:solidFill>
                <a:latin typeface="Consolas" pitchFamily="34" charset="0"/>
                <a:ea typeface="Consolas" pitchFamily="34" charset="-122"/>
                <a:cs typeface="Consolas" pitchFamily="34" charset="-120"/>
              </a:rPr>
              <a: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30</a:t>
            </a:r>
            <a:endParaRPr lang="en-US" sz="2800" dirty="0"/>
          </a:p>
        </p:txBody>
      </p:sp>
      <p:sp>
        <p:nvSpPr>
          <p:cNvPr id="15" name="Shape 12"/>
          <p:cNvSpPr/>
          <p:nvPr/>
        </p:nvSpPr>
        <p:spPr>
          <a:xfrm>
            <a:off x="4892040" y="3630168"/>
            <a:ext cx="548640" cy="0"/>
          </a:xfrm>
          <a:prstGeom prst="line">
            <a:avLst/>
          </a:prstGeom>
          <a:noFill/>
          <a:ln w="28575">
            <a:solidFill>
              <a:srgbClr val="A9A9B4"/>
            </a:solidFill>
            <a:prstDash val="solid"/>
            <a:tailEnd type="triangle"/>
          </a:ln>
        </p:spPr>
      </p:sp>
      <p:sp>
        <p:nvSpPr>
          <p:cNvPr id="16" name="Text 13"/>
          <p:cNvSpPr txBox="1"/>
          <p:nvPr/>
        </p:nvSpPr>
        <p:spPr>
          <a:xfrm>
            <a:off x="5623560" y="3063240"/>
            <a:ext cx="3291840" cy="1143000"/>
          </a:xfrm>
          <a:prstGeom prst="rect">
            <a:avLst/>
          </a:prstGeom>
          <a:noFill/>
          <a:ln/>
        </p:spPr>
        <p:txBody>
          <a:bodyPr wrap="square" lIns="0" tIns="0" rIns="0" bIns="0" rtlCol="0" anchor="ctr"/>
          <a:lstStyle/>
          <a:p>
            <a:pPr indent="0" marL="0">
              <a:buNone/>
            </a:pPr>
            <a:r>
              <a:rPr lang="en-US" sz="2600" b="1" dirty="0">
                <a:solidFill>
                  <a:srgbClr val="56B4E9"/>
                </a:solidFill>
                <a:latin typeface="Cambria" pitchFamily="34" charset="0"/>
                <a:ea typeface="Cambria" pitchFamily="34" charset="-122"/>
                <a:cs typeface="Cambria" pitchFamily="34" charset="-120"/>
              </a:rPr>
              <a:t>ASKS</a:t>
            </a:r>
            <a:pPr indent="0" marL="0">
              <a:buNone/>
            </a:pPr>
            <a:endParaRPr lang="en-US" sz="2600" dirty="0"/>
          </a:p>
          <a:p>
            <a:pPr indent="0" marL="0">
              <a:buNone/>
            </a:pPr>
            <a:r>
              <a:rPr lang="en-US" sz="2200" dirty="0">
                <a:solidFill>
                  <a:srgbClr val="F5F5F3"/>
                </a:solidFill>
                <a:latin typeface="Calibri" pitchFamily="34" charset="0"/>
                <a:ea typeface="Calibri" pitchFamily="34" charset="-122"/>
                <a:cs typeface="Calibri" pitchFamily="34" charset="-120"/>
              </a:rPr>
              <a:t>is it 30?  →  True or False</a:t>
            </a:r>
            <a:endParaRPr lang="en-US" sz="2600" dirty="0"/>
          </a:p>
        </p:txBody>
      </p:sp>
      <p:sp>
        <p:nvSpPr>
          <p:cNvPr id="17" name="Shape 14"/>
          <p:cNvSpPr/>
          <p:nvPr/>
        </p:nvSpPr>
        <p:spPr>
          <a:xfrm>
            <a:off x="9098280" y="3337560"/>
            <a:ext cx="1371600" cy="594360"/>
          </a:xfrm>
          <a:prstGeom prst="roundRect">
            <a:avLst>
              <a:gd name="adj" fmla="val 12308"/>
            </a:avLst>
          </a:prstGeom>
          <a:solidFill>
            <a:srgbClr val="7FD99A"/>
          </a:solidFill>
          <a:ln/>
        </p:spPr>
      </p:sp>
      <p:sp>
        <p:nvSpPr>
          <p:cNvPr id="18" name="Text 15"/>
          <p:cNvSpPr txBox="1"/>
          <p:nvPr/>
        </p:nvSpPr>
        <p:spPr>
          <a:xfrm>
            <a:off x="9098280" y="3337560"/>
            <a:ext cx="1371600" cy="594360"/>
          </a:xfrm>
          <a:prstGeom prst="rect">
            <a:avLst/>
          </a:prstGeom>
          <a:noFill/>
          <a:ln/>
        </p:spPr>
        <p:txBody>
          <a:bodyPr wrap="square" lIns="0" tIns="0" rIns="0" bIns="0" rtlCol="0" anchor="ctr"/>
          <a:lstStyle/>
          <a:p>
            <a:pPr algn="ctr" indent="0" marL="0">
              <a:buNone/>
            </a:pPr>
            <a:r>
              <a:rPr lang="en-US" sz="2600" b="1" dirty="0">
                <a:solidFill>
                  <a:srgbClr val="111115"/>
                </a:solidFill>
                <a:latin typeface="Consolas" pitchFamily="34" charset="0"/>
                <a:ea typeface="Consolas" pitchFamily="34" charset="-122"/>
                <a:cs typeface="Consolas" pitchFamily="34" charset="-120"/>
              </a:rPr>
              <a:t>True</a:t>
            </a:r>
            <a:endParaRPr lang="en-US" sz="2600" dirty="0"/>
          </a:p>
        </p:txBody>
      </p:sp>
      <p:sp>
        <p:nvSpPr>
          <p:cNvPr id="19" name="Shape 16"/>
          <p:cNvSpPr/>
          <p:nvPr/>
        </p:nvSpPr>
        <p:spPr>
          <a:xfrm>
            <a:off x="548640" y="4800600"/>
            <a:ext cx="11091672" cy="960120"/>
          </a:xfrm>
          <a:prstGeom prst="roundRect">
            <a:avLst>
              <a:gd name="adj" fmla="val 7619"/>
            </a:avLst>
          </a:prstGeom>
          <a:solidFill>
            <a:srgbClr val="1E1E24"/>
          </a:solidFill>
          <a:ln w="25400">
            <a:solidFill>
              <a:srgbClr val="D8A73D"/>
            </a:solidFill>
            <a:prstDash val="solid"/>
          </a:ln>
        </p:spPr>
      </p:sp>
      <p:sp>
        <p:nvSpPr>
          <p:cNvPr id="20" name="Text 17"/>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An if must use ==. </a:t>
            </a:r>
            <a:pPr indent="0" marL="0">
              <a:buNone/>
            </a:pPr>
            <a:r>
              <a:rPr lang="en-US" sz="2400" dirty="0">
                <a:solidFill>
                  <a:srgbClr val="F5F5F3"/>
                </a:solidFill>
                <a:latin typeface="Calibri" pitchFamily="34" charset="0"/>
                <a:ea typeface="Calibri" pitchFamily="34" charset="-122"/>
                <a:cs typeface="Calibri" pitchFamily="34" charset="-120"/>
              </a:rPr>
              <a:t>This crashes:   </a:t>
            </a:r>
            <a:pPr indent="0" marL="0">
              <a:buNone/>
            </a:pPr>
            <a:r>
              <a:rPr lang="en-US" sz="2400" dirty="0">
                <a:solidFill>
                  <a:srgbClr val="F5F5F3"/>
                </a:solidFill>
                <a:latin typeface="Consolas" pitchFamily="34" charset="0"/>
                <a:ea typeface="Consolas" pitchFamily="34" charset="-122"/>
                <a:cs typeface="Consolas" pitchFamily="34" charset="-120"/>
              </a:rPr>
              <a:t>if distance = 30:</a:t>
            </a:r>
            <a:pPr indent="0" marL="0">
              <a:buNone/>
            </a:pPr>
            <a:r>
              <a:rPr lang="en-US" sz="2400" dirty="0">
                <a:solidFill>
                  <a:srgbClr val="F5F5F3"/>
                </a:solidFill>
                <a:latin typeface="Calibri" pitchFamily="34" charset="0"/>
                <a:ea typeface="Calibri" pitchFamily="34" charset="-122"/>
                <a:cs typeface="Calibri" pitchFamily="34" charset="-120"/>
              </a:rPr>
              <a:t>  →  </a:t>
            </a:r>
            <a:pPr indent="0" marL="0">
              <a:buNone/>
            </a:pPr>
            <a:r>
              <a:rPr lang="en-US" sz="2400" b="1" dirty="0">
                <a:solidFill>
                  <a:srgbClr val="FF6B6B"/>
                </a:solidFill>
                <a:latin typeface="Consolas" pitchFamily="34" charset="0"/>
                <a:ea typeface="Consolas" pitchFamily="34" charset="-122"/>
                <a:cs typeface="Consolas" pitchFamily="34" charset="-120"/>
              </a:rPr>
              <a:t>SyntaxError</a:t>
            </a:r>
            <a:endParaRPr lang="en-US" sz="2400" dirty="0"/>
          </a:p>
        </p:txBody>
      </p:sp>
      <p:pic>
        <p:nvPicPr>
          <p:cNvPr id="21"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elif: a third path</a:t>
            </a:r>
            <a:endParaRPr lang="en-US" sz="3600" dirty="0"/>
          </a:p>
        </p:txBody>
      </p:sp>
      <p:sp>
        <p:nvSpPr>
          <p:cNvPr id="5" name="code"/>
          <p:cNvSpPr/>
          <p:nvPr/>
        </p:nvSpPr>
        <p:spPr>
          <a:xfrm>
            <a:off x="548640" y="1554480"/>
            <a:ext cx="4846320" cy="3922776"/>
          </a:xfrm>
          <a:prstGeom prst="roundRect">
            <a:avLst>
              <a:gd name="adj" fmla="val 1865"/>
            </a:avLst>
          </a:prstGeom>
          <a:solidFill>
            <a:srgbClr val="111115"/>
          </a:solidFill>
          <a:ln w="15875">
            <a:solidFill>
              <a:srgbClr val="3A3A44"/>
            </a:solidFill>
            <a:prstDash val="solid"/>
          </a:ln>
        </p:spPr>
      </p:sp>
      <p:sp>
        <p:nvSpPr>
          <p:cNvPr id="6" name="Text 3"/>
          <p:cNvSpPr txBox="1"/>
          <p:nvPr/>
        </p:nvSpPr>
        <p:spPr>
          <a:xfrm>
            <a:off x="658368" y="17556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75564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35</a:t>
            </a:r>
            <a:endParaRPr lang="en-US" sz="2200" dirty="0"/>
          </a:p>
        </p:txBody>
      </p:sp>
      <p:sp>
        <p:nvSpPr>
          <p:cNvPr id="8" name="Text 5"/>
          <p:cNvSpPr txBox="1"/>
          <p:nvPr/>
        </p:nvSpPr>
        <p:spPr>
          <a:xfrm>
            <a:off x="658368" y="22585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25856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7"/>
          <p:cNvSpPr txBox="1"/>
          <p:nvPr/>
        </p:nvSpPr>
        <p:spPr>
          <a:xfrm>
            <a:off x="658368" y="276148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76148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"Full"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658368" y="326440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3" name="Text 10"/>
          <p:cNvSpPr txBox="1"/>
          <p:nvPr/>
        </p:nvSpPr>
        <p:spPr>
          <a:xfrm>
            <a:off x="1188720" y="326440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4" name="Text 11"/>
          <p:cNvSpPr txBox="1"/>
          <p:nvPr/>
        </p:nvSpPr>
        <p:spPr>
          <a:xfrm>
            <a:off x="658368" y="376732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5</a:t>
            </a:r>
            <a:endParaRPr lang="en-US" sz="1800" dirty="0"/>
          </a:p>
        </p:txBody>
      </p:sp>
      <p:sp>
        <p:nvSpPr>
          <p:cNvPr id="15" name="Text 12"/>
          <p:cNvSpPr txBox="1"/>
          <p:nvPr/>
        </p:nvSpPr>
        <p:spPr>
          <a:xfrm>
            <a:off x="1188720" y="376732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"Low"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xt 13"/>
          <p:cNvSpPr txBox="1"/>
          <p:nvPr/>
        </p:nvSpPr>
        <p:spPr>
          <a:xfrm>
            <a:off x="658368" y="42702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6</a:t>
            </a:r>
            <a:endParaRPr lang="en-US" sz="1800" dirty="0"/>
          </a:p>
        </p:txBody>
      </p:sp>
      <p:sp>
        <p:nvSpPr>
          <p:cNvPr id="17" name="Text 14"/>
          <p:cNvSpPr txBox="1"/>
          <p:nvPr/>
        </p:nvSpPr>
        <p:spPr>
          <a:xfrm>
            <a:off x="1188720" y="427024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8" name="Text 15"/>
          <p:cNvSpPr txBox="1"/>
          <p:nvPr/>
        </p:nvSpPr>
        <p:spPr>
          <a:xfrm>
            <a:off x="658368" y="47731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7</a:t>
            </a:r>
            <a:endParaRPr lang="en-US" sz="1800" dirty="0"/>
          </a:p>
        </p:txBody>
      </p:sp>
      <p:sp>
        <p:nvSpPr>
          <p:cNvPr id="19" name="Text 16"/>
          <p:cNvSpPr txBox="1"/>
          <p:nvPr/>
        </p:nvSpPr>
        <p:spPr>
          <a:xfrm>
            <a:off x="1188720" y="477316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"Critical"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20" name="click1"/>
          <p:cNvSpPr/>
          <p:nvPr/>
        </p:nvSpPr>
        <p:spPr>
          <a:xfrm>
            <a:off x="5623560" y="1842516"/>
            <a:ext cx="329184" cy="329184"/>
          </a:xfrm>
          <a:prstGeom prst="ellipse">
            <a:avLst/>
          </a:prstGeom>
          <a:solidFill>
            <a:srgbClr val="D8A73D"/>
          </a:solidFill>
          <a:ln/>
        </p:spPr>
      </p:sp>
      <p:sp>
        <p:nvSpPr>
          <p:cNvPr id="21" name="click1"/>
          <p:cNvSpPr txBox="1"/>
          <p:nvPr/>
        </p:nvSpPr>
        <p:spPr>
          <a:xfrm>
            <a:off x="5623560" y="18425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2" name="click1"/>
          <p:cNvSpPr/>
          <p:nvPr/>
        </p:nvSpPr>
        <p:spPr>
          <a:xfrm>
            <a:off x="6099048" y="1810512"/>
            <a:ext cx="2148840" cy="411480"/>
          </a:xfrm>
          <a:prstGeom prst="roundRect">
            <a:avLst>
              <a:gd name="adj" fmla="val 13333"/>
            </a:avLst>
          </a:prstGeom>
          <a:solidFill>
            <a:srgbClr val="111115"/>
          </a:solidFill>
          <a:ln w="25400">
            <a:solidFill>
              <a:srgbClr val="56B4E9"/>
            </a:solidFill>
            <a:prstDash val="solid"/>
          </a:ln>
        </p:spPr>
      </p:sp>
      <p:sp>
        <p:nvSpPr>
          <p:cNvPr id="23" name="click1"/>
          <p:cNvSpPr/>
          <p:nvPr/>
        </p:nvSpPr>
        <p:spPr>
          <a:xfrm>
            <a:off x="6236208" y="1627632"/>
            <a:ext cx="1783080" cy="347472"/>
          </a:xfrm>
          <a:prstGeom prst="roundRect">
            <a:avLst>
              <a:gd name="adj" fmla="val 13158"/>
            </a:avLst>
          </a:prstGeom>
          <a:solidFill>
            <a:srgbClr val="56B4E9"/>
          </a:solidFill>
          <a:ln/>
        </p:spPr>
      </p:sp>
      <p:sp>
        <p:nvSpPr>
          <p:cNvPr id="24" name="click1"/>
          <p:cNvSpPr txBox="1"/>
          <p:nvPr/>
        </p:nvSpPr>
        <p:spPr>
          <a:xfrm>
            <a:off x="6236208" y="1627632"/>
            <a:ext cx="178308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battery  ·  int</a:t>
            </a:r>
            <a:endParaRPr lang="en-US" sz="1400" dirty="0"/>
          </a:p>
        </p:txBody>
      </p:sp>
      <p:sp>
        <p:nvSpPr>
          <p:cNvPr id="25" name="click1"/>
          <p:cNvSpPr txBox="1"/>
          <p:nvPr/>
        </p:nvSpPr>
        <p:spPr>
          <a:xfrm>
            <a:off x="6190488" y="1993392"/>
            <a:ext cx="1965960" cy="182880"/>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35</a:t>
            </a:r>
            <a:endParaRPr lang="en-US" sz="2000" dirty="0"/>
          </a:p>
        </p:txBody>
      </p:sp>
      <p:sp>
        <p:nvSpPr>
          <p:cNvPr id="26" name="click2"/>
          <p:cNvSpPr/>
          <p:nvPr/>
        </p:nvSpPr>
        <p:spPr>
          <a:xfrm>
            <a:off x="5623560" y="2345436"/>
            <a:ext cx="329184" cy="329184"/>
          </a:xfrm>
          <a:prstGeom prst="ellipse">
            <a:avLst/>
          </a:prstGeom>
          <a:solidFill>
            <a:srgbClr val="D8A73D"/>
          </a:solidFill>
          <a:ln/>
        </p:spPr>
      </p:sp>
      <p:sp>
        <p:nvSpPr>
          <p:cNvPr id="27" name="click2"/>
          <p:cNvSpPr txBox="1"/>
          <p:nvPr/>
        </p:nvSpPr>
        <p:spPr>
          <a:xfrm>
            <a:off x="5623560" y="23454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click2"/>
          <p:cNvSpPr txBox="1"/>
          <p:nvPr/>
        </p:nvSpPr>
        <p:spPr>
          <a:xfrm>
            <a:off x="6053328" y="225856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35</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endParaRPr lang="en-US" sz="2200" dirty="0"/>
          </a:p>
        </p:txBody>
      </p:sp>
      <p:sp>
        <p:nvSpPr>
          <p:cNvPr id="29" name="click2"/>
          <p:cNvSpPr/>
          <p:nvPr/>
        </p:nvSpPr>
        <p:spPr>
          <a:xfrm>
            <a:off x="7516368" y="2510028"/>
            <a:ext cx="365760" cy="0"/>
          </a:xfrm>
          <a:prstGeom prst="line">
            <a:avLst/>
          </a:prstGeom>
          <a:noFill/>
          <a:ln w="28575">
            <a:solidFill>
              <a:srgbClr val="A9A9B4"/>
            </a:solidFill>
            <a:prstDash val="solid"/>
            <a:tailEnd type="triangle"/>
          </a:ln>
        </p:spPr>
      </p:sp>
      <p:sp>
        <p:nvSpPr>
          <p:cNvPr id="30" name="click2"/>
          <p:cNvSpPr/>
          <p:nvPr/>
        </p:nvSpPr>
        <p:spPr>
          <a:xfrm>
            <a:off x="7973568" y="2322576"/>
            <a:ext cx="868680" cy="374904"/>
          </a:xfrm>
          <a:prstGeom prst="roundRect">
            <a:avLst>
              <a:gd name="adj" fmla="val 19512"/>
            </a:avLst>
          </a:prstGeom>
          <a:solidFill>
            <a:srgbClr val="1E1E24"/>
          </a:solidFill>
          <a:ln w="19050">
            <a:solidFill>
              <a:srgbClr val="A9A9B4"/>
            </a:solidFill>
            <a:prstDash val="solid"/>
          </a:ln>
        </p:spPr>
      </p:sp>
      <p:sp>
        <p:nvSpPr>
          <p:cNvPr id="31" name="click2"/>
          <p:cNvSpPr txBox="1"/>
          <p:nvPr/>
        </p:nvSpPr>
        <p:spPr>
          <a:xfrm>
            <a:off x="7973568" y="2322576"/>
            <a:ext cx="868680" cy="374904"/>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32" name="click3"/>
          <p:cNvSpPr/>
          <p:nvPr/>
        </p:nvSpPr>
        <p:spPr>
          <a:xfrm>
            <a:off x="5623560" y="3351276"/>
            <a:ext cx="329184" cy="329184"/>
          </a:xfrm>
          <a:prstGeom prst="ellipse">
            <a:avLst/>
          </a:prstGeom>
          <a:solidFill>
            <a:srgbClr val="D8A73D"/>
          </a:solidFill>
          <a:ln/>
        </p:spPr>
      </p:sp>
      <p:sp>
        <p:nvSpPr>
          <p:cNvPr id="33" name="click3"/>
          <p:cNvSpPr txBox="1"/>
          <p:nvPr/>
        </p:nvSpPr>
        <p:spPr>
          <a:xfrm>
            <a:off x="5623560" y="33512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4" name="click3"/>
          <p:cNvSpPr txBox="1"/>
          <p:nvPr/>
        </p:nvSpPr>
        <p:spPr>
          <a:xfrm>
            <a:off x="6053328" y="326440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35</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endParaRPr lang="en-US" sz="2200" dirty="0"/>
          </a:p>
        </p:txBody>
      </p:sp>
      <p:sp>
        <p:nvSpPr>
          <p:cNvPr id="35" name="click3"/>
          <p:cNvSpPr/>
          <p:nvPr/>
        </p:nvSpPr>
        <p:spPr>
          <a:xfrm>
            <a:off x="7516368" y="3515868"/>
            <a:ext cx="365760" cy="0"/>
          </a:xfrm>
          <a:prstGeom prst="line">
            <a:avLst/>
          </a:prstGeom>
          <a:noFill/>
          <a:ln w="28575">
            <a:solidFill>
              <a:srgbClr val="A9A9B4"/>
            </a:solidFill>
            <a:prstDash val="solid"/>
            <a:tailEnd type="triangle"/>
          </a:ln>
        </p:spPr>
      </p:sp>
      <p:sp>
        <p:nvSpPr>
          <p:cNvPr id="36" name="click3"/>
          <p:cNvSpPr/>
          <p:nvPr/>
        </p:nvSpPr>
        <p:spPr>
          <a:xfrm>
            <a:off x="7973568" y="3328416"/>
            <a:ext cx="868680" cy="374904"/>
          </a:xfrm>
          <a:prstGeom prst="roundRect">
            <a:avLst>
              <a:gd name="adj" fmla="val 19512"/>
            </a:avLst>
          </a:prstGeom>
          <a:solidFill>
            <a:srgbClr val="7FD99A"/>
          </a:solidFill>
          <a:ln/>
        </p:spPr>
      </p:sp>
      <p:sp>
        <p:nvSpPr>
          <p:cNvPr id="37" name="click3"/>
          <p:cNvSpPr txBox="1"/>
          <p:nvPr/>
        </p:nvSpPr>
        <p:spPr>
          <a:xfrm>
            <a:off x="7973568" y="3328416"/>
            <a:ext cx="868680" cy="3749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38" name="click4"/>
          <p:cNvSpPr/>
          <p:nvPr/>
        </p:nvSpPr>
        <p:spPr>
          <a:xfrm>
            <a:off x="5623560" y="2848356"/>
            <a:ext cx="329184" cy="329184"/>
          </a:xfrm>
          <a:prstGeom prst="ellipse">
            <a:avLst/>
          </a:prstGeom>
          <a:solidFill>
            <a:srgbClr val="D8A73D"/>
          </a:solidFill>
          <a:ln/>
        </p:spPr>
      </p:sp>
      <p:sp>
        <p:nvSpPr>
          <p:cNvPr id="39" name="click4"/>
          <p:cNvSpPr txBox="1"/>
          <p:nvPr/>
        </p:nvSpPr>
        <p:spPr>
          <a:xfrm>
            <a:off x="5623560" y="284835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0" name="click4"/>
          <p:cNvSpPr txBox="1"/>
          <p:nvPr/>
        </p:nvSpPr>
        <p:spPr>
          <a:xfrm>
            <a:off x="6053328" y="3767328"/>
            <a:ext cx="2651760" cy="5029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41" name="click4"/>
          <p:cNvSpPr txBox="1"/>
          <p:nvPr/>
        </p:nvSpPr>
        <p:spPr>
          <a:xfrm>
            <a:off x="6053328" y="276148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42" name="click4"/>
          <p:cNvSpPr txBox="1"/>
          <p:nvPr/>
        </p:nvSpPr>
        <p:spPr>
          <a:xfrm>
            <a:off x="6053328" y="477316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43" name="click5"/>
          <p:cNvSpPr/>
          <p:nvPr/>
        </p:nvSpPr>
        <p:spPr>
          <a:xfrm>
            <a:off x="9098280" y="1554480"/>
            <a:ext cx="329184" cy="329184"/>
          </a:xfrm>
          <a:prstGeom prst="ellipse">
            <a:avLst/>
          </a:prstGeom>
          <a:solidFill>
            <a:srgbClr val="D8A73D"/>
          </a:solidFill>
          <a:ln/>
        </p:spPr>
      </p:sp>
      <p:sp>
        <p:nvSpPr>
          <p:cNvPr id="44" name="click5"/>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5" name="click5"/>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46" name="click5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47" name="click5"/>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Low</a:t>
            </a:r>
            <a:endParaRPr lang="en-US" sz="2000" dirty="0"/>
          </a:p>
        </p:txBody>
      </p:sp>
      <p:sp>
        <p:nvSpPr>
          <p:cNvPr id="48" name="Shape 45"/>
          <p:cNvSpPr/>
          <p:nvPr/>
        </p:nvSpPr>
        <p:spPr>
          <a:xfrm>
            <a:off x="548640" y="5596128"/>
            <a:ext cx="11091672" cy="566928"/>
          </a:xfrm>
          <a:prstGeom prst="roundRect">
            <a:avLst>
              <a:gd name="adj" fmla="val 12903"/>
            </a:avLst>
          </a:prstGeom>
          <a:solidFill>
            <a:srgbClr val="2A2A32"/>
          </a:solidFill>
          <a:ln/>
        </p:spPr>
      </p:sp>
      <p:sp>
        <p:nvSpPr>
          <p:cNvPr id="49" name="Shape 46"/>
          <p:cNvSpPr/>
          <p:nvPr/>
        </p:nvSpPr>
        <p:spPr>
          <a:xfrm>
            <a:off x="731520" y="5715000"/>
            <a:ext cx="329184" cy="329184"/>
          </a:xfrm>
          <a:prstGeom prst="ellipse">
            <a:avLst/>
          </a:prstGeom>
          <a:solidFill>
            <a:srgbClr val="D8A73D"/>
          </a:solidFill>
          <a:ln/>
        </p:spPr>
      </p:sp>
      <p:sp>
        <p:nvSpPr>
          <p:cNvPr id="50" name="Text 47"/>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51" name="Text 48"/>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52" name="Shape 49"/>
          <p:cNvSpPr/>
          <p:nvPr/>
        </p:nvSpPr>
        <p:spPr>
          <a:xfrm>
            <a:off x="3504438" y="5715000"/>
            <a:ext cx="329184" cy="329184"/>
          </a:xfrm>
          <a:prstGeom prst="ellipse">
            <a:avLst/>
          </a:prstGeom>
          <a:solidFill>
            <a:srgbClr val="D8A73D"/>
          </a:solidFill>
          <a:ln/>
        </p:spPr>
      </p:sp>
      <p:sp>
        <p:nvSpPr>
          <p:cNvPr id="53" name="Text 50"/>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54" name="Text 51"/>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from the top</a:t>
            </a:r>
            <a:endParaRPr lang="en-US" sz="1800" dirty="0"/>
          </a:p>
        </p:txBody>
      </p:sp>
      <p:sp>
        <p:nvSpPr>
          <p:cNvPr id="55" name="Shape 52"/>
          <p:cNvSpPr/>
          <p:nvPr/>
        </p:nvSpPr>
        <p:spPr>
          <a:xfrm>
            <a:off x="6277356" y="5715000"/>
            <a:ext cx="329184" cy="329184"/>
          </a:xfrm>
          <a:prstGeom prst="ellipse">
            <a:avLst/>
          </a:prstGeom>
          <a:solidFill>
            <a:srgbClr val="D8A73D"/>
          </a:solidFill>
          <a:ln/>
        </p:spPr>
      </p:sp>
      <p:sp>
        <p:nvSpPr>
          <p:cNvPr id="56" name="Text 53"/>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7" name="Text 54"/>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8" name="Shape 55"/>
          <p:cNvSpPr/>
          <p:nvPr/>
        </p:nvSpPr>
        <p:spPr>
          <a:xfrm>
            <a:off x="9050274" y="5715000"/>
            <a:ext cx="329184" cy="329184"/>
          </a:xfrm>
          <a:prstGeom prst="ellipse">
            <a:avLst/>
          </a:prstGeom>
          <a:solidFill>
            <a:srgbClr val="D8A73D"/>
          </a:solidFill>
          <a:ln/>
        </p:spPr>
      </p:sp>
      <p:sp>
        <p:nvSpPr>
          <p:cNvPr id="59" name="Text 56"/>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60" name="Text 57"/>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61" name="Shape 58"/>
          <p:cNvSpPr/>
          <p:nvPr/>
        </p:nvSpPr>
        <p:spPr>
          <a:xfrm>
            <a:off x="9464040" y="566928"/>
            <a:ext cx="1280160" cy="329184"/>
          </a:xfrm>
          <a:prstGeom prst="roundRect">
            <a:avLst>
              <a:gd name="adj" fmla="val 50000"/>
            </a:avLst>
          </a:prstGeom>
          <a:solidFill>
            <a:srgbClr val="D8A73D"/>
          </a:solidFill>
          <a:ln/>
        </p:spPr>
      </p:sp>
      <p:sp>
        <p:nvSpPr>
          <p:cNvPr id="62" name="Text 59"/>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63"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6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00"/>
                                        <p:tgtEl>
                                          <p:spTgt spid="3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nodeType="with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500"/>
                                        <p:tgtEl>
                                          <p:spTgt spid="35"/>
                                        </p:tgtEl>
                                      </p:cBhvr>
                                    </p:animEffect>
                                  </p:childTnLst>
                                </p:cTn>
                              </p:par>
                              <p:par>
                                <p:cTn id="57" presetID="10"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500"/>
                                        <p:tgtEl>
                                          <p:spTgt spid="3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500"/>
                                        <p:tgtEl>
                                          <p:spTgt spid="3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500"/>
                                        <p:tgtEl>
                                          <p:spTgt spid="3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500"/>
                                        <p:tgtEl>
                                          <p:spTgt spid="4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500"/>
                                        <p:tgtEl>
                                          <p:spTgt spid="4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500"/>
                                        <p:tgtEl>
                                          <p:spTgt spid="4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500"/>
                                        <p:tgtEl>
                                          <p:spTgt spid="4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4"/>
                                        </p:tgtEl>
                                        <p:attrNameLst>
                                          <p:attrName>style.visibility</p:attrName>
                                        </p:attrNameLst>
                                      </p:cBhvr>
                                      <p:to>
                                        <p:strVal val="visible"/>
                                      </p:to>
                                    </p:set>
                                    <p:animEffect transition="in" filter="fade">
                                      <p:cBhvr>
                                        <p:cTn id="87" dur="500"/>
                                        <p:tgtEl>
                                          <p:spTgt spid="4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5"/>
                                        </p:tgtEl>
                                        <p:attrNameLst>
                                          <p:attrName>style.visibility</p:attrName>
                                        </p:attrNameLst>
                                      </p:cBhvr>
                                      <p:to>
                                        <p:strVal val="visible"/>
                                      </p:to>
                                    </p:set>
                                    <p:animEffect transition="in" filter="fade">
                                      <p:cBhvr>
                                        <p:cTn id="90" dur="500"/>
                                        <p:tgtEl>
                                          <p:spTgt spid="45"/>
                                        </p:tgtEl>
                                      </p:cBhvr>
                                    </p:animEffect>
                                  </p:childTnLst>
                                </p:cTn>
                              </p:par>
                              <p:par>
                                <p:cTn id="91" presetID="10" presetClass="entr" presetSubtype="0" fill="hold" nodeType="with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fade">
                                      <p:cBhvr>
                                        <p:cTn id="93" dur="500"/>
                                        <p:tgtEl>
                                          <p:spTgt spid="46"/>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25" grpId="0" animBg="1"/>
      <p:bldP spid="27" grpId="0" animBg="1"/>
      <p:bldP spid="28" grpId="0" animBg="1"/>
      <p:bldP spid="31" grpId="0" animBg="1"/>
      <p:bldP spid="33" grpId="0" animBg="1"/>
      <p:bldP spid="34" grpId="0" animBg="1"/>
      <p:bldP spid="37" grpId="0" animBg="1"/>
      <p:bldP spid="39" grpId="0" animBg="1"/>
      <p:bldP spid="40" grpId="0" animBg="1"/>
      <p:bldP spid="41" grpId="0" animBg="1"/>
      <p:bldP spid="42" grpId="0" animBg="1"/>
      <p:bldP spid="44" grpId="0" animBg="1"/>
      <p:bldP spid="45" grpId="0" animBg="1"/>
      <p:bldP spid="4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first True one wins</a:t>
            </a:r>
            <a:endParaRPr lang="en-US" sz="3600" dirty="0"/>
          </a:p>
        </p:txBody>
      </p:sp>
      <p:sp>
        <p:nvSpPr>
          <p:cNvPr id="5" name="code"/>
          <p:cNvSpPr/>
          <p:nvPr/>
        </p:nvSpPr>
        <p:spPr>
          <a:xfrm>
            <a:off x="548640" y="1554480"/>
            <a:ext cx="4846320" cy="3922776"/>
          </a:xfrm>
          <a:prstGeom prst="roundRect">
            <a:avLst>
              <a:gd name="adj" fmla="val 1865"/>
            </a:avLst>
          </a:prstGeom>
          <a:solidFill>
            <a:srgbClr val="111115"/>
          </a:solidFill>
          <a:ln w="15875">
            <a:solidFill>
              <a:srgbClr val="3A3A44"/>
            </a:solidFill>
            <a:prstDash val="solid"/>
          </a:ln>
        </p:spPr>
      </p:sp>
      <p:sp>
        <p:nvSpPr>
          <p:cNvPr id="6" name="Text 3"/>
          <p:cNvSpPr txBox="1"/>
          <p:nvPr/>
        </p:nvSpPr>
        <p:spPr>
          <a:xfrm>
            <a:off x="658368" y="17556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75564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80</a:t>
            </a:r>
            <a:endParaRPr lang="en-US" sz="2200" dirty="0"/>
          </a:p>
        </p:txBody>
      </p:sp>
      <p:sp>
        <p:nvSpPr>
          <p:cNvPr id="8" name="Text 5"/>
          <p:cNvSpPr txBox="1"/>
          <p:nvPr/>
        </p:nvSpPr>
        <p:spPr>
          <a:xfrm>
            <a:off x="658368" y="22585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25856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7"/>
          <p:cNvSpPr txBox="1"/>
          <p:nvPr/>
        </p:nvSpPr>
        <p:spPr>
          <a:xfrm>
            <a:off x="658368" y="276148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76148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"Full"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658368" y="326440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3" name="Text 10"/>
          <p:cNvSpPr txBox="1"/>
          <p:nvPr/>
        </p:nvSpPr>
        <p:spPr>
          <a:xfrm>
            <a:off x="1188720" y="326440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4" name="Text 11"/>
          <p:cNvSpPr txBox="1"/>
          <p:nvPr/>
        </p:nvSpPr>
        <p:spPr>
          <a:xfrm>
            <a:off x="658368" y="376732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5</a:t>
            </a:r>
            <a:endParaRPr lang="en-US" sz="1800" dirty="0"/>
          </a:p>
        </p:txBody>
      </p:sp>
      <p:sp>
        <p:nvSpPr>
          <p:cNvPr id="15" name="Text 12"/>
          <p:cNvSpPr txBox="1"/>
          <p:nvPr/>
        </p:nvSpPr>
        <p:spPr>
          <a:xfrm>
            <a:off x="1188720" y="376732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"Low"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xt 13"/>
          <p:cNvSpPr txBox="1"/>
          <p:nvPr/>
        </p:nvSpPr>
        <p:spPr>
          <a:xfrm>
            <a:off x="658368" y="42702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6</a:t>
            </a:r>
            <a:endParaRPr lang="en-US" sz="1800" dirty="0"/>
          </a:p>
        </p:txBody>
      </p:sp>
      <p:sp>
        <p:nvSpPr>
          <p:cNvPr id="17" name="Text 14"/>
          <p:cNvSpPr txBox="1"/>
          <p:nvPr/>
        </p:nvSpPr>
        <p:spPr>
          <a:xfrm>
            <a:off x="1188720" y="427024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8" name="Text 15"/>
          <p:cNvSpPr txBox="1"/>
          <p:nvPr/>
        </p:nvSpPr>
        <p:spPr>
          <a:xfrm>
            <a:off x="658368" y="47731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7</a:t>
            </a:r>
            <a:endParaRPr lang="en-US" sz="1800" dirty="0"/>
          </a:p>
        </p:txBody>
      </p:sp>
      <p:sp>
        <p:nvSpPr>
          <p:cNvPr id="19" name="Text 16"/>
          <p:cNvSpPr txBox="1"/>
          <p:nvPr/>
        </p:nvSpPr>
        <p:spPr>
          <a:xfrm>
            <a:off x="1188720" y="477316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"Critical"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20" name="click1"/>
          <p:cNvSpPr/>
          <p:nvPr/>
        </p:nvSpPr>
        <p:spPr>
          <a:xfrm>
            <a:off x="5623560" y="1842516"/>
            <a:ext cx="329184" cy="329184"/>
          </a:xfrm>
          <a:prstGeom prst="ellipse">
            <a:avLst/>
          </a:prstGeom>
          <a:solidFill>
            <a:srgbClr val="D8A73D"/>
          </a:solidFill>
          <a:ln/>
        </p:spPr>
      </p:sp>
      <p:sp>
        <p:nvSpPr>
          <p:cNvPr id="21" name="click1"/>
          <p:cNvSpPr txBox="1"/>
          <p:nvPr/>
        </p:nvSpPr>
        <p:spPr>
          <a:xfrm>
            <a:off x="5623560" y="18425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2" name="click1"/>
          <p:cNvSpPr/>
          <p:nvPr/>
        </p:nvSpPr>
        <p:spPr>
          <a:xfrm>
            <a:off x="6099048" y="1810512"/>
            <a:ext cx="2148840" cy="411480"/>
          </a:xfrm>
          <a:prstGeom prst="roundRect">
            <a:avLst>
              <a:gd name="adj" fmla="val 13333"/>
            </a:avLst>
          </a:prstGeom>
          <a:solidFill>
            <a:srgbClr val="111115"/>
          </a:solidFill>
          <a:ln w="25400">
            <a:solidFill>
              <a:srgbClr val="56B4E9"/>
            </a:solidFill>
            <a:prstDash val="solid"/>
          </a:ln>
        </p:spPr>
      </p:sp>
      <p:sp>
        <p:nvSpPr>
          <p:cNvPr id="23" name="click1"/>
          <p:cNvSpPr/>
          <p:nvPr/>
        </p:nvSpPr>
        <p:spPr>
          <a:xfrm>
            <a:off x="6236208" y="1627632"/>
            <a:ext cx="1783080" cy="347472"/>
          </a:xfrm>
          <a:prstGeom prst="roundRect">
            <a:avLst>
              <a:gd name="adj" fmla="val 13158"/>
            </a:avLst>
          </a:prstGeom>
          <a:solidFill>
            <a:srgbClr val="56B4E9"/>
          </a:solidFill>
          <a:ln/>
        </p:spPr>
      </p:sp>
      <p:sp>
        <p:nvSpPr>
          <p:cNvPr id="24" name="click1"/>
          <p:cNvSpPr txBox="1"/>
          <p:nvPr/>
        </p:nvSpPr>
        <p:spPr>
          <a:xfrm>
            <a:off x="6236208" y="1627632"/>
            <a:ext cx="178308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battery  ·  int</a:t>
            </a:r>
            <a:endParaRPr lang="en-US" sz="1400" dirty="0"/>
          </a:p>
        </p:txBody>
      </p:sp>
      <p:sp>
        <p:nvSpPr>
          <p:cNvPr id="25" name="click1"/>
          <p:cNvSpPr txBox="1"/>
          <p:nvPr/>
        </p:nvSpPr>
        <p:spPr>
          <a:xfrm>
            <a:off x="6190488" y="1993392"/>
            <a:ext cx="1965960" cy="182880"/>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80</a:t>
            </a:r>
            <a:endParaRPr lang="en-US" sz="2000" dirty="0"/>
          </a:p>
        </p:txBody>
      </p:sp>
      <p:sp>
        <p:nvSpPr>
          <p:cNvPr id="26" name="click2"/>
          <p:cNvSpPr/>
          <p:nvPr/>
        </p:nvSpPr>
        <p:spPr>
          <a:xfrm>
            <a:off x="5623560" y="2345436"/>
            <a:ext cx="329184" cy="329184"/>
          </a:xfrm>
          <a:prstGeom prst="ellipse">
            <a:avLst/>
          </a:prstGeom>
          <a:solidFill>
            <a:srgbClr val="D8A73D"/>
          </a:solidFill>
          <a:ln/>
        </p:spPr>
      </p:sp>
      <p:sp>
        <p:nvSpPr>
          <p:cNvPr id="27" name="click2"/>
          <p:cNvSpPr txBox="1"/>
          <p:nvPr/>
        </p:nvSpPr>
        <p:spPr>
          <a:xfrm>
            <a:off x="5623560" y="23454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click2"/>
          <p:cNvSpPr txBox="1"/>
          <p:nvPr/>
        </p:nvSpPr>
        <p:spPr>
          <a:xfrm>
            <a:off x="6053328" y="225856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80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endParaRPr lang="en-US" sz="2200" dirty="0"/>
          </a:p>
        </p:txBody>
      </p:sp>
      <p:sp>
        <p:nvSpPr>
          <p:cNvPr id="29" name="click2"/>
          <p:cNvSpPr/>
          <p:nvPr/>
        </p:nvSpPr>
        <p:spPr>
          <a:xfrm>
            <a:off x="7516368" y="2510028"/>
            <a:ext cx="365760" cy="0"/>
          </a:xfrm>
          <a:prstGeom prst="line">
            <a:avLst/>
          </a:prstGeom>
          <a:noFill/>
          <a:ln w="28575">
            <a:solidFill>
              <a:srgbClr val="A9A9B4"/>
            </a:solidFill>
            <a:prstDash val="solid"/>
            <a:tailEnd type="triangle"/>
          </a:ln>
        </p:spPr>
      </p:sp>
      <p:sp>
        <p:nvSpPr>
          <p:cNvPr id="30" name="click2"/>
          <p:cNvSpPr/>
          <p:nvPr/>
        </p:nvSpPr>
        <p:spPr>
          <a:xfrm>
            <a:off x="7973568" y="2322576"/>
            <a:ext cx="868680" cy="374904"/>
          </a:xfrm>
          <a:prstGeom prst="roundRect">
            <a:avLst>
              <a:gd name="adj" fmla="val 19512"/>
            </a:avLst>
          </a:prstGeom>
          <a:solidFill>
            <a:srgbClr val="7FD99A"/>
          </a:solidFill>
          <a:ln/>
        </p:spPr>
      </p:sp>
      <p:sp>
        <p:nvSpPr>
          <p:cNvPr id="31" name="click2"/>
          <p:cNvSpPr txBox="1"/>
          <p:nvPr/>
        </p:nvSpPr>
        <p:spPr>
          <a:xfrm>
            <a:off x="7973568" y="2322576"/>
            <a:ext cx="868680" cy="3749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32" name="click2"/>
          <p:cNvSpPr txBox="1"/>
          <p:nvPr/>
        </p:nvSpPr>
        <p:spPr>
          <a:xfrm>
            <a:off x="6053328" y="3264408"/>
            <a:ext cx="2651760" cy="502920"/>
          </a:xfrm>
          <a:prstGeom prst="rect">
            <a:avLst/>
          </a:prstGeom>
          <a:noFill/>
          <a:ln/>
        </p:spPr>
        <p:txBody>
          <a:bodyPr wrap="square" lIns="0" tIns="0" rIns="0" bIns="0" rtlCol="0" anchor="ctr"/>
          <a:lstStyle/>
          <a:p>
            <a:pPr indent="0" marL="0">
              <a:buNone/>
            </a:pPr>
            <a:r>
              <a:rPr lang="en-US" sz="1800" i="1" dirty="0">
                <a:solidFill>
                  <a:srgbClr val="6E6E7A"/>
                </a:solidFill>
                <a:latin typeface="Calibri" pitchFamily="34" charset="0"/>
                <a:ea typeface="Calibri" pitchFamily="34" charset="-122"/>
                <a:cs typeface="Calibri" pitchFamily="34" charset="-120"/>
              </a:rPr>
              <a:t>not checked</a:t>
            </a:r>
            <a:endParaRPr lang="en-US" sz="1800" dirty="0"/>
          </a:p>
        </p:txBody>
      </p:sp>
      <p:sp>
        <p:nvSpPr>
          <p:cNvPr id="33" name="click3"/>
          <p:cNvSpPr/>
          <p:nvPr/>
        </p:nvSpPr>
        <p:spPr>
          <a:xfrm>
            <a:off x="5623560" y="2848356"/>
            <a:ext cx="329184" cy="329184"/>
          </a:xfrm>
          <a:prstGeom prst="ellipse">
            <a:avLst/>
          </a:prstGeom>
          <a:solidFill>
            <a:srgbClr val="D8A73D"/>
          </a:solidFill>
          <a:ln/>
        </p:spPr>
      </p:sp>
      <p:sp>
        <p:nvSpPr>
          <p:cNvPr id="34" name="click3"/>
          <p:cNvSpPr txBox="1"/>
          <p:nvPr/>
        </p:nvSpPr>
        <p:spPr>
          <a:xfrm>
            <a:off x="5623560" y="284835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click3"/>
          <p:cNvSpPr txBox="1"/>
          <p:nvPr/>
        </p:nvSpPr>
        <p:spPr>
          <a:xfrm>
            <a:off x="6053328" y="2761488"/>
            <a:ext cx="2651760" cy="5029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6" name="click3"/>
          <p:cNvSpPr txBox="1"/>
          <p:nvPr/>
        </p:nvSpPr>
        <p:spPr>
          <a:xfrm>
            <a:off x="6053328" y="376732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7" name="click3"/>
          <p:cNvSpPr txBox="1"/>
          <p:nvPr/>
        </p:nvSpPr>
        <p:spPr>
          <a:xfrm>
            <a:off x="6053328" y="477316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8" name="click4"/>
          <p:cNvSpPr/>
          <p:nvPr/>
        </p:nvSpPr>
        <p:spPr>
          <a:xfrm>
            <a:off x="9098280" y="1554480"/>
            <a:ext cx="329184" cy="329184"/>
          </a:xfrm>
          <a:prstGeom prst="ellipse">
            <a:avLst/>
          </a:prstGeom>
          <a:solidFill>
            <a:srgbClr val="D8A73D"/>
          </a:solidFill>
          <a:ln/>
        </p:spPr>
      </p:sp>
      <p:sp>
        <p:nvSpPr>
          <p:cNvPr id="39"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0"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41" name="click4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42"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Full</a:t>
            </a:r>
            <a:endParaRPr lang="en-US" sz="2000" dirty="0"/>
          </a:p>
        </p:txBody>
      </p:sp>
      <p:sp>
        <p:nvSpPr>
          <p:cNvPr id="43" name="Shape 40"/>
          <p:cNvSpPr/>
          <p:nvPr/>
        </p:nvSpPr>
        <p:spPr>
          <a:xfrm>
            <a:off x="548640" y="5596128"/>
            <a:ext cx="11091672" cy="566928"/>
          </a:xfrm>
          <a:prstGeom prst="roundRect">
            <a:avLst>
              <a:gd name="adj" fmla="val 12903"/>
            </a:avLst>
          </a:prstGeom>
          <a:solidFill>
            <a:srgbClr val="2A2A32"/>
          </a:solidFill>
          <a:ln/>
        </p:spPr>
      </p:sp>
      <p:sp>
        <p:nvSpPr>
          <p:cNvPr id="44" name="Shape 41"/>
          <p:cNvSpPr/>
          <p:nvPr/>
        </p:nvSpPr>
        <p:spPr>
          <a:xfrm>
            <a:off x="731520" y="5715000"/>
            <a:ext cx="329184" cy="329184"/>
          </a:xfrm>
          <a:prstGeom prst="ellipse">
            <a:avLst/>
          </a:prstGeom>
          <a:solidFill>
            <a:srgbClr val="D8A73D"/>
          </a:solidFill>
          <a:ln/>
        </p:spPr>
      </p:sp>
      <p:sp>
        <p:nvSpPr>
          <p:cNvPr id="45" name="Text 42"/>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6" name="Text 43"/>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7" name="Shape 44"/>
          <p:cNvSpPr/>
          <p:nvPr/>
        </p:nvSpPr>
        <p:spPr>
          <a:xfrm>
            <a:off x="3504438" y="5715000"/>
            <a:ext cx="329184" cy="329184"/>
          </a:xfrm>
          <a:prstGeom prst="ellipse">
            <a:avLst/>
          </a:prstGeom>
          <a:solidFill>
            <a:srgbClr val="D8A73D"/>
          </a:solidFill>
          <a:ln/>
        </p:spPr>
      </p:sp>
      <p:sp>
        <p:nvSpPr>
          <p:cNvPr id="48" name="Text 45"/>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9" name="Text 46"/>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from the top</a:t>
            </a:r>
            <a:endParaRPr lang="en-US" sz="1800" dirty="0"/>
          </a:p>
        </p:txBody>
      </p:sp>
      <p:sp>
        <p:nvSpPr>
          <p:cNvPr id="50" name="Shape 47"/>
          <p:cNvSpPr/>
          <p:nvPr/>
        </p:nvSpPr>
        <p:spPr>
          <a:xfrm>
            <a:off x="6277356" y="5715000"/>
            <a:ext cx="329184" cy="329184"/>
          </a:xfrm>
          <a:prstGeom prst="ellipse">
            <a:avLst/>
          </a:prstGeom>
          <a:solidFill>
            <a:srgbClr val="D8A73D"/>
          </a:solidFill>
          <a:ln/>
        </p:spPr>
      </p:sp>
      <p:sp>
        <p:nvSpPr>
          <p:cNvPr id="51" name="Text 48"/>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2" name="Text 49"/>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3" name="Shape 50"/>
          <p:cNvSpPr/>
          <p:nvPr/>
        </p:nvSpPr>
        <p:spPr>
          <a:xfrm>
            <a:off x="9050274" y="5715000"/>
            <a:ext cx="329184" cy="329184"/>
          </a:xfrm>
          <a:prstGeom prst="ellipse">
            <a:avLst/>
          </a:prstGeom>
          <a:solidFill>
            <a:srgbClr val="D8A73D"/>
          </a:solidFill>
          <a:ln/>
        </p:spPr>
      </p:sp>
      <p:sp>
        <p:nvSpPr>
          <p:cNvPr id="54" name="Text 51"/>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5" name="Text 52"/>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6" name="Shape 53"/>
          <p:cNvSpPr/>
          <p:nvPr/>
        </p:nvSpPr>
        <p:spPr>
          <a:xfrm>
            <a:off x="9464040" y="566928"/>
            <a:ext cx="1280160" cy="329184"/>
          </a:xfrm>
          <a:prstGeom prst="roundRect">
            <a:avLst>
              <a:gd name="adj" fmla="val 50000"/>
            </a:avLst>
          </a:prstGeom>
          <a:solidFill>
            <a:srgbClr val="D8A73D"/>
          </a:solidFill>
          <a:ln/>
        </p:spPr>
      </p:sp>
      <p:sp>
        <p:nvSpPr>
          <p:cNvPr id="57" name="Text 54"/>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8"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59"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500"/>
                                        <p:tgtEl>
                                          <p:spTgt spid="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500"/>
                                        <p:tgtEl>
                                          <p:spTgt spid="3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500"/>
                                        <p:tgtEl>
                                          <p:spTgt spid="3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500"/>
                                        <p:tgtEl>
                                          <p:spTgt spid="3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500"/>
                                        <p:tgtEl>
                                          <p:spTgt spid="3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500"/>
                                        <p:tgtEl>
                                          <p:spTgt spid="40"/>
                                        </p:tgtEl>
                                      </p:cBhvr>
                                    </p:animEffect>
                                  </p:childTnLst>
                                </p:cTn>
                              </p:par>
                              <p:par>
                                <p:cTn id="74" presetID="10" presetClass="entr" presetSubtype="0" fill="hold"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500"/>
                                        <p:tgtEl>
                                          <p:spTgt spid="4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25" grpId="0" animBg="1"/>
      <p:bldP spid="27" grpId="0" animBg="1"/>
      <p:bldP spid="28" grpId="0" animBg="1"/>
      <p:bldP spid="31" grpId="0" animBg="1"/>
      <p:bldP spid="32" grpId="0" animBg="1"/>
      <p:bldP spid="34" grpId="0" animBg="1"/>
      <p:bldP spid="35" grpId="0" animBg="1"/>
      <p:bldP spid="36" grpId="0" animBg="1"/>
      <p:bldP spid="37" grpId="0" animBg="1"/>
      <p:bldP spid="39" grpId="0" animBg="1"/>
      <p:bldP spid="40" grpId="0" animBg="1"/>
      <p:bldP spid="4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2  ·  BACK IN</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Proximity</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SENSOR OPS</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sensor sees two things:</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clear, or too close.</a:t>
            </a: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It needs a third.</a:t>
            </a:r>
            <a:endParaRPr lang="en-US" sz="2000" dirty="0"/>
          </a:p>
        </p:txBody>
      </p:sp>
      <p:sp>
        <p:nvSpPr>
          <p:cNvPr id="12"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3"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4"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Proximity</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5"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6"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7"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8"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9"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0"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1"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2"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3"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4"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5"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6"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7"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8"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9"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0"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Carry on from where you were. </a:t>
            </a:r>
            <a:pPr indent="0" marL="0">
              <a:buNone/>
            </a:pPr>
            <a:r>
              <a:rPr lang="en-US" sz="1900" dirty="0">
                <a:solidFill>
                  <a:srgbClr val="F5F5F3"/>
                </a:solidFill>
                <a:latin typeface="Calibri" pitchFamily="34" charset="0"/>
                <a:ea typeface="Calibri" pitchFamily="34" charset="-122"/>
                <a:cs typeface="Calibri" pitchFamily="34" charset="-120"/>
              </a:rPr>
              <a:t>elif comes in Modification 2, with the code given.</a:t>
            </a:r>
            <a:endParaRPr lang="en-US" sz="1900" dirty="0"/>
          </a:p>
        </p:txBody>
      </p:sp>
      <p:sp>
        <p:nvSpPr>
          <p:cNvPr id="31"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≈15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8" name="Text 5"/>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9" name="Text 6"/>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Shape 10"/>
          <p:cNvSpPr/>
          <p:nvPr/>
        </p:nvSpPr>
        <p:spPr>
          <a:xfrm>
            <a:off x="4334256" y="1508760"/>
            <a:ext cx="384048" cy="384048"/>
          </a:xfrm>
          <a:prstGeom prst="ellipse">
            <a:avLst/>
          </a:prstGeom>
          <a:solidFill>
            <a:srgbClr val="D8A73D"/>
          </a:solidFill>
          <a:ln/>
        </p:spPr>
      </p:sp>
      <p:sp>
        <p:nvSpPr>
          <p:cNvPr id="14" name="Text 11"/>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5"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16" name="Text 13"/>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17" name="Text 14"/>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5"/>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6"/>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Text 17"/>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1" name="Text 18"/>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Shape 19"/>
          <p:cNvSpPr/>
          <p:nvPr/>
        </p:nvSpPr>
        <p:spPr>
          <a:xfrm>
            <a:off x="8119872" y="1508760"/>
            <a:ext cx="384048" cy="384048"/>
          </a:xfrm>
          <a:prstGeom prst="ellipse">
            <a:avLst/>
          </a:prstGeom>
          <a:solidFill>
            <a:srgbClr val="D8A73D"/>
          </a:solidFill>
          <a:ln/>
        </p:spPr>
      </p:sp>
      <p:sp>
        <p:nvSpPr>
          <p:cNvPr id="23" name="Text 20"/>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4"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25" name="Text 22"/>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26" name="Text 23"/>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xt 24"/>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Text 25"/>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9" name="Text 26"/>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0" name="Text 27"/>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1" name="Shape 28"/>
          <p:cNvSpPr/>
          <p:nvPr/>
        </p:nvSpPr>
        <p:spPr>
          <a:xfrm>
            <a:off x="548640" y="5148072"/>
            <a:ext cx="11091672" cy="914400"/>
          </a:xfrm>
          <a:prstGeom prst="roundRect">
            <a:avLst>
              <a:gd name="adj" fmla="val 8000"/>
            </a:avLst>
          </a:prstGeom>
          <a:solidFill>
            <a:srgbClr val="1E1E24"/>
          </a:solidFill>
          <a:ln w="25400">
            <a:solidFill>
              <a:srgbClr val="D8A73D"/>
            </a:solidFill>
            <a:prstDash val="solid"/>
          </a:ln>
        </p:spPr>
      </p:sp>
      <p:sp>
        <p:nvSpPr>
          <p:cNvPr id="32" name="Text 29"/>
          <p:cNvSpPr txBox="1"/>
          <p:nvPr/>
        </p:nvSpPr>
        <p:spPr>
          <a:xfrm>
            <a:off x="914400" y="5148072"/>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3" name="Shape 30"/>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4" name="Text 3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5" name="Shape 32"/>
          <p:cNvSpPr/>
          <p:nvPr/>
        </p:nvSpPr>
        <p:spPr>
          <a:xfrm>
            <a:off x="8046720" y="566928"/>
            <a:ext cx="1280160" cy="329184"/>
          </a:xfrm>
          <a:prstGeom prst="roundRect">
            <a:avLst>
              <a:gd name="adj" fmla="val 50000"/>
            </a:avLst>
          </a:prstGeom>
          <a:solidFill>
            <a:srgbClr val="D8A73D"/>
          </a:solidFill>
          <a:ln/>
        </p:spPr>
      </p:sp>
      <p:sp>
        <p:nvSpPr>
          <p:cNvPr id="36" name="Text 33"/>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 — answers</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051560"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3 &gt; 2</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8"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9" name="Text 6"/>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10" name="Text 7"/>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xt 10"/>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4" name="terminal"/>
          <p:cNvSpPr/>
          <p:nvPr/>
        </p:nvSpPr>
        <p:spPr>
          <a:xfrm>
            <a:off x="548640" y="5010912"/>
            <a:ext cx="3511296" cy="822960"/>
          </a:xfrm>
          <a:prstGeom prst="roundRect">
            <a:avLst>
              <a:gd name="adj" fmla="val 8889"/>
            </a:avLst>
          </a:prstGeom>
          <a:solidFill>
            <a:srgbClr val="0A0A0D"/>
          </a:solidFill>
          <a:ln w="15875">
            <a:solidFill>
              <a:srgbClr val="3A3A44"/>
            </a:solidFill>
            <a:prstDash val="solid"/>
          </a:ln>
        </p:spPr>
      </p:sp>
      <p:sp>
        <p:nvSpPr>
          <p:cNvPr id="15" name="Text 12"/>
          <p:cNvSpPr txBox="1"/>
          <p:nvPr/>
        </p:nvSpPr>
        <p:spPr>
          <a:xfrm>
            <a:off x="777240"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Locked</a:t>
            </a:r>
            <a:endParaRPr lang="en-US" sz="1800" dirty="0"/>
          </a:p>
        </p:txBody>
      </p:sp>
      <p:sp>
        <p:nvSpPr>
          <p:cNvPr id="16" name="Shape 13"/>
          <p:cNvSpPr/>
          <p:nvPr/>
        </p:nvSpPr>
        <p:spPr>
          <a:xfrm>
            <a:off x="4334256" y="1508760"/>
            <a:ext cx="384048" cy="384048"/>
          </a:xfrm>
          <a:prstGeom prst="ellipse">
            <a:avLst/>
          </a:prstGeom>
          <a:solidFill>
            <a:srgbClr val="D8A73D"/>
          </a:solidFill>
          <a:ln/>
        </p:spPr>
      </p:sp>
      <p:sp>
        <p:nvSpPr>
          <p:cNvPr id="17" name="Text 14"/>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8" name="Text 15"/>
          <p:cNvSpPr txBox="1"/>
          <p:nvPr/>
        </p:nvSpPr>
        <p:spPr>
          <a:xfrm>
            <a:off x="4837176"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50 &gt;= 50</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19"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20" name="Text 17"/>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21" name="Text 18"/>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Text 19"/>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xt 20"/>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4" name="Text 21"/>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2"/>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rminal"/>
          <p:cNvSpPr/>
          <p:nvPr/>
        </p:nvSpPr>
        <p:spPr>
          <a:xfrm>
            <a:off x="4334256" y="5010912"/>
            <a:ext cx="3511296" cy="822960"/>
          </a:xfrm>
          <a:prstGeom prst="roundRect">
            <a:avLst>
              <a:gd name="adj" fmla="val 8889"/>
            </a:avLst>
          </a:prstGeom>
          <a:solidFill>
            <a:srgbClr val="0A0A0D"/>
          </a:solidFill>
          <a:ln w="15875">
            <a:solidFill>
              <a:srgbClr val="3A3A44"/>
            </a:solidFill>
            <a:prstDash val="solid"/>
          </a:ln>
        </p:spPr>
      </p:sp>
      <p:sp>
        <p:nvSpPr>
          <p:cNvPr id="27" name="Text 24"/>
          <p:cNvSpPr txBox="1"/>
          <p:nvPr/>
        </p:nvSpPr>
        <p:spPr>
          <a:xfrm>
            <a:off x="4562856"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Systems on</a:t>
            </a:r>
            <a:endParaRPr lang="en-US" sz="1800" dirty="0"/>
          </a:p>
        </p:txBody>
      </p:sp>
      <p:sp>
        <p:nvSpPr>
          <p:cNvPr id="28" name="Shape 25"/>
          <p:cNvSpPr/>
          <p:nvPr/>
        </p:nvSpPr>
        <p:spPr>
          <a:xfrm>
            <a:off x="8119872" y="1508760"/>
            <a:ext cx="384048" cy="384048"/>
          </a:xfrm>
          <a:prstGeom prst="ellipse">
            <a:avLst/>
          </a:prstGeom>
          <a:solidFill>
            <a:srgbClr val="D8A73D"/>
          </a:solidFill>
          <a:ln/>
        </p:spPr>
      </p:sp>
      <p:sp>
        <p:nvSpPr>
          <p:cNvPr id="29" name="Text 26"/>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0" name="Text 27"/>
          <p:cNvSpPr txBox="1"/>
          <p:nvPr/>
        </p:nvSpPr>
        <p:spPr>
          <a:xfrm>
            <a:off x="8622792"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"n" == "y"</a:t>
            </a:r>
            <a:pPr indent="0" marL="0">
              <a:buNone/>
            </a:pPr>
            <a:r>
              <a:rPr lang="en-US" sz="1800" dirty="0">
                <a:solidFill>
                  <a:srgbClr val="F5F5F3"/>
                </a:solidFill>
                <a:latin typeface="Calibri" pitchFamily="34" charset="0"/>
                <a:ea typeface="Calibri" pitchFamily="34" charset="-122"/>
                <a:cs typeface="Calibri" pitchFamily="34" charset="-120"/>
              </a:rPr>
              <a:t> is False</a:t>
            </a:r>
            <a:endParaRPr lang="en-US" sz="1800" dirty="0"/>
          </a:p>
        </p:txBody>
      </p:sp>
      <p:sp>
        <p:nvSpPr>
          <p:cNvPr id="31"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32" name="Text 29"/>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33" name="Text 30"/>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4" name="Text 31"/>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5" name="Text 32"/>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6" name="Text 33"/>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7" name="Text 34"/>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8" name="terminal"/>
          <p:cNvSpPr/>
          <p:nvPr/>
        </p:nvSpPr>
        <p:spPr>
          <a:xfrm>
            <a:off x="8119872" y="5010912"/>
            <a:ext cx="3511296" cy="1188720"/>
          </a:xfrm>
          <a:prstGeom prst="roundRect">
            <a:avLst>
              <a:gd name="adj" fmla="val 6154"/>
            </a:avLst>
          </a:prstGeom>
          <a:solidFill>
            <a:srgbClr val="0A0A0D"/>
          </a:solidFill>
          <a:ln w="15875">
            <a:solidFill>
              <a:srgbClr val="3A3A44"/>
            </a:solidFill>
            <a:prstDash val="solid"/>
          </a:ln>
        </p:spPr>
      </p:sp>
      <p:sp>
        <p:nvSpPr>
          <p:cNvPr id="39" name="Text 36"/>
          <p:cNvSpPr txBox="1"/>
          <p:nvPr/>
        </p:nvSpPr>
        <p:spPr>
          <a:xfrm>
            <a:off x="8348472"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Cancelled</a:t>
            </a:r>
            <a:endParaRPr lang="en-US" sz="1800" dirty="0"/>
          </a:p>
        </p:txBody>
      </p:sp>
      <p:sp>
        <p:nvSpPr>
          <p:cNvPr id="40" name="Text 37"/>
          <p:cNvSpPr txBox="1"/>
          <p:nvPr/>
        </p:nvSpPr>
        <p:spPr>
          <a:xfrm>
            <a:off x="8348472" y="560527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Done</a:t>
            </a:r>
            <a:endParaRPr lang="en-US" sz="1800" dirty="0"/>
          </a:p>
        </p:txBody>
      </p:sp>
      <p:pic>
        <p:nvPicPr>
          <p:cNvPr id="41"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42"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input() gives text, so convert it</a:t>
            </a:r>
            <a:endParaRPr lang="en-US" sz="3600" dirty="0"/>
          </a:p>
        </p:txBody>
      </p:sp>
      <p:sp>
        <p:nvSpPr>
          <p:cNvPr id="5"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6"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distance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"Distance: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Shape 5"/>
          <p:cNvSpPr/>
          <p:nvPr/>
        </p:nvSpPr>
        <p:spPr>
          <a:xfrm>
            <a:off x="603504" y="2262378"/>
            <a:ext cx="7388352" cy="461010"/>
          </a:xfrm>
          <a:prstGeom prst="rect">
            <a:avLst/>
          </a:prstGeom>
          <a:solidFill>
            <a:srgbClr val="2B2618"/>
          </a:solidFill>
          <a:ln/>
        </p:spPr>
      </p:sp>
      <p:sp>
        <p:nvSpPr>
          <p:cNvPr id="9" name="Text 6"/>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7"/>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distance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2" name="Text 9"/>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3" name="Text 10"/>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TypeError: </a:t>
            </a:r>
            <a:pPr indent="0" marL="0">
              <a:buNone/>
            </a:pPr>
            <a:r>
              <a:rPr lang="en-US" sz="1800" dirty="0">
                <a:solidFill>
                  <a:srgbClr val="FF6B6B"/>
                </a:solidFill>
                <a:latin typeface="Consolas" pitchFamily="34" charset="0"/>
                <a:ea typeface="Consolas" pitchFamily="34" charset="-122"/>
                <a:cs typeface="Consolas" pitchFamily="34" charset="-120"/>
              </a:rPr>
              <a:t>'&gt;=' not supported between instances of 'str' and 'int'</a:t>
            </a:r>
            <a:endParaRPr lang="en-US" sz="1800" dirty="0"/>
          </a:p>
        </p:txBody>
      </p:sp>
      <p:sp>
        <p:nvSpPr>
          <p:cNvPr id="14" name="Text 11"/>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5" name="Shape 12"/>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6" name="Shape 13"/>
          <p:cNvSpPr/>
          <p:nvPr/>
        </p:nvSpPr>
        <p:spPr>
          <a:xfrm>
            <a:off x="8549640" y="1920240"/>
            <a:ext cx="1883664" cy="347472"/>
          </a:xfrm>
          <a:prstGeom prst="roundRect">
            <a:avLst>
              <a:gd name="adj" fmla="val 13158"/>
            </a:avLst>
          </a:prstGeom>
          <a:solidFill>
            <a:srgbClr val="E69F00"/>
          </a:solidFill>
          <a:ln/>
        </p:spPr>
      </p:sp>
      <p:sp>
        <p:nvSpPr>
          <p:cNvPr id="17" name="Text 14"/>
          <p:cNvSpPr txBox="1"/>
          <p:nvPr/>
        </p:nvSpPr>
        <p:spPr>
          <a:xfrm>
            <a:off x="8549640" y="1920240"/>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str</a:t>
            </a:r>
            <a:endParaRPr lang="en-US" sz="1400" dirty="0"/>
          </a:p>
        </p:txBody>
      </p:sp>
      <p:sp>
        <p:nvSpPr>
          <p:cNvPr id="18" name="Text 15"/>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"30"</a:t>
            </a:r>
            <a:endParaRPr lang="en-US" sz="2600" dirty="0"/>
          </a:p>
        </p:txBody>
      </p:sp>
      <p:sp>
        <p:nvSpPr>
          <p:cNvPr id="19" name="Shape 16"/>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20" name="Text 17"/>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Python points at line 2, but the fix is on line 1:</a:t>
            </a:r>
            <a:pPr indent="0" marL="0">
              <a:buNone/>
            </a:pPr>
            <a:endParaRPr lang="en-US" sz="2400" dirty="0"/>
          </a:p>
          <a:p>
            <a:pPr indent="0" marL="0">
              <a:buNone/>
            </a:pPr>
            <a:r>
              <a:rPr lang="en-US" sz="2400" dirty="0">
                <a:solidFill>
                  <a:srgbClr val="F5F5F3"/>
                </a:solidFill>
                <a:latin typeface="Consolas" pitchFamily="34" charset="0"/>
                <a:ea typeface="Consolas" pitchFamily="34" charset="-122"/>
                <a:cs typeface="Consolas" pitchFamily="34" charset="-120"/>
              </a:rPr>
              <a:t>distance = int(input("Distance: "))</a:t>
            </a:r>
            <a:endParaRPr lang="en-US" sz="2400" dirty="0"/>
          </a:p>
        </p:txBody>
      </p:sp>
      <p:pic>
        <p:nvPicPr>
          <p:cNvPr id="21"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auto · 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auto · 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6"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7"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make a program choose which lines to run?</a:t>
            </a:r>
            <a:endParaRPr lang="en-US" sz="2600" dirty="0"/>
          </a:p>
        </p:txBody>
      </p:sp>
      <p:sp>
        <p:nvSpPr>
          <p:cNvPr id="9" name="Shape 5"/>
          <p:cNvSpPr/>
          <p:nvPr/>
        </p:nvSpPr>
        <p:spPr>
          <a:xfrm>
            <a:off x="548640" y="2953512"/>
            <a:ext cx="438912" cy="438912"/>
          </a:xfrm>
          <a:prstGeom prst="ellipse">
            <a:avLst/>
          </a:prstGeom>
          <a:solidFill>
            <a:srgbClr val="D8A73D"/>
          </a:solidFill>
          <a:ln/>
        </p:spPr>
      </p:sp>
      <p:sp>
        <p:nvSpPr>
          <p:cNvPr id="10"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if / elif / else for temp: 30 or more → Hot, 15 or more → Warm, else Cold.</a:t>
            </a:r>
            <a:endParaRPr lang="en-US" sz="2200" dirty="0"/>
          </a:p>
        </p:txBody>
      </p:sp>
      <p:sp>
        <p:nvSpPr>
          <p:cNvPr id="12" name="Shape 8"/>
          <p:cNvSpPr/>
          <p:nvPr/>
        </p:nvSpPr>
        <p:spPr>
          <a:xfrm>
            <a:off x="548640" y="4096512"/>
            <a:ext cx="438912" cy="438912"/>
          </a:xfrm>
          <a:prstGeom prst="ellipse">
            <a:avLst/>
          </a:prstGeom>
          <a:solidFill>
            <a:srgbClr val="D8A73D"/>
          </a:solidFill>
          <a:ln/>
        </p:spPr>
      </p:sp>
      <p:sp>
        <p:nvSpPr>
          <p:cNvPr id="13"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4"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5"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answer</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"y"</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7"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AIRLOCK: SEALED · ACCESS CODE CHANGED · BY: </a:t>
            </a:r>
            <a:pPr indent="0" marL="0">
              <a:buNone/>
            </a:pPr>
            <a:r>
              <a:rPr lang="en-US" sz="1800" b="1" dirty="0">
                <a:solidFill>
                  <a:srgbClr val="D8A73D"/>
                </a:solidFill>
                <a:latin typeface="Consolas" pitchFamily="34" charset="0"/>
                <a:ea typeface="Consolas" pitchFamily="34" charset="-122"/>
                <a:cs typeface="Consolas" pitchFamily="34" charset="-120"/>
              </a:rPr>
              <a:t>WARDEN</a:t>
            </a:r>
            <a:endParaRPr lang="en-US" sz="1800" dirty="0"/>
          </a:p>
        </p:txBody>
      </p:sp>
      <p:pic>
        <p:nvPicPr>
          <p:cNvPr id="18" name="Image 2" descr="Recap and recall">    </p:cNvPr>
          <p:cNvPicPr>
            <a:picLocks noChangeAspect="1"/>
          </p:cNvPicPr>
          <p:nvPr/>
        </p:nvPicPr>
        <p:blipFill>
          <a:blip r:embed="rId3"/>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par>
                                <p:cTn id="8" presetID="10" presetClass="entr" presetSubtype="0" fill="hold" nodeType="withEffect">
                                  <p:stCondLst>
                                    <p:cond delay="7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Lesson 2: Selection</dc:title>
  <dc:subject>PptxGenJS Presentation</dc:subject>
  <dc:creator>Nicholas Houlton</dc:creator>
  <cp:lastModifiedBy>Nicholas Houlton</cp:lastModifiedBy>
  <cp:revision>1</cp:revision>
  <dcterms:created xsi:type="dcterms:W3CDTF">2026-10-22T09:59:38Z</dcterms:created>
  <dcterms:modified xsi:type="dcterms:W3CDTF">2026-10-22T09:59:38Z</dcterms:modified>
</cp:coreProperties>
</file>