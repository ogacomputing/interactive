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cap &amp; Recall" id="{0f421117-d509-24b3-9ccf-11a87fc1eccf}">
          <p14:sldIdLst>
            <p14:sldId id="256"/>
            <p14:sldId id="257"/>
          </p14:sldIdLst>
        </p14:section>
        <p14:section name="Title" id="{ef6a82fd-3dcd-9664-e93a-15487647a331}">
          <p14:sldIdLst>
            <p14:sldId id="258"/>
            <p14:sldId id="259"/>
          </p14:sldIdLst>
        </p14:section>
        <p14:section name="Conditions" id="{194a9aec-5710-3ce4-af3c-fd6852467943}">
          <p14:sldIdLst>
            <p14:sldId id="260"/>
            <p14:sldId id="261"/>
            <p14:sldId id="262"/>
            <p14:sldId id="263"/>
            <p14:sldId id="264"/>
          </p14:sldIdLst>
        </p14:section>
        <p14:section name="Round 1 — numbers" id="{be1aa771-b8b5-e5dc-316e-9e4b1bb0e89f}">
          <p14:sldIdLst>
            <p14:sldId id="265"/>
            <p14:sldId id="266"/>
            <p14:sldId id="267"/>
            <p14:sldId id="268"/>
            <p14:sldId id="269"/>
          </p14:sldIdLst>
        </p14:section>
        <p14:section name="Round 2 — a variable" id="{9b5a94b4-dc66-0155-907a-fdf655c1e2f8}">
          <p14:sldIdLst>
            <p14:sldId id="270"/>
            <p14:sldId id="271"/>
            <p14:sldId id="272"/>
            <p14:sldId id="273"/>
            <p14:sldId id="274"/>
          </p14:sldIdLst>
        </p14:section>
        <p14:section name="elif" id="{b49baefc-1053-6b73-8f5a-3d1aa40be04d}">
          <p14:sldIdLst>
            <p14:sldId id="275"/>
            <p14:sldId id="276"/>
          </p14:sldIdLst>
        </p14:section>
        <p14:section name="Proximity" id="{8eaa23fa-3156-f0c4-1984-11aa473c78d6}">
          <p14:sldIdLst>
            <p14:sldId id="277"/>
            <p14:sldId id="278"/>
          </p14:sldIdLst>
        </p14:section>
        <p14:section name="Plenary" id="{f0496135-4aa6-0d0e-b45a-46aa52f31c4d}">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5 minutes, silent, no notes. Mini-whiteboards or books.
Q1 is from Year 8 (variables); Q2–4 are from last lesson (joining, TypeError, str()).
Q1–2 are multiple choice (everyone commits to an answer). Q3–4 need a written answer.
Confidence rating 1–3 next to each answer — confident-but-wrong is the one most worth correcting.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self-mark. Hands up for "confident and wrong" on each.
Q1: = STORES. Don't explain == yet — just say "keep that question in your head, we answer it today".
Q2: "5" and "5" are strings (orange), so + joins them: 55. No space appears because there's no space inside the quotes.
Q3: crew is a number (int), and + can't join text and a number. TypeError. Fix: str(crew).
Q4: 90 − 25 = 65, then str() turns it into text so + can join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story out loud — don't put it on screen:
"Last lesson the crew locator picked up a tag nobody searched for: HALE. Hale's pod was opened from the inside, and the bio-scan says whatever is wearing his tag is not human. It's heading for Sensor Ops — and that's where you are now. The room is empty, but there's frost on the floor and a vent cover hangs open. The proximity sensors that could tell you how close it is are offline."
Today we rebuild them. A sensor has to DECIDE what to say, depending on the distance — that's selection.
In Slide Show this slide fades in through black and the amber alarm creeps in: let it finish before you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question = the whole unit. Today is the "make decisions" part.
Lesson question = today. You did if / else in Year 8, but it was a year ago, so we start from the beginning: conditions first.
We come back to this question in the plenary.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every program has been a SEQUENCE: every line runs, top to bottom.
Click: SELECTION. The program asks a question — a condition — and the answer is True or False. True takes one path, False takes the other. Only one of them runs, then the paths join and the program carries on.
Ask: "Where would a proximity sensor need this?" (Close → alarm; far → all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operator as words: "&gt;=" is "more than or equal to". Students mix up &lt; and &gt; — "the open side faces the bigger number".
Before each click, ask the class "True or False?" and get a show of hands.
Click 1: 85 &gt;= 50 → True. Click 2: 30 &gt;= 50 → False.
== is TWO equals signs: it ASKS "are these equal?". One = STORES (Do Now Q1). We'll come back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2 minutes. Boards up on 3-2-1.
Number 5 (5 &gt; 5) and number 2 (4 &gt;= 4) are the boundary ones — look for who gets those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any the class split on.
The boundary is where programs go wrong: &gt; leaves the number itself out; &gt;= lets it in. The activity tests exactly this (a distance of exactly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clicks: one label per line, then the rule.
Line 1: "if", the condition, then a colon. The colon means "a block comes next".
Line 2: indented = INSIDE the if. It only runs if the condition is True.
Line 3: else has NO condition — it's "everything else". Students often try to write else 30 &lt; 50: — that's an error.
Line 4: inside the else. Runs only when the condition was False.
Ask: 85 &gt;= 50 is True, so what's printed? (All clear — and only All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in 20 seconds, then into "What is printed?". The story so far, for anyone who missed Lesson 1.
It leaves out Lesson 1's choices (the door, Pod 5): they differ from student to student, and the activity's own "Previously…" recap covers them.
Link it: a proximity sensor has to choose what to say — that's what we're about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model it out loud, students just watch. Same three questions every time (the strip at the bottom).
Click 1 — True or False? "Is 30 more than or equal to 50? No. False."
Click 2 — Which lines run? "False, so skip the if block and run the else block."
Click 3 — What is printed? Too close — and only Too close.
Say the steps every time: "condition, block,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students answer each step on boards BEFORE you click.
Step 1: "True or False?" Boards up → click. (== asks "are they equal?" 7 equals 7: True.)
Step 2: "Which lines run?" Cold-call someone to say the line numbers → click.
Step 3: "What is printed?" Boards up → click. Door open.
Look for anyone writing Door open AND Door locked: exactly one block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silent, on your own, 4 minutes. Boards up together at the end.
Students who are stuck: point at the strip from the last two slides — True or False? Which lines run? What is printed?
Number 2 is the boundary trap (20 &gt;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boards. Most common mistakes:
2: "Alarm" — 20 is not MORE than 20, so it's False.
3: "Wait" — &gt;= lets 4 equal 4, so it's True.
Anyone who wrote both messages for a program: exactly one block runs.
If most of the class got 2 or 3 wrong, do one more together before Round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Do Now Q1's "keep that in your head".
One = STORES: it puts 30 in the box called distance. Nothing is printed, nothing is asked.
Two == ASKS: "is what's in distance equal to 30?" The answer is True or False, so it can go in an if.
Using one = in an if is a SyntaxError — Python won't even start. They'll need == in Modify 4 of today's activity (answer ==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Round 1's I do program with two changes: the number is now in a variable (one new step: look in the box), and a last line that isn't indented.
Click 1 — Look in the box: line 1 stores 30 in distance.
Click 2 — True or False? "Swap distance for what's in the box: 30 &gt;= 50. False."
Click 3 — Which lines run? "The else block. Line 6 isn't indented, so it isn't inside the if or the else: it runs every time, after them."
Click 4 — What is printed? Too close, then Scan complete.
Point out: Too close is the same as Round 1 — a variable is just a name for the value in the box. Scan complete is new, and it would print whatever distance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boards before each click.
Step 1: "What's in the box?" (20) → click.
Step 2: "So the condition is 20 &lt; 20. True or False?" Boards up → click. Is 20 LESS than 20? No: False. (Boundary again.)
Step 3: "Which lines run?" Cold-call → click.
Step 4: "What is printed?" Boards up → click. Oxygen OK, Check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silent, on your own, 4 minutes. Boards up together.
Stuck? Four steps on the strip: look in the box, True or False, which lines run, what is printed.
Number 3 compares text: "n" is not equal to "y". This is exactly Modify 4 in today's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boards.
1: 3 &gt; 2, True → Locked. Nothing after the else, so that's all.
2: 50 &gt;= 50 is True (boundary). Don't forget Done.
3: "n" == "y" is False → Cancelled, then Done. Text needs its quotes when you compare it: answer == y (no quotes) would be a NameError.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elif means "else if": another condition, checked only if the ones above it were False.
Click 1 — box: 35.
Click 2 — the if: 35 &gt;= 70? False, so Python moves down to the elif.
Click 3 — the elif: 35 &gt;= 30? True. Stop checking.
Click 4 — only the elif block runs. Click 5 — Low.
else still has no condition: it runs only when NONE of the conditions were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battery = 80.
Click 1 — box: 80. Click 2 — 80 &gt;= 70 is True, so the elif is NOT CHECKED, even though 80 &gt;= 30 is also True.
Click 3 — only the if block runs. Click 4 — Full, and only Full.
This is the big one: Python checks from the top and stops at the FIRST True condition. So the order of the conditions matters — they'll test that in Investigate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open "Proximity — Selection" from Google Classroom (Y9 › Python › Lesson 2).
Predict (5 questions: Program A is if / else, Program B adds one elif) → Run (85, 20, 5) → Investigate (4 steps: swap the numbers, elif → if, &gt;= → &gt;, then Break it: int() removed → TypeError) → Modify (4 steps; step 1 is the lockdown choice) → Make (radiation scanner, plus the power choice).
Circulate. During Investigate, point students back to the debugging recipe (Lesson 1) before they press Get help.
Anyone who missed Lesson 1: the activity's "Previously…" recap catches them up on the story.
Fast finishers: the Make extension (SCANNER FAULT below 0, EVACUATE from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feedback after the activity — this was the Break it step in Investigate.
Ask: "Which line did Python point to?" (2) "What's in the box?" (the text "30", orange: a str) "Why can't &gt;= compare it with 50?" (text and a number).
The error shows on the line that USES the value, but the fix is on the line that STORED it. Same rule as last lesson: input() always gives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task on whiteboards or a sticky note.
1. if temp &gt;= 30: print("Hot") / elif temp &gt;= 15: print("Warm") / else: print("Cold"). Follow-up question: what does yours print when temp = 15? (Warm: 15 &gt;= 15 is True.) Any order that works is fine — check they didn't put &gt;= 15 first (then 30 would print Warm).
2. if answer == "y": — one = stores, an if needs == to ask. It's a SyntaxError.
Close the story: "For one frame, the sensors catch it: a figure in Hale's overalls, moving wrong. Then the airlock seals, and WARDEN changes the access code. Next lesson: you're locked in."
In Slide Show this slide fades in through black and the red alarm creeps in by itself: Chapter 3's state, which Lesson 3's deck opens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Z_DARK">
    <p:bg>
      <p:bgPr>
        <a:solidFill>
          <a:srgbClr val="1E1E24"/>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200" spc="200" kern="0" dirty="0">
                <a:solidFill>
                  <a:srgbClr val="6E6E7A"/>
                </a:solidFill>
                <a:latin typeface="Calibri" pitchFamily="34" charset="0"/>
                <a:ea typeface="Calibri" pitchFamily="34" charset="-122"/>
                <a:cs typeface="Calibri" pitchFamily="34" charset="-120"/>
              </a:rPr>
              <a:t>STATION ZERO  ·  Y9 PYTHON  ·  LESSON 2</a:t>
            </a:r>
            <a:endParaRPr lang="en-US" sz="1200" dirty="0"/>
          </a:p>
        </p:txBody>
      </p:sp>
      <p:sp>
        <p:nvSpPr>
          <p:cNvPr id="3" name="Text 1"/>
          <p:cNvSpPr/>
          <p:nvPr>
            <p:ph idx="101" type="title" hasCustomPrompt="1"/>
          </p:nvPr>
        </p:nvSpPr>
        <p:spPr>
          <a:xfrm>
            <a:off x="548640" y="411480"/>
            <a:ext cx="9418320" cy="777240"/>
          </a:xfrm>
          <a:prstGeom prst="rect">
            <a:avLst/>
          </a:prstGeom>
          <a:noFill/>
          <a:ln/>
        </p:spPr>
        <p:txBody>
          <a:bodyPr wrap="square" rtlCol="0"/>
          <a:lstStyle>
            <a:lvl1pPr algn="l" indent="0" marL="0">
              <a:buNone/>
              <a:defRPr lang="en-US" sz="3600" b="1" dirty="0">
                <a:solidFill>
                  <a:srgbClr val="F5F5F3"/>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Z_LIGHT">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200" spc="200" kern="0" dirty="0">
                <a:solidFill>
                  <a:srgbClr val="8A8A93"/>
                </a:solidFill>
                <a:latin typeface="Calibri" pitchFamily="34" charset="0"/>
                <a:ea typeface="Calibri" pitchFamily="34" charset="-122"/>
                <a:cs typeface="Calibri" pitchFamily="34" charset="-120"/>
              </a:rPr>
              <a:t>STATION ZERO  ·  Y9 PYTHON  ·  LESSON 2</a:t>
            </a:r>
            <a:endParaRPr lang="en-US" sz="1200" dirty="0"/>
          </a:p>
        </p:txBody>
      </p:sp>
      <p:sp>
        <p:nvSpPr>
          <p:cNvPr id="3" name="Text 1"/>
          <p:cNvSpPr/>
          <p:nvPr>
            <p:ph idx="101" type="title" hasCustomPrompt="1"/>
          </p:nvPr>
        </p:nvSpPr>
        <p:spPr>
          <a:xfrm>
            <a:off x="548640" y="411480"/>
            <a:ext cx="9418320" cy="777240"/>
          </a:xfrm>
          <a:prstGeom prst="rect">
            <a:avLst/>
          </a:prstGeom>
          <a:noFill/>
          <a:ln/>
        </p:spPr>
        <p:txBody>
          <a:bodyPr wrap="square" rtlCol="0"/>
          <a:lstStyle>
            <a:lvl1pPr algn="l" indent="0" marL="0">
              <a:buNone/>
              <a:defRPr lang="en-US" sz="3600" b="1" dirty="0">
                <a:solidFill>
                  <a:srgbClr val="1E1E24"/>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A9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Z_COVER">
    <p:bg>
      <p:bgPr>
        <a:solidFill>
          <a:srgbClr val="1414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1E1E24"/>
                </a:solidFill>
                <a:latin typeface="Cambria" pitchFamily="34" charset="0"/>
                <a:ea typeface="Cambria" pitchFamily="34" charset="-122"/>
                <a:cs typeface="Cambria" pitchFamily="34" charset="-120"/>
              </a:rPr>
              <a:t>Recap &amp; Recall</a:t>
            </a:r>
            <a:endParaRPr lang="en-US" sz="3600" dirty="0"/>
          </a:p>
        </p:txBody>
      </p:sp>
      <p:sp>
        <p:nvSpPr>
          <p:cNvPr id="3" name="Text 1"/>
          <p:cNvSpPr txBox="1"/>
          <p:nvPr/>
        </p:nvSpPr>
        <p:spPr>
          <a:xfrm>
            <a:off x="548640" y="1170432"/>
            <a:ext cx="10241280" cy="365760"/>
          </a:xfrm>
          <a:prstGeom prst="rect">
            <a:avLst/>
          </a:prstGeom>
          <a:noFill/>
          <a:ln/>
        </p:spPr>
        <p:txBody>
          <a:bodyPr wrap="square" lIns="0" tIns="0" rIns="0" bIns="0" rtlCol="0" anchor="ctr"/>
          <a:lstStyle/>
          <a:p>
            <a:pPr indent="0" marL="0">
              <a:buNone/>
            </a:pPr>
            <a:r>
              <a:rPr lang="en-US" sz="1800" dirty="0">
                <a:solidFill>
                  <a:srgbClr val="55555F"/>
                </a:solidFill>
                <a:latin typeface="Calibri" pitchFamily="34" charset="0"/>
                <a:ea typeface="Calibri" pitchFamily="34" charset="-122"/>
                <a:cs typeface="Calibri" pitchFamily="34" charset="-120"/>
              </a:rPr>
              <a:t>No notes. Answer every question — a guess beats a blank. Then rate your confidence: 1, 2 or 3.</a:t>
            </a:r>
            <a:endParaRPr lang="en-US" sz="1800" dirty="0"/>
          </a:p>
        </p:txBody>
      </p:sp>
      <p:sp>
        <p:nvSpPr>
          <p:cNvPr id="4" name="q1"/>
          <p:cNvSpPr/>
          <p:nvPr/>
        </p:nvSpPr>
        <p:spPr>
          <a:xfrm>
            <a:off x="548640" y="1600200"/>
            <a:ext cx="5413248" cy="2286000"/>
          </a:xfrm>
          <a:prstGeom prst="roundRect">
            <a:avLst>
              <a:gd name="adj" fmla="val 3200"/>
            </a:avLst>
          </a:prstGeom>
          <a:solidFill>
            <a:srgbClr val="FFFFFF"/>
          </a:solidFill>
          <a:ln w="15875">
            <a:solidFill>
              <a:srgbClr val="D6D5D0"/>
            </a:solidFill>
            <a:prstDash val="solid"/>
          </a:ln>
        </p:spPr>
      </p:sp>
      <p:sp>
        <p:nvSpPr>
          <p:cNvPr id="5" name="Shape 3"/>
          <p:cNvSpPr/>
          <p:nvPr/>
        </p:nvSpPr>
        <p:spPr>
          <a:xfrm>
            <a:off x="777240" y="1801368"/>
            <a:ext cx="384048" cy="384048"/>
          </a:xfrm>
          <a:prstGeom prst="ellipse">
            <a:avLst/>
          </a:prstGeom>
          <a:solidFill>
            <a:srgbClr val="1E1E24"/>
          </a:solidFill>
          <a:ln/>
        </p:spPr>
      </p:sp>
      <p:sp>
        <p:nvSpPr>
          <p:cNvPr id="6" name="Text 4"/>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1280160" y="1828800"/>
            <a:ext cx="1600200" cy="310896"/>
          </a:xfrm>
          <a:prstGeom prst="roundRect">
            <a:avLst>
              <a:gd name="adj" fmla="val 52941"/>
            </a:avLst>
          </a:prstGeom>
          <a:solidFill>
            <a:srgbClr val="EDE6D3"/>
          </a:solidFill>
          <a:ln/>
        </p:spPr>
      </p:sp>
      <p:sp>
        <p:nvSpPr>
          <p:cNvPr id="8" name="Text 6"/>
          <p:cNvSpPr txBox="1"/>
          <p:nvPr/>
        </p:nvSpPr>
        <p:spPr>
          <a:xfrm>
            <a:off x="1280160"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Y8 · LESSON 2</a:t>
            </a:r>
            <a:endParaRPr lang="en-US" sz="1200" dirty="0"/>
          </a:p>
        </p:txBody>
      </p:sp>
      <p:sp>
        <p:nvSpPr>
          <p:cNvPr id="9" name="Shape 7"/>
          <p:cNvSpPr/>
          <p:nvPr/>
        </p:nvSpPr>
        <p:spPr>
          <a:xfrm>
            <a:off x="2971800" y="1828800"/>
            <a:ext cx="1783080" cy="310896"/>
          </a:xfrm>
          <a:prstGeom prst="roundRect">
            <a:avLst>
              <a:gd name="adj" fmla="val 52941"/>
            </a:avLst>
          </a:prstGeom>
          <a:solidFill>
            <a:srgbClr val="F5F5F3"/>
          </a:solidFill>
          <a:ln w="15875">
            <a:solidFill>
              <a:srgbClr val="D6D5D0"/>
            </a:solidFill>
            <a:prstDash val="solid"/>
          </a:ln>
        </p:spPr>
      </p:sp>
      <p:sp>
        <p:nvSpPr>
          <p:cNvPr id="10" name="Text 8"/>
          <p:cNvSpPr txBox="1"/>
          <p:nvPr/>
        </p:nvSpPr>
        <p:spPr>
          <a:xfrm>
            <a:off x="2971800"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11" name="Text 9"/>
          <p:cNvSpPr txBox="1"/>
          <p:nvPr/>
        </p:nvSpPr>
        <p:spPr>
          <a:xfrm>
            <a:off x="777240"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Which line stores 70 in score?</a:t>
            </a:r>
            <a:endParaRPr lang="en-US" sz="2000" dirty="0"/>
          </a:p>
        </p:txBody>
      </p:sp>
      <p:sp>
        <p:nvSpPr>
          <p:cNvPr id="12" name="Text 10"/>
          <p:cNvSpPr txBox="1"/>
          <p:nvPr/>
        </p:nvSpPr>
        <p:spPr>
          <a:xfrm>
            <a:off x="777240" y="2651760"/>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score = 70</a:t>
            </a:r>
            <a:endParaRPr lang="en-US" sz="1800" dirty="0"/>
          </a:p>
        </p:txBody>
      </p:sp>
      <p:sp>
        <p:nvSpPr>
          <p:cNvPr id="13" name="Text 11"/>
          <p:cNvSpPr txBox="1"/>
          <p:nvPr/>
        </p:nvSpPr>
        <p:spPr>
          <a:xfrm>
            <a:off x="777240" y="2980944"/>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score == 70</a:t>
            </a:r>
            <a:endParaRPr lang="en-US" sz="1800" dirty="0"/>
          </a:p>
        </p:txBody>
      </p:sp>
      <p:sp>
        <p:nvSpPr>
          <p:cNvPr id="14" name="Text 12"/>
          <p:cNvSpPr txBox="1"/>
          <p:nvPr/>
        </p:nvSpPr>
        <p:spPr>
          <a:xfrm>
            <a:off x="777240" y="3310128"/>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70 = score</a:t>
            </a:r>
            <a:endParaRPr lang="en-US" sz="1800" dirty="0"/>
          </a:p>
        </p:txBody>
      </p:sp>
      <p:sp>
        <p:nvSpPr>
          <p:cNvPr id="15" name="q2"/>
          <p:cNvSpPr/>
          <p:nvPr/>
        </p:nvSpPr>
        <p:spPr>
          <a:xfrm>
            <a:off x="6236208" y="1600200"/>
            <a:ext cx="5413248" cy="2286000"/>
          </a:xfrm>
          <a:prstGeom prst="roundRect">
            <a:avLst>
              <a:gd name="adj" fmla="val 3200"/>
            </a:avLst>
          </a:prstGeom>
          <a:solidFill>
            <a:srgbClr val="FFFFFF"/>
          </a:solidFill>
          <a:ln w="15875">
            <a:solidFill>
              <a:srgbClr val="D6D5D0"/>
            </a:solidFill>
            <a:prstDash val="solid"/>
          </a:ln>
        </p:spPr>
      </p:sp>
      <p:sp>
        <p:nvSpPr>
          <p:cNvPr id="16" name="Shape 14"/>
          <p:cNvSpPr/>
          <p:nvPr/>
        </p:nvSpPr>
        <p:spPr>
          <a:xfrm>
            <a:off x="6464808" y="1801368"/>
            <a:ext cx="384048" cy="384048"/>
          </a:xfrm>
          <a:prstGeom prst="ellipse">
            <a:avLst/>
          </a:prstGeom>
          <a:solidFill>
            <a:srgbClr val="1E1E24"/>
          </a:solidFill>
          <a:ln/>
        </p:spPr>
      </p:sp>
      <p:sp>
        <p:nvSpPr>
          <p:cNvPr id="17" name="Text 15"/>
          <p:cNvSpPr txBox="1"/>
          <p:nvPr/>
        </p:nvSpPr>
        <p:spPr>
          <a:xfrm>
            <a:off x="6464808"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2</a:t>
            </a:r>
            <a:endParaRPr lang="en-US" sz="1600" dirty="0"/>
          </a:p>
        </p:txBody>
      </p:sp>
      <p:sp>
        <p:nvSpPr>
          <p:cNvPr id="18" name="Shape 16"/>
          <p:cNvSpPr/>
          <p:nvPr/>
        </p:nvSpPr>
        <p:spPr>
          <a:xfrm>
            <a:off x="6967728" y="1828800"/>
            <a:ext cx="1600200" cy="310896"/>
          </a:xfrm>
          <a:prstGeom prst="roundRect">
            <a:avLst>
              <a:gd name="adj" fmla="val 52941"/>
            </a:avLst>
          </a:prstGeom>
          <a:solidFill>
            <a:srgbClr val="EDE6D3"/>
          </a:solidFill>
          <a:ln/>
        </p:spPr>
      </p:sp>
      <p:sp>
        <p:nvSpPr>
          <p:cNvPr id="19" name="Text 17"/>
          <p:cNvSpPr txBox="1"/>
          <p:nvPr/>
        </p:nvSpPr>
        <p:spPr>
          <a:xfrm>
            <a:off x="6967728"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LAST LESSON</a:t>
            </a:r>
            <a:endParaRPr lang="en-US" sz="1200" dirty="0"/>
          </a:p>
        </p:txBody>
      </p:sp>
      <p:sp>
        <p:nvSpPr>
          <p:cNvPr id="20" name="Shape 18"/>
          <p:cNvSpPr/>
          <p:nvPr/>
        </p:nvSpPr>
        <p:spPr>
          <a:xfrm>
            <a:off x="8659368" y="1828800"/>
            <a:ext cx="1783080" cy="310896"/>
          </a:xfrm>
          <a:prstGeom prst="roundRect">
            <a:avLst>
              <a:gd name="adj" fmla="val 52941"/>
            </a:avLst>
          </a:prstGeom>
          <a:solidFill>
            <a:srgbClr val="F5F5F3"/>
          </a:solidFill>
          <a:ln w="15875">
            <a:solidFill>
              <a:srgbClr val="D6D5D0"/>
            </a:solidFill>
            <a:prstDash val="solid"/>
          </a:ln>
        </p:spPr>
      </p:sp>
      <p:sp>
        <p:nvSpPr>
          <p:cNvPr id="21" name="Text 19"/>
          <p:cNvSpPr txBox="1"/>
          <p:nvPr/>
        </p:nvSpPr>
        <p:spPr>
          <a:xfrm>
            <a:off x="8659368"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22" name="Text 20"/>
          <p:cNvSpPr txBox="1"/>
          <p:nvPr/>
        </p:nvSpPr>
        <p:spPr>
          <a:xfrm>
            <a:off x="6464808"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What does this print?</a:t>
            </a:r>
            <a:endParaRPr lang="en-US" sz="2000" dirty="0"/>
          </a:p>
        </p:txBody>
      </p:sp>
      <p:sp>
        <p:nvSpPr>
          <p:cNvPr id="23" name="Shape 21"/>
          <p:cNvSpPr/>
          <p:nvPr/>
        </p:nvSpPr>
        <p:spPr>
          <a:xfrm>
            <a:off x="6464808" y="2651760"/>
            <a:ext cx="2286000" cy="786384"/>
          </a:xfrm>
          <a:prstGeom prst="roundRect">
            <a:avLst>
              <a:gd name="adj" fmla="val 6977"/>
            </a:avLst>
          </a:prstGeom>
          <a:solidFill>
            <a:srgbClr val="111115"/>
          </a:solidFill>
          <a:ln/>
        </p:spPr>
      </p:sp>
      <p:sp>
        <p:nvSpPr>
          <p:cNvPr id="24" name="Text 22"/>
          <p:cNvSpPr txBox="1"/>
          <p:nvPr/>
        </p:nvSpPr>
        <p:spPr>
          <a:xfrm>
            <a:off x="6601968" y="2743200"/>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x</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"5"</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"5"</a:t>
            </a:r>
            <a:endParaRPr lang="en-US" sz="1800" dirty="0"/>
          </a:p>
        </p:txBody>
      </p:sp>
      <p:sp>
        <p:nvSpPr>
          <p:cNvPr id="25" name="Text 23"/>
          <p:cNvSpPr txBox="1"/>
          <p:nvPr/>
        </p:nvSpPr>
        <p:spPr>
          <a:xfrm>
            <a:off x="6601968" y="3044952"/>
            <a:ext cx="2011680"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x</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26" name="Text 24"/>
          <p:cNvSpPr txBox="1"/>
          <p:nvPr/>
        </p:nvSpPr>
        <p:spPr>
          <a:xfrm>
            <a:off x="8979408" y="2651760"/>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10</a:t>
            </a:r>
            <a:endParaRPr lang="en-US" sz="1800" dirty="0"/>
          </a:p>
        </p:txBody>
      </p:sp>
      <p:sp>
        <p:nvSpPr>
          <p:cNvPr id="27" name="Text 25"/>
          <p:cNvSpPr txBox="1"/>
          <p:nvPr/>
        </p:nvSpPr>
        <p:spPr>
          <a:xfrm>
            <a:off x="8979408" y="2980944"/>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55</a:t>
            </a:r>
            <a:endParaRPr lang="en-US" sz="1800" dirty="0"/>
          </a:p>
        </p:txBody>
      </p:sp>
      <p:sp>
        <p:nvSpPr>
          <p:cNvPr id="28" name="Text 26"/>
          <p:cNvSpPr txBox="1"/>
          <p:nvPr/>
        </p:nvSpPr>
        <p:spPr>
          <a:xfrm>
            <a:off x="8979408" y="3310128"/>
            <a:ext cx="68580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5 5</a:t>
            </a:r>
            <a:endParaRPr lang="en-US" sz="1800" dirty="0"/>
          </a:p>
        </p:txBody>
      </p:sp>
      <p:sp>
        <p:nvSpPr>
          <p:cNvPr id="29" name="q3"/>
          <p:cNvSpPr/>
          <p:nvPr/>
        </p:nvSpPr>
        <p:spPr>
          <a:xfrm>
            <a:off x="548640" y="4023360"/>
            <a:ext cx="5413248" cy="2286000"/>
          </a:xfrm>
          <a:prstGeom prst="roundRect">
            <a:avLst>
              <a:gd name="adj" fmla="val 3200"/>
            </a:avLst>
          </a:prstGeom>
          <a:solidFill>
            <a:srgbClr val="FFFFFF"/>
          </a:solidFill>
          <a:ln w="15875">
            <a:solidFill>
              <a:srgbClr val="D6D5D0"/>
            </a:solidFill>
            <a:prstDash val="solid"/>
          </a:ln>
        </p:spPr>
      </p:sp>
      <p:sp>
        <p:nvSpPr>
          <p:cNvPr id="30" name="Shape 28"/>
          <p:cNvSpPr/>
          <p:nvPr/>
        </p:nvSpPr>
        <p:spPr>
          <a:xfrm>
            <a:off x="777240" y="4224528"/>
            <a:ext cx="384048" cy="384048"/>
          </a:xfrm>
          <a:prstGeom prst="ellipse">
            <a:avLst/>
          </a:prstGeom>
          <a:solidFill>
            <a:srgbClr val="1E1E24"/>
          </a:solidFill>
          <a:ln/>
        </p:spPr>
      </p:sp>
      <p:sp>
        <p:nvSpPr>
          <p:cNvPr id="31" name="Text 29"/>
          <p:cNvSpPr txBox="1"/>
          <p:nvPr/>
        </p:nvSpPr>
        <p:spPr>
          <a:xfrm>
            <a:off x="777240"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3</a:t>
            </a:r>
            <a:endParaRPr lang="en-US" sz="1600" dirty="0"/>
          </a:p>
        </p:txBody>
      </p:sp>
      <p:sp>
        <p:nvSpPr>
          <p:cNvPr id="32" name="Shape 30"/>
          <p:cNvSpPr/>
          <p:nvPr/>
        </p:nvSpPr>
        <p:spPr>
          <a:xfrm>
            <a:off x="1280160" y="4251960"/>
            <a:ext cx="1600200" cy="310896"/>
          </a:xfrm>
          <a:prstGeom prst="roundRect">
            <a:avLst>
              <a:gd name="adj" fmla="val 52941"/>
            </a:avLst>
          </a:prstGeom>
          <a:solidFill>
            <a:srgbClr val="EDE6D3"/>
          </a:solidFill>
          <a:ln/>
        </p:spPr>
      </p:sp>
      <p:sp>
        <p:nvSpPr>
          <p:cNvPr id="33" name="Text 31"/>
          <p:cNvSpPr txBox="1"/>
          <p:nvPr/>
        </p:nvSpPr>
        <p:spPr>
          <a:xfrm>
            <a:off x="1280160"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LAST LESSON</a:t>
            </a:r>
            <a:endParaRPr lang="en-US" sz="1200" dirty="0"/>
          </a:p>
        </p:txBody>
      </p:sp>
      <p:sp>
        <p:nvSpPr>
          <p:cNvPr id="34" name="Shape 32"/>
          <p:cNvSpPr/>
          <p:nvPr/>
        </p:nvSpPr>
        <p:spPr>
          <a:xfrm>
            <a:off x="2971800" y="4251960"/>
            <a:ext cx="1783080" cy="310896"/>
          </a:xfrm>
          <a:prstGeom prst="roundRect">
            <a:avLst>
              <a:gd name="adj" fmla="val 52941"/>
            </a:avLst>
          </a:prstGeom>
          <a:solidFill>
            <a:srgbClr val="F5F5F3"/>
          </a:solidFill>
          <a:ln w="15875">
            <a:solidFill>
              <a:srgbClr val="D6D5D0"/>
            </a:solidFill>
            <a:prstDash val="solid"/>
          </a:ln>
        </p:spPr>
      </p:sp>
      <p:sp>
        <p:nvSpPr>
          <p:cNvPr id="35" name="Text 33"/>
          <p:cNvSpPr txBox="1"/>
          <p:nvPr/>
        </p:nvSpPr>
        <p:spPr>
          <a:xfrm>
            <a:off x="2971800"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36" name="Text 34"/>
          <p:cNvSpPr txBox="1"/>
          <p:nvPr/>
        </p:nvSpPr>
        <p:spPr>
          <a:xfrm>
            <a:off x="777240"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This line crashes. Which error?</a:t>
            </a:r>
            <a:endParaRPr lang="en-US" sz="2000" dirty="0"/>
          </a:p>
        </p:txBody>
      </p:sp>
      <p:sp>
        <p:nvSpPr>
          <p:cNvPr id="37" name="Shape 35"/>
          <p:cNvSpPr/>
          <p:nvPr/>
        </p:nvSpPr>
        <p:spPr>
          <a:xfrm>
            <a:off x="777240" y="5074920"/>
            <a:ext cx="4956048" cy="786384"/>
          </a:xfrm>
          <a:prstGeom prst="roundRect">
            <a:avLst>
              <a:gd name="adj" fmla="val 6977"/>
            </a:avLst>
          </a:prstGeom>
          <a:solidFill>
            <a:srgbClr val="111115"/>
          </a:solidFill>
          <a:ln/>
        </p:spPr>
      </p:sp>
      <p:sp>
        <p:nvSpPr>
          <p:cNvPr id="38" name="Text 36"/>
          <p:cNvSpPr txBox="1"/>
          <p:nvPr/>
        </p:nvSpPr>
        <p:spPr>
          <a:xfrm>
            <a:off x="914400"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crew</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4</a:t>
            </a:r>
            <a:endParaRPr lang="en-US" sz="1800" dirty="0"/>
          </a:p>
        </p:txBody>
      </p:sp>
      <p:sp>
        <p:nvSpPr>
          <p:cNvPr id="39" name="Text 37"/>
          <p:cNvSpPr txBox="1"/>
          <p:nvPr/>
        </p:nvSpPr>
        <p:spPr>
          <a:xfrm>
            <a:off x="914400"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"Crew: "</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F5F5F3"/>
                </a:solidFill>
                <a:latin typeface="Consolas" pitchFamily="34" charset="0"/>
                <a:ea typeface="Consolas" pitchFamily="34" charset="-122"/>
                <a:cs typeface="Consolas" pitchFamily="34" charset="-120"/>
              </a:rPr>
              <a:t>crew</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40" name="q4"/>
          <p:cNvSpPr/>
          <p:nvPr/>
        </p:nvSpPr>
        <p:spPr>
          <a:xfrm>
            <a:off x="6236208" y="4023360"/>
            <a:ext cx="5413248" cy="2286000"/>
          </a:xfrm>
          <a:prstGeom prst="roundRect">
            <a:avLst>
              <a:gd name="adj" fmla="val 3200"/>
            </a:avLst>
          </a:prstGeom>
          <a:solidFill>
            <a:srgbClr val="FFFFFF"/>
          </a:solidFill>
          <a:ln w="15875">
            <a:solidFill>
              <a:srgbClr val="D6D5D0"/>
            </a:solidFill>
            <a:prstDash val="solid"/>
          </a:ln>
        </p:spPr>
      </p:sp>
      <p:sp>
        <p:nvSpPr>
          <p:cNvPr id="41" name="Shape 39"/>
          <p:cNvSpPr/>
          <p:nvPr/>
        </p:nvSpPr>
        <p:spPr>
          <a:xfrm>
            <a:off x="6464808" y="4224528"/>
            <a:ext cx="384048" cy="384048"/>
          </a:xfrm>
          <a:prstGeom prst="ellipse">
            <a:avLst/>
          </a:prstGeom>
          <a:solidFill>
            <a:srgbClr val="1E1E24"/>
          </a:solidFill>
          <a:ln/>
        </p:spPr>
      </p:sp>
      <p:sp>
        <p:nvSpPr>
          <p:cNvPr id="42" name="Text 40"/>
          <p:cNvSpPr txBox="1"/>
          <p:nvPr/>
        </p:nvSpPr>
        <p:spPr>
          <a:xfrm>
            <a:off x="6464808"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4</a:t>
            </a:r>
            <a:endParaRPr lang="en-US" sz="1600" dirty="0"/>
          </a:p>
        </p:txBody>
      </p:sp>
      <p:sp>
        <p:nvSpPr>
          <p:cNvPr id="43" name="Shape 41"/>
          <p:cNvSpPr/>
          <p:nvPr/>
        </p:nvSpPr>
        <p:spPr>
          <a:xfrm>
            <a:off x="6967728" y="4251960"/>
            <a:ext cx="1600200" cy="310896"/>
          </a:xfrm>
          <a:prstGeom prst="roundRect">
            <a:avLst>
              <a:gd name="adj" fmla="val 52941"/>
            </a:avLst>
          </a:prstGeom>
          <a:solidFill>
            <a:srgbClr val="EDE6D3"/>
          </a:solidFill>
          <a:ln/>
        </p:spPr>
      </p:sp>
      <p:sp>
        <p:nvSpPr>
          <p:cNvPr id="44" name="Text 42"/>
          <p:cNvSpPr txBox="1"/>
          <p:nvPr/>
        </p:nvSpPr>
        <p:spPr>
          <a:xfrm>
            <a:off x="6967728"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LAST LESSON</a:t>
            </a:r>
            <a:endParaRPr lang="en-US" sz="1200" dirty="0"/>
          </a:p>
        </p:txBody>
      </p:sp>
      <p:sp>
        <p:nvSpPr>
          <p:cNvPr id="45" name="Shape 43"/>
          <p:cNvSpPr/>
          <p:nvPr/>
        </p:nvSpPr>
        <p:spPr>
          <a:xfrm>
            <a:off x="8659368" y="4251960"/>
            <a:ext cx="1783080" cy="310896"/>
          </a:xfrm>
          <a:prstGeom prst="roundRect">
            <a:avLst>
              <a:gd name="adj" fmla="val 52941"/>
            </a:avLst>
          </a:prstGeom>
          <a:solidFill>
            <a:srgbClr val="F5F5F3"/>
          </a:solidFill>
          <a:ln w="15875">
            <a:solidFill>
              <a:srgbClr val="D6D5D0"/>
            </a:solidFill>
            <a:prstDash val="solid"/>
          </a:ln>
        </p:spPr>
      </p:sp>
      <p:sp>
        <p:nvSpPr>
          <p:cNvPr id="46" name="Text 44"/>
          <p:cNvSpPr txBox="1"/>
          <p:nvPr/>
        </p:nvSpPr>
        <p:spPr>
          <a:xfrm>
            <a:off x="8659368"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47" name="Text 45"/>
          <p:cNvSpPr txBox="1"/>
          <p:nvPr/>
        </p:nvSpPr>
        <p:spPr>
          <a:xfrm>
            <a:off x="6464808"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Write exactly what this prints.</a:t>
            </a:r>
            <a:endParaRPr lang="en-US" sz="2000" dirty="0"/>
          </a:p>
        </p:txBody>
      </p:sp>
      <p:sp>
        <p:nvSpPr>
          <p:cNvPr id="48" name="Shape 46"/>
          <p:cNvSpPr/>
          <p:nvPr/>
        </p:nvSpPr>
        <p:spPr>
          <a:xfrm>
            <a:off x="6464808" y="5074920"/>
            <a:ext cx="4956048" cy="786384"/>
          </a:xfrm>
          <a:prstGeom prst="roundRect">
            <a:avLst>
              <a:gd name="adj" fmla="val 6977"/>
            </a:avLst>
          </a:prstGeom>
          <a:solidFill>
            <a:srgbClr val="111115"/>
          </a:solidFill>
          <a:ln/>
        </p:spPr>
      </p:sp>
      <p:sp>
        <p:nvSpPr>
          <p:cNvPr id="49" name="Text 47"/>
          <p:cNvSpPr txBox="1"/>
          <p:nvPr/>
        </p:nvSpPr>
        <p:spPr>
          <a:xfrm>
            <a:off x="6601968"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o2</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90</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25</a:t>
            </a:r>
            <a:endParaRPr lang="en-US" sz="1800" dirty="0"/>
          </a:p>
        </p:txBody>
      </p:sp>
      <p:sp>
        <p:nvSpPr>
          <p:cNvPr id="50" name="Text 48"/>
          <p:cNvSpPr txBox="1"/>
          <p:nvPr/>
        </p:nvSpPr>
        <p:spPr>
          <a:xfrm>
            <a:off x="6601968"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"O2: "</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8C878"/>
                </a:solidFill>
                <a:latin typeface="Consolas" pitchFamily="34" charset="0"/>
                <a:ea typeface="Consolas" pitchFamily="34" charset="-122"/>
                <a:cs typeface="Consolas" pitchFamily="34" charset="-120"/>
              </a:rPr>
              <a:t>str</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o2</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1" name="Shape 49"/>
          <p:cNvSpPr/>
          <p:nvPr/>
        </p:nvSpPr>
        <p:spPr>
          <a:xfrm>
            <a:off x="9464040" y="566928"/>
            <a:ext cx="1280160" cy="329184"/>
          </a:xfrm>
          <a:prstGeom prst="roundRect">
            <a:avLst>
              <a:gd name="adj" fmla="val 50000"/>
            </a:avLst>
          </a:prstGeom>
          <a:solidFill>
            <a:srgbClr val="F5F5F3"/>
          </a:solidFill>
          <a:ln w="15875">
            <a:solidFill>
              <a:srgbClr val="1E1E24"/>
            </a:solidFill>
            <a:prstDash val="solid"/>
          </a:ln>
        </p:spPr>
      </p:sp>
      <p:sp>
        <p:nvSpPr>
          <p:cNvPr id="52" name="Text 50"/>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1E1E24"/>
                </a:solidFill>
                <a:latin typeface="Calibri" pitchFamily="34" charset="0"/>
                <a:ea typeface="Calibri" pitchFamily="34" charset="-122"/>
                <a:cs typeface="Calibri" pitchFamily="34" charset="-120"/>
              </a:rPr>
              <a:t>⏱  5 MIN</a:t>
            </a:r>
            <a:endParaRPr lang="en-US" sz="1400" dirty="0"/>
          </a:p>
        </p:txBody>
      </p:sp>
      <p:pic>
        <p:nvPicPr>
          <p:cNvPr id="53" name="Image 0" descr="Recap and recall">    </p:cNvPr>
          <p:cNvPicPr>
            <a:picLocks noChangeAspect="1"/>
          </p:cNvPicPr>
          <p:nvPr/>
        </p:nvPicPr>
        <p:blipFill>
          <a:blip r:embed="rId1"/>
          <a:stretch>
            <a:fillRect/>
          </a:stretch>
        </p:blipFill>
        <p:spPr>
          <a:xfrm>
            <a:off x="10972800" y="384048"/>
            <a:ext cx="731520" cy="731520"/>
          </a:xfrm>
          <a:prstGeom prst="rect">
            <a:avLst/>
          </a:prstGeom>
        </p:spPr>
      </p:pic>
      <p:sp>
        <p:nvSpPr>
          <p:cNvPr id="54"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A9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Recap &amp; Recall — answers</a:t>
            </a:r>
            <a:endParaRPr lang="en-US" sz="3600" dirty="0"/>
          </a:p>
        </p:txBody>
      </p:sp>
      <p:sp>
        <p:nvSpPr>
          <p:cNvPr id="3" name="Text 1"/>
          <p:cNvSpPr txBox="1"/>
          <p:nvPr/>
        </p:nvSpPr>
        <p:spPr>
          <a:xfrm>
            <a:off x="548640" y="1170432"/>
            <a:ext cx="10241280" cy="365760"/>
          </a:xfrm>
          <a:prstGeom prst="rect">
            <a:avLst/>
          </a:prstGeom>
          <a:noFill/>
          <a:ln/>
        </p:spPr>
        <p:txBody>
          <a:bodyPr wrap="square" lIns="0" tIns="0" rIns="0" bIns="0" rtlCol="0" anchor="ctr"/>
          <a:lstStyle/>
          <a:p>
            <a:pPr indent="0" marL="0">
              <a:buNone/>
            </a:pPr>
            <a:r>
              <a:rPr lang="en-US" sz="1800" dirty="0">
                <a:solidFill>
                  <a:srgbClr val="A9A9B4"/>
                </a:solidFill>
                <a:latin typeface="Calibri" pitchFamily="34" charset="0"/>
                <a:ea typeface="Calibri" pitchFamily="34" charset="-122"/>
                <a:cs typeface="Calibri" pitchFamily="34" charset="-120"/>
              </a:rPr>
              <a:t>Mark your own. Confident but wrong? Those are the ones to fix.</a:t>
            </a:r>
            <a:endParaRPr lang="en-US" sz="1800" dirty="0"/>
          </a:p>
        </p:txBody>
      </p:sp>
      <p:sp>
        <p:nvSpPr>
          <p:cNvPr id="4" name="q1"/>
          <p:cNvSpPr/>
          <p:nvPr/>
        </p:nvSpPr>
        <p:spPr>
          <a:xfrm>
            <a:off x="548640" y="1600200"/>
            <a:ext cx="5413248" cy="2286000"/>
          </a:xfrm>
          <a:prstGeom prst="roundRect">
            <a:avLst>
              <a:gd name="adj" fmla="val 3200"/>
            </a:avLst>
          </a:prstGeom>
          <a:solidFill>
            <a:srgbClr val="2A2A32"/>
          </a:solidFill>
          <a:ln w="15875">
            <a:solidFill>
              <a:srgbClr val="3A3A44"/>
            </a:solidFill>
            <a:prstDash val="solid"/>
          </a:ln>
        </p:spPr>
      </p:sp>
      <p:sp>
        <p:nvSpPr>
          <p:cNvPr id="5" name="Shape 3"/>
          <p:cNvSpPr/>
          <p:nvPr/>
        </p:nvSpPr>
        <p:spPr>
          <a:xfrm>
            <a:off x="777240" y="1801368"/>
            <a:ext cx="384048" cy="384048"/>
          </a:xfrm>
          <a:prstGeom prst="ellipse">
            <a:avLst/>
          </a:prstGeom>
          <a:solidFill>
            <a:srgbClr val="D8A73D"/>
          </a:solidFill>
          <a:ln/>
        </p:spPr>
      </p:sp>
      <p:sp>
        <p:nvSpPr>
          <p:cNvPr id="6" name="Text 4"/>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1280160" y="1828800"/>
            <a:ext cx="1600200" cy="310896"/>
          </a:xfrm>
          <a:prstGeom prst="roundRect">
            <a:avLst>
              <a:gd name="adj" fmla="val 52941"/>
            </a:avLst>
          </a:prstGeom>
          <a:solidFill>
            <a:srgbClr val="1E1E24"/>
          </a:solidFill>
          <a:ln w="15875">
            <a:solidFill>
              <a:srgbClr val="D8A73D"/>
            </a:solidFill>
            <a:prstDash val="solid"/>
          </a:ln>
        </p:spPr>
      </p:sp>
      <p:sp>
        <p:nvSpPr>
          <p:cNvPr id="8" name="Text 6"/>
          <p:cNvSpPr txBox="1"/>
          <p:nvPr/>
        </p:nvSpPr>
        <p:spPr>
          <a:xfrm>
            <a:off x="1280160"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Y8 · LESSON 2</a:t>
            </a:r>
            <a:endParaRPr lang="en-US" sz="1200" dirty="0"/>
          </a:p>
        </p:txBody>
      </p:sp>
      <p:sp>
        <p:nvSpPr>
          <p:cNvPr id="9" name="Shape 7"/>
          <p:cNvSpPr/>
          <p:nvPr/>
        </p:nvSpPr>
        <p:spPr>
          <a:xfrm>
            <a:off x="2971800" y="1828800"/>
            <a:ext cx="1783080" cy="310896"/>
          </a:xfrm>
          <a:prstGeom prst="roundRect">
            <a:avLst>
              <a:gd name="adj" fmla="val 52941"/>
            </a:avLst>
          </a:prstGeom>
          <a:solidFill>
            <a:srgbClr val="1E1E24"/>
          </a:solidFill>
          <a:ln w="15875">
            <a:solidFill>
              <a:srgbClr val="3A3A44"/>
            </a:solidFill>
            <a:prstDash val="solid"/>
          </a:ln>
        </p:spPr>
      </p:sp>
      <p:sp>
        <p:nvSpPr>
          <p:cNvPr id="10" name="Text 8"/>
          <p:cNvSpPr txBox="1"/>
          <p:nvPr/>
        </p:nvSpPr>
        <p:spPr>
          <a:xfrm>
            <a:off x="2971800"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CHOOSE A, B OR C</a:t>
            </a:r>
            <a:endParaRPr lang="en-US" sz="1200" dirty="0"/>
          </a:p>
        </p:txBody>
      </p:sp>
      <p:sp>
        <p:nvSpPr>
          <p:cNvPr id="11" name="Text 9"/>
          <p:cNvSpPr txBox="1"/>
          <p:nvPr/>
        </p:nvSpPr>
        <p:spPr>
          <a:xfrm>
            <a:off x="777240" y="224028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Which line stores 70 in score?</a:t>
            </a:r>
            <a:endParaRPr lang="en-US" sz="2000" dirty="0"/>
          </a:p>
        </p:txBody>
      </p:sp>
      <p:sp>
        <p:nvSpPr>
          <p:cNvPr id="12" name="Text 10"/>
          <p:cNvSpPr txBox="1"/>
          <p:nvPr/>
        </p:nvSpPr>
        <p:spPr>
          <a:xfrm>
            <a:off x="777240" y="2651760"/>
            <a:ext cx="3017520" cy="329184"/>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A   </a:t>
            </a:r>
            <a:pPr indent="0" marL="0">
              <a:buNone/>
            </a:pPr>
            <a:r>
              <a:rPr lang="en-US" sz="1800" b="1" dirty="0">
                <a:solidFill>
                  <a:srgbClr val="7FD99A"/>
                </a:solidFill>
                <a:latin typeface="Calibri" pitchFamily="34" charset="0"/>
                <a:ea typeface="Calibri" pitchFamily="34" charset="-122"/>
                <a:cs typeface="Calibri" pitchFamily="34" charset="-120"/>
              </a:rPr>
              <a:t>score = 70</a:t>
            </a:r>
            <a:endParaRPr lang="en-US" sz="1800" dirty="0"/>
          </a:p>
        </p:txBody>
      </p:sp>
      <p:sp>
        <p:nvSpPr>
          <p:cNvPr id="13" name="Text 11"/>
          <p:cNvSpPr txBox="1"/>
          <p:nvPr/>
        </p:nvSpPr>
        <p:spPr>
          <a:xfrm>
            <a:off x="777240" y="2980944"/>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B   </a:t>
            </a:r>
            <a:pPr indent="0" marL="0">
              <a:buNone/>
            </a:pPr>
            <a:r>
              <a:rPr lang="en-US" sz="1800" dirty="0">
                <a:solidFill>
                  <a:srgbClr val="A9A9B4"/>
                </a:solidFill>
                <a:latin typeface="Calibri" pitchFamily="34" charset="0"/>
                <a:ea typeface="Calibri" pitchFamily="34" charset="-122"/>
                <a:cs typeface="Calibri" pitchFamily="34" charset="-120"/>
              </a:rPr>
              <a:t>score == 70</a:t>
            </a:r>
            <a:endParaRPr lang="en-US" sz="1800" dirty="0"/>
          </a:p>
        </p:txBody>
      </p:sp>
      <p:sp>
        <p:nvSpPr>
          <p:cNvPr id="14" name="Text 12"/>
          <p:cNvSpPr txBox="1"/>
          <p:nvPr/>
        </p:nvSpPr>
        <p:spPr>
          <a:xfrm>
            <a:off x="777240" y="3310128"/>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   </a:t>
            </a:r>
            <a:pPr indent="0" marL="0">
              <a:buNone/>
            </a:pPr>
            <a:r>
              <a:rPr lang="en-US" sz="1800" dirty="0">
                <a:solidFill>
                  <a:srgbClr val="A9A9B4"/>
                </a:solidFill>
                <a:latin typeface="Calibri" pitchFamily="34" charset="0"/>
                <a:ea typeface="Calibri" pitchFamily="34" charset="-122"/>
                <a:cs typeface="Calibri" pitchFamily="34" charset="-120"/>
              </a:rPr>
              <a:t>70 = score</a:t>
            </a:r>
            <a:endParaRPr lang="en-US" sz="1800" dirty="0"/>
          </a:p>
        </p:txBody>
      </p:sp>
      <p:sp>
        <p:nvSpPr>
          <p:cNvPr id="15" name="Text 13"/>
          <p:cNvSpPr txBox="1"/>
          <p:nvPr/>
        </p:nvSpPr>
        <p:spPr>
          <a:xfrm>
            <a:off x="3886200" y="2651760"/>
            <a:ext cx="1892808" cy="987552"/>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 does something else: you’ll see it today</a:t>
            </a:r>
            <a:endParaRPr lang="en-US" sz="1800" dirty="0"/>
          </a:p>
        </p:txBody>
      </p:sp>
      <p:sp>
        <p:nvSpPr>
          <p:cNvPr id="16" name="q2"/>
          <p:cNvSpPr/>
          <p:nvPr/>
        </p:nvSpPr>
        <p:spPr>
          <a:xfrm>
            <a:off x="6236208" y="1600200"/>
            <a:ext cx="5413248" cy="2286000"/>
          </a:xfrm>
          <a:prstGeom prst="roundRect">
            <a:avLst>
              <a:gd name="adj" fmla="val 3200"/>
            </a:avLst>
          </a:prstGeom>
          <a:solidFill>
            <a:srgbClr val="2A2A32"/>
          </a:solidFill>
          <a:ln w="15875">
            <a:solidFill>
              <a:srgbClr val="3A3A44"/>
            </a:solidFill>
            <a:prstDash val="solid"/>
          </a:ln>
        </p:spPr>
      </p:sp>
      <p:sp>
        <p:nvSpPr>
          <p:cNvPr id="17" name="Shape 15"/>
          <p:cNvSpPr/>
          <p:nvPr/>
        </p:nvSpPr>
        <p:spPr>
          <a:xfrm>
            <a:off x="6464808" y="1801368"/>
            <a:ext cx="384048" cy="384048"/>
          </a:xfrm>
          <a:prstGeom prst="ellipse">
            <a:avLst/>
          </a:prstGeom>
          <a:solidFill>
            <a:srgbClr val="D8A73D"/>
          </a:solidFill>
          <a:ln/>
        </p:spPr>
      </p:sp>
      <p:sp>
        <p:nvSpPr>
          <p:cNvPr id="18" name="Text 16"/>
          <p:cNvSpPr txBox="1"/>
          <p:nvPr/>
        </p:nvSpPr>
        <p:spPr>
          <a:xfrm>
            <a:off x="6464808" y="180136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9" name="Shape 17"/>
          <p:cNvSpPr/>
          <p:nvPr/>
        </p:nvSpPr>
        <p:spPr>
          <a:xfrm>
            <a:off x="6967728" y="1828800"/>
            <a:ext cx="1600200" cy="310896"/>
          </a:xfrm>
          <a:prstGeom prst="roundRect">
            <a:avLst>
              <a:gd name="adj" fmla="val 52941"/>
            </a:avLst>
          </a:prstGeom>
          <a:solidFill>
            <a:srgbClr val="1E1E24"/>
          </a:solidFill>
          <a:ln w="15875">
            <a:solidFill>
              <a:srgbClr val="D8A73D"/>
            </a:solidFill>
            <a:prstDash val="solid"/>
          </a:ln>
        </p:spPr>
      </p:sp>
      <p:sp>
        <p:nvSpPr>
          <p:cNvPr id="20" name="Text 18"/>
          <p:cNvSpPr txBox="1"/>
          <p:nvPr/>
        </p:nvSpPr>
        <p:spPr>
          <a:xfrm>
            <a:off x="6967728"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LAST LESSON</a:t>
            </a:r>
            <a:endParaRPr lang="en-US" sz="1200" dirty="0"/>
          </a:p>
        </p:txBody>
      </p:sp>
      <p:sp>
        <p:nvSpPr>
          <p:cNvPr id="21" name="Shape 19"/>
          <p:cNvSpPr/>
          <p:nvPr/>
        </p:nvSpPr>
        <p:spPr>
          <a:xfrm>
            <a:off x="8659368" y="1828800"/>
            <a:ext cx="1783080" cy="310896"/>
          </a:xfrm>
          <a:prstGeom prst="roundRect">
            <a:avLst>
              <a:gd name="adj" fmla="val 52941"/>
            </a:avLst>
          </a:prstGeom>
          <a:solidFill>
            <a:srgbClr val="1E1E24"/>
          </a:solidFill>
          <a:ln w="15875">
            <a:solidFill>
              <a:srgbClr val="3A3A44"/>
            </a:solidFill>
            <a:prstDash val="solid"/>
          </a:ln>
        </p:spPr>
      </p:sp>
      <p:sp>
        <p:nvSpPr>
          <p:cNvPr id="22" name="Text 20"/>
          <p:cNvSpPr txBox="1"/>
          <p:nvPr/>
        </p:nvSpPr>
        <p:spPr>
          <a:xfrm>
            <a:off x="8659368"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CHOOSE A, B OR C</a:t>
            </a:r>
            <a:endParaRPr lang="en-US" sz="1200" dirty="0"/>
          </a:p>
        </p:txBody>
      </p:sp>
      <p:sp>
        <p:nvSpPr>
          <p:cNvPr id="23" name="Text 21"/>
          <p:cNvSpPr txBox="1"/>
          <p:nvPr/>
        </p:nvSpPr>
        <p:spPr>
          <a:xfrm>
            <a:off x="6464808" y="224028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What does this print?</a:t>
            </a:r>
            <a:endParaRPr lang="en-US" sz="2000" dirty="0"/>
          </a:p>
        </p:txBody>
      </p:sp>
      <p:sp>
        <p:nvSpPr>
          <p:cNvPr id="24" name="Shape 22"/>
          <p:cNvSpPr/>
          <p:nvPr/>
        </p:nvSpPr>
        <p:spPr>
          <a:xfrm>
            <a:off x="6464808" y="2651760"/>
            <a:ext cx="2286000" cy="786384"/>
          </a:xfrm>
          <a:prstGeom prst="roundRect">
            <a:avLst>
              <a:gd name="adj" fmla="val 6977"/>
            </a:avLst>
          </a:prstGeom>
          <a:solidFill>
            <a:srgbClr val="111115"/>
          </a:solidFill>
          <a:ln/>
        </p:spPr>
      </p:sp>
      <p:sp>
        <p:nvSpPr>
          <p:cNvPr id="25" name="Text 23"/>
          <p:cNvSpPr txBox="1"/>
          <p:nvPr/>
        </p:nvSpPr>
        <p:spPr>
          <a:xfrm>
            <a:off x="6601968" y="2743200"/>
            <a:ext cx="2011680"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x</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"5"</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"5"</a:t>
            </a:r>
            <a:endParaRPr lang="en-US" sz="1800" dirty="0"/>
          </a:p>
        </p:txBody>
      </p:sp>
      <p:sp>
        <p:nvSpPr>
          <p:cNvPr id="26" name="Text 24"/>
          <p:cNvSpPr txBox="1"/>
          <p:nvPr/>
        </p:nvSpPr>
        <p:spPr>
          <a:xfrm>
            <a:off x="6601968" y="3044952"/>
            <a:ext cx="2011680"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x</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27" name="Text 25"/>
          <p:cNvSpPr txBox="1"/>
          <p:nvPr/>
        </p:nvSpPr>
        <p:spPr>
          <a:xfrm>
            <a:off x="8979408" y="2651760"/>
            <a:ext cx="68580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A   </a:t>
            </a:r>
            <a:pPr indent="0" marL="0">
              <a:buNone/>
            </a:pPr>
            <a:r>
              <a:rPr lang="en-US" sz="1800" dirty="0">
                <a:solidFill>
                  <a:srgbClr val="A9A9B4"/>
                </a:solidFill>
                <a:latin typeface="Calibri" pitchFamily="34" charset="0"/>
                <a:ea typeface="Calibri" pitchFamily="34" charset="-122"/>
                <a:cs typeface="Calibri" pitchFamily="34" charset="-120"/>
              </a:rPr>
              <a:t>10</a:t>
            </a:r>
            <a:endParaRPr lang="en-US" sz="1800" dirty="0"/>
          </a:p>
        </p:txBody>
      </p:sp>
      <p:sp>
        <p:nvSpPr>
          <p:cNvPr id="28" name="Text 26"/>
          <p:cNvSpPr txBox="1"/>
          <p:nvPr/>
        </p:nvSpPr>
        <p:spPr>
          <a:xfrm>
            <a:off x="8979408" y="2980944"/>
            <a:ext cx="685800" cy="329184"/>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B   </a:t>
            </a:r>
            <a:pPr indent="0" marL="0">
              <a:buNone/>
            </a:pPr>
            <a:r>
              <a:rPr lang="en-US" sz="1800" b="1" dirty="0">
                <a:solidFill>
                  <a:srgbClr val="7FD99A"/>
                </a:solidFill>
                <a:latin typeface="Calibri" pitchFamily="34" charset="0"/>
                <a:ea typeface="Calibri" pitchFamily="34" charset="-122"/>
                <a:cs typeface="Calibri" pitchFamily="34" charset="-120"/>
              </a:rPr>
              <a:t>55</a:t>
            </a:r>
            <a:endParaRPr lang="en-US" sz="1800" dirty="0"/>
          </a:p>
        </p:txBody>
      </p:sp>
      <p:sp>
        <p:nvSpPr>
          <p:cNvPr id="29" name="Text 27"/>
          <p:cNvSpPr txBox="1"/>
          <p:nvPr/>
        </p:nvSpPr>
        <p:spPr>
          <a:xfrm>
            <a:off x="8979408" y="3310128"/>
            <a:ext cx="68580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   </a:t>
            </a:r>
            <a:pPr indent="0" marL="0">
              <a:buNone/>
            </a:pPr>
            <a:r>
              <a:rPr lang="en-US" sz="1800" dirty="0">
                <a:solidFill>
                  <a:srgbClr val="A9A9B4"/>
                </a:solidFill>
                <a:latin typeface="Calibri" pitchFamily="34" charset="0"/>
                <a:ea typeface="Calibri" pitchFamily="34" charset="-122"/>
                <a:cs typeface="Calibri" pitchFamily="34" charset="-120"/>
              </a:rPr>
              <a:t>5 5</a:t>
            </a:r>
            <a:endParaRPr lang="en-US" sz="1800" dirty="0"/>
          </a:p>
        </p:txBody>
      </p:sp>
      <p:sp>
        <p:nvSpPr>
          <p:cNvPr id="30" name="Text 28"/>
          <p:cNvSpPr txBox="1"/>
          <p:nvPr/>
        </p:nvSpPr>
        <p:spPr>
          <a:xfrm>
            <a:off x="9756648" y="2651760"/>
            <a:ext cx="1709928" cy="987552"/>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two strings, so + joins them</a:t>
            </a:r>
            <a:endParaRPr lang="en-US" sz="1800" dirty="0"/>
          </a:p>
        </p:txBody>
      </p:sp>
      <p:sp>
        <p:nvSpPr>
          <p:cNvPr id="31" name="q3"/>
          <p:cNvSpPr/>
          <p:nvPr/>
        </p:nvSpPr>
        <p:spPr>
          <a:xfrm>
            <a:off x="548640" y="4023360"/>
            <a:ext cx="5413248" cy="2286000"/>
          </a:xfrm>
          <a:prstGeom prst="roundRect">
            <a:avLst>
              <a:gd name="adj" fmla="val 3200"/>
            </a:avLst>
          </a:prstGeom>
          <a:solidFill>
            <a:srgbClr val="2A2A32"/>
          </a:solidFill>
          <a:ln w="15875">
            <a:solidFill>
              <a:srgbClr val="3A3A44"/>
            </a:solidFill>
            <a:prstDash val="solid"/>
          </a:ln>
        </p:spPr>
      </p:sp>
      <p:sp>
        <p:nvSpPr>
          <p:cNvPr id="32" name="Shape 30"/>
          <p:cNvSpPr/>
          <p:nvPr/>
        </p:nvSpPr>
        <p:spPr>
          <a:xfrm>
            <a:off x="777240" y="4224528"/>
            <a:ext cx="384048" cy="384048"/>
          </a:xfrm>
          <a:prstGeom prst="ellipse">
            <a:avLst/>
          </a:prstGeom>
          <a:solidFill>
            <a:srgbClr val="D8A73D"/>
          </a:solidFill>
          <a:ln/>
        </p:spPr>
      </p:sp>
      <p:sp>
        <p:nvSpPr>
          <p:cNvPr id="33" name="Text 31"/>
          <p:cNvSpPr txBox="1"/>
          <p:nvPr/>
        </p:nvSpPr>
        <p:spPr>
          <a:xfrm>
            <a:off x="777240" y="422452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4" name="Shape 32"/>
          <p:cNvSpPr/>
          <p:nvPr/>
        </p:nvSpPr>
        <p:spPr>
          <a:xfrm>
            <a:off x="1280160" y="4251960"/>
            <a:ext cx="1600200" cy="310896"/>
          </a:xfrm>
          <a:prstGeom prst="roundRect">
            <a:avLst>
              <a:gd name="adj" fmla="val 52941"/>
            </a:avLst>
          </a:prstGeom>
          <a:solidFill>
            <a:srgbClr val="1E1E24"/>
          </a:solidFill>
          <a:ln w="15875">
            <a:solidFill>
              <a:srgbClr val="D8A73D"/>
            </a:solidFill>
            <a:prstDash val="solid"/>
          </a:ln>
        </p:spPr>
      </p:sp>
      <p:sp>
        <p:nvSpPr>
          <p:cNvPr id="35" name="Text 33"/>
          <p:cNvSpPr txBox="1"/>
          <p:nvPr/>
        </p:nvSpPr>
        <p:spPr>
          <a:xfrm>
            <a:off x="1280160"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LAST LESSON</a:t>
            </a:r>
            <a:endParaRPr lang="en-US" sz="1200" dirty="0"/>
          </a:p>
        </p:txBody>
      </p:sp>
      <p:sp>
        <p:nvSpPr>
          <p:cNvPr id="36" name="Shape 34"/>
          <p:cNvSpPr/>
          <p:nvPr/>
        </p:nvSpPr>
        <p:spPr>
          <a:xfrm>
            <a:off x="2971800" y="4251960"/>
            <a:ext cx="1783080" cy="310896"/>
          </a:xfrm>
          <a:prstGeom prst="roundRect">
            <a:avLst>
              <a:gd name="adj" fmla="val 52941"/>
            </a:avLst>
          </a:prstGeom>
          <a:solidFill>
            <a:srgbClr val="1E1E24"/>
          </a:solidFill>
          <a:ln w="15875">
            <a:solidFill>
              <a:srgbClr val="3A3A44"/>
            </a:solidFill>
            <a:prstDash val="solid"/>
          </a:ln>
        </p:spPr>
      </p:sp>
      <p:sp>
        <p:nvSpPr>
          <p:cNvPr id="37" name="Text 35"/>
          <p:cNvSpPr txBox="1"/>
          <p:nvPr/>
        </p:nvSpPr>
        <p:spPr>
          <a:xfrm>
            <a:off x="2971800"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WRITE IT</a:t>
            </a:r>
            <a:endParaRPr lang="en-US" sz="1200" dirty="0"/>
          </a:p>
        </p:txBody>
      </p:sp>
      <p:sp>
        <p:nvSpPr>
          <p:cNvPr id="38" name="Text 36"/>
          <p:cNvSpPr txBox="1"/>
          <p:nvPr/>
        </p:nvSpPr>
        <p:spPr>
          <a:xfrm>
            <a:off x="777240" y="466344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This line crashes. Which error?</a:t>
            </a:r>
            <a:endParaRPr lang="en-US" sz="2000" dirty="0"/>
          </a:p>
        </p:txBody>
      </p:sp>
      <p:sp>
        <p:nvSpPr>
          <p:cNvPr id="39" name="Shape 37"/>
          <p:cNvSpPr/>
          <p:nvPr/>
        </p:nvSpPr>
        <p:spPr>
          <a:xfrm>
            <a:off x="777240" y="5074920"/>
            <a:ext cx="4956048" cy="786384"/>
          </a:xfrm>
          <a:prstGeom prst="roundRect">
            <a:avLst>
              <a:gd name="adj" fmla="val 6977"/>
            </a:avLst>
          </a:prstGeom>
          <a:solidFill>
            <a:srgbClr val="111115"/>
          </a:solidFill>
          <a:ln/>
        </p:spPr>
      </p:sp>
      <p:sp>
        <p:nvSpPr>
          <p:cNvPr id="40" name="Text 38"/>
          <p:cNvSpPr txBox="1"/>
          <p:nvPr/>
        </p:nvSpPr>
        <p:spPr>
          <a:xfrm>
            <a:off x="914400"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crew</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4</a:t>
            </a:r>
            <a:endParaRPr lang="en-US" sz="1800" dirty="0"/>
          </a:p>
        </p:txBody>
      </p:sp>
      <p:sp>
        <p:nvSpPr>
          <p:cNvPr id="41" name="Text 39"/>
          <p:cNvSpPr txBox="1"/>
          <p:nvPr/>
        </p:nvSpPr>
        <p:spPr>
          <a:xfrm>
            <a:off x="914400"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"Crew: "</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F5F5F3"/>
                </a:solidFill>
                <a:latin typeface="Consolas" pitchFamily="34" charset="0"/>
                <a:ea typeface="Consolas" pitchFamily="34" charset="-122"/>
                <a:cs typeface="Consolas" pitchFamily="34" charset="-120"/>
              </a:rPr>
              <a:t>crew</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42" name="Text 40"/>
          <p:cNvSpPr txBox="1"/>
          <p:nvPr/>
        </p:nvSpPr>
        <p:spPr>
          <a:xfrm>
            <a:off x="777240" y="5934456"/>
            <a:ext cx="4956048" cy="365760"/>
          </a:xfrm>
          <a:prstGeom prst="rect">
            <a:avLst/>
          </a:prstGeom>
          <a:noFill/>
          <a:ln/>
        </p:spPr>
        <p:txBody>
          <a:bodyPr wrap="square" lIns="0" tIns="0" rIns="0" bIns="0" rtlCol="0" anchor="ctr"/>
          <a:lstStyle/>
          <a:p>
            <a:pPr indent="0" marL="0">
              <a:buNone/>
            </a:pPr>
            <a:r>
              <a:rPr lang="en-US" sz="2200" b="1" dirty="0">
                <a:solidFill>
                  <a:srgbClr val="7FD99A"/>
                </a:solidFill>
                <a:latin typeface="Calibri" pitchFamily="34" charset="0"/>
                <a:ea typeface="Calibri" pitchFamily="34" charset="-122"/>
                <a:cs typeface="Calibri" pitchFamily="34" charset="-120"/>
              </a:rPr>
              <a:t>TypeError</a:t>
            </a:r>
            <a:pPr indent="0" marL="0">
              <a:buNone/>
            </a:pPr>
            <a:r>
              <a:rPr lang="en-US" sz="1800" dirty="0">
                <a:solidFill>
                  <a:srgbClr val="A9A9B4"/>
                </a:solidFill>
                <a:latin typeface="Calibri" pitchFamily="34" charset="0"/>
                <a:ea typeface="Calibri" pitchFamily="34" charset="-122"/>
                <a:cs typeface="Calibri" pitchFamily="34" charset="-120"/>
              </a:rPr>
              <a:t>   fix it with str(crew)</a:t>
            </a:r>
            <a:endParaRPr lang="en-US" sz="2200" dirty="0"/>
          </a:p>
        </p:txBody>
      </p:sp>
      <p:sp>
        <p:nvSpPr>
          <p:cNvPr id="43" name="q4"/>
          <p:cNvSpPr/>
          <p:nvPr/>
        </p:nvSpPr>
        <p:spPr>
          <a:xfrm>
            <a:off x="6236208" y="4023360"/>
            <a:ext cx="5413248" cy="2286000"/>
          </a:xfrm>
          <a:prstGeom prst="roundRect">
            <a:avLst>
              <a:gd name="adj" fmla="val 3200"/>
            </a:avLst>
          </a:prstGeom>
          <a:solidFill>
            <a:srgbClr val="2A2A32"/>
          </a:solidFill>
          <a:ln w="15875">
            <a:solidFill>
              <a:srgbClr val="3A3A44"/>
            </a:solidFill>
            <a:prstDash val="solid"/>
          </a:ln>
        </p:spPr>
      </p:sp>
      <p:sp>
        <p:nvSpPr>
          <p:cNvPr id="44" name="Shape 42"/>
          <p:cNvSpPr/>
          <p:nvPr/>
        </p:nvSpPr>
        <p:spPr>
          <a:xfrm>
            <a:off x="6464808" y="4224528"/>
            <a:ext cx="384048" cy="384048"/>
          </a:xfrm>
          <a:prstGeom prst="ellipse">
            <a:avLst/>
          </a:prstGeom>
          <a:solidFill>
            <a:srgbClr val="D8A73D"/>
          </a:solidFill>
          <a:ln/>
        </p:spPr>
      </p:sp>
      <p:sp>
        <p:nvSpPr>
          <p:cNvPr id="45" name="Text 43"/>
          <p:cNvSpPr txBox="1"/>
          <p:nvPr/>
        </p:nvSpPr>
        <p:spPr>
          <a:xfrm>
            <a:off x="6464808" y="422452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46" name="Shape 44"/>
          <p:cNvSpPr/>
          <p:nvPr/>
        </p:nvSpPr>
        <p:spPr>
          <a:xfrm>
            <a:off x="6967728" y="4251960"/>
            <a:ext cx="1600200" cy="310896"/>
          </a:xfrm>
          <a:prstGeom prst="roundRect">
            <a:avLst>
              <a:gd name="adj" fmla="val 52941"/>
            </a:avLst>
          </a:prstGeom>
          <a:solidFill>
            <a:srgbClr val="1E1E24"/>
          </a:solidFill>
          <a:ln w="15875">
            <a:solidFill>
              <a:srgbClr val="D8A73D"/>
            </a:solidFill>
            <a:prstDash val="solid"/>
          </a:ln>
        </p:spPr>
      </p:sp>
      <p:sp>
        <p:nvSpPr>
          <p:cNvPr id="47" name="Text 45"/>
          <p:cNvSpPr txBox="1"/>
          <p:nvPr/>
        </p:nvSpPr>
        <p:spPr>
          <a:xfrm>
            <a:off x="6967728"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LAST LESSON</a:t>
            </a:r>
            <a:endParaRPr lang="en-US" sz="1200" dirty="0"/>
          </a:p>
        </p:txBody>
      </p:sp>
      <p:sp>
        <p:nvSpPr>
          <p:cNvPr id="48" name="Shape 46"/>
          <p:cNvSpPr/>
          <p:nvPr/>
        </p:nvSpPr>
        <p:spPr>
          <a:xfrm>
            <a:off x="8659368" y="4251960"/>
            <a:ext cx="1783080" cy="310896"/>
          </a:xfrm>
          <a:prstGeom prst="roundRect">
            <a:avLst>
              <a:gd name="adj" fmla="val 52941"/>
            </a:avLst>
          </a:prstGeom>
          <a:solidFill>
            <a:srgbClr val="1E1E24"/>
          </a:solidFill>
          <a:ln w="15875">
            <a:solidFill>
              <a:srgbClr val="3A3A44"/>
            </a:solidFill>
            <a:prstDash val="solid"/>
          </a:ln>
        </p:spPr>
      </p:sp>
      <p:sp>
        <p:nvSpPr>
          <p:cNvPr id="49" name="Text 47"/>
          <p:cNvSpPr txBox="1"/>
          <p:nvPr/>
        </p:nvSpPr>
        <p:spPr>
          <a:xfrm>
            <a:off x="8659368"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WRITE IT</a:t>
            </a:r>
            <a:endParaRPr lang="en-US" sz="1200" dirty="0"/>
          </a:p>
        </p:txBody>
      </p:sp>
      <p:sp>
        <p:nvSpPr>
          <p:cNvPr id="50" name="Text 48"/>
          <p:cNvSpPr txBox="1"/>
          <p:nvPr/>
        </p:nvSpPr>
        <p:spPr>
          <a:xfrm>
            <a:off x="6464808" y="466344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Write exactly what this prints.</a:t>
            </a:r>
            <a:endParaRPr lang="en-US" sz="2000" dirty="0"/>
          </a:p>
        </p:txBody>
      </p:sp>
      <p:sp>
        <p:nvSpPr>
          <p:cNvPr id="51" name="Shape 49"/>
          <p:cNvSpPr/>
          <p:nvPr/>
        </p:nvSpPr>
        <p:spPr>
          <a:xfrm>
            <a:off x="6464808" y="5074920"/>
            <a:ext cx="4956048" cy="786384"/>
          </a:xfrm>
          <a:prstGeom prst="roundRect">
            <a:avLst>
              <a:gd name="adj" fmla="val 6977"/>
            </a:avLst>
          </a:prstGeom>
          <a:solidFill>
            <a:srgbClr val="111115"/>
          </a:solidFill>
          <a:ln/>
        </p:spPr>
      </p:sp>
      <p:sp>
        <p:nvSpPr>
          <p:cNvPr id="52" name="Text 50"/>
          <p:cNvSpPr txBox="1"/>
          <p:nvPr/>
        </p:nvSpPr>
        <p:spPr>
          <a:xfrm>
            <a:off x="6601968"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o2</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90</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25</a:t>
            </a:r>
            <a:endParaRPr lang="en-US" sz="1800" dirty="0"/>
          </a:p>
        </p:txBody>
      </p:sp>
      <p:sp>
        <p:nvSpPr>
          <p:cNvPr id="53" name="Text 51"/>
          <p:cNvSpPr txBox="1"/>
          <p:nvPr/>
        </p:nvSpPr>
        <p:spPr>
          <a:xfrm>
            <a:off x="6601968"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"O2: "</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8C878"/>
                </a:solidFill>
                <a:latin typeface="Consolas" pitchFamily="34" charset="0"/>
                <a:ea typeface="Consolas" pitchFamily="34" charset="-122"/>
                <a:cs typeface="Consolas" pitchFamily="34" charset="-120"/>
              </a:rPr>
              <a:t>str</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o2</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4" name="Text 52"/>
          <p:cNvSpPr txBox="1"/>
          <p:nvPr/>
        </p:nvSpPr>
        <p:spPr>
          <a:xfrm>
            <a:off x="6464808" y="5934456"/>
            <a:ext cx="4956048" cy="365760"/>
          </a:xfrm>
          <a:prstGeom prst="rect">
            <a:avLst/>
          </a:prstGeom>
          <a:noFill/>
          <a:ln/>
        </p:spPr>
        <p:txBody>
          <a:bodyPr wrap="square" lIns="0" tIns="0" rIns="0" bIns="0" rtlCol="0" anchor="ctr"/>
          <a:lstStyle/>
          <a:p>
            <a:pPr indent="0" marL="0">
              <a:buNone/>
            </a:pPr>
            <a:r>
              <a:rPr lang="en-US" sz="2200" b="1" dirty="0">
                <a:solidFill>
                  <a:srgbClr val="7FD99A"/>
                </a:solidFill>
                <a:latin typeface="Consolas" pitchFamily="34" charset="0"/>
                <a:ea typeface="Consolas" pitchFamily="34" charset="-122"/>
                <a:cs typeface="Consolas" pitchFamily="34" charset="-120"/>
              </a:rPr>
              <a:t>O2: 65</a:t>
            </a:r>
            <a:pPr indent="0" marL="0">
              <a:buNone/>
            </a:pPr>
            <a:r>
              <a:rPr lang="en-US" sz="1800" dirty="0">
                <a:solidFill>
                  <a:srgbClr val="A9A9B4"/>
                </a:solidFill>
                <a:latin typeface="Calibri" pitchFamily="34" charset="0"/>
                <a:ea typeface="Calibri" pitchFamily="34" charset="-122"/>
                <a:cs typeface="Calibri" pitchFamily="34" charset="-120"/>
              </a:rPr>
              <a:t>   str() turns 65 into text</a:t>
            </a:r>
            <a:endParaRPr lang="en-US" sz="2200" dirty="0"/>
          </a:p>
        </p:txBody>
      </p:sp>
      <p:pic>
        <p:nvPicPr>
          <p:cNvPr id="55" name="Image 0" descr="Recap and recall">    </p:cNvPr>
          <p:cNvPicPr>
            <a:picLocks noChangeAspect="1"/>
          </p:cNvPicPr>
          <p:nvPr/>
        </p:nvPicPr>
        <p:blipFill>
          <a:blip r:embed="rId1"/>
          <a:stretch>
            <a:fillRect/>
          </a:stretch>
        </p:blipFill>
        <p:spPr>
          <a:xfrm>
            <a:off x="10972800" y="384048"/>
            <a:ext cx="731520" cy="731520"/>
          </a:xfrm>
          <a:prstGeom prst="rect">
            <a:avLst/>
          </a:prstGeom>
        </p:spPr>
      </p:pic>
      <p:sp>
        <p:nvSpPr>
          <p:cNvPr id="56"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auto · 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txBox="1"/>
          <p:nvPr/>
        </p:nvSpPr>
        <p:spPr>
          <a:xfrm>
            <a:off x="640080" y="1874520"/>
            <a:ext cx="6035040" cy="36576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Y9 PYTHON  ·  LESSON 2  ·  SELECTION</a:t>
            </a:r>
            <a:endParaRPr lang="en-US" sz="1400" dirty="0"/>
          </a:p>
        </p:txBody>
      </p:sp>
      <p:sp>
        <p:nvSpPr>
          <p:cNvPr id="5" name="Text 2"/>
          <p:cNvSpPr txBox="1"/>
          <p:nvPr/>
        </p:nvSpPr>
        <p:spPr>
          <a:xfrm>
            <a:off x="640080" y="2286000"/>
            <a:ext cx="6035040" cy="1097280"/>
          </a:xfrm>
          <a:prstGeom prst="rect">
            <a:avLst/>
          </a:prstGeom>
          <a:noFill/>
          <a:ln/>
        </p:spPr>
        <p:txBody>
          <a:bodyPr wrap="square" lIns="0" tIns="0" rIns="0" bIns="0" rtlCol="0" anchor="ctr"/>
          <a:lstStyle/>
          <a:p>
            <a:pPr indent="0" marL="0">
              <a:buNone/>
            </a:pPr>
            <a:r>
              <a:rPr lang="en-US" sz="6400" b="1" dirty="0">
                <a:solidFill>
                  <a:srgbClr val="F5F5F3"/>
                </a:solidFill>
                <a:latin typeface="Cambria" pitchFamily="34" charset="0"/>
                <a:ea typeface="Cambria" pitchFamily="34" charset="-122"/>
                <a:cs typeface="Cambria" pitchFamily="34" charset="-120"/>
              </a:rPr>
              <a:t>Station Zero</a:t>
            </a:r>
            <a:endParaRPr lang="en-US" sz="6400" dirty="0"/>
          </a:p>
        </p:txBody>
      </p:sp>
      <p:sp>
        <p:nvSpPr>
          <p:cNvPr id="6" name="Text 3"/>
          <p:cNvSpPr txBox="1"/>
          <p:nvPr/>
        </p:nvSpPr>
        <p:spPr>
          <a:xfrm>
            <a:off x="640080" y="3429000"/>
            <a:ext cx="6035040" cy="548640"/>
          </a:xfrm>
          <a:prstGeom prst="rect">
            <a:avLst/>
          </a:prstGeom>
          <a:noFill/>
          <a:ln/>
        </p:spPr>
        <p:txBody>
          <a:bodyPr wrap="square" lIns="0" tIns="0" rIns="0" bIns="0" rtlCol="0" anchor="ctr"/>
          <a:lstStyle/>
          <a:p>
            <a:pPr indent="0" marL="0">
              <a:buNone/>
            </a:pPr>
            <a:r>
              <a:rPr lang="en-US" sz="2800" dirty="0">
                <a:solidFill>
                  <a:srgbClr val="A9A9B4"/>
                </a:solidFill>
                <a:latin typeface="Cambria" pitchFamily="34" charset="0"/>
                <a:ea typeface="Cambria" pitchFamily="34" charset="-122"/>
                <a:cs typeface="Cambria" pitchFamily="34" charset="-120"/>
              </a:rPr>
              <a:t>Chapter 2 — Proximity</a:t>
            </a:r>
            <a:endParaRPr lang="en-US" sz="2800" dirty="0"/>
          </a:p>
        </p:txBody>
      </p:sp>
      <p:sp>
        <p:nvSpPr>
          <p:cNvPr id="7" name="terminal"/>
          <p:cNvSpPr/>
          <p:nvPr/>
        </p:nvSpPr>
        <p:spPr>
          <a:xfrm>
            <a:off x="6903720" y="1600200"/>
            <a:ext cx="4663440" cy="2809240"/>
          </a:xfrm>
          <a:prstGeom prst="roundRect">
            <a:avLst>
              <a:gd name="adj" fmla="val 2604"/>
            </a:avLst>
          </a:prstGeom>
          <a:solidFill>
            <a:srgbClr val="0D1310"/>
          </a:solidFill>
          <a:ln w="15875">
            <a:solidFill>
              <a:srgbClr val="2C4434"/>
            </a:solidFill>
            <a:prstDash val="solid"/>
          </a:ln>
        </p:spPr>
      </p:sp>
      <p:sp>
        <p:nvSpPr>
          <p:cNvPr id="8" name="Text 5"/>
          <p:cNvSpPr txBox="1"/>
          <p:nvPr/>
        </p:nvSpPr>
        <p:spPr>
          <a:xfrm>
            <a:off x="7132320" y="1783080"/>
            <a:ext cx="420624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STATION STATUS</a:t>
            </a:r>
            <a:endParaRPr lang="en-US" sz="1200" dirty="0"/>
          </a:p>
        </p:txBody>
      </p:sp>
      <p:sp>
        <p:nvSpPr>
          <p:cNvPr id="9" name="Text 6"/>
          <p:cNvSpPr txBox="1"/>
          <p:nvPr/>
        </p:nvSpPr>
        <p:spPr>
          <a:xfrm>
            <a:off x="7132320" y="21488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SENSOR OPS ..... EMPTY</a:t>
            </a:r>
            <a:endParaRPr lang="en-US" sz="2000" dirty="0"/>
          </a:p>
        </p:txBody>
      </p:sp>
      <p:sp>
        <p:nvSpPr>
          <p:cNvPr id="10" name="Text 7"/>
          <p:cNvSpPr txBox="1"/>
          <p:nvPr/>
        </p:nvSpPr>
        <p:spPr>
          <a:xfrm>
            <a:off x="7132320" y="25552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PROXIMITY ...... OFFLINE</a:t>
            </a:r>
            <a:endParaRPr lang="en-US" sz="2000" dirty="0"/>
          </a:p>
        </p:txBody>
      </p:sp>
      <p:sp>
        <p:nvSpPr>
          <p:cNvPr id="11" name="Text 8"/>
          <p:cNvSpPr txBox="1"/>
          <p:nvPr/>
        </p:nvSpPr>
        <p:spPr>
          <a:xfrm>
            <a:off x="7132320" y="29616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MOTION ......... DETECTED</a:t>
            </a:r>
            <a:endParaRPr lang="en-US" sz="2000" dirty="0"/>
          </a:p>
        </p:txBody>
      </p:sp>
      <p:sp>
        <p:nvSpPr>
          <p:cNvPr id="12" name="Text 9"/>
          <p:cNvSpPr txBox="1"/>
          <p:nvPr/>
        </p:nvSpPr>
        <p:spPr>
          <a:xfrm>
            <a:off x="7132320" y="33680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TAG ............ </a:t>
            </a:r>
            <a:pPr indent="0" marL="0">
              <a:buNone/>
            </a:pPr>
            <a:r>
              <a:rPr lang="en-US" sz="2000" b="1" dirty="0">
                <a:solidFill>
                  <a:srgbClr val="D8A73D"/>
                </a:solidFill>
                <a:latin typeface="Consolas" pitchFamily="34" charset="0"/>
                <a:ea typeface="Consolas" pitchFamily="34" charset="-122"/>
                <a:cs typeface="Consolas" pitchFamily="34" charset="-120"/>
              </a:rPr>
              <a:t>HALE</a:t>
            </a:r>
            <a:endParaRPr lang="en-US" sz="2000" dirty="0"/>
          </a:p>
        </p:txBody>
      </p:sp>
      <p:sp>
        <p:nvSpPr>
          <p:cNvPr id="13" name="Text 10"/>
          <p:cNvSpPr txBox="1"/>
          <p:nvPr/>
        </p:nvSpPr>
        <p:spPr>
          <a:xfrm>
            <a:off x="7132320" y="37744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&gt; _</a:t>
            </a:r>
            <a:endParaRPr lang="en-US" sz="2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are we learning?</a:t>
            </a:r>
            <a:endParaRPr lang="en-US" sz="3600" dirty="0"/>
          </a:p>
        </p:txBody>
      </p:sp>
      <p:sp>
        <p:nvSpPr>
          <p:cNvPr id="5" name="Shape 2"/>
          <p:cNvSpPr/>
          <p:nvPr/>
        </p:nvSpPr>
        <p:spPr>
          <a:xfrm>
            <a:off x="548640" y="1600200"/>
            <a:ext cx="11091672" cy="1417320"/>
          </a:xfrm>
          <a:prstGeom prst="roundRect">
            <a:avLst>
              <a:gd name="adj" fmla="val 5161"/>
            </a:avLst>
          </a:prstGeom>
          <a:solidFill>
            <a:srgbClr val="1E1E24"/>
          </a:solidFill>
          <a:ln w="15875">
            <a:solidFill>
              <a:srgbClr val="3A3A44"/>
            </a:solidFill>
            <a:prstDash val="solid"/>
          </a:ln>
        </p:spPr>
      </p:sp>
      <p:sp>
        <p:nvSpPr>
          <p:cNvPr id="6" name="Text 3"/>
          <p:cNvSpPr txBox="1"/>
          <p:nvPr/>
        </p:nvSpPr>
        <p:spPr>
          <a:xfrm>
            <a:off x="914400" y="1783080"/>
            <a:ext cx="54864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TOPIC QUESTION</a:t>
            </a:r>
            <a:endParaRPr lang="en-US" sz="1300" dirty="0"/>
          </a:p>
        </p:txBody>
      </p:sp>
      <p:sp>
        <p:nvSpPr>
          <p:cNvPr id="7" name="Text 4"/>
          <p:cNvSpPr txBox="1"/>
          <p:nvPr/>
        </p:nvSpPr>
        <p:spPr>
          <a:xfrm>
            <a:off x="914400" y="2103120"/>
            <a:ext cx="10332720" cy="731520"/>
          </a:xfrm>
          <a:prstGeom prst="rect">
            <a:avLst/>
          </a:prstGeom>
          <a:noFill/>
          <a:ln/>
        </p:spPr>
        <p:txBody>
          <a:bodyPr wrap="square" lIns="0" tIns="0" rIns="0" bIns="0" rtlCol="0" anchor="ctr"/>
          <a:lstStyle/>
          <a:p>
            <a:pPr indent="0" marL="0">
              <a:buNone/>
            </a:pPr>
            <a:r>
              <a:rPr lang="en-US" sz="2400" dirty="0">
                <a:solidFill>
                  <a:srgbClr val="A9A9B4"/>
                </a:solidFill>
                <a:latin typeface="Calibri" pitchFamily="34" charset="0"/>
                <a:ea typeface="Calibri" pitchFamily="34" charset="-122"/>
                <a:cs typeface="Calibri" pitchFamily="34" charset="-120"/>
              </a:rPr>
              <a:t>How do we write programs that make decisions, repeat and reuse code?</a:t>
            </a:r>
            <a:endParaRPr lang="en-US" sz="2400" dirty="0"/>
          </a:p>
        </p:txBody>
      </p:sp>
      <p:sp>
        <p:nvSpPr>
          <p:cNvPr id="8" name="Shape 5"/>
          <p:cNvSpPr/>
          <p:nvPr/>
        </p:nvSpPr>
        <p:spPr>
          <a:xfrm>
            <a:off x="548640" y="3291840"/>
            <a:ext cx="11091672" cy="2331720"/>
          </a:xfrm>
          <a:prstGeom prst="roundRect">
            <a:avLst>
              <a:gd name="adj" fmla="val 3137"/>
            </a:avLst>
          </a:prstGeom>
          <a:solidFill>
            <a:srgbClr val="2A2A32"/>
          </a:solidFill>
          <a:ln w="31750">
            <a:solidFill>
              <a:srgbClr val="D8A73D"/>
            </a:solidFill>
            <a:prstDash val="solid"/>
          </a:ln>
        </p:spPr>
      </p:sp>
      <p:sp>
        <p:nvSpPr>
          <p:cNvPr id="9" name="Text 6"/>
          <p:cNvSpPr txBox="1"/>
          <p:nvPr/>
        </p:nvSpPr>
        <p:spPr>
          <a:xfrm>
            <a:off x="914400" y="3520440"/>
            <a:ext cx="54864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10" name="Text 7"/>
          <p:cNvSpPr txBox="1"/>
          <p:nvPr/>
        </p:nvSpPr>
        <p:spPr>
          <a:xfrm>
            <a:off x="914400" y="3886200"/>
            <a:ext cx="10332720" cy="1463040"/>
          </a:xfrm>
          <a:prstGeom prst="rect">
            <a:avLst/>
          </a:prstGeom>
          <a:noFill/>
          <a:ln/>
        </p:spPr>
        <p:txBody>
          <a:bodyPr wrap="square" lIns="0" tIns="0" rIns="0" bIns="0" rtlCol="0" anchor="ctr"/>
          <a:lstStyle/>
          <a:p>
            <a:pPr indent="0" marL="0">
              <a:buNone/>
            </a:pPr>
            <a:r>
              <a:rPr lang="en-US" sz="3600" b="1" dirty="0">
                <a:solidFill>
                  <a:srgbClr val="F5F5F3"/>
                </a:solidFill>
                <a:latin typeface="Cambria" pitchFamily="34" charset="0"/>
                <a:ea typeface="Cambria" pitchFamily="34" charset="-122"/>
                <a:cs typeface="Cambria" pitchFamily="34" charset="-120"/>
              </a:rPr>
              <a:t>How do we make a program choose which lines to run?</a:t>
            </a:r>
            <a:endParaRPr lang="en-US" sz="3600" dirty="0"/>
          </a:p>
        </p:txBody>
      </p:sp>
      <p:pic>
        <p:nvPicPr>
          <p:cNvPr id="11" name="Image 1" descr="Clarity of learning intentions">    </p:cNvPr>
          <p:cNvPicPr>
            <a:picLocks noChangeAspect="1"/>
          </p:cNvPicPr>
          <p:nvPr/>
        </p:nvPicPr>
        <p:blipFill>
          <a:blip r:embed="rId2"/>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Sequence and selection</a:t>
            </a:r>
            <a:endParaRPr lang="en-US" sz="3600" dirty="0"/>
          </a:p>
        </p:txBody>
      </p:sp>
      <p:sp>
        <p:nvSpPr>
          <p:cNvPr id="5" name="Text 2"/>
          <p:cNvSpPr txBox="1"/>
          <p:nvPr/>
        </p:nvSpPr>
        <p:spPr>
          <a:xfrm>
            <a:off x="548640" y="1463040"/>
            <a:ext cx="41148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SO FAR: SEQUENCE</a:t>
            </a:r>
            <a:endParaRPr lang="en-US" sz="1300" dirty="0"/>
          </a:p>
        </p:txBody>
      </p:sp>
      <p:sp>
        <p:nvSpPr>
          <p:cNvPr id="6" name="Shape 3"/>
          <p:cNvSpPr/>
          <p:nvPr/>
        </p:nvSpPr>
        <p:spPr>
          <a:xfrm>
            <a:off x="1280160" y="1874520"/>
            <a:ext cx="2560320" cy="731520"/>
          </a:xfrm>
          <a:prstGeom prst="roundRect">
            <a:avLst>
              <a:gd name="adj" fmla="val 10000"/>
            </a:avLst>
          </a:prstGeom>
          <a:solidFill>
            <a:srgbClr val="2A2A32"/>
          </a:solidFill>
          <a:ln w="15875">
            <a:solidFill>
              <a:srgbClr val="3A3A44"/>
            </a:solidFill>
            <a:prstDash val="solid"/>
          </a:ln>
        </p:spPr>
      </p:sp>
      <p:sp>
        <p:nvSpPr>
          <p:cNvPr id="7" name="Text 4"/>
          <p:cNvSpPr txBox="1"/>
          <p:nvPr/>
        </p:nvSpPr>
        <p:spPr>
          <a:xfrm>
            <a:off x="1280160" y="1874520"/>
            <a:ext cx="2560320" cy="731520"/>
          </a:xfrm>
          <a:prstGeom prst="rect">
            <a:avLst/>
          </a:prstGeom>
          <a:noFill/>
          <a:ln/>
        </p:spPr>
        <p:txBody>
          <a:bodyPr wrap="square" lIns="0" tIns="0" rIns="0" bIns="0" rtlCol="0" anchor="ctr"/>
          <a:lstStyle/>
          <a:p>
            <a:pPr algn="ctr" indent="0" marL="0">
              <a:buNone/>
            </a:pPr>
            <a:r>
              <a:rPr lang="en-US" sz="2200" dirty="0">
                <a:solidFill>
                  <a:srgbClr val="F5F5F3"/>
                </a:solidFill>
              </a:rPr>
              <a:t>Line 1</a:t>
            </a:r>
            <a:endParaRPr lang="en-US" sz="2200" dirty="0"/>
          </a:p>
        </p:txBody>
      </p:sp>
      <p:sp>
        <p:nvSpPr>
          <p:cNvPr id="8" name="Shape 5"/>
          <p:cNvSpPr/>
          <p:nvPr/>
        </p:nvSpPr>
        <p:spPr>
          <a:xfrm>
            <a:off x="2560320" y="2606040"/>
            <a:ext cx="0" cy="457200"/>
          </a:xfrm>
          <a:prstGeom prst="line">
            <a:avLst/>
          </a:prstGeom>
          <a:noFill/>
          <a:ln w="28575">
            <a:solidFill>
              <a:srgbClr val="A9A9B4"/>
            </a:solidFill>
            <a:prstDash val="solid"/>
            <a:tailEnd type="triangle"/>
          </a:ln>
        </p:spPr>
      </p:sp>
      <p:sp>
        <p:nvSpPr>
          <p:cNvPr id="9" name="Shape 6"/>
          <p:cNvSpPr/>
          <p:nvPr/>
        </p:nvSpPr>
        <p:spPr>
          <a:xfrm>
            <a:off x="1280160" y="3063240"/>
            <a:ext cx="2560320" cy="731520"/>
          </a:xfrm>
          <a:prstGeom prst="roundRect">
            <a:avLst>
              <a:gd name="adj" fmla="val 10000"/>
            </a:avLst>
          </a:prstGeom>
          <a:solidFill>
            <a:srgbClr val="2A2A32"/>
          </a:solidFill>
          <a:ln w="15875">
            <a:solidFill>
              <a:srgbClr val="3A3A44"/>
            </a:solidFill>
            <a:prstDash val="solid"/>
          </a:ln>
        </p:spPr>
      </p:sp>
      <p:sp>
        <p:nvSpPr>
          <p:cNvPr id="10" name="Text 7"/>
          <p:cNvSpPr txBox="1"/>
          <p:nvPr/>
        </p:nvSpPr>
        <p:spPr>
          <a:xfrm>
            <a:off x="1280160" y="3063240"/>
            <a:ext cx="2560320" cy="731520"/>
          </a:xfrm>
          <a:prstGeom prst="rect">
            <a:avLst/>
          </a:prstGeom>
          <a:noFill/>
          <a:ln/>
        </p:spPr>
        <p:txBody>
          <a:bodyPr wrap="square" lIns="0" tIns="0" rIns="0" bIns="0" rtlCol="0" anchor="ctr"/>
          <a:lstStyle/>
          <a:p>
            <a:pPr algn="ctr" indent="0" marL="0">
              <a:buNone/>
            </a:pPr>
            <a:r>
              <a:rPr lang="en-US" sz="2200" dirty="0">
                <a:solidFill>
                  <a:srgbClr val="F5F5F3"/>
                </a:solidFill>
              </a:rPr>
              <a:t>Line 2</a:t>
            </a:r>
            <a:endParaRPr lang="en-US" sz="2200" dirty="0"/>
          </a:p>
        </p:txBody>
      </p:sp>
      <p:sp>
        <p:nvSpPr>
          <p:cNvPr id="11" name="Shape 8"/>
          <p:cNvSpPr/>
          <p:nvPr/>
        </p:nvSpPr>
        <p:spPr>
          <a:xfrm>
            <a:off x="2560320" y="3794760"/>
            <a:ext cx="0" cy="457200"/>
          </a:xfrm>
          <a:prstGeom prst="line">
            <a:avLst/>
          </a:prstGeom>
          <a:noFill/>
          <a:ln w="28575">
            <a:solidFill>
              <a:srgbClr val="A9A9B4"/>
            </a:solidFill>
            <a:prstDash val="solid"/>
            <a:tailEnd type="triangle"/>
          </a:ln>
        </p:spPr>
      </p:sp>
      <p:sp>
        <p:nvSpPr>
          <p:cNvPr id="12" name="Shape 9"/>
          <p:cNvSpPr/>
          <p:nvPr/>
        </p:nvSpPr>
        <p:spPr>
          <a:xfrm>
            <a:off x="1280160" y="4251960"/>
            <a:ext cx="2560320" cy="731520"/>
          </a:xfrm>
          <a:prstGeom prst="roundRect">
            <a:avLst>
              <a:gd name="adj" fmla="val 10000"/>
            </a:avLst>
          </a:prstGeom>
          <a:solidFill>
            <a:srgbClr val="2A2A32"/>
          </a:solidFill>
          <a:ln w="15875">
            <a:solidFill>
              <a:srgbClr val="3A3A44"/>
            </a:solidFill>
            <a:prstDash val="solid"/>
          </a:ln>
        </p:spPr>
      </p:sp>
      <p:sp>
        <p:nvSpPr>
          <p:cNvPr id="13" name="Text 10"/>
          <p:cNvSpPr txBox="1"/>
          <p:nvPr/>
        </p:nvSpPr>
        <p:spPr>
          <a:xfrm>
            <a:off x="1280160" y="4251960"/>
            <a:ext cx="2560320" cy="731520"/>
          </a:xfrm>
          <a:prstGeom prst="rect">
            <a:avLst/>
          </a:prstGeom>
          <a:noFill/>
          <a:ln/>
        </p:spPr>
        <p:txBody>
          <a:bodyPr wrap="square" lIns="0" tIns="0" rIns="0" bIns="0" rtlCol="0" anchor="ctr"/>
          <a:lstStyle/>
          <a:p>
            <a:pPr algn="ctr" indent="0" marL="0">
              <a:buNone/>
            </a:pPr>
            <a:r>
              <a:rPr lang="en-US" sz="2200" dirty="0">
                <a:solidFill>
                  <a:srgbClr val="F5F5F3"/>
                </a:solidFill>
              </a:rPr>
              <a:t>Line 3</a:t>
            </a:r>
            <a:endParaRPr lang="en-US" sz="2200" dirty="0"/>
          </a:p>
        </p:txBody>
      </p:sp>
      <p:sp>
        <p:nvSpPr>
          <p:cNvPr id="14" name="Text 11"/>
          <p:cNvSpPr txBox="1"/>
          <p:nvPr/>
        </p:nvSpPr>
        <p:spPr>
          <a:xfrm>
            <a:off x="548640" y="5486400"/>
            <a:ext cx="4023360" cy="457200"/>
          </a:xfrm>
          <a:prstGeom prst="rect">
            <a:avLst/>
          </a:prstGeom>
          <a:noFill/>
          <a:ln/>
        </p:spPr>
        <p:txBody>
          <a:bodyPr wrap="square" lIns="0" tIns="0" rIns="0" bIns="0" rtlCol="0" anchor="ctr"/>
          <a:lstStyle/>
          <a:p>
            <a:pPr algn="ctr" indent="0" marL="0">
              <a:buNone/>
            </a:pPr>
            <a:r>
              <a:rPr lang="en-US" sz="2200" dirty="0">
                <a:solidFill>
                  <a:srgbClr val="A9A9B4"/>
                </a:solidFill>
                <a:latin typeface="Calibri" pitchFamily="34" charset="0"/>
                <a:ea typeface="Calibri" pitchFamily="34" charset="-122"/>
                <a:cs typeface="Calibri" pitchFamily="34" charset="-120"/>
              </a:rPr>
              <a:t>Every line runs, in order</a:t>
            </a:r>
            <a:endParaRPr lang="en-US" sz="2200" dirty="0"/>
          </a:p>
        </p:txBody>
      </p:sp>
      <p:sp>
        <p:nvSpPr>
          <p:cNvPr id="15" name="Shape 12"/>
          <p:cNvSpPr/>
          <p:nvPr/>
        </p:nvSpPr>
        <p:spPr>
          <a:xfrm>
            <a:off x="4892040" y="1554480"/>
            <a:ext cx="0" cy="4434840"/>
          </a:xfrm>
          <a:prstGeom prst="line">
            <a:avLst/>
          </a:prstGeom>
          <a:noFill/>
          <a:ln w="12700">
            <a:solidFill>
              <a:srgbClr val="3A3A44"/>
            </a:solidFill>
            <a:prstDash val="solid"/>
          </a:ln>
        </p:spPr>
      </p:sp>
      <p:sp>
        <p:nvSpPr>
          <p:cNvPr id="16" name="click1"/>
          <p:cNvSpPr txBox="1"/>
          <p:nvPr/>
        </p:nvSpPr>
        <p:spPr>
          <a:xfrm>
            <a:off x="5257800" y="1463040"/>
            <a:ext cx="41148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TODAY: SELECTION</a:t>
            </a:r>
            <a:endParaRPr lang="en-US" sz="1300" dirty="0"/>
          </a:p>
        </p:txBody>
      </p:sp>
      <p:sp>
        <p:nvSpPr>
          <p:cNvPr id="17" name="click1"/>
          <p:cNvSpPr/>
          <p:nvPr/>
        </p:nvSpPr>
        <p:spPr>
          <a:xfrm>
            <a:off x="6858000" y="1828800"/>
            <a:ext cx="3291840" cy="1051560"/>
          </a:xfrm>
          <a:prstGeom prst="diamond">
            <a:avLst/>
          </a:prstGeom>
          <a:solidFill>
            <a:srgbClr val="111115"/>
          </a:solidFill>
          <a:ln w="25400">
            <a:solidFill>
              <a:srgbClr val="D8A73D"/>
            </a:solidFill>
            <a:prstDash val="solid"/>
          </a:ln>
        </p:spPr>
      </p:sp>
      <p:sp>
        <p:nvSpPr>
          <p:cNvPr id="18" name="click1"/>
          <p:cNvSpPr txBox="1"/>
          <p:nvPr/>
        </p:nvSpPr>
        <p:spPr>
          <a:xfrm>
            <a:off x="7406640" y="1828800"/>
            <a:ext cx="2194560" cy="1051560"/>
          </a:xfrm>
          <a:prstGeom prst="rect">
            <a:avLst/>
          </a:prstGeom>
          <a:noFill/>
          <a:ln/>
        </p:spPr>
        <p:txBody>
          <a:bodyPr wrap="square" lIns="0" tIns="0" rIns="0" bIns="0" rtlCol="0" anchor="ctr"/>
          <a:lstStyle/>
          <a:p>
            <a:pPr algn="ctr" indent="0" marL="0">
              <a:buNone/>
            </a:pPr>
            <a:r>
              <a:rPr lang="en-US" sz="2000" b="1" dirty="0">
                <a:solidFill>
                  <a:srgbClr val="F5F5F3"/>
                </a:solidFill>
                <a:latin typeface="Calibri" pitchFamily="34" charset="0"/>
                <a:ea typeface="Calibri" pitchFamily="34" charset="-122"/>
                <a:cs typeface="Calibri" pitchFamily="34" charset="-120"/>
              </a:rPr>
              <a:t>condition</a:t>
            </a:r>
            <a:pPr algn="ctr" indent="0" marL="0">
              <a:buNone/>
            </a:pPr>
            <a:endParaRPr lang="en-US" sz="2000" dirty="0"/>
          </a:p>
          <a:p>
            <a:pPr algn="ctr" indent="0" marL="0">
              <a:buNone/>
            </a:pPr>
            <a:r>
              <a:rPr lang="en-US" sz="1600" dirty="0">
                <a:solidFill>
                  <a:srgbClr val="A9A9B4"/>
                </a:solidFill>
                <a:latin typeface="Calibri" pitchFamily="34" charset="0"/>
                <a:ea typeface="Calibri" pitchFamily="34" charset="-122"/>
                <a:cs typeface="Calibri" pitchFamily="34" charset="-120"/>
              </a:rPr>
              <a:t>True or False?</a:t>
            </a:r>
            <a:endParaRPr lang="en-US" sz="2000" dirty="0"/>
          </a:p>
        </p:txBody>
      </p:sp>
      <p:sp>
        <p:nvSpPr>
          <p:cNvPr id="19" name="click1"/>
          <p:cNvSpPr/>
          <p:nvPr/>
        </p:nvSpPr>
        <p:spPr>
          <a:xfrm>
            <a:off x="6858000" y="2354580"/>
            <a:ext cx="0" cy="982980"/>
          </a:xfrm>
          <a:prstGeom prst="line">
            <a:avLst/>
          </a:prstGeom>
          <a:noFill/>
          <a:ln w="28575">
            <a:solidFill>
              <a:srgbClr val="7FD99A"/>
            </a:solidFill>
            <a:prstDash val="solid"/>
            <a:tailEnd type="triangle"/>
          </a:ln>
        </p:spPr>
      </p:sp>
      <p:sp>
        <p:nvSpPr>
          <p:cNvPr id="20" name="click1"/>
          <p:cNvSpPr/>
          <p:nvPr/>
        </p:nvSpPr>
        <p:spPr>
          <a:xfrm>
            <a:off x="10149840" y="2354580"/>
            <a:ext cx="0" cy="982980"/>
          </a:xfrm>
          <a:prstGeom prst="line">
            <a:avLst/>
          </a:prstGeom>
          <a:noFill/>
          <a:ln w="28575">
            <a:solidFill>
              <a:srgbClr val="A9A9B4"/>
            </a:solidFill>
            <a:prstDash val="solid"/>
            <a:tailEnd type="triangle"/>
          </a:ln>
        </p:spPr>
      </p:sp>
      <p:sp>
        <p:nvSpPr>
          <p:cNvPr id="21" name="click1"/>
          <p:cNvSpPr txBox="1"/>
          <p:nvPr/>
        </p:nvSpPr>
        <p:spPr>
          <a:xfrm>
            <a:off x="5897880" y="2514600"/>
            <a:ext cx="868680" cy="365760"/>
          </a:xfrm>
          <a:prstGeom prst="rect">
            <a:avLst/>
          </a:prstGeom>
          <a:noFill/>
          <a:ln/>
        </p:spPr>
        <p:txBody>
          <a:bodyPr wrap="square" lIns="0" tIns="0" rIns="0" bIns="0" rtlCol="0" anchor="ctr"/>
          <a:lstStyle/>
          <a:p>
            <a:pPr algn="r" indent="0" marL="0">
              <a:buNone/>
            </a:pPr>
            <a:r>
              <a:rPr lang="en-US" sz="2000" b="1" dirty="0">
                <a:solidFill>
                  <a:srgbClr val="7FD99A"/>
                </a:solidFill>
                <a:latin typeface="Calibri" pitchFamily="34" charset="0"/>
                <a:ea typeface="Calibri" pitchFamily="34" charset="-122"/>
                <a:cs typeface="Calibri" pitchFamily="34" charset="-120"/>
              </a:rPr>
              <a:t>True</a:t>
            </a:r>
            <a:endParaRPr lang="en-US" sz="2000" dirty="0"/>
          </a:p>
        </p:txBody>
      </p:sp>
      <p:sp>
        <p:nvSpPr>
          <p:cNvPr id="22" name="click1"/>
          <p:cNvSpPr txBox="1"/>
          <p:nvPr/>
        </p:nvSpPr>
        <p:spPr>
          <a:xfrm>
            <a:off x="10259568" y="2514600"/>
            <a:ext cx="914400" cy="365760"/>
          </a:xfrm>
          <a:prstGeom prst="rect">
            <a:avLst/>
          </a:prstGeom>
          <a:noFill/>
          <a:ln/>
        </p:spPr>
        <p:txBody>
          <a:bodyPr wrap="square" lIns="0" tIns="0" rIns="0" bIns="0" rtlCol="0" anchor="ctr"/>
          <a:lstStyle/>
          <a:p>
            <a:pPr indent="0" marL="0">
              <a:buNone/>
            </a:pPr>
            <a:r>
              <a:rPr lang="en-US" sz="2000" b="1" dirty="0">
                <a:solidFill>
                  <a:srgbClr val="A9A9B4"/>
                </a:solidFill>
                <a:latin typeface="Calibri" pitchFamily="34" charset="0"/>
                <a:ea typeface="Calibri" pitchFamily="34" charset="-122"/>
                <a:cs typeface="Calibri" pitchFamily="34" charset="-120"/>
              </a:rPr>
              <a:t>False</a:t>
            </a:r>
            <a:endParaRPr lang="en-US" sz="2000" dirty="0"/>
          </a:p>
        </p:txBody>
      </p:sp>
      <p:sp>
        <p:nvSpPr>
          <p:cNvPr id="23" name="click1"/>
          <p:cNvSpPr/>
          <p:nvPr/>
        </p:nvSpPr>
        <p:spPr>
          <a:xfrm>
            <a:off x="5623560" y="3337560"/>
            <a:ext cx="2468880" cy="731520"/>
          </a:xfrm>
          <a:prstGeom prst="roundRect">
            <a:avLst>
              <a:gd name="adj" fmla="val 10000"/>
            </a:avLst>
          </a:prstGeom>
          <a:solidFill>
            <a:srgbClr val="2A2A32"/>
          </a:solidFill>
          <a:ln w="15875">
            <a:solidFill>
              <a:srgbClr val="7FD99A"/>
            </a:solidFill>
            <a:prstDash val="solid"/>
          </a:ln>
        </p:spPr>
      </p:sp>
      <p:sp>
        <p:nvSpPr>
          <p:cNvPr id="24" name="click1"/>
          <p:cNvSpPr txBox="1"/>
          <p:nvPr/>
        </p:nvSpPr>
        <p:spPr>
          <a:xfrm>
            <a:off x="5623560" y="3337560"/>
            <a:ext cx="2468880" cy="731520"/>
          </a:xfrm>
          <a:prstGeom prst="rect">
            <a:avLst/>
          </a:prstGeom>
          <a:noFill/>
          <a:ln/>
        </p:spPr>
        <p:txBody>
          <a:bodyPr wrap="square" lIns="0" tIns="0" rIns="0" bIns="0" rtlCol="0" anchor="ctr"/>
          <a:lstStyle/>
          <a:p>
            <a:pPr algn="ctr" indent="0" marL="0">
              <a:buNone/>
            </a:pPr>
            <a:r>
              <a:rPr lang="en-US" sz="2200" dirty="0">
                <a:solidFill>
                  <a:srgbClr val="F5F5F3"/>
                </a:solidFill>
              </a:rPr>
              <a:t>True path</a:t>
            </a:r>
            <a:endParaRPr lang="en-US" sz="2200" dirty="0"/>
          </a:p>
        </p:txBody>
      </p:sp>
      <p:sp>
        <p:nvSpPr>
          <p:cNvPr id="25" name="click1"/>
          <p:cNvSpPr/>
          <p:nvPr/>
        </p:nvSpPr>
        <p:spPr>
          <a:xfrm>
            <a:off x="8915400" y="3337560"/>
            <a:ext cx="2468880" cy="731520"/>
          </a:xfrm>
          <a:prstGeom prst="roundRect">
            <a:avLst>
              <a:gd name="adj" fmla="val 10000"/>
            </a:avLst>
          </a:prstGeom>
          <a:solidFill>
            <a:srgbClr val="2A2A32"/>
          </a:solidFill>
          <a:ln w="15875">
            <a:solidFill>
              <a:srgbClr val="3A3A44"/>
            </a:solidFill>
            <a:prstDash val="solid"/>
          </a:ln>
        </p:spPr>
      </p:sp>
      <p:sp>
        <p:nvSpPr>
          <p:cNvPr id="26" name="click1"/>
          <p:cNvSpPr txBox="1"/>
          <p:nvPr/>
        </p:nvSpPr>
        <p:spPr>
          <a:xfrm>
            <a:off x="8915400" y="3337560"/>
            <a:ext cx="2468880" cy="731520"/>
          </a:xfrm>
          <a:prstGeom prst="rect">
            <a:avLst/>
          </a:prstGeom>
          <a:noFill/>
          <a:ln/>
        </p:spPr>
        <p:txBody>
          <a:bodyPr wrap="square" lIns="0" tIns="0" rIns="0" bIns="0" rtlCol="0" anchor="ctr"/>
          <a:lstStyle/>
          <a:p>
            <a:pPr algn="ctr" indent="0" marL="0">
              <a:buNone/>
            </a:pPr>
            <a:r>
              <a:rPr lang="en-US" sz="2200" dirty="0">
                <a:solidFill>
                  <a:srgbClr val="F5F5F3"/>
                </a:solidFill>
              </a:rPr>
              <a:t>False path</a:t>
            </a:r>
            <a:endParaRPr lang="en-US" sz="2200" dirty="0"/>
          </a:p>
        </p:txBody>
      </p:sp>
      <p:sp>
        <p:nvSpPr>
          <p:cNvPr id="27" name="click1"/>
          <p:cNvSpPr/>
          <p:nvPr/>
        </p:nvSpPr>
        <p:spPr>
          <a:xfrm>
            <a:off x="6858000" y="4069080"/>
            <a:ext cx="0" cy="914400"/>
          </a:xfrm>
          <a:prstGeom prst="line">
            <a:avLst/>
          </a:prstGeom>
          <a:noFill/>
          <a:ln w="28575">
            <a:solidFill>
              <a:srgbClr val="A9A9B4"/>
            </a:solidFill>
            <a:prstDash val="solid"/>
          </a:ln>
        </p:spPr>
      </p:sp>
      <p:sp>
        <p:nvSpPr>
          <p:cNvPr id="28" name="click1"/>
          <p:cNvSpPr/>
          <p:nvPr/>
        </p:nvSpPr>
        <p:spPr>
          <a:xfrm>
            <a:off x="10149840" y="4069080"/>
            <a:ext cx="0" cy="914400"/>
          </a:xfrm>
          <a:prstGeom prst="line">
            <a:avLst/>
          </a:prstGeom>
          <a:noFill/>
          <a:ln w="28575">
            <a:solidFill>
              <a:srgbClr val="A9A9B4"/>
            </a:solidFill>
            <a:prstDash val="solid"/>
          </a:ln>
        </p:spPr>
      </p:sp>
      <p:sp>
        <p:nvSpPr>
          <p:cNvPr id="29" name="click1"/>
          <p:cNvSpPr/>
          <p:nvPr/>
        </p:nvSpPr>
        <p:spPr>
          <a:xfrm>
            <a:off x="6858000" y="4983480"/>
            <a:ext cx="548640" cy="0"/>
          </a:xfrm>
          <a:prstGeom prst="line">
            <a:avLst/>
          </a:prstGeom>
          <a:noFill/>
          <a:ln w="28575">
            <a:solidFill>
              <a:srgbClr val="A9A9B4"/>
            </a:solidFill>
            <a:prstDash val="solid"/>
            <a:tailEnd type="triangle"/>
          </a:ln>
        </p:spPr>
      </p:sp>
      <p:sp>
        <p:nvSpPr>
          <p:cNvPr id="30" name="click1"/>
          <p:cNvSpPr/>
          <p:nvPr/>
        </p:nvSpPr>
        <p:spPr>
          <a:xfrm flipH="1">
            <a:off x="9601200" y="4983480"/>
            <a:ext cx="548640" cy="0"/>
          </a:xfrm>
          <a:prstGeom prst="line">
            <a:avLst/>
          </a:prstGeom>
          <a:noFill/>
          <a:ln w="28575">
            <a:solidFill>
              <a:srgbClr val="A9A9B4"/>
            </a:solidFill>
            <a:prstDash val="solid"/>
            <a:tailEnd type="triangle"/>
          </a:ln>
        </p:spPr>
      </p:sp>
      <p:sp>
        <p:nvSpPr>
          <p:cNvPr id="31" name="click1"/>
          <p:cNvSpPr/>
          <p:nvPr/>
        </p:nvSpPr>
        <p:spPr>
          <a:xfrm>
            <a:off x="7406640" y="4617720"/>
            <a:ext cx="2194560" cy="731520"/>
          </a:xfrm>
          <a:prstGeom prst="roundRect">
            <a:avLst>
              <a:gd name="adj" fmla="val 10000"/>
            </a:avLst>
          </a:prstGeom>
          <a:solidFill>
            <a:srgbClr val="2A2A32"/>
          </a:solidFill>
          <a:ln w="15875">
            <a:solidFill>
              <a:srgbClr val="3A3A44"/>
            </a:solidFill>
            <a:prstDash val="solid"/>
          </a:ln>
        </p:spPr>
      </p:sp>
      <p:sp>
        <p:nvSpPr>
          <p:cNvPr id="32" name="click1"/>
          <p:cNvSpPr txBox="1"/>
          <p:nvPr/>
        </p:nvSpPr>
        <p:spPr>
          <a:xfrm>
            <a:off x="7406640" y="4617720"/>
            <a:ext cx="2194560" cy="731520"/>
          </a:xfrm>
          <a:prstGeom prst="rect">
            <a:avLst/>
          </a:prstGeom>
          <a:noFill/>
          <a:ln/>
        </p:spPr>
        <p:txBody>
          <a:bodyPr wrap="square" lIns="0" tIns="0" rIns="0" bIns="0" rtlCol="0" anchor="ctr"/>
          <a:lstStyle/>
          <a:p>
            <a:pPr algn="ctr" indent="0" marL="0">
              <a:buNone/>
            </a:pPr>
            <a:r>
              <a:rPr lang="en-US" sz="2200" dirty="0">
                <a:solidFill>
                  <a:srgbClr val="F5F5F3"/>
                </a:solidFill>
              </a:rPr>
              <a:t>Next line</a:t>
            </a:r>
            <a:endParaRPr lang="en-US" sz="2200" dirty="0"/>
          </a:p>
        </p:txBody>
      </p:sp>
      <p:sp>
        <p:nvSpPr>
          <p:cNvPr id="33" name="click1"/>
          <p:cNvSpPr txBox="1"/>
          <p:nvPr/>
        </p:nvSpPr>
        <p:spPr>
          <a:xfrm>
            <a:off x="5257800" y="5486400"/>
            <a:ext cx="6382512" cy="457200"/>
          </a:xfrm>
          <a:prstGeom prst="rect">
            <a:avLst/>
          </a:prstGeom>
          <a:noFill/>
          <a:ln/>
        </p:spPr>
        <p:txBody>
          <a:bodyPr wrap="square" lIns="0" tIns="0" rIns="0" bIns="0" rtlCol="0" anchor="ctr"/>
          <a:lstStyle/>
          <a:p>
            <a:pPr algn="ctr" indent="0" marL="0">
              <a:buNone/>
            </a:pPr>
            <a:r>
              <a:rPr lang="en-US" sz="2200" b="1" dirty="0">
                <a:solidFill>
                  <a:srgbClr val="D8A73D"/>
                </a:solidFill>
                <a:latin typeface="Calibri" pitchFamily="34" charset="0"/>
                <a:ea typeface="Calibri" pitchFamily="34" charset="-122"/>
                <a:cs typeface="Calibri" pitchFamily="34" charset="-120"/>
              </a:rPr>
              <a:t>Only ONE path runs, then they join up</a:t>
            </a:r>
            <a:endParaRPr lang="en-US" sz="2200" dirty="0"/>
          </a:p>
        </p:txBody>
      </p:sp>
      <p:pic>
        <p:nvPicPr>
          <p:cNvPr id="34"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3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10" presetClass="entr" presetSubtype="0" fill="hold"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1" grpId="0" animBg="1"/>
      <p:bldP spid="22" grpId="0" animBg="1"/>
      <p:bldP spid="24" grpId="0" animBg="1"/>
      <p:bldP spid="26"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A condition is True or False</a:t>
            </a:r>
            <a:endParaRPr lang="en-US" sz="3600" dirty="0"/>
          </a:p>
        </p:txBody>
      </p:sp>
      <p:sp>
        <p:nvSpPr>
          <p:cNvPr id="5" name="Text 2"/>
          <p:cNvSpPr txBox="1"/>
          <p:nvPr/>
        </p:nvSpPr>
        <p:spPr>
          <a:xfrm>
            <a:off x="548640" y="1463040"/>
            <a:ext cx="45720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COMPARISON OPERATORS</a:t>
            </a:r>
            <a:endParaRPr lang="en-US" sz="1300" dirty="0"/>
          </a:p>
        </p:txBody>
      </p:sp>
      <p:sp>
        <p:nvSpPr>
          <p:cNvPr id="6" name="Shape 3"/>
          <p:cNvSpPr/>
          <p:nvPr/>
        </p:nvSpPr>
        <p:spPr>
          <a:xfrm>
            <a:off x="548640" y="1828800"/>
            <a:ext cx="1051560" cy="566928"/>
          </a:xfrm>
          <a:prstGeom prst="roundRect">
            <a:avLst>
              <a:gd name="adj" fmla="val 12903"/>
            </a:avLst>
          </a:prstGeom>
          <a:solidFill>
            <a:srgbClr val="111115"/>
          </a:solidFill>
          <a:ln w="15875">
            <a:solidFill>
              <a:srgbClr val="3A3A44"/>
            </a:solidFill>
            <a:prstDash val="solid"/>
          </a:ln>
        </p:spPr>
      </p:sp>
      <p:sp>
        <p:nvSpPr>
          <p:cNvPr id="7" name="Text 4"/>
          <p:cNvSpPr txBox="1"/>
          <p:nvPr/>
        </p:nvSpPr>
        <p:spPr>
          <a:xfrm>
            <a:off x="548640" y="1828800"/>
            <a:ext cx="1051560" cy="566928"/>
          </a:xfrm>
          <a:prstGeom prst="rect">
            <a:avLst/>
          </a:prstGeom>
          <a:noFill/>
          <a:ln/>
        </p:spPr>
        <p:txBody>
          <a:bodyPr wrap="square" lIns="0" tIns="0" rIns="0" bIns="0" rtlCol="0" anchor="ctr"/>
          <a:lstStyle/>
          <a:p>
            <a:pPr algn="ctr" indent="0" marL="0">
              <a:buNone/>
            </a:pPr>
            <a:r>
              <a:rPr lang="en-US" sz="2800" b="1" dirty="0">
                <a:solidFill>
                  <a:srgbClr val="F5F5F3"/>
                </a:solidFill>
                <a:latin typeface="Consolas" pitchFamily="34" charset="0"/>
                <a:ea typeface="Consolas" pitchFamily="34" charset="-122"/>
                <a:cs typeface="Consolas" pitchFamily="34" charset="-120"/>
              </a:rPr>
              <a:t>==</a:t>
            </a:r>
            <a:endParaRPr lang="en-US" sz="2800" dirty="0"/>
          </a:p>
        </p:txBody>
      </p:sp>
      <p:sp>
        <p:nvSpPr>
          <p:cNvPr id="8" name="Text 5"/>
          <p:cNvSpPr txBox="1"/>
          <p:nvPr/>
        </p:nvSpPr>
        <p:spPr>
          <a:xfrm>
            <a:off x="1828800" y="1828800"/>
            <a:ext cx="3931920" cy="566928"/>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is equal to</a:t>
            </a:r>
            <a:endParaRPr lang="en-US" sz="2200" dirty="0"/>
          </a:p>
        </p:txBody>
      </p:sp>
      <p:sp>
        <p:nvSpPr>
          <p:cNvPr id="9" name="Shape 6"/>
          <p:cNvSpPr/>
          <p:nvPr/>
        </p:nvSpPr>
        <p:spPr>
          <a:xfrm>
            <a:off x="548640" y="2523744"/>
            <a:ext cx="1051560" cy="566928"/>
          </a:xfrm>
          <a:prstGeom prst="roundRect">
            <a:avLst>
              <a:gd name="adj" fmla="val 12903"/>
            </a:avLst>
          </a:prstGeom>
          <a:solidFill>
            <a:srgbClr val="111115"/>
          </a:solidFill>
          <a:ln w="15875">
            <a:solidFill>
              <a:srgbClr val="3A3A44"/>
            </a:solidFill>
            <a:prstDash val="solid"/>
          </a:ln>
        </p:spPr>
      </p:sp>
      <p:sp>
        <p:nvSpPr>
          <p:cNvPr id="10" name="Text 7"/>
          <p:cNvSpPr txBox="1"/>
          <p:nvPr/>
        </p:nvSpPr>
        <p:spPr>
          <a:xfrm>
            <a:off x="548640" y="2523744"/>
            <a:ext cx="1051560" cy="566928"/>
          </a:xfrm>
          <a:prstGeom prst="rect">
            <a:avLst/>
          </a:prstGeom>
          <a:noFill/>
          <a:ln/>
        </p:spPr>
        <p:txBody>
          <a:bodyPr wrap="square" lIns="0" tIns="0" rIns="0" bIns="0" rtlCol="0" anchor="ctr"/>
          <a:lstStyle/>
          <a:p>
            <a:pPr algn="ctr" indent="0" marL="0">
              <a:buNone/>
            </a:pPr>
            <a:r>
              <a:rPr lang="en-US" sz="2800" b="1" dirty="0">
                <a:solidFill>
                  <a:srgbClr val="F5F5F3"/>
                </a:solidFill>
                <a:latin typeface="Consolas" pitchFamily="34" charset="0"/>
                <a:ea typeface="Consolas" pitchFamily="34" charset="-122"/>
                <a:cs typeface="Consolas" pitchFamily="34" charset="-120"/>
              </a:rPr>
              <a:t>&lt;</a:t>
            </a:r>
            <a:endParaRPr lang="en-US" sz="2800" dirty="0"/>
          </a:p>
        </p:txBody>
      </p:sp>
      <p:sp>
        <p:nvSpPr>
          <p:cNvPr id="11" name="Text 8"/>
          <p:cNvSpPr txBox="1"/>
          <p:nvPr/>
        </p:nvSpPr>
        <p:spPr>
          <a:xfrm>
            <a:off x="1828800" y="2523744"/>
            <a:ext cx="3931920" cy="566928"/>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is less than</a:t>
            </a:r>
            <a:endParaRPr lang="en-US" sz="2200" dirty="0"/>
          </a:p>
        </p:txBody>
      </p:sp>
      <p:sp>
        <p:nvSpPr>
          <p:cNvPr id="12" name="Shape 9"/>
          <p:cNvSpPr/>
          <p:nvPr/>
        </p:nvSpPr>
        <p:spPr>
          <a:xfrm>
            <a:off x="548640" y="3218688"/>
            <a:ext cx="1051560" cy="566928"/>
          </a:xfrm>
          <a:prstGeom prst="roundRect">
            <a:avLst>
              <a:gd name="adj" fmla="val 12903"/>
            </a:avLst>
          </a:prstGeom>
          <a:solidFill>
            <a:srgbClr val="111115"/>
          </a:solidFill>
          <a:ln w="15875">
            <a:solidFill>
              <a:srgbClr val="3A3A44"/>
            </a:solidFill>
            <a:prstDash val="solid"/>
          </a:ln>
        </p:spPr>
      </p:sp>
      <p:sp>
        <p:nvSpPr>
          <p:cNvPr id="13" name="Text 10"/>
          <p:cNvSpPr txBox="1"/>
          <p:nvPr/>
        </p:nvSpPr>
        <p:spPr>
          <a:xfrm>
            <a:off x="548640" y="3218688"/>
            <a:ext cx="1051560" cy="566928"/>
          </a:xfrm>
          <a:prstGeom prst="rect">
            <a:avLst/>
          </a:prstGeom>
          <a:noFill/>
          <a:ln/>
        </p:spPr>
        <p:txBody>
          <a:bodyPr wrap="square" lIns="0" tIns="0" rIns="0" bIns="0" rtlCol="0" anchor="ctr"/>
          <a:lstStyle/>
          <a:p>
            <a:pPr algn="ctr" indent="0" marL="0">
              <a:buNone/>
            </a:pPr>
            <a:r>
              <a:rPr lang="en-US" sz="2800" b="1" dirty="0">
                <a:solidFill>
                  <a:srgbClr val="F5F5F3"/>
                </a:solidFill>
                <a:latin typeface="Consolas" pitchFamily="34" charset="0"/>
                <a:ea typeface="Consolas" pitchFamily="34" charset="-122"/>
                <a:cs typeface="Consolas" pitchFamily="34" charset="-120"/>
              </a:rPr>
              <a:t>&gt;</a:t>
            </a:r>
            <a:endParaRPr lang="en-US" sz="2800" dirty="0"/>
          </a:p>
        </p:txBody>
      </p:sp>
      <p:sp>
        <p:nvSpPr>
          <p:cNvPr id="14" name="Text 11"/>
          <p:cNvSpPr txBox="1"/>
          <p:nvPr/>
        </p:nvSpPr>
        <p:spPr>
          <a:xfrm>
            <a:off x="1828800" y="3218688"/>
            <a:ext cx="3931920" cy="566928"/>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is more than</a:t>
            </a:r>
            <a:endParaRPr lang="en-US" sz="2200" dirty="0"/>
          </a:p>
        </p:txBody>
      </p:sp>
      <p:sp>
        <p:nvSpPr>
          <p:cNvPr id="15" name="Shape 12"/>
          <p:cNvSpPr/>
          <p:nvPr/>
        </p:nvSpPr>
        <p:spPr>
          <a:xfrm>
            <a:off x="548640" y="3913632"/>
            <a:ext cx="1051560" cy="566928"/>
          </a:xfrm>
          <a:prstGeom prst="roundRect">
            <a:avLst>
              <a:gd name="adj" fmla="val 12903"/>
            </a:avLst>
          </a:prstGeom>
          <a:solidFill>
            <a:srgbClr val="111115"/>
          </a:solidFill>
          <a:ln w="15875">
            <a:solidFill>
              <a:srgbClr val="3A3A44"/>
            </a:solidFill>
            <a:prstDash val="solid"/>
          </a:ln>
        </p:spPr>
      </p:sp>
      <p:sp>
        <p:nvSpPr>
          <p:cNvPr id="16" name="Text 13"/>
          <p:cNvSpPr txBox="1"/>
          <p:nvPr/>
        </p:nvSpPr>
        <p:spPr>
          <a:xfrm>
            <a:off x="548640" y="3913632"/>
            <a:ext cx="1051560" cy="566928"/>
          </a:xfrm>
          <a:prstGeom prst="rect">
            <a:avLst/>
          </a:prstGeom>
          <a:noFill/>
          <a:ln/>
        </p:spPr>
        <p:txBody>
          <a:bodyPr wrap="square" lIns="0" tIns="0" rIns="0" bIns="0" rtlCol="0" anchor="ctr"/>
          <a:lstStyle/>
          <a:p>
            <a:pPr algn="ctr" indent="0" marL="0">
              <a:buNone/>
            </a:pPr>
            <a:r>
              <a:rPr lang="en-US" sz="2800" b="1" dirty="0">
                <a:solidFill>
                  <a:srgbClr val="F5F5F3"/>
                </a:solidFill>
                <a:latin typeface="Consolas" pitchFamily="34" charset="0"/>
                <a:ea typeface="Consolas" pitchFamily="34" charset="-122"/>
                <a:cs typeface="Consolas" pitchFamily="34" charset="-120"/>
              </a:rPr>
              <a:t>&lt;=</a:t>
            </a:r>
            <a:endParaRPr lang="en-US" sz="2800" dirty="0"/>
          </a:p>
        </p:txBody>
      </p:sp>
      <p:sp>
        <p:nvSpPr>
          <p:cNvPr id="17" name="Text 14"/>
          <p:cNvSpPr txBox="1"/>
          <p:nvPr/>
        </p:nvSpPr>
        <p:spPr>
          <a:xfrm>
            <a:off x="1828800" y="3913632"/>
            <a:ext cx="3931920" cy="566928"/>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is less than or equal to</a:t>
            </a:r>
            <a:endParaRPr lang="en-US" sz="2200" dirty="0"/>
          </a:p>
        </p:txBody>
      </p:sp>
      <p:sp>
        <p:nvSpPr>
          <p:cNvPr id="18" name="Shape 15"/>
          <p:cNvSpPr/>
          <p:nvPr/>
        </p:nvSpPr>
        <p:spPr>
          <a:xfrm>
            <a:off x="548640" y="4608576"/>
            <a:ext cx="1051560" cy="566928"/>
          </a:xfrm>
          <a:prstGeom prst="roundRect">
            <a:avLst>
              <a:gd name="adj" fmla="val 12903"/>
            </a:avLst>
          </a:prstGeom>
          <a:solidFill>
            <a:srgbClr val="111115"/>
          </a:solidFill>
          <a:ln w="15875">
            <a:solidFill>
              <a:srgbClr val="3A3A44"/>
            </a:solidFill>
            <a:prstDash val="solid"/>
          </a:ln>
        </p:spPr>
      </p:sp>
      <p:sp>
        <p:nvSpPr>
          <p:cNvPr id="19" name="Text 16"/>
          <p:cNvSpPr txBox="1"/>
          <p:nvPr/>
        </p:nvSpPr>
        <p:spPr>
          <a:xfrm>
            <a:off x="548640" y="4608576"/>
            <a:ext cx="1051560" cy="566928"/>
          </a:xfrm>
          <a:prstGeom prst="rect">
            <a:avLst/>
          </a:prstGeom>
          <a:noFill/>
          <a:ln/>
        </p:spPr>
        <p:txBody>
          <a:bodyPr wrap="square" lIns="0" tIns="0" rIns="0" bIns="0" rtlCol="0" anchor="ctr"/>
          <a:lstStyle/>
          <a:p>
            <a:pPr algn="ctr" indent="0" marL="0">
              <a:buNone/>
            </a:pPr>
            <a:r>
              <a:rPr lang="en-US" sz="2800" b="1" dirty="0">
                <a:solidFill>
                  <a:srgbClr val="F5F5F3"/>
                </a:solidFill>
                <a:latin typeface="Consolas" pitchFamily="34" charset="0"/>
                <a:ea typeface="Consolas" pitchFamily="34" charset="-122"/>
                <a:cs typeface="Consolas" pitchFamily="34" charset="-120"/>
              </a:rPr>
              <a:t>&gt;=</a:t>
            </a:r>
            <a:endParaRPr lang="en-US" sz="2800" dirty="0"/>
          </a:p>
        </p:txBody>
      </p:sp>
      <p:sp>
        <p:nvSpPr>
          <p:cNvPr id="20" name="Text 17"/>
          <p:cNvSpPr txBox="1"/>
          <p:nvPr/>
        </p:nvSpPr>
        <p:spPr>
          <a:xfrm>
            <a:off x="1828800" y="4608576"/>
            <a:ext cx="3931920" cy="566928"/>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is more than or equal to</a:t>
            </a:r>
            <a:endParaRPr lang="en-US" sz="2200" dirty="0"/>
          </a:p>
        </p:txBody>
      </p:sp>
      <p:sp>
        <p:nvSpPr>
          <p:cNvPr id="21" name="Text 18"/>
          <p:cNvSpPr txBox="1"/>
          <p:nvPr/>
        </p:nvSpPr>
        <p:spPr>
          <a:xfrm>
            <a:off x="6400800" y="1463040"/>
            <a:ext cx="45720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TRUE OR FALSE?</a:t>
            </a:r>
            <a:endParaRPr lang="en-US" sz="1300" dirty="0"/>
          </a:p>
        </p:txBody>
      </p:sp>
      <p:sp>
        <p:nvSpPr>
          <p:cNvPr id="22" name="Shape 19"/>
          <p:cNvSpPr/>
          <p:nvPr/>
        </p:nvSpPr>
        <p:spPr>
          <a:xfrm>
            <a:off x="6400800" y="1828800"/>
            <a:ext cx="3108960" cy="914400"/>
          </a:xfrm>
          <a:prstGeom prst="roundRect">
            <a:avLst>
              <a:gd name="adj" fmla="val 8000"/>
            </a:avLst>
          </a:prstGeom>
          <a:solidFill>
            <a:srgbClr val="111115"/>
          </a:solidFill>
          <a:ln w="15875">
            <a:solidFill>
              <a:srgbClr val="3A3A44"/>
            </a:solidFill>
            <a:prstDash val="solid"/>
          </a:ln>
        </p:spPr>
      </p:sp>
      <p:sp>
        <p:nvSpPr>
          <p:cNvPr id="23" name="Text 20"/>
          <p:cNvSpPr txBox="1"/>
          <p:nvPr/>
        </p:nvSpPr>
        <p:spPr>
          <a:xfrm>
            <a:off x="6400800" y="1828800"/>
            <a:ext cx="3108960" cy="914400"/>
          </a:xfrm>
          <a:prstGeom prst="rect">
            <a:avLst/>
          </a:prstGeom>
          <a:noFill/>
          <a:ln/>
        </p:spPr>
        <p:txBody>
          <a:bodyPr wrap="square" lIns="0" tIns="0" rIns="0" bIns="0" rtlCol="0" anchor="ctr"/>
          <a:lstStyle/>
          <a:p>
            <a:pPr algn="ctr" indent="0" marL="0">
              <a:buNone/>
            </a:pPr>
            <a:r>
              <a:rPr lang="en-US" sz="3600" dirty="0">
                <a:solidFill>
                  <a:srgbClr val="56B4E9"/>
                </a:solidFill>
                <a:latin typeface="Consolas" pitchFamily="34" charset="0"/>
                <a:ea typeface="Consolas" pitchFamily="34" charset="-122"/>
                <a:cs typeface="Consolas" pitchFamily="34" charset="-120"/>
              </a:rPr>
              <a:t>85</a:t>
            </a:r>
            <a:pPr algn="ctr" indent="0" marL="0">
              <a:buNone/>
            </a:pPr>
            <a:r>
              <a:rPr lang="en-US" sz="3600" dirty="0">
                <a:solidFill>
                  <a:srgbClr val="F5F5F3"/>
                </a:solidFill>
                <a:latin typeface="Consolas" pitchFamily="34" charset="0"/>
                <a:ea typeface="Consolas" pitchFamily="34" charset="-122"/>
                <a:cs typeface="Consolas" pitchFamily="34" charset="-120"/>
              </a:rPr>
              <a:t> </a:t>
            </a:r>
            <a:pPr algn="ctr" indent="0" marL="0">
              <a:buNone/>
            </a:pPr>
            <a:r>
              <a:rPr lang="en-US" sz="3600" b="1" dirty="0">
                <a:solidFill>
                  <a:srgbClr val="F5F5F3"/>
                </a:solidFill>
                <a:latin typeface="Consolas" pitchFamily="34" charset="0"/>
                <a:ea typeface="Consolas" pitchFamily="34" charset="-122"/>
                <a:cs typeface="Consolas" pitchFamily="34" charset="-120"/>
              </a:rPr>
              <a:t>&gt;=</a:t>
            </a:r>
            <a:pPr algn="ctr" indent="0" marL="0">
              <a:buNone/>
            </a:pPr>
            <a:r>
              <a:rPr lang="en-US" sz="3600" dirty="0">
                <a:solidFill>
                  <a:srgbClr val="F5F5F3"/>
                </a:solidFill>
                <a:latin typeface="Consolas" pitchFamily="34" charset="0"/>
                <a:ea typeface="Consolas" pitchFamily="34" charset="-122"/>
                <a:cs typeface="Consolas" pitchFamily="34" charset="-120"/>
              </a:rPr>
              <a:t> </a:t>
            </a:r>
            <a:pPr algn="ctr" indent="0" marL="0">
              <a:buNone/>
            </a:pPr>
            <a:r>
              <a:rPr lang="en-US" sz="3600" dirty="0">
                <a:solidFill>
                  <a:srgbClr val="56B4E9"/>
                </a:solidFill>
                <a:latin typeface="Consolas" pitchFamily="34" charset="0"/>
                <a:ea typeface="Consolas" pitchFamily="34" charset="-122"/>
                <a:cs typeface="Consolas" pitchFamily="34" charset="-120"/>
              </a:rPr>
              <a:t>50</a:t>
            </a:r>
            <a:endParaRPr lang="en-US" sz="3600" dirty="0"/>
          </a:p>
        </p:txBody>
      </p:sp>
      <p:sp>
        <p:nvSpPr>
          <p:cNvPr id="24" name="click1"/>
          <p:cNvSpPr/>
          <p:nvPr/>
        </p:nvSpPr>
        <p:spPr>
          <a:xfrm>
            <a:off x="9601200" y="2286000"/>
            <a:ext cx="502920" cy="0"/>
          </a:xfrm>
          <a:prstGeom prst="line">
            <a:avLst/>
          </a:prstGeom>
          <a:noFill/>
          <a:ln w="28575">
            <a:solidFill>
              <a:srgbClr val="A9A9B4"/>
            </a:solidFill>
            <a:prstDash val="solid"/>
            <a:tailEnd type="triangle"/>
          </a:ln>
        </p:spPr>
      </p:sp>
      <p:sp>
        <p:nvSpPr>
          <p:cNvPr id="25" name="click1"/>
          <p:cNvSpPr/>
          <p:nvPr/>
        </p:nvSpPr>
        <p:spPr>
          <a:xfrm>
            <a:off x="10195560" y="2011680"/>
            <a:ext cx="1417320" cy="548640"/>
          </a:xfrm>
          <a:prstGeom prst="roundRect">
            <a:avLst>
              <a:gd name="adj" fmla="val 13333"/>
            </a:avLst>
          </a:prstGeom>
          <a:solidFill>
            <a:srgbClr val="7FD99A"/>
          </a:solidFill>
          <a:ln/>
        </p:spPr>
      </p:sp>
      <p:sp>
        <p:nvSpPr>
          <p:cNvPr id="26" name="click1"/>
          <p:cNvSpPr txBox="1"/>
          <p:nvPr/>
        </p:nvSpPr>
        <p:spPr>
          <a:xfrm>
            <a:off x="10195560" y="2011680"/>
            <a:ext cx="1417320" cy="548640"/>
          </a:xfrm>
          <a:prstGeom prst="rect">
            <a:avLst/>
          </a:prstGeom>
          <a:noFill/>
          <a:ln/>
        </p:spPr>
        <p:txBody>
          <a:bodyPr wrap="square" lIns="0" tIns="0" rIns="0" bIns="0" rtlCol="0" anchor="ctr"/>
          <a:lstStyle/>
          <a:p>
            <a:pPr algn="ctr" indent="0" marL="0">
              <a:buNone/>
            </a:pPr>
            <a:r>
              <a:rPr lang="en-US" sz="2600" b="1" dirty="0">
                <a:solidFill>
                  <a:srgbClr val="111115"/>
                </a:solidFill>
                <a:latin typeface="Consolas" pitchFamily="34" charset="0"/>
                <a:ea typeface="Consolas" pitchFamily="34" charset="-122"/>
                <a:cs typeface="Consolas" pitchFamily="34" charset="-120"/>
              </a:rPr>
              <a:t>True</a:t>
            </a:r>
            <a:endParaRPr lang="en-US" sz="2600" dirty="0"/>
          </a:p>
        </p:txBody>
      </p:sp>
      <p:sp>
        <p:nvSpPr>
          <p:cNvPr id="27" name="click1"/>
          <p:cNvSpPr txBox="1"/>
          <p:nvPr/>
        </p:nvSpPr>
        <p:spPr>
          <a:xfrm>
            <a:off x="6400800" y="2834640"/>
            <a:ext cx="5212080" cy="411480"/>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Is 85 more than or equal to 50? Yes</a:t>
            </a:r>
            <a:endParaRPr lang="en-US" sz="1800" dirty="0"/>
          </a:p>
        </p:txBody>
      </p:sp>
      <p:sp>
        <p:nvSpPr>
          <p:cNvPr id="28" name="Shape 25"/>
          <p:cNvSpPr/>
          <p:nvPr/>
        </p:nvSpPr>
        <p:spPr>
          <a:xfrm>
            <a:off x="6400800" y="3611880"/>
            <a:ext cx="3108960" cy="914400"/>
          </a:xfrm>
          <a:prstGeom prst="roundRect">
            <a:avLst>
              <a:gd name="adj" fmla="val 8000"/>
            </a:avLst>
          </a:prstGeom>
          <a:solidFill>
            <a:srgbClr val="111115"/>
          </a:solidFill>
          <a:ln w="15875">
            <a:solidFill>
              <a:srgbClr val="3A3A44"/>
            </a:solidFill>
            <a:prstDash val="solid"/>
          </a:ln>
        </p:spPr>
      </p:sp>
      <p:sp>
        <p:nvSpPr>
          <p:cNvPr id="29" name="Text 26"/>
          <p:cNvSpPr txBox="1"/>
          <p:nvPr/>
        </p:nvSpPr>
        <p:spPr>
          <a:xfrm>
            <a:off x="6400800" y="3611880"/>
            <a:ext cx="3108960" cy="914400"/>
          </a:xfrm>
          <a:prstGeom prst="rect">
            <a:avLst/>
          </a:prstGeom>
          <a:noFill/>
          <a:ln/>
        </p:spPr>
        <p:txBody>
          <a:bodyPr wrap="square" lIns="0" tIns="0" rIns="0" bIns="0" rtlCol="0" anchor="ctr"/>
          <a:lstStyle/>
          <a:p>
            <a:pPr algn="ctr" indent="0" marL="0">
              <a:buNone/>
            </a:pPr>
            <a:r>
              <a:rPr lang="en-US" sz="3600" dirty="0">
                <a:solidFill>
                  <a:srgbClr val="56B4E9"/>
                </a:solidFill>
                <a:latin typeface="Consolas" pitchFamily="34" charset="0"/>
                <a:ea typeface="Consolas" pitchFamily="34" charset="-122"/>
                <a:cs typeface="Consolas" pitchFamily="34" charset="-120"/>
              </a:rPr>
              <a:t>30</a:t>
            </a:r>
            <a:pPr algn="ctr" indent="0" marL="0">
              <a:buNone/>
            </a:pPr>
            <a:r>
              <a:rPr lang="en-US" sz="3600" dirty="0">
                <a:solidFill>
                  <a:srgbClr val="F5F5F3"/>
                </a:solidFill>
                <a:latin typeface="Consolas" pitchFamily="34" charset="0"/>
                <a:ea typeface="Consolas" pitchFamily="34" charset="-122"/>
                <a:cs typeface="Consolas" pitchFamily="34" charset="-120"/>
              </a:rPr>
              <a:t> </a:t>
            </a:r>
            <a:pPr algn="ctr" indent="0" marL="0">
              <a:buNone/>
            </a:pPr>
            <a:r>
              <a:rPr lang="en-US" sz="3600" b="1" dirty="0">
                <a:solidFill>
                  <a:srgbClr val="F5F5F3"/>
                </a:solidFill>
                <a:latin typeface="Consolas" pitchFamily="34" charset="0"/>
                <a:ea typeface="Consolas" pitchFamily="34" charset="-122"/>
                <a:cs typeface="Consolas" pitchFamily="34" charset="-120"/>
              </a:rPr>
              <a:t>&gt;=</a:t>
            </a:r>
            <a:pPr algn="ctr" indent="0" marL="0">
              <a:buNone/>
            </a:pPr>
            <a:r>
              <a:rPr lang="en-US" sz="3600" dirty="0">
                <a:solidFill>
                  <a:srgbClr val="F5F5F3"/>
                </a:solidFill>
                <a:latin typeface="Consolas" pitchFamily="34" charset="0"/>
                <a:ea typeface="Consolas" pitchFamily="34" charset="-122"/>
                <a:cs typeface="Consolas" pitchFamily="34" charset="-120"/>
              </a:rPr>
              <a:t> </a:t>
            </a:r>
            <a:pPr algn="ctr" indent="0" marL="0">
              <a:buNone/>
            </a:pPr>
            <a:r>
              <a:rPr lang="en-US" sz="3600" dirty="0">
                <a:solidFill>
                  <a:srgbClr val="56B4E9"/>
                </a:solidFill>
                <a:latin typeface="Consolas" pitchFamily="34" charset="0"/>
                <a:ea typeface="Consolas" pitchFamily="34" charset="-122"/>
                <a:cs typeface="Consolas" pitchFamily="34" charset="-120"/>
              </a:rPr>
              <a:t>50</a:t>
            </a:r>
            <a:endParaRPr lang="en-US" sz="3600" dirty="0"/>
          </a:p>
        </p:txBody>
      </p:sp>
      <p:sp>
        <p:nvSpPr>
          <p:cNvPr id="30" name="click2"/>
          <p:cNvSpPr/>
          <p:nvPr/>
        </p:nvSpPr>
        <p:spPr>
          <a:xfrm>
            <a:off x="9601200" y="4069080"/>
            <a:ext cx="502920" cy="0"/>
          </a:xfrm>
          <a:prstGeom prst="line">
            <a:avLst/>
          </a:prstGeom>
          <a:noFill/>
          <a:ln w="28575">
            <a:solidFill>
              <a:srgbClr val="A9A9B4"/>
            </a:solidFill>
            <a:prstDash val="solid"/>
            <a:tailEnd type="triangle"/>
          </a:ln>
        </p:spPr>
      </p:sp>
      <p:sp>
        <p:nvSpPr>
          <p:cNvPr id="31" name="click2"/>
          <p:cNvSpPr/>
          <p:nvPr/>
        </p:nvSpPr>
        <p:spPr>
          <a:xfrm>
            <a:off x="10195560" y="3794760"/>
            <a:ext cx="1417320" cy="548640"/>
          </a:xfrm>
          <a:prstGeom prst="roundRect">
            <a:avLst>
              <a:gd name="adj" fmla="val 13333"/>
            </a:avLst>
          </a:prstGeom>
          <a:solidFill>
            <a:srgbClr val="1E1E24"/>
          </a:solidFill>
          <a:ln w="19050">
            <a:solidFill>
              <a:srgbClr val="A9A9B4"/>
            </a:solidFill>
            <a:prstDash val="solid"/>
          </a:ln>
        </p:spPr>
      </p:sp>
      <p:sp>
        <p:nvSpPr>
          <p:cNvPr id="32" name="click2"/>
          <p:cNvSpPr txBox="1"/>
          <p:nvPr/>
        </p:nvSpPr>
        <p:spPr>
          <a:xfrm>
            <a:off x="10195560" y="3794760"/>
            <a:ext cx="1417320" cy="548640"/>
          </a:xfrm>
          <a:prstGeom prst="rect">
            <a:avLst/>
          </a:prstGeom>
          <a:noFill/>
          <a:ln/>
        </p:spPr>
        <p:txBody>
          <a:bodyPr wrap="square" lIns="0" tIns="0" rIns="0" bIns="0" rtlCol="0" anchor="ctr"/>
          <a:lstStyle/>
          <a:p>
            <a:pPr algn="ctr" indent="0" marL="0">
              <a:buNone/>
            </a:pPr>
            <a:r>
              <a:rPr lang="en-US" sz="2600" b="1" dirty="0">
                <a:solidFill>
                  <a:srgbClr val="F5F5F3"/>
                </a:solidFill>
                <a:latin typeface="Consolas" pitchFamily="34" charset="0"/>
                <a:ea typeface="Consolas" pitchFamily="34" charset="-122"/>
                <a:cs typeface="Consolas" pitchFamily="34" charset="-120"/>
              </a:rPr>
              <a:t>False</a:t>
            </a:r>
            <a:endParaRPr lang="en-US" sz="2600" dirty="0"/>
          </a:p>
        </p:txBody>
      </p:sp>
      <p:sp>
        <p:nvSpPr>
          <p:cNvPr id="33" name="click2"/>
          <p:cNvSpPr txBox="1"/>
          <p:nvPr/>
        </p:nvSpPr>
        <p:spPr>
          <a:xfrm>
            <a:off x="6400800" y="4617720"/>
            <a:ext cx="5212080" cy="411480"/>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Is 30 more than or equal to 50? No</a:t>
            </a:r>
            <a:endParaRPr lang="en-US" sz="1800" dirty="0"/>
          </a:p>
        </p:txBody>
      </p:sp>
      <p:sp>
        <p:nvSpPr>
          <p:cNvPr id="34" name="Shape 31"/>
          <p:cNvSpPr/>
          <p:nvPr/>
        </p:nvSpPr>
        <p:spPr>
          <a:xfrm>
            <a:off x="548640" y="5440680"/>
            <a:ext cx="11091672" cy="731520"/>
          </a:xfrm>
          <a:prstGeom prst="roundRect">
            <a:avLst>
              <a:gd name="adj" fmla="val 10000"/>
            </a:avLst>
          </a:prstGeom>
          <a:solidFill>
            <a:srgbClr val="1E1E24"/>
          </a:solidFill>
          <a:ln w="25400">
            <a:solidFill>
              <a:srgbClr val="D8A73D"/>
            </a:solidFill>
            <a:prstDash val="solid"/>
          </a:ln>
        </p:spPr>
      </p:sp>
      <p:sp>
        <p:nvSpPr>
          <p:cNvPr id="35" name="Text 32"/>
          <p:cNvSpPr txBox="1"/>
          <p:nvPr/>
        </p:nvSpPr>
        <p:spPr>
          <a:xfrm>
            <a:off x="914400" y="5440680"/>
            <a:ext cx="10332720" cy="731520"/>
          </a:xfrm>
          <a:prstGeom prst="rect">
            <a:avLst/>
          </a:prstGeom>
          <a:noFill/>
          <a:ln/>
        </p:spPr>
        <p:txBody>
          <a:bodyPr wrap="square" lIns="0" tIns="0" rIns="0" bIns="0" rtlCol="0" anchor="ctr"/>
          <a:lstStyle/>
          <a:p>
            <a:pPr indent="0" marL="0">
              <a:buNone/>
            </a:pPr>
            <a:r>
              <a:rPr lang="en-US" sz="2200" b="1" dirty="0">
                <a:solidFill>
                  <a:srgbClr val="D8A73D"/>
                </a:solidFill>
                <a:latin typeface="Calibri" pitchFamily="34" charset="0"/>
                <a:ea typeface="Calibri" pitchFamily="34" charset="-122"/>
                <a:cs typeface="Calibri" pitchFamily="34" charset="-120"/>
              </a:rPr>
              <a:t>A condition asks a yes / no question. </a:t>
            </a:r>
            <a:pPr indent="0" marL="0">
              <a:buNone/>
            </a:pPr>
            <a:r>
              <a:rPr lang="en-US" sz="2200" dirty="0">
                <a:solidFill>
                  <a:srgbClr val="F5F5F3"/>
                </a:solidFill>
                <a:latin typeface="Calibri" pitchFamily="34" charset="0"/>
                <a:ea typeface="Calibri" pitchFamily="34" charset="-122"/>
                <a:cs typeface="Calibri" pitchFamily="34" charset="-120"/>
              </a:rPr>
              <a:t>Python’s answer is True or False.</a:t>
            </a:r>
            <a:endParaRPr lang="en-US" sz="2200" dirty="0"/>
          </a:p>
        </p:txBody>
      </p:sp>
      <p:pic>
        <p:nvPicPr>
          <p:cNvPr id="36"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37"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2"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True or False?</a:t>
            </a:r>
            <a:endParaRPr lang="en-US" sz="3600" dirty="0"/>
          </a:p>
        </p:txBody>
      </p:sp>
      <p:sp>
        <p:nvSpPr>
          <p:cNvPr id="5" name="Shape 2"/>
          <p:cNvSpPr/>
          <p:nvPr/>
        </p:nvSpPr>
        <p:spPr>
          <a:xfrm>
            <a:off x="548640" y="1554480"/>
            <a:ext cx="3511296" cy="1325880"/>
          </a:xfrm>
          <a:prstGeom prst="roundRect">
            <a:avLst>
              <a:gd name="adj" fmla="val 5517"/>
            </a:avLst>
          </a:prstGeom>
          <a:solidFill>
            <a:srgbClr val="111115"/>
          </a:solidFill>
          <a:ln w="15875">
            <a:solidFill>
              <a:srgbClr val="3A3A44"/>
            </a:solidFill>
            <a:prstDash val="solid"/>
          </a:ln>
        </p:spPr>
      </p:sp>
      <p:sp>
        <p:nvSpPr>
          <p:cNvPr id="6" name="Shape 3"/>
          <p:cNvSpPr/>
          <p:nvPr/>
        </p:nvSpPr>
        <p:spPr>
          <a:xfrm>
            <a:off x="713232" y="1719072"/>
            <a:ext cx="384048" cy="384048"/>
          </a:xfrm>
          <a:prstGeom prst="ellipse">
            <a:avLst/>
          </a:prstGeom>
          <a:solidFill>
            <a:srgbClr val="D8A73D"/>
          </a:solidFill>
          <a:ln/>
        </p:spPr>
      </p:sp>
      <p:sp>
        <p:nvSpPr>
          <p:cNvPr id="7" name="Text 4"/>
          <p:cNvSpPr txBox="1"/>
          <p:nvPr/>
        </p:nvSpPr>
        <p:spPr>
          <a:xfrm>
            <a:off x="713232"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1188720"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8</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&gt;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3</a:t>
            </a:r>
            <a:endParaRPr lang="en-US" sz="3400" dirty="0"/>
          </a:p>
        </p:txBody>
      </p:sp>
      <p:sp>
        <p:nvSpPr>
          <p:cNvPr id="9" name="Shape 6"/>
          <p:cNvSpPr/>
          <p:nvPr/>
        </p:nvSpPr>
        <p:spPr>
          <a:xfrm>
            <a:off x="4334256" y="1554480"/>
            <a:ext cx="3511296" cy="1325880"/>
          </a:xfrm>
          <a:prstGeom prst="roundRect">
            <a:avLst>
              <a:gd name="adj" fmla="val 5517"/>
            </a:avLst>
          </a:prstGeom>
          <a:solidFill>
            <a:srgbClr val="111115"/>
          </a:solidFill>
          <a:ln w="15875">
            <a:solidFill>
              <a:srgbClr val="3A3A44"/>
            </a:solidFill>
            <a:prstDash val="solid"/>
          </a:ln>
        </p:spPr>
      </p:sp>
      <p:sp>
        <p:nvSpPr>
          <p:cNvPr id="10" name="Shape 7"/>
          <p:cNvSpPr/>
          <p:nvPr/>
        </p:nvSpPr>
        <p:spPr>
          <a:xfrm>
            <a:off x="4498848" y="1719072"/>
            <a:ext cx="384048" cy="384048"/>
          </a:xfrm>
          <a:prstGeom prst="ellipse">
            <a:avLst/>
          </a:prstGeom>
          <a:solidFill>
            <a:srgbClr val="D8A73D"/>
          </a:solidFill>
          <a:ln/>
        </p:spPr>
      </p:sp>
      <p:sp>
        <p:nvSpPr>
          <p:cNvPr id="11" name="Text 8"/>
          <p:cNvSpPr txBox="1"/>
          <p:nvPr/>
        </p:nvSpPr>
        <p:spPr>
          <a:xfrm>
            <a:off x="4498848"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4974336"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4</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&gt;=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4</a:t>
            </a:r>
            <a:endParaRPr lang="en-US" sz="3400" dirty="0"/>
          </a:p>
        </p:txBody>
      </p:sp>
      <p:sp>
        <p:nvSpPr>
          <p:cNvPr id="13" name="Shape 10"/>
          <p:cNvSpPr/>
          <p:nvPr/>
        </p:nvSpPr>
        <p:spPr>
          <a:xfrm>
            <a:off x="8119872" y="1554480"/>
            <a:ext cx="3511296" cy="1325880"/>
          </a:xfrm>
          <a:prstGeom prst="roundRect">
            <a:avLst>
              <a:gd name="adj" fmla="val 5517"/>
            </a:avLst>
          </a:prstGeom>
          <a:solidFill>
            <a:srgbClr val="111115"/>
          </a:solidFill>
          <a:ln w="15875">
            <a:solidFill>
              <a:srgbClr val="3A3A44"/>
            </a:solidFill>
            <a:prstDash val="solid"/>
          </a:ln>
        </p:spPr>
      </p:sp>
      <p:sp>
        <p:nvSpPr>
          <p:cNvPr id="14" name="Shape 11"/>
          <p:cNvSpPr/>
          <p:nvPr/>
        </p:nvSpPr>
        <p:spPr>
          <a:xfrm>
            <a:off x="8284464" y="1719072"/>
            <a:ext cx="384048" cy="384048"/>
          </a:xfrm>
          <a:prstGeom prst="ellipse">
            <a:avLst/>
          </a:prstGeom>
          <a:solidFill>
            <a:srgbClr val="D8A73D"/>
          </a:solidFill>
          <a:ln/>
        </p:spPr>
      </p:sp>
      <p:sp>
        <p:nvSpPr>
          <p:cNvPr id="15" name="Text 12"/>
          <p:cNvSpPr txBox="1"/>
          <p:nvPr/>
        </p:nvSpPr>
        <p:spPr>
          <a:xfrm>
            <a:off x="8284464"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16" name="Text 13"/>
          <p:cNvSpPr txBox="1"/>
          <p:nvPr/>
        </p:nvSpPr>
        <p:spPr>
          <a:xfrm>
            <a:off x="8759952"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10</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&lt;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2</a:t>
            </a:r>
            <a:endParaRPr lang="en-US" sz="3400" dirty="0"/>
          </a:p>
        </p:txBody>
      </p:sp>
      <p:sp>
        <p:nvSpPr>
          <p:cNvPr id="17" name="Shape 14"/>
          <p:cNvSpPr/>
          <p:nvPr/>
        </p:nvSpPr>
        <p:spPr>
          <a:xfrm>
            <a:off x="548640" y="3108960"/>
            <a:ext cx="3511296" cy="1325880"/>
          </a:xfrm>
          <a:prstGeom prst="roundRect">
            <a:avLst>
              <a:gd name="adj" fmla="val 5517"/>
            </a:avLst>
          </a:prstGeom>
          <a:solidFill>
            <a:srgbClr val="111115"/>
          </a:solidFill>
          <a:ln w="15875">
            <a:solidFill>
              <a:srgbClr val="3A3A44"/>
            </a:solidFill>
            <a:prstDash val="solid"/>
          </a:ln>
        </p:spPr>
      </p:sp>
      <p:sp>
        <p:nvSpPr>
          <p:cNvPr id="18" name="Shape 15"/>
          <p:cNvSpPr/>
          <p:nvPr/>
        </p:nvSpPr>
        <p:spPr>
          <a:xfrm>
            <a:off x="713232" y="3273552"/>
            <a:ext cx="384048" cy="384048"/>
          </a:xfrm>
          <a:prstGeom prst="ellipse">
            <a:avLst/>
          </a:prstGeom>
          <a:solidFill>
            <a:srgbClr val="D8A73D"/>
          </a:solidFill>
          <a:ln/>
        </p:spPr>
      </p:sp>
      <p:sp>
        <p:nvSpPr>
          <p:cNvPr id="19" name="Text 16"/>
          <p:cNvSpPr txBox="1"/>
          <p:nvPr/>
        </p:nvSpPr>
        <p:spPr>
          <a:xfrm>
            <a:off x="713232"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20" name="Text 17"/>
          <p:cNvSpPr txBox="1"/>
          <p:nvPr/>
        </p:nvSpPr>
        <p:spPr>
          <a:xfrm>
            <a:off x="1188720"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7</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7</a:t>
            </a:r>
            <a:endParaRPr lang="en-US" sz="3400" dirty="0"/>
          </a:p>
        </p:txBody>
      </p:sp>
      <p:sp>
        <p:nvSpPr>
          <p:cNvPr id="21" name="Shape 18"/>
          <p:cNvSpPr/>
          <p:nvPr/>
        </p:nvSpPr>
        <p:spPr>
          <a:xfrm>
            <a:off x="4334256" y="3108960"/>
            <a:ext cx="3511296" cy="1325880"/>
          </a:xfrm>
          <a:prstGeom prst="roundRect">
            <a:avLst>
              <a:gd name="adj" fmla="val 5517"/>
            </a:avLst>
          </a:prstGeom>
          <a:solidFill>
            <a:srgbClr val="111115"/>
          </a:solidFill>
          <a:ln w="15875">
            <a:solidFill>
              <a:srgbClr val="3A3A44"/>
            </a:solidFill>
            <a:prstDash val="solid"/>
          </a:ln>
        </p:spPr>
      </p:sp>
      <p:sp>
        <p:nvSpPr>
          <p:cNvPr id="22" name="Shape 19"/>
          <p:cNvSpPr/>
          <p:nvPr/>
        </p:nvSpPr>
        <p:spPr>
          <a:xfrm>
            <a:off x="4498848" y="3273552"/>
            <a:ext cx="384048" cy="384048"/>
          </a:xfrm>
          <a:prstGeom prst="ellipse">
            <a:avLst/>
          </a:prstGeom>
          <a:solidFill>
            <a:srgbClr val="D8A73D"/>
          </a:solidFill>
          <a:ln/>
        </p:spPr>
      </p:sp>
      <p:sp>
        <p:nvSpPr>
          <p:cNvPr id="23" name="Text 20"/>
          <p:cNvSpPr txBox="1"/>
          <p:nvPr/>
        </p:nvSpPr>
        <p:spPr>
          <a:xfrm>
            <a:off x="4498848"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5</a:t>
            </a:r>
            <a:endParaRPr lang="en-US" sz="1600" dirty="0"/>
          </a:p>
        </p:txBody>
      </p:sp>
      <p:sp>
        <p:nvSpPr>
          <p:cNvPr id="24" name="Text 21"/>
          <p:cNvSpPr txBox="1"/>
          <p:nvPr/>
        </p:nvSpPr>
        <p:spPr>
          <a:xfrm>
            <a:off x="4974336"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5</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&gt;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5</a:t>
            </a:r>
            <a:endParaRPr lang="en-US" sz="3400" dirty="0"/>
          </a:p>
        </p:txBody>
      </p:sp>
      <p:sp>
        <p:nvSpPr>
          <p:cNvPr id="25" name="Shape 22"/>
          <p:cNvSpPr/>
          <p:nvPr/>
        </p:nvSpPr>
        <p:spPr>
          <a:xfrm>
            <a:off x="8119872" y="3108960"/>
            <a:ext cx="3511296" cy="1325880"/>
          </a:xfrm>
          <a:prstGeom prst="roundRect">
            <a:avLst>
              <a:gd name="adj" fmla="val 5517"/>
            </a:avLst>
          </a:prstGeom>
          <a:solidFill>
            <a:srgbClr val="111115"/>
          </a:solidFill>
          <a:ln w="15875">
            <a:solidFill>
              <a:srgbClr val="3A3A44"/>
            </a:solidFill>
            <a:prstDash val="solid"/>
          </a:ln>
        </p:spPr>
      </p:sp>
      <p:sp>
        <p:nvSpPr>
          <p:cNvPr id="26" name="Shape 23"/>
          <p:cNvSpPr/>
          <p:nvPr/>
        </p:nvSpPr>
        <p:spPr>
          <a:xfrm>
            <a:off x="8284464" y="3273552"/>
            <a:ext cx="384048" cy="384048"/>
          </a:xfrm>
          <a:prstGeom prst="ellipse">
            <a:avLst/>
          </a:prstGeom>
          <a:solidFill>
            <a:srgbClr val="D8A73D"/>
          </a:solidFill>
          <a:ln/>
        </p:spPr>
      </p:sp>
      <p:sp>
        <p:nvSpPr>
          <p:cNvPr id="27" name="Text 24"/>
          <p:cNvSpPr txBox="1"/>
          <p:nvPr/>
        </p:nvSpPr>
        <p:spPr>
          <a:xfrm>
            <a:off x="8284464"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6</a:t>
            </a:r>
            <a:endParaRPr lang="en-US" sz="1600" dirty="0"/>
          </a:p>
        </p:txBody>
      </p:sp>
      <p:sp>
        <p:nvSpPr>
          <p:cNvPr id="28" name="Text 25"/>
          <p:cNvSpPr txBox="1"/>
          <p:nvPr/>
        </p:nvSpPr>
        <p:spPr>
          <a:xfrm>
            <a:off x="8759952"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9</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&lt;=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6</a:t>
            </a:r>
            <a:endParaRPr lang="en-US" sz="3400" dirty="0"/>
          </a:p>
        </p:txBody>
      </p:sp>
      <p:sp>
        <p:nvSpPr>
          <p:cNvPr id="29" name="Shape 26"/>
          <p:cNvSpPr/>
          <p:nvPr/>
        </p:nvSpPr>
        <p:spPr>
          <a:xfrm>
            <a:off x="548640" y="4800600"/>
            <a:ext cx="11091672" cy="1097280"/>
          </a:xfrm>
          <a:prstGeom prst="roundRect">
            <a:avLst>
              <a:gd name="adj" fmla="val 6667"/>
            </a:avLst>
          </a:prstGeom>
          <a:solidFill>
            <a:srgbClr val="1E1E24"/>
          </a:solidFill>
          <a:ln w="25400">
            <a:solidFill>
              <a:srgbClr val="D8A73D"/>
            </a:solidFill>
            <a:prstDash val="solid"/>
          </a:ln>
        </p:spPr>
      </p:sp>
      <p:sp>
        <p:nvSpPr>
          <p:cNvPr id="30" name="Text 27"/>
          <p:cNvSpPr txBox="1"/>
          <p:nvPr/>
        </p:nvSpPr>
        <p:spPr>
          <a:xfrm>
            <a:off x="914400" y="4800600"/>
            <a:ext cx="10332720" cy="109728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On your board: </a:t>
            </a:r>
            <a:pPr indent="0" marL="0">
              <a:buNone/>
            </a:pPr>
            <a:r>
              <a:rPr lang="en-US" sz="2400" dirty="0">
                <a:solidFill>
                  <a:srgbClr val="F5F5F3"/>
                </a:solidFill>
                <a:latin typeface="Calibri" pitchFamily="34" charset="0"/>
                <a:ea typeface="Calibri" pitchFamily="34" charset="-122"/>
                <a:cs typeface="Calibri" pitchFamily="34" charset="-120"/>
              </a:rPr>
              <a:t>write T or F for all six. Boards up together.</a:t>
            </a:r>
            <a:endParaRPr lang="en-US" sz="2400" dirty="0"/>
          </a:p>
        </p:txBody>
      </p:sp>
      <p:sp>
        <p:nvSpPr>
          <p:cNvPr id="31" name="Shape 28"/>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32" name="Text 29"/>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 MIN</a:t>
            </a:r>
            <a:endParaRPr lang="en-US" sz="1400" dirty="0"/>
          </a:p>
        </p:txBody>
      </p:sp>
      <p:pic>
        <p:nvPicPr>
          <p:cNvPr id="33"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
        <p:nvSpPr>
          <p:cNvPr id="34"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True or False? — answers</a:t>
            </a:r>
            <a:endParaRPr lang="en-US" sz="3600" dirty="0"/>
          </a:p>
        </p:txBody>
      </p:sp>
      <p:sp>
        <p:nvSpPr>
          <p:cNvPr id="5" name="Shape 2"/>
          <p:cNvSpPr/>
          <p:nvPr/>
        </p:nvSpPr>
        <p:spPr>
          <a:xfrm>
            <a:off x="548640" y="1554480"/>
            <a:ext cx="3511296" cy="1325880"/>
          </a:xfrm>
          <a:prstGeom prst="roundRect">
            <a:avLst>
              <a:gd name="adj" fmla="val 5517"/>
            </a:avLst>
          </a:prstGeom>
          <a:solidFill>
            <a:srgbClr val="111115"/>
          </a:solidFill>
          <a:ln w="15875">
            <a:solidFill>
              <a:srgbClr val="3A3A44"/>
            </a:solidFill>
            <a:prstDash val="solid"/>
          </a:ln>
        </p:spPr>
      </p:sp>
      <p:sp>
        <p:nvSpPr>
          <p:cNvPr id="6" name="Shape 3"/>
          <p:cNvSpPr/>
          <p:nvPr/>
        </p:nvSpPr>
        <p:spPr>
          <a:xfrm>
            <a:off x="713232" y="1719072"/>
            <a:ext cx="384048" cy="384048"/>
          </a:xfrm>
          <a:prstGeom prst="ellipse">
            <a:avLst/>
          </a:prstGeom>
          <a:solidFill>
            <a:srgbClr val="D8A73D"/>
          </a:solidFill>
          <a:ln/>
        </p:spPr>
      </p:sp>
      <p:sp>
        <p:nvSpPr>
          <p:cNvPr id="7" name="Text 4"/>
          <p:cNvSpPr txBox="1"/>
          <p:nvPr/>
        </p:nvSpPr>
        <p:spPr>
          <a:xfrm>
            <a:off x="713232"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1188720" y="155448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8</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&gt;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3</a:t>
            </a:r>
            <a:endParaRPr lang="en-US" sz="3400" dirty="0"/>
          </a:p>
        </p:txBody>
      </p:sp>
      <p:sp>
        <p:nvSpPr>
          <p:cNvPr id="9" name="Shape 6"/>
          <p:cNvSpPr/>
          <p:nvPr/>
        </p:nvSpPr>
        <p:spPr>
          <a:xfrm>
            <a:off x="2871216" y="1943100"/>
            <a:ext cx="1005840" cy="548640"/>
          </a:xfrm>
          <a:prstGeom prst="roundRect">
            <a:avLst>
              <a:gd name="adj" fmla="val 13333"/>
            </a:avLst>
          </a:prstGeom>
          <a:solidFill>
            <a:srgbClr val="7FD99A"/>
          </a:solidFill>
          <a:ln/>
        </p:spPr>
      </p:sp>
      <p:sp>
        <p:nvSpPr>
          <p:cNvPr id="10" name="Text 7"/>
          <p:cNvSpPr txBox="1"/>
          <p:nvPr/>
        </p:nvSpPr>
        <p:spPr>
          <a:xfrm>
            <a:off x="2871216" y="1943100"/>
            <a:ext cx="1005840" cy="548640"/>
          </a:xfrm>
          <a:prstGeom prst="rect">
            <a:avLst/>
          </a:prstGeom>
          <a:noFill/>
          <a:ln/>
        </p:spPr>
        <p:txBody>
          <a:bodyPr wrap="square" lIns="0" tIns="0" rIns="0" bIns="0" rtlCol="0" anchor="ctr"/>
          <a:lstStyle/>
          <a:p>
            <a:pPr algn="ctr" indent="0" marL="0">
              <a:buNone/>
            </a:pPr>
            <a:r>
              <a:rPr lang="en-US" sz="2400" b="1" dirty="0">
                <a:solidFill>
                  <a:srgbClr val="111115"/>
                </a:solidFill>
                <a:latin typeface="Consolas" pitchFamily="34" charset="0"/>
                <a:ea typeface="Consolas" pitchFamily="34" charset="-122"/>
                <a:cs typeface="Consolas" pitchFamily="34" charset="-120"/>
              </a:rPr>
              <a:t>True</a:t>
            </a:r>
            <a:endParaRPr lang="en-US" sz="2400" dirty="0"/>
          </a:p>
        </p:txBody>
      </p:sp>
      <p:sp>
        <p:nvSpPr>
          <p:cNvPr id="11" name="Shape 8"/>
          <p:cNvSpPr/>
          <p:nvPr/>
        </p:nvSpPr>
        <p:spPr>
          <a:xfrm>
            <a:off x="4334256" y="1554480"/>
            <a:ext cx="3511296" cy="1325880"/>
          </a:xfrm>
          <a:prstGeom prst="roundRect">
            <a:avLst>
              <a:gd name="adj" fmla="val 5517"/>
            </a:avLst>
          </a:prstGeom>
          <a:solidFill>
            <a:srgbClr val="111115"/>
          </a:solidFill>
          <a:ln w="15875">
            <a:solidFill>
              <a:srgbClr val="3A3A44"/>
            </a:solidFill>
            <a:prstDash val="solid"/>
          </a:ln>
        </p:spPr>
      </p:sp>
      <p:sp>
        <p:nvSpPr>
          <p:cNvPr id="12" name="Shape 9"/>
          <p:cNvSpPr/>
          <p:nvPr/>
        </p:nvSpPr>
        <p:spPr>
          <a:xfrm>
            <a:off x="4498848" y="1719072"/>
            <a:ext cx="384048" cy="384048"/>
          </a:xfrm>
          <a:prstGeom prst="ellipse">
            <a:avLst/>
          </a:prstGeom>
          <a:solidFill>
            <a:srgbClr val="D8A73D"/>
          </a:solidFill>
          <a:ln/>
        </p:spPr>
      </p:sp>
      <p:sp>
        <p:nvSpPr>
          <p:cNvPr id="13" name="Text 10"/>
          <p:cNvSpPr txBox="1"/>
          <p:nvPr/>
        </p:nvSpPr>
        <p:spPr>
          <a:xfrm>
            <a:off x="4498848"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4974336" y="155448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4</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&gt;=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4</a:t>
            </a:r>
            <a:endParaRPr lang="en-US" sz="3400" dirty="0"/>
          </a:p>
        </p:txBody>
      </p:sp>
      <p:sp>
        <p:nvSpPr>
          <p:cNvPr id="15" name="Shape 12"/>
          <p:cNvSpPr/>
          <p:nvPr/>
        </p:nvSpPr>
        <p:spPr>
          <a:xfrm>
            <a:off x="6656832" y="1943100"/>
            <a:ext cx="1005840" cy="548640"/>
          </a:xfrm>
          <a:prstGeom prst="roundRect">
            <a:avLst>
              <a:gd name="adj" fmla="val 13333"/>
            </a:avLst>
          </a:prstGeom>
          <a:solidFill>
            <a:srgbClr val="7FD99A"/>
          </a:solidFill>
          <a:ln/>
        </p:spPr>
      </p:sp>
      <p:sp>
        <p:nvSpPr>
          <p:cNvPr id="16" name="Text 13"/>
          <p:cNvSpPr txBox="1"/>
          <p:nvPr/>
        </p:nvSpPr>
        <p:spPr>
          <a:xfrm>
            <a:off x="6656832" y="1943100"/>
            <a:ext cx="1005840" cy="548640"/>
          </a:xfrm>
          <a:prstGeom prst="rect">
            <a:avLst/>
          </a:prstGeom>
          <a:noFill/>
          <a:ln/>
        </p:spPr>
        <p:txBody>
          <a:bodyPr wrap="square" lIns="0" tIns="0" rIns="0" bIns="0" rtlCol="0" anchor="ctr"/>
          <a:lstStyle/>
          <a:p>
            <a:pPr algn="ctr" indent="0" marL="0">
              <a:buNone/>
            </a:pPr>
            <a:r>
              <a:rPr lang="en-US" sz="2400" b="1" dirty="0">
                <a:solidFill>
                  <a:srgbClr val="111115"/>
                </a:solidFill>
                <a:latin typeface="Consolas" pitchFamily="34" charset="0"/>
                <a:ea typeface="Consolas" pitchFamily="34" charset="-122"/>
                <a:cs typeface="Consolas" pitchFamily="34" charset="-120"/>
              </a:rPr>
              <a:t>True</a:t>
            </a:r>
            <a:endParaRPr lang="en-US" sz="2400" dirty="0"/>
          </a:p>
        </p:txBody>
      </p:sp>
      <p:sp>
        <p:nvSpPr>
          <p:cNvPr id="17" name="Shape 14"/>
          <p:cNvSpPr/>
          <p:nvPr/>
        </p:nvSpPr>
        <p:spPr>
          <a:xfrm>
            <a:off x="8119872" y="1554480"/>
            <a:ext cx="3511296" cy="1325880"/>
          </a:xfrm>
          <a:prstGeom prst="roundRect">
            <a:avLst>
              <a:gd name="adj" fmla="val 5517"/>
            </a:avLst>
          </a:prstGeom>
          <a:solidFill>
            <a:srgbClr val="111115"/>
          </a:solidFill>
          <a:ln w="15875">
            <a:solidFill>
              <a:srgbClr val="3A3A44"/>
            </a:solidFill>
            <a:prstDash val="solid"/>
          </a:ln>
        </p:spPr>
      </p:sp>
      <p:sp>
        <p:nvSpPr>
          <p:cNvPr id="18" name="Shape 15"/>
          <p:cNvSpPr/>
          <p:nvPr/>
        </p:nvSpPr>
        <p:spPr>
          <a:xfrm>
            <a:off x="8284464" y="1719072"/>
            <a:ext cx="384048" cy="384048"/>
          </a:xfrm>
          <a:prstGeom prst="ellipse">
            <a:avLst/>
          </a:prstGeom>
          <a:solidFill>
            <a:srgbClr val="D8A73D"/>
          </a:solidFill>
          <a:ln/>
        </p:spPr>
      </p:sp>
      <p:sp>
        <p:nvSpPr>
          <p:cNvPr id="19" name="Text 16"/>
          <p:cNvSpPr txBox="1"/>
          <p:nvPr/>
        </p:nvSpPr>
        <p:spPr>
          <a:xfrm>
            <a:off x="8284464"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0" name="Text 17"/>
          <p:cNvSpPr txBox="1"/>
          <p:nvPr/>
        </p:nvSpPr>
        <p:spPr>
          <a:xfrm>
            <a:off x="8759952" y="155448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10</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&lt;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2</a:t>
            </a:r>
            <a:endParaRPr lang="en-US" sz="3400" dirty="0"/>
          </a:p>
        </p:txBody>
      </p:sp>
      <p:sp>
        <p:nvSpPr>
          <p:cNvPr id="21" name="Shape 18"/>
          <p:cNvSpPr/>
          <p:nvPr/>
        </p:nvSpPr>
        <p:spPr>
          <a:xfrm>
            <a:off x="10442448" y="1943100"/>
            <a:ext cx="1005840" cy="548640"/>
          </a:xfrm>
          <a:prstGeom prst="roundRect">
            <a:avLst>
              <a:gd name="adj" fmla="val 13333"/>
            </a:avLst>
          </a:prstGeom>
          <a:solidFill>
            <a:srgbClr val="1E1E24"/>
          </a:solidFill>
          <a:ln w="19050">
            <a:solidFill>
              <a:srgbClr val="A9A9B4"/>
            </a:solidFill>
            <a:prstDash val="solid"/>
          </a:ln>
        </p:spPr>
      </p:sp>
      <p:sp>
        <p:nvSpPr>
          <p:cNvPr id="22" name="Text 19"/>
          <p:cNvSpPr txBox="1"/>
          <p:nvPr/>
        </p:nvSpPr>
        <p:spPr>
          <a:xfrm>
            <a:off x="10442448" y="1943100"/>
            <a:ext cx="1005840" cy="548640"/>
          </a:xfrm>
          <a:prstGeom prst="rect">
            <a:avLst/>
          </a:prstGeom>
          <a:noFill/>
          <a:ln/>
        </p:spPr>
        <p:txBody>
          <a:bodyPr wrap="square" lIns="0" tIns="0" rIns="0" bIns="0" rtlCol="0" anchor="ctr"/>
          <a:lstStyle/>
          <a:p>
            <a:pPr algn="ctr" indent="0" marL="0">
              <a:buNone/>
            </a:pPr>
            <a:r>
              <a:rPr lang="en-US" sz="2400" b="1" dirty="0">
                <a:solidFill>
                  <a:srgbClr val="F5F5F3"/>
                </a:solidFill>
                <a:latin typeface="Consolas" pitchFamily="34" charset="0"/>
                <a:ea typeface="Consolas" pitchFamily="34" charset="-122"/>
                <a:cs typeface="Consolas" pitchFamily="34" charset="-120"/>
              </a:rPr>
              <a:t>False</a:t>
            </a:r>
            <a:endParaRPr lang="en-US" sz="2400" dirty="0"/>
          </a:p>
        </p:txBody>
      </p:sp>
      <p:sp>
        <p:nvSpPr>
          <p:cNvPr id="23" name="Shape 20"/>
          <p:cNvSpPr/>
          <p:nvPr/>
        </p:nvSpPr>
        <p:spPr>
          <a:xfrm>
            <a:off x="548640" y="3108960"/>
            <a:ext cx="3511296" cy="1325880"/>
          </a:xfrm>
          <a:prstGeom prst="roundRect">
            <a:avLst>
              <a:gd name="adj" fmla="val 5517"/>
            </a:avLst>
          </a:prstGeom>
          <a:solidFill>
            <a:srgbClr val="111115"/>
          </a:solidFill>
          <a:ln w="15875">
            <a:solidFill>
              <a:srgbClr val="3A3A44"/>
            </a:solidFill>
            <a:prstDash val="solid"/>
          </a:ln>
        </p:spPr>
      </p:sp>
      <p:sp>
        <p:nvSpPr>
          <p:cNvPr id="24" name="Shape 21"/>
          <p:cNvSpPr/>
          <p:nvPr/>
        </p:nvSpPr>
        <p:spPr>
          <a:xfrm>
            <a:off x="713232" y="3273552"/>
            <a:ext cx="384048" cy="384048"/>
          </a:xfrm>
          <a:prstGeom prst="ellipse">
            <a:avLst/>
          </a:prstGeom>
          <a:solidFill>
            <a:srgbClr val="D8A73D"/>
          </a:solidFill>
          <a:ln/>
        </p:spPr>
      </p:sp>
      <p:sp>
        <p:nvSpPr>
          <p:cNvPr id="25" name="Text 22"/>
          <p:cNvSpPr txBox="1"/>
          <p:nvPr/>
        </p:nvSpPr>
        <p:spPr>
          <a:xfrm>
            <a:off x="713232"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26" name="Text 23"/>
          <p:cNvSpPr txBox="1"/>
          <p:nvPr/>
        </p:nvSpPr>
        <p:spPr>
          <a:xfrm>
            <a:off x="1188720" y="310896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7</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7</a:t>
            </a:r>
            <a:endParaRPr lang="en-US" sz="3400" dirty="0"/>
          </a:p>
        </p:txBody>
      </p:sp>
      <p:sp>
        <p:nvSpPr>
          <p:cNvPr id="27" name="Shape 24"/>
          <p:cNvSpPr/>
          <p:nvPr/>
        </p:nvSpPr>
        <p:spPr>
          <a:xfrm>
            <a:off x="2871216" y="3497580"/>
            <a:ext cx="1005840" cy="548640"/>
          </a:xfrm>
          <a:prstGeom prst="roundRect">
            <a:avLst>
              <a:gd name="adj" fmla="val 13333"/>
            </a:avLst>
          </a:prstGeom>
          <a:solidFill>
            <a:srgbClr val="7FD99A"/>
          </a:solidFill>
          <a:ln/>
        </p:spPr>
      </p:sp>
      <p:sp>
        <p:nvSpPr>
          <p:cNvPr id="28" name="Text 25"/>
          <p:cNvSpPr txBox="1"/>
          <p:nvPr/>
        </p:nvSpPr>
        <p:spPr>
          <a:xfrm>
            <a:off x="2871216" y="3497580"/>
            <a:ext cx="1005840" cy="548640"/>
          </a:xfrm>
          <a:prstGeom prst="rect">
            <a:avLst/>
          </a:prstGeom>
          <a:noFill/>
          <a:ln/>
        </p:spPr>
        <p:txBody>
          <a:bodyPr wrap="square" lIns="0" tIns="0" rIns="0" bIns="0" rtlCol="0" anchor="ctr"/>
          <a:lstStyle/>
          <a:p>
            <a:pPr algn="ctr" indent="0" marL="0">
              <a:buNone/>
            </a:pPr>
            <a:r>
              <a:rPr lang="en-US" sz="2400" b="1" dirty="0">
                <a:solidFill>
                  <a:srgbClr val="111115"/>
                </a:solidFill>
                <a:latin typeface="Consolas" pitchFamily="34" charset="0"/>
                <a:ea typeface="Consolas" pitchFamily="34" charset="-122"/>
                <a:cs typeface="Consolas" pitchFamily="34" charset="-120"/>
              </a:rPr>
              <a:t>True</a:t>
            </a:r>
            <a:endParaRPr lang="en-US" sz="2400" dirty="0"/>
          </a:p>
        </p:txBody>
      </p:sp>
      <p:sp>
        <p:nvSpPr>
          <p:cNvPr id="29" name="Shape 26"/>
          <p:cNvSpPr/>
          <p:nvPr/>
        </p:nvSpPr>
        <p:spPr>
          <a:xfrm>
            <a:off x="4334256" y="3108960"/>
            <a:ext cx="3511296" cy="1325880"/>
          </a:xfrm>
          <a:prstGeom prst="roundRect">
            <a:avLst>
              <a:gd name="adj" fmla="val 5517"/>
            </a:avLst>
          </a:prstGeom>
          <a:solidFill>
            <a:srgbClr val="111115"/>
          </a:solidFill>
          <a:ln w="15875">
            <a:solidFill>
              <a:srgbClr val="3A3A44"/>
            </a:solidFill>
            <a:prstDash val="solid"/>
          </a:ln>
        </p:spPr>
      </p:sp>
      <p:sp>
        <p:nvSpPr>
          <p:cNvPr id="30" name="Shape 27"/>
          <p:cNvSpPr/>
          <p:nvPr/>
        </p:nvSpPr>
        <p:spPr>
          <a:xfrm>
            <a:off x="4498848" y="3273552"/>
            <a:ext cx="384048" cy="384048"/>
          </a:xfrm>
          <a:prstGeom prst="ellipse">
            <a:avLst/>
          </a:prstGeom>
          <a:solidFill>
            <a:srgbClr val="D8A73D"/>
          </a:solidFill>
          <a:ln/>
        </p:spPr>
      </p:sp>
      <p:sp>
        <p:nvSpPr>
          <p:cNvPr id="31" name="Text 28"/>
          <p:cNvSpPr txBox="1"/>
          <p:nvPr/>
        </p:nvSpPr>
        <p:spPr>
          <a:xfrm>
            <a:off x="4498848"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5</a:t>
            </a:r>
            <a:endParaRPr lang="en-US" sz="1600" dirty="0"/>
          </a:p>
        </p:txBody>
      </p:sp>
      <p:sp>
        <p:nvSpPr>
          <p:cNvPr id="32" name="Text 29"/>
          <p:cNvSpPr txBox="1"/>
          <p:nvPr/>
        </p:nvSpPr>
        <p:spPr>
          <a:xfrm>
            <a:off x="4974336" y="310896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5</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&gt;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5</a:t>
            </a:r>
            <a:endParaRPr lang="en-US" sz="3400" dirty="0"/>
          </a:p>
        </p:txBody>
      </p:sp>
      <p:sp>
        <p:nvSpPr>
          <p:cNvPr id="33" name="Shape 30"/>
          <p:cNvSpPr/>
          <p:nvPr/>
        </p:nvSpPr>
        <p:spPr>
          <a:xfrm>
            <a:off x="6656832" y="3497580"/>
            <a:ext cx="1005840" cy="548640"/>
          </a:xfrm>
          <a:prstGeom prst="roundRect">
            <a:avLst>
              <a:gd name="adj" fmla="val 13333"/>
            </a:avLst>
          </a:prstGeom>
          <a:solidFill>
            <a:srgbClr val="1E1E24"/>
          </a:solidFill>
          <a:ln w="19050">
            <a:solidFill>
              <a:srgbClr val="A9A9B4"/>
            </a:solidFill>
            <a:prstDash val="solid"/>
          </a:ln>
        </p:spPr>
      </p:sp>
      <p:sp>
        <p:nvSpPr>
          <p:cNvPr id="34" name="Text 31"/>
          <p:cNvSpPr txBox="1"/>
          <p:nvPr/>
        </p:nvSpPr>
        <p:spPr>
          <a:xfrm>
            <a:off x="6656832" y="3497580"/>
            <a:ext cx="1005840" cy="548640"/>
          </a:xfrm>
          <a:prstGeom prst="rect">
            <a:avLst/>
          </a:prstGeom>
          <a:noFill/>
          <a:ln/>
        </p:spPr>
        <p:txBody>
          <a:bodyPr wrap="square" lIns="0" tIns="0" rIns="0" bIns="0" rtlCol="0" anchor="ctr"/>
          <a:lstStyle/>
          <a:p>
            <a:pPr algn="ctr" indent="0" marL="0">
              <a:buNone/>
            </a:pPr>
            <a:r>
              <a:rPr lang="en-US" sz="2400" b="1" dirty="0">
                <a:solidFill>
                  <a:srgbClr val="F5F5F3"/>
                </a:solidFill>
                <a:latin typeface="Consolas" pitchFamily="34" charset="0"/>
                <a:ea typeface="Consolas" pitchFamily="34" charset="-122"/>
                <a:cs typeface="Consolas" pitchFamily="34" charset="-120"/>
              </a:rPr>
              <a:t>False</a:t>
            </a:r>
            <a:endParaRPr lang="en-US" sz="2400" dirty="0"/>
          </a:p>
        </p:txBody>
      </p:sp>
      <p:sp>
        <p:nvSpPr>
          <p:cNvPr id="35" name="Shape 32"/>
          <p:cNvSpPr/>
          <p:nvPr/>
        </p:nvSpPr>
        <p:spPr>
          <a:xfrm>
            <a:off x="8119872" y="3108960"/>
            <a:ext cx="3511296" cy="1325880"/>
          </a:xfrm>
          <a:prstGeom prst="roundRect">
            <a:avLst>
              <a:gd name="adj" fmla="val 5517"/>
            </a:avLst>
          </a:prstGeom>
          <a:solidFill>
            <a:srgbClr val="111115"/>
          </a:solidFill>
          <a:ln w="15875">
            <a:solidFill>
              <a:srgbClr val="3A3A44"/>
            </a:solidFill>
            <a:prstDash val="solid"/>
          </a:ln>
        </p:spPr>
      </p:sp>
      <p:sp>
        <p:nvSpPr>
          <p:cNvPr id="36" name="Shape 33"/>
          <p:cNvSpPr/>
          <p:nvPr/>
        </p:nvSpPr>
        <p:spPr>
          <a:xfrm>
            <a:off x="8284464" y="3273552"/>
            <a:ext cx="384048" cy="384048"/>
          </a:xfrm>
          <a:prstGeom prst="ellipse">
            <a:avLst/>
          </a:prstGeom>
          <a:solidFill>
            <a:srgbClr val="D8A73D"/>
          </a:solidFill>
          <a:ln/>
        </p:spPr>
      </p:sp>
      <p:sp>
        <p:nvSpPr>
          <p:cNvPr id="37" name="Text 34"/>
          <p:cNvSpPr txBox="1"/>
          <p:nvPr/>
        </p:nvSpPr>
        <p:spPr>
          <a:xfrm>
            <a:off x="8284464"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6</a:t>
            </a:r>
            <a:endParaRPr lang="en-US" sz="1600" dirty="0"/>
          </a:p>
        </p:txBody>
      </p:sp>
      <p:sp>
        <p:nvSpPr>
          <p:cNvPr id="38" name="Text 35"/>
          <p:cNvSpPr txBox="1"/>
          <p:nvPr/>
        </p:nvSpPr>
        <p:spPr>
          <a:xfrm>
            <a:off x="8759952" y="310896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9</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&lt;=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6</a:t>
            </a:r>
            <a:endParaRPr lang="en-US" sz="3400" dirty="0"/>
          </a:p>
        </p:txBody>
      </p:sp>
      <p:sp>
        <p:nvSpPr>
          <p:cNvPr id="39" name="Shape 36"/>
          <p:cNvSpPr/>
          <p:nvPr/>
        </p:nvSpPr>
        <p:spPr>
          <a:xfrm>
            <a:off x="10442448" y="3497580"/>
            <a:ext cx="1005840" cy="548640"/>
          </a:xfrm>
          <a:prstGeom prst="roundRect">
            <a:avLst>
              <a:gd name="adj" fmla="val 13333"/>
            </a:avLst>
          </a:prstGeom>
          <a:solidFill>
            <a:srgbClr val="1E1E24"/>
          </a:solidFill>
          <a:ln w="19050">
            <a:solidFill>
              <a:srgbClr val="A9A9B4"/>
            </a:solidFill>
            <a:prstDash val="solid"/>
          </a:ln>
        </p:spPr>
      </p:sp>
      <p:sp>
        <p:nvSpPr>
          <p:cNvPr id="40" name="Text 37"/>
          <p:cNvSpPr txBox="1"/>
          <p:nvPr/>
        </p:nvSpPr>
        <p:spPr>
          <a:xfrm>
            <a:off x="10442448" y="3497580"/>
            <a:ext cx="1005840" cy="548640"/>
          </a:xfrm>
          <a:prstGeom prst="rect">
            <a:avLst/>
          </a:prstGeom>
          <a:noFill/>
          <a:ln/>
        </p:spPr>
        <p:txBody>
          <a:bodyPr wrap="square" lIns="0" tIns="0" rIns="0" bIns="0" rtlCol="0" anchor="ctr"/>
          <a:lstStyle/>
          <a:p>
            <a:pPr algn="ctr" indent="0" marL="0">
              <a:buNone/>
            </a:pPr>
            <a:r>
              <a:rPr lang="en-US" sz="2400" b="1" dirty="0">
                <a:solidFill>
                  <a:srgbClr val="F5F5F3"/>
                </a:solidFill>
                <a:latin typeface="Consolas" pitchFamily="34" charset="0"/>
                <a:ea typeface="Consolas" pitchFamily="34" charset="-122"/>
                <a:cs typeface="Consolas" pitchFamily="34" charset="-120"/>
              </a:rPr>
              <a:t>False</a:t>
            </a:r>
            <a:endParaRPr lang="en-US" sz="2400" dirty="0"/>
          </a:p>
        </p:txBody>
      </p:sp>
      <p:sp>
        <p:nvSpPr>
          <p:cNvPr id="41" name="Shape 38"/>
          <p:cNvSpPr/>
          <p:nvPr/>
        </p:nvSpPr>
        <p:spPr>
          <a:xfrm>
            <a:off x="548640" y="4800600"/>
            <a:ext cx="11091672" cy="1097280"/>
          </a:xfrm>
          <a:prstGeom prst="roundRect">
            <a:avLst>
              <a:gd name="adj" fmla="val 6667"/>
            </a:avLst>
          </a:prstGeom>
          <a:solidFill>
            <a:srgbClr val="1E1E24"/>
          </a:solidFill>
          <a:ln w="25400">
            <a:solidFill>
              <a:srgbClr val="D8A73D"/>
            </a:solidFill>
            <a:prstDash val="solid"/>
          </a:ln>
        </p:spPr>
      </p:sp>
      <p:sp>
        <p:nvSpPr>
          <p:cNvPr id="42" name="Text 39"/>
          <p:cNvSpPr txBox="1"/>
          <p:nvPr/>
        </p:nvSpPr>
        <p:spPr>
          <a:xfrm>
            <a:off x="914400" y="4800600"/>
            <a:ext cx="10332720" cy="109728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Watch out: </a:t>
            </a:r>
            <a:pPr indent="0" marL="0">
              <a:buNone/>
            </a:pPr>
            <a:r>
              <a:rPr lang="en-US" sz="2400" b="1" dirty="0">
                <a:solidFill>
                  <a:srgbClr val="F5F5F3"/>
                </a:solidFill>
                <a:latin typeface="Consolas" pitchFamily="34" charset="0"/>
                <a:ea typeface="Consolas" pitchFamily="34" charset="-122"/>
                <a:cs typeface="Consolas" pitchFamily="34" charset="-120"/>
              </a:rPr>
              <a:t>5 &gt; 5</a:t>
            </a:r>
            <a:pPr indent="0" marL="0">
              <a:buNone/>
            </a:pPr>
            <a:r>
              <a:rPr lang="en-US" sz="2400" dirty="0">
                <a:solidFill>
                  <a:srgbClr val="F5F5F3"/>
                </a:solidFill>
                <a:latin typeface="Calibri" pitchFamily="34" charset="0"/>
                <a:ea typeface="Calibri" pitchFamily="34" charset="-122"/>
                <a:cs typeface="Calibri" pitchFamily="34" charset="-120"/>
              </a:rPr>
              <a:t> is False, but </a:t>
            </a:r>
            <a:pPr indent="0" marL="0">
              <a:buNone/>
            </a:pPr>
            <a:r>
              <a:rPr lang="en-US" sz="2400" b="1" dirty="0">
                <a:solidFill>
                  <a:srgbClr val="F5F5F3"/>
                </a:solidFill>
                <a:latin typeface="Consolas" pitchFamily="34" charset="0"/>
                <a:ea typeface="Consolas" pitchFamily="34" charset="-122"/>
                <a:cs typeface="Consolas" pitchFamily="34" charset="-120"/>
              </a:rPr>
              <a:t>4 &gt;= 4</a:t>
            </a:r>
            <a:pPr indent="0" marL="0">
              <a:buNone/>
            </a:pPr>
            <a:r>
              <a:rPr lang="en-US" sz="2400" dirty="0">
                <a:solidFill>
                  <a:srgbClr val="F5F5F3"/>
                </a:solidFill>
                <a:latin typeface="Calibri" pitchFamily="34" charset="0"/>
                <a:ea typeface="Calibri" pitchFamily="34" charset="-122"/>
                <a:cs typeface="Calibri" pitchFamily="34" charset="-120"/>
              </a:rPr>
              <a:t> is True. The = in &gt;= lets it be equal.</a:t>
            </a:r>
            <a:endParaRPr lang="en-US" sz="2400" dirty="0"/>
          </a:p>
        </p:txBody>
      </p:sp>
      <p:pic>
        <p:nvPicPr>
          <p:cNvPr id="43" name="Image 1" descr="Feedback">    </p:cNvPr>
          <p:cNvPicPr>
            <a:picLocks noChangeAspect="1"/>
          </p:cNvPicPr>
          <p:nvPr/>
        </p:nvPicPr>
        <p:blipFill>
          <a:blip r:embed="rId2"/>
          <a:stretch>
            <a:fillRect/>
          </a:stretch>
        </p:blipFill>
        <p:spPr>
          <a:xfrm>
            <a:off x="10972800" y="384048"/>
            <a:ext cx="731520" cy="731520"/>
          </a:xfrm>
          <a:prstGeom prst="rect">
            <a:avLst/>
          </a:prstGeom>
        </p:spPr>
      </p:pic>
      <p:sp>
        <p:nvSpPr>
          <p:cNvPr id="44"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if and else</a:t>
            </a:r>
            <a:endParaRPr lang="en-US" sz="3600" dirty="0"/>
          </a:p>
        </p:txBody>
      </p:sp>
      <p:sp>
        <p:nvSpPr>
          <p:cNvPr id="5" name="code"/>
          <p:cNvSpPr/>
          <p:nvPr/>
        </p:nvSpPr>
        <p:spPr>
          <a:xfrm>
            <a:off x="548640" y="1600200"/>
            <a:ext cx="5669280" cy="3511296"/>
          </a:xfrm>
          <a:prstGeom prst="roundRect">
            <a:avLst>
              <a:gd name="adj" fmla="val 2083"/>
            </a:avLst>
          </a:prstGeom>
          <a:solidFill>
            <a:srgbClr val="111115"/>
          </a:solidFill>
          <a:ln w="15875">
            <a:solidFill>
              <a:srgbClr val="3A3A44"/>
            </a:solidFill>
            <a:prstDash val="solid"/>
          </a:ln>
        </p:spPr>
      </p:sp>
      <p:sp>
        <p:nvSpPr>
          <p:cNvPr id="6" name="Text 3"/>
          <p:cNvSpPr txBox="1"/>
          <p:nvPr/>
        </p:nvSpPr>
        <p:spPr>
          <a:xfrm>
            <a:off x="658368" y="1801368"/>
            <a:ext cx="274320" cy="777240"/>
          </a:xfrm>
          <a:prstGeom prst="rect">
            <a:avLst/>
          </a:prstGeom>
          <a:noFill/>
          <a:ln/>
        </p:spPr>
        <p:txBody>
          <a:bodyPr wrap="square" lIns="0" tIns="0" rIns="0" bIns="0" rtlCol="0" anchor="ctr"/>
          <a:lstStyle/>
          <a:p>
            <a:pPr algn="r" indent="0" marL="0">
              <a:buNone/>
            </a:pPr>
            <a:r>
              <a:rPr lang="en-US" sz="2400" dirty="0">
                <a:solidFill>
                  <a:srgbClr val="6E6E7A"/>
                </a:solidFill>
                <a:latin typeface="Consolas" pitchFamily="34" charset="0"/>
                <a:ea typeface="Consolas" pitchFamily="34" charset="-122"/>
                <a:cs typeface="Consolas" pitchFamily="34" charset="-120"/>
              </a:rPr>
              <a:t>1</a:t>
            </a:r>
            <a:endParaRPr lang="en-US" sz="2400" dirty="0"/>
          </a:p>
        </p:txBody>
      </p:sp>
      <p:sp>
        <p:nvSpPr>
          <p:cNvPr id="7" name="Text 4"/>
          <p:cNvSpPr txBox="1"/>
          <p:nvPr/>
        </p:nvSpPr>
        <p:spPr>
          <a:xfrm>
            <a:off x="1188720" y="1801368"/>
            <a:ext cx="4937760" cy="777240"/>
          </a:xfrm>
          <a:prstGeom prst="rect">
            <a:avLst/>
          </a:prstGeom>
          <a:noFill/>
          <a:ln/>
        </p:spPr>
        <p:txBody>
          <a:bodyPr wrap="square" lIns="0" tIns="0" rIns="0" bIns="0" rtlCol="0" anchor="ctr"/>
          <a:lstStyle/>
          <a:p>
            <a:pPr indent="0" marL="0">
              <a:buNone/>
            </a:pPr>
            <a:r>
              <a:rPr lang="en-US" sz="2800" b="1" dirty="0">
                <a:solidFill>
                  <a:srgbClr val="F5F5F3"/>
                </a:solidFill>
                <a:latin typeface="Consolas" pitchFamily="34" charset="0"/>
                <a:ea typeface="Consolas" pitchFamily="34" charset="-122"/>
                <a:cs typeface="Consolas" pitchFamily="34" charset="-120"/>
              </a:rPr>
              <a:t>if</a:t>
            </a:r>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dirty="0">
                <a:solidFill>
                  <a:srgbClr val="56B4E9"/>
                </a:solidFill>
                <a:latin typeface="Consolas" pitchFamily="34" charset="0"/>
                <a:ea typeface="Consolas" pitchFamily="34" charset="-122"/>
                <a:cs typeface="Consolas" pitchFamily="34" charset="-120"/>
              </a:rPr>
              <a:t>85</a:t>
            </a:r>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b="1" dirty="0">
                <a:solidFill>
                  <a:srgbClr val="F5F5F3"/>
                </a:solidFill>
                <a:latin typeface="Consolas" pitchFamily="34" charset="0"/>
                <a:ea typeface="Consolas" pitchFamily="34" charset="-122"/>
                <a:cs typeface="Consolas" pitchFamily="34" charset="-120"/>
              </a:rPr>
              <a:t>&gt;=</a:t>
            </a:r>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dirty="0">
                <a:solidFill>
                  <a:srgbClr val="56B4E9"/>
                </a:solidFill>
                <a:latin typeface="Consolas" pitchFamily="34" charset="0"/>
                <a:ea typeface="Consolas" pitchFamily="34" charset="-122"/>
                <a:cs typeface="Consolas" pitchFamily="34" charset="-120"/>
              </a:rPr>
              <a:t>50</a:t>
            </a:r>
            <a:pPr indent="0" marL="0">
              <a:buNone/>
            </a:pPr>
            <a:r>
              <a:rPr lang="en-US" sz="2800" dirty="0">
                <a:solidFill>
                  <a:srgbClr val="A9A9B4"/>
                </a:solidFill>
                <a:latin typeface="Consolas" pitchFamily="34" charset="0"/>
                <a:ea typeface="Consolas" pitchFamily="34" charset="-122"/>
                <a:cs typeface="Consolas" pitchFamily="34" charset="-120"/>
              </a:rPr>
              <a:t>:</a:t>
            </a:r>
            <a:endParaRPr lang="en-US" sz="2800" dirty="0"/>
          </a:p>
        </p:txBody>
      </p:sp>
      <p:sp>
        <p:nvSpPr>
          <p:cNvPr id="8" name="Text 5"/>
          <p:cNvSpPr txBox="1"/>
          <p:nvPr/>
        </p:nvSpPr>
        <p:spPr>
          <a:xfrm>
            <a:off x="658368" y="2578608"/>
            <a:ext cx="274320" cy="777240"/>
          </a:xfrm>
          <a:prstGeom prst="rect">
            <a:avLst/>
          </a:prstGeom>
          <a:noFill/>
          <a:ln/>
        </p:spPr>
        <p:txBody>
          <a:bodyPr wrap="square" lIns="0" tIns="0" rIns="0" bIns="0" rtlCol="0" anchor="ctr"/>
          <a:lstStyle/>
          <a:p>
            <a:pPr algn="r" indent="0" marL="0">
              <a:buNone/>
            </a:pPr>
            <a:r>
              <a:rPr lang="en-US" sz="2400" dirty="0">
                <a:solidFill>
                  <a:srgbClr val="6E6E7A"/>
                </a:solidFill>
                <a:latin typeface="Consolas" pitchFamily="34" charset="0"/>
                <a:ea typeface="Consolas" pitchFamily="34" charset="-122"/>
                <a:cs typeface="Consolas" pitchFamily="34" charset="-120"/>
              </a:rPr>
              <a:t>2</a:t>
            </a:r>
            <a:endParaRPr lang="en-US" sz="2400" dirty="0"/>
          </a:p>
        </p:txBody>
      </p:sp>
      <p:sp>
        <p:nvSpPr>
          <p:cNvPr id="9" name="Text 6"/>
          <p:cNvSpPr txBox="1"/>
          <p:nvPr/>
        </p:nvSpPr>
        <p:spPr>
          <a:xfrm>
            <a:off x="1188720" y="2578608"/>
            <a:ext cx="4937760" cy="777240"/>
          </a:xfrm>
          <a:prstGeom prst="rect">
            <a:avLst/>
          </a:prstGeom>
          <a:noFill/>
          <a:ln/>
        </p:spPr>
        <p:txBody>
          <a:bodyPr wrap="square" lIns="0" tIns="0" rIns="0" bIns="0" rtlCol="0" anchor="ctr"/>
          <a:lstStyle/>
          <a:p>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dirty="0">
                <a:solidFill>
                  <a:srgbClr val="E8C878"/>
                </a:solidFill>
                <a:latin typeface="Consolas" pitchFamily="34" charset="0"/>
                <a:ea typeface="Consolas" pitchFamily="34" charset="-122"/>
                <a:cs typeface="Consolas" pitchFamily="34" charset="-120"/>
              </a:rPr>
              <a:t>print</a:t>
            </a:r>
            <a:pPr indent="0" marL="0">
              <a:buNone/>
            </a:pPr>
            <a:r>
              <a:rPr lang="en-US" sz="2800" dirty="0">
                <a:solidFill>
                  <a:srgbClr val="A9A9B4"/>
                </a:solidFill>
                <a:latin typeface="Consolas" pitchFamily="34" charset="0"/>
                <a:ea typeface="Consolas" pitchFamily="34" charset="-122"/>
                <a:cs typeface="Consolas" pitchFamily="34" charset="-120"/>
              </a:rPr>
              <a:t>(</a:t>
            </a:r>
            <a:pPr indent="0" marL="0">
              <a:buNone/>
            </a:pPr>
            <a:r>
              <a:rPr lang="en-US" sz="2800" dirty="0">
                <a:solidFill>
                  <a:srgbClr val="E69F00"/>
                </a:solidFill>
                <a:latin typeface="Consolas" pitchFamily="34" charset="0"/>
                <a:ea typeface="Consolas" pitchFamily="34" charset="-122"/>
                <a:cs typeface="Consolas" pitchFamily="34" charset="-120"/>
              </a:rPr>
              <a:t>"All clear"</a:t>
            </a:r>
            <a:pPr indent="0" marL="0">
              <a:buNone/>
            </a:pPr>
            <a:r>
              <a:rPr lang="en-US" sz="2800" dirty="0">
                <a:solidFill>
                  <a:srgbClr val="A9A9B4"/>
                </a:solidFill>
                <a:latin typeface="Consolas" pitchFamily="34" charset="0"/>
                <a:ea typeface="Consolas" pitchFamily="34" charset="-122"/>
                <a:cs typeface="Consolas" pitchFamily="34" charset="-120"/>
              </a:rPr>
              <a:t>)</a:t>
            </a:r>
            <a:endParaRPr lang="en-US" sz="2800" dirty="0"/>
          </a:p>
        </p:txBody>
      </p:sp>
      <p:sp>
        <p:nvSpPr>
          <p:cNvPr id="10" name="Text 7"/>
          <p:cNvSpPr txBox="1"/>
          <p:nvPr/>
        </p:nvSpPr>
        <p:spPr>
          <a:xfrm>
            <a:off x="658368" y="3355848"/>
            <a:ext cx="274320" cy="777240"/>
          </a:xfrm>
          <a:prstGeom prst="rect">
            <a:avLst/>
          </a:prstGeom>
          <a:noFill/>
          <a:ln/>
        </p:spPr>
        <p:txBody>
          <a:bodyPr wrap="square" lIns="0" tIns="0" rIns="0" bIns="0" rtlCol="0" anchor="ctr"/>
          <a:lstStyle/>
          <a:p>
            <a:pPr algn="r" indent="0" marL="0">
              <a:buNone/>
            </a:pPr>
            <a:r>
              <a:rPr lang="en-US" sz="2400" dirty="0">
                <a:solidFill>
                  <a:srgbClr val="6E6E7A"/>
                </a:solidFill>
                <a:latin typeface="Consolas" pitchFamily="34" charset="0"/>
                <a:ea typeface="Consolas" pitchFamily="34" charset="-122"/>
                <a:cs typeface="Consolas" pitchFamily="34" charset="-120"/>
              </a:rPr>
              <a:t>3</a:t>
            </a:r>
            <a:endParaRPr lang="en-US" sz="2400" dirty="0"/>
          </a:p>
        </p:txBody>
      </p:sp>
      <p:sp>
        <p:nvSpPr>
          <p:cNvPr id="11" name="Text 8"/>
          <p:cNvSpPr txBox="1"/>
          <p:nvPr/>
        </p:nvSpPr>
        <p:spPr>
          <a:xfrm>
            <a:off x="1188720" y="3355848"/>
            <a:ext cx="4937760" cy="777240"/>
          </a:xfrm>
          <a:prstGeom prst="rect">
            <a:avLst/>
          </a:prstGeom>
          <a:noFill/>
          <a:ln/>
        </p:spPr>
        <p:txBody>
          <a:bodyPr wrap="square" lIns="0" tIns="0" rIns="0" bIns="0" rtlCol="0" anchor="ctr"/>
          <a:lstStyle/>
          <a:p>
            <a:pPr indent="0" marL="0">
              <a:buNone/>
            </a:pPr>
            <a:r>
              <a:rPr lang="en-US" sz="2800" b="1" dirty="0">
                <a:solidFill>
                  <a:srgbClr val="F5F5F3"/>
                </a:solidFill>
                <a:latin typeface="Consolas" pitchFamily="34" charset="0"/>
                <a:ea typeface="Consolas" pitchFamily="34" charset="-122"/>
                <a:cs typeface="Consolas" pitchFamily="34" charset="-120"/>
              </a:rPr>
              <a:t>else</a:t>
            </a:r>
            <a:pPr indent="0" marL="0">
              <a:buNone/>
            </a:pPr>
            <a:r>
              <a:rPr lang="en-US" sz="2800" dirty="0">
                <a:solidFill>
                  <a:srgbClr val="A9A9B4"/>
                </a:solidFill>
                <a:latin typeface="Consolas" pitchFamily="34" charset="0"/>
                <a:ea typeface="Consolas" pitchFamily="34" charset="-122"/>
                <a:cs typeface="Consolas" pitchFamily="34" charset="-120"/>
              </a:rPr>
              <a:t>:</a:t>
            </a:r>
            <a:endParaRPr lang="en-US" sz="2800" dirty="0"/>
          </a:p>
        </p:txBody>
      </p:sp>
      <p:sp>
        <p:nvSpPr>
          <p:cNvPr id="12" name="Text 9"/>
          <p:cNvSpPr txBox="1"/>
          <p:nvPr/>
        </p:nvSpPr>
        <p:spPr>
          <a:xfrm>
            <a:off x="658368" y="4133088"/>
            <a:ext cx="274320" cy="777240"/>
          </a:xfrm>
          <a:prstGeom prst="rect">
            <a:avLst/>
          </a:prstGeom>
          <a:noFill/>
          <a:ln/>
        </p:spPr>
        <p:txBody>
          <a:bodyPr wrap="square" lIns="0" tIns="0" rIns="0" bIns="0" rtlCol="0" anchor="ctr"/>
          <a:lstStyle/>
          <a:p>
            <a:pPr algn="r" indent="0" marL="0">
              <a:buNone/>
            </a:pPr>
            <a:r>
              <a:rPr lang="en-US" sz="2400" dirty="0">
                <a:solidFill>
                  <a:srgbClr val="6E6E7A"/>
                </a:solidFill>
                <a:latin typeface="Consolas" pitchFamily="34" charset="0"/>
                <a:ea typeface="Consolas" pitchFamily="34" charset="-122"/>
                <a:cs typeface="Consolas" pitchFamily="34" charset="-120"/>
              </a:rPr>
              <a:t>4</a:t>
            </a:r>
            <a:endParaRPr lang="en-US" sz="2400" dirty="0"/>
          </a:p>
        </p:txBody>
      </p:sp>
      <p:sp>
        <p:nvSpPr>
          <p:cNvPr id="13" name="Text 10"/>
          <p:cNvSpPr txBox="1"/>
          <p:nvPr/>
        </p:nvSpPr>
        <p:spPr>
          <a:xfrm>
            <a:off x="1188720" y="4133088"/>
            <a:ext cx="4937760" cy="777240"/>
          </a:xfrm>
          <a:prstGeom prst="rect">
            <a:avLst/>
          </a:prstGeom>
          <a:noFill/>
          <a:ln/>
        </p:spPr>
        <p:txBody>
          <a:bodyPr wrap="square" lIns="0" tIns="0" rIns="0" bIns="0" rtlCol="0" anchor="ctr"/>
          <a:lstStyle/>
          <a:p>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dirty="0">
                <a:solidFill>
                  <a:srgbClr val="E8C878"/>
                </a:solidFill>
                <a:latin typeface="Consolas" pitchFamily="34" charset="0"/>
                <a:ea typeface="Consolas" pitchFamily="34" charset="-122"/>
                <a:cs typeface="Consolas" pitchFamily="34" charset="-120"/>
              </a:rPr>
              <a:t>print</a:t>
            </a:r>
            <a:pPr indent="0" marL="0">
              <a:buNone/>
            </a:pPr>
            <a:r>
              <a:rPr lang="en-US" sz="2800" dirty="0">
                <a:solidFill>
                  <a:srgbClr val="A9A9B4"/>
                </a:solidFill>
                <a:latin typeface="Consolas" pitchFamily="34" charset="0"/>
                <a:ea typeface="Consolas" pitchFamily="34" charset="-122"/>
                <a:cs typeface="Consolas" pitchFamily="34" charset="-120"/>
              </a:rPr>
              <a:t>(</a:t>
            </a:r>
            <a:pPr indent="0" marL="0">
              <a:buNone/>
            </a:pPr>
            <a:r>
              <a:rPr lang="en-US" sz="2800" dirty="0">
                <a:solidFill>
                  <a:srgbClr val="E69F00"/>
                </a:solidFill>
                <a:latin typeface="Consolas" pitchFamily="34" charset="0"/>
                <a:ea typeface="Consolas" pitchFamily="34" charset="-122"/>
                <a:cs typeface="Consolas" pitchFamily="34" charset="-120"/>
              </a:rPr>
              <a:t>"Too close"</a:t>
            </a:r>
            <a:pPr indent="0" marL="0">
              <a:buNone/>
            </a:pPr>
            <a:r>
              <a:rPr lang="en-US" sz="2800" dirty="0">
                <a:solidFill>
                  <a:srgbClr val="A9A9B4"/>
                </a:solidFill>
                <a:latin typeface="Consolas" pitchFamily="34" charset="0"/>
                <a:ea typeface="Consolas" pitchFamily="34" charset="-122"/>
                <a:cs typeface="Consolas" pitchFamily="34" charset="-120"/>
              </a:rPr>
              <a:t>)</a:t>
            </a:r>
            <a:endParaRPr lang="en-US" sz="2800" dirty="0"/>
          </a:p>
        </p:txBody>
      </p:sp>
      <p:sp>
        <p:nvSpPr>
          <p:cNvPr id="14" name="click1"/>
          <p:cNvSpPr/>
          <p:nvPr/>
        </p:nvSpPr>
        <p:spPr>
          <a:xfrm>
            <a:off x="6355080" y="2189988"/>
            <a:ext cx="457200" cy="0"/>
          </a:xfrm>
          <a:prstGeom prst="line">
            <a:avLst/>
          </a:prstGeom>
          <a:noFill/>
          <a:ln w="28575">
            <a:solidFill>
              <a:srgbClr val="6E6E7A"/>
            </a:solidFill>
            <a:prstDash val="solid"/>
            <a:tailEnd type="triangle"/>
          </a:ln>
        </p:spPr>
      </p:sp>
      <p:sp>
        <p:nvSpPr>
          <p:cNvPr id="15" name="click1"/>
          <p:cNvSpPr txBox="1"/>
          <p:nvPr/>
        </p:nvSpPr>
        <p:spPr>
          <a:xfrm>
            <a:off x="6949440" y="1824228"/>
            <a:ext cx="4663440" cy="7315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if</a:t>
            </a:r>
            <a:pPr indent="0" marL="0">
              <a:buNone/>
            </a:pPr>
            <a:r>
              <a:rPr lang="en-US" sz="2200" dirty="0">
                <a:solidFill>
                  <a:srgbClr val="F5F5F3"/>
                </a:solidFill>
                <a:latin typeface="Calibri" pitchFamily="34" charset="0"/>
                <a:ea typeface="Calibri" pitchFamily="34" charset="-122"/>
                <a:cs typeface="Calibri" pitchFamily="34" charset="-120"/>
              </a:rPr>
              <a:t> + a condition + a colon </a:t>
            </a:r>
            <a:pPr indent="0" marL="0">
              <a:buNone/>
            </a:pPr>
            <a:r>
              <a:rPr lang="en-US" sz="2200" b="1" dirty="0">
                <a:solidFill>
                  <a:srgbClr val="D8A73D"/>
                </a:solidFill>
                <a:latin typeface="Consolas" pitchFamily="34" charset="0"/>
                <a:ea typeface="Consolas" pitchFamily="34" charset="-122"/>
                <a:cs typeface="Consolas" pitchFamily="34" charset="-120"/>
              </a:rPr>
              <a:t>:</a:t>
            </a:r>
            <a:endParaRPr lang="en-US" sz="2200" dirty="0"/>
          </a:p>
        </p:txBody>
      </p:sp>
      <p:sp>
        <p:nvSpPr>
          <p:cNvPr id="16" name="click2"/>
          <p:cNvSpPr/>
          <p:nvPr/>
        </p:nvSpPr>
        <p:spPr>
          <a:xfrm>
            <a:off x="6355080" y="2967228"/>
            <a:ext cx="457200" cy="0"/>
          </a:xfrm>
          <a:prstGeom prst="line">
            <a:avLst/>
          </a:prstGeom>
          <a:noFill/>
          <a:ln w="28575">
            <a:solidFill>
              <a:srgbClr val="6E6E7A"/>
            </a:solidFill>
            <a:prstDash val="solid"/>
            <a:tailEnd type="triangle"/>
          </a:ln>
        </p:spPr>
      </p:sp>
      <p:sp>
        <p:nvSpPr>
          <p:cNvPr id="17" name="click2"/>
          <p:cNvSpPr txBox="1"/>
          <p:nvPr/>
        </p:nvSpPr>
        <p:spPr>
          <a:xfrm>
            <a:off x="6949440" y="2601468"/>
            <a:ext cx="4663440" cy="73152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Indented 4 spaces: </a:t>
            </a:r>
            <a:pPr indent="0" marL="0">
              <a:buNone/>
            </a:pPr>
            <a:r>
              <a:rPr lang="en-US" sz="2200" b="1" dirty="0">
                <a:solidFill>
                  <a:srgbClr val="7FD99A"/>
                </a:solidFill>
                <a:latin typeface="Calibri" pitchFamily="34" charset="0"/>
                <a:ea typeface="Calibri" pitchFamily="34" charset="-122"/>
                <a:cs typeface="Calibri" pitchFamily="34" charset="-120"/>
              </a:rPr>
              <a:t>runs only if True</a:t>
            </a:r>
            <a:endParaRPr lang="en-US" sz="2200" dirty="0"/>
          </a:p>
        </p:txBody>
      </p:sp>
      <p:sp>
        <p:nvSpPr>
          <p:cNvPr id="18" name="click3"/>
          <p:cNvSpPr/>
          <p:nvPr/>
        </p:nvSpPr>
        <p:spPr>
          <a:xfrm>
            <a:off x="6355080" y="3744468"/>
            <a:ext cx="457200" cy="0"/>
          </a:xfrm>
          <a:prstGeom prst="line">
            <a:avLst/>
          </a:prstGeom>
          <a:noFill/>
          <a:ln w="28575">
            <a:solidFill>
              <a:srgbClr val="6E6E7A"/>
            </a:solidFill>
            <a:prstDash val="solid"/>
            <a:tailEnd type="triangle"/>
          </a:ln>
        </p:spPr>
      </p:sp>
      <p:sp>
        <p:nvSpPr>
          <p:cNvPr id="19" name="click3"/>
          <p:cNvSpPr txBox="1"/>
          <p:nvPr/>
        </p:nvSpPr>
        <p:spPr>
          <a:xfrm>
            <a:off x="6949440" y="3378708"/>
            <a:ext cx="4663440" cy="7315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else</a:t>
            </a:r>
            <a:pPr indent="0" marL="0">
              <a:buNone/>
            </a:pPr>
            <a:r>
              <a:rPr lang="en-US" sz="2200" dirty="0">
                <a:solidFill>
                  <a:srgbClr val="F5F5F3"/>
                </a:solidFill>
                <a:latin typeface="Calibri" pitchFamily="34" charset="0"/>
                <a:ea typeface="Calibri" pitchFamily="34" charset="-122"/>
                <a:cs typeface="Calibri" pitchFamily="34" charset="-120"/>
              </a:rPr>
              <a:t> has </a:t>
            </a:r>
            <a:pPr indent="0" marL="0">
              <a:buNone/>
            </a:pPr>
            <a:r>
              <a:rPr lang="en-US" sz="2200" b="1" dirty="0">
                <a:solidFill>
                  <a:srgbClr val="F5F5F3"/>
                </a:solidFill>
                <a:latin typeface="Calibri" pitchFamily="34" charset="0"/>
                <a:ea typeface="Calibri" pitchFamily="34" charset="-122"/>
                <a:cs typeface="Calibri" pitchFamily="34" charset="-120"/>
              </a:rPr>
              <a:t>no condition</a:t>
            </a:r>
            <a:pPr indent="0" marL="0">
              <a:buNone/>
            </a:pPr>
            <a:r>
              <a:rPr lang="en-US" sz="2200" dirty="0">
                <a:solidFill>
                  <a:srgbClr val="F5F5F3"/>
                </a:solidFill>
                <a:latin typeface="Calibri" pitchFamily="34" charset="0"/>
                <a:ea typeface="Calibri" pitchFamily="34" charset="-122"/>
                <a:cs typeface="Calibri" pitchFamily="34" charset="-120"/>
              </a:rPr>
              <a:t>, just a colon</a:t>
            </a:r>
            <a:endParaRPr lang="en-US" sz="2200" dirty="0"/>
          </a:p>
        </p:txBody>
      </p:sp>
      <p:sp>
        <p:nvSpPr>
          <p:cNvPr id="20" name="click4"/>
          <p:cNvSpPr/>
          <p:nvPr/>
        </p:nvSpPr>
        <p:spPr>
          <a:xfrm>
            <a:off x="6355080" y="4521708"/>
            <a:ext cx="457200" cy="0"/>
          </a:xfrm>
          <a:prstGeom prst="line">
            <a:avLst/>
          </a:prstGeom>
          <a:noFill/>
          <a:ln w="28575">
            <a:solidFill>
              <a:srgbClr val="6E6E7A"/>
            </a:solidFill>
            <a:prstDash val="solid"/>
            <a:tailEnd type="triangle"/>
          </a:ln>
        </p:spPr>
      </p:sp>
      <p:sp>
        <p:nvSpPr>
          <p:cNvPr id="21" name="click4"/>
          <p:cNvSpPr txBox="1"/>
          <p:nvPr/>
        </p:nvSpPr>
        <p:spPr>
          <a:xfrm>
            <a:off x="6949440" y="4155948"/>
            <a:ext cx="4663440" cy="73152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Indented 4 spaces: </a:t>
            </a:r>
            <a:pPr indent="0" marL="0">
              <a:buNone/>
            </a:pPr>
            <a:r>
              <a:rPr lang="en-US" sz="2200" b="1" dirty="0">
                <a:solidFill>
                  <a:srgbClr val="D8A73D"/>
                </a:solidFill>
                <a:latin typeface="Calibri" pitchFamily="34" charset="0"/>
                <a:ea typeface="Calibri" pitchFamily="34" charset="-122"/>
                <a:cs typeface="Calibri" pitchFamily="34" charset="-120"/>
              </a:rPr>
              <a:t>runs only if False</a:t>
            </a:r>
            <a:endParaRPr lang="en-US" sz="2200" dirty="0"/>
          </a:p>
        </p:txBody>
      </p:sp>
      <p:sp>
        <p:nvSpPr>
          <p:cNvPr id="22" name="click5"/>
          <p:cNvSpPr/>
          <p:nvPr/>
        </p:nvSpPr>
        <p:spPr>
          <a:xfrm>
            <a:off x="548640" y="4983480"/>
            <a:ext cx="11091672" cy="914400"/>
          </a:xfrm>
          <a:prstGeom prst="roundRect">
            <a:avLst>
              <a:gd name="adj" fmla="val 8000"/>
            </a:avLst>
          </a:prstGeom>
          <a:solidFill>
            <a:srgbClr val="1E1E24"/>
          </a:solidFill>
          <a:ln w="25400">
            <a:solidFill>
              <a:srgbClr val="D8A73D"/>
            </a:solidFill>
            <a:prstDash val="solid"/>
          </a:ln>
        </p:spPr>
      </p:sp>
      <p:sp>
        <p:nvSpPr>
          <p:cNvPr id="23" name="click5"/>
          <p:cNvSpPr txBox="1"/>
          <p:nvPr/>
        </p:nvSpPr>
        <p:spPr>
          <a:xfrm>
            <a:off x="914400" y="4983480"/>
            <a:ext cx="10332720" cy="91440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Exactly one block runs: </a:t>
            </a:r>
            <a:pPr indent="0" marL="0">
              <a:buNone/>
            </a:pPr>
            <a:r>
              <a:rPr lang="en-US" sz="2400" dirty="0">
                <a:solidFill>
                  <a:srgbClr val="F5F5F3"/>
                </a:solidFill>
                <a:latin typeface="Calibri" pitchFamily="34" charset="0"/>
                <a:ea typeface="Calibri" pitchFamily="34" charset="-122"/>
                <a:cs typeface="Calibri" pitchFamily="34" charset="-120"/>
              </a:rPr>
              <a:t>never both, never neither.</a:t>
            </a:r>
            <a:endParaRPr lang="en-US" sz="2400" dirty="0"/>
          </a:p>
        </p:txBody>
      </p:sp>
      <p:pic>
        <p:nvPicPr>
          <p:cNvPr id="24"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txBox="1"/>
          <p:nvPr/>
        </p:nvSpPr>
        <p:spPr>
          <a:xfrm>
            <a:off x="548640" y="548640"/>
            <a:ext cx="73152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THE STORY SO FAR</a:t>
            </a:r>
            <a:endParaRPr lang="en-US" sz="1400" dirty="0"/>
          </a:p>
        </p:txBody>
      </p:sp>
      <p:sp>
        <p:nvSpPr>
          <p:cNvPr id="5" name="Text 2"/>
          <p:cNvSpPr txBox="1"/>
          <p:nvPr/>
        </p:nvSpPr>
        <p:spPr>
          <a:xfrm>
            <a:off x="548640" y="914400"/>
            <a:ext cx="91440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Proximity</a:t>
            </a:r>
            <a:endParaRPr lang="en-US" sz="4800" dirty="0"/>
          </a:p>
        </p:txBody>
      </p:sp>
      <p:sp>
        <p:nvSpPr>
          <p:cNvPr id="6" name="terminal"/>
          <p:cNvSpPr/>
          <p:nvPr/>
        </p:nvSpPr>
        <p:spPr>
          <a:xfrm>
            <a:off x="548640" y="2148840"/>
            <a:ext cx="11091672" cy="3063240"/>
          </a:xfrm>
          <a:prstGeom prst="roundRect">
            <a:avLst>
              <a:gd name="adj" fmla="val 2388"/>
            </a:avLst>
          </a:prstGeom>
          <a:solidFill>
            <a:srgbClr val="0D1310"/>
          </a:solidFill>
          <a:ln w="15875">
            <a:solidFill>
              <a:srgbClr val="2C4434"/>
            </a:solidFill>
            <a:prstDash val="solid"/>
          </a:ln>
        </p:spPr>
      </p:sp>
      <p:sp>
        <p:nvSpPr>
          <p:cNvPr id="7" name="Text 4"/>
          <p:cNvSpPr txBox="1"/>
          <p:nvPr/>
        </p:nvSpPr>
        <p:spPr>
          <a:xfrm>
            <a:off x="777240" y="2331720"/>
            <a:ext cx="10634472"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SENSOR OPS</a:t>
            </a:r>
            <a:endParaRPr lang="en-US" sz="1200" dirty="0"/>
          </a:p>
        </p:txBody>
      </p:sp>
      <p:sp>
        <p:nvSpPr>
          <p:cNvPr id="8" name="Text 5"/>
          <p:cNvSpPr txBox="1"/>
          <p:nvPr/>
        </p:nvSpPr>
        <p:spPr>
          <a:xfrm>
            <a:off x="777240" y="26974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Hale’s tag is walking the station: not human.</a:t>
            </a:r>
            <a:endParaRPr lang="en-US" sz="2600" dirty="0"/>
          </a:p>
        </p:txBody>
      </p:sp>
      <p:sp>
        <p:nvSpPr>
          <p:cNvPr id="9" name="Text 6"/>
          <p:cNvSpPr txBox="1"/>
          <p:nvPr/>
        </p:nvSpPr>
        <p:spPr>
          <a:xfrm>
            <a:off x="777240" y="3154680"/>
            <a:ext cx="10634472" cy="457200"/>
          </a:xfrm>
          <a:prstGeom prst="rect">
            <a:avLst/>
          </a:prstGeom>
          <a:noFill/>
          <a:ln/>
        </p:spPr>
        <p:txBody>
          <a:bodyPr wrap="square" lIns="0" tIns="0" rIns="0" bIns="0" rtlCol="0" anchor="ctr"/>
          <a:lstStyle/>
          <a:p>
            <a:pPr indent="0" marL="0">
              <a:buNone/>
            </a:pPr>
            <a:endParaRPr lang="en-US" sz="2600" dirty="0"/>
          </a:p>
        </p:txBody>
      </p:sp>
      <p:sp>
        <p:nvSpPr>
          <p:cNvPr id="10" name="Text 7"/>
          <p:cNvSpPr txBox="1"/>
          <p:nvPr/>
        </p:nvSpPr>
        <p:spPr>
          <a:xfrm>
            <a:off x="777240" y="36118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It was heading for Sensor Ops. So are you.</a:t>
            </a:r>
            <a:endParaRPr lang="en-US" sz="2600" dirty="0"/>
          </a:p>
        </p:txBody>
      </p:sp>
      <p:sp>
        <p:nvSpPr>
          <p:cNvPr id="11" name="Text 8"/>
          <p:cNvSpPr txBox="1"/>
          <p:nvPr/>
        </p:nvSpPr>
        <p:spPr>
          <a:xfrm>
            <a:off x="777240" y="4069080"/>
            <a:ext cx="10634472" cy="457200"/>
          </a:xfrm>
          <a:prstGeom prst="rect">
            <a:avLst/>
          </a:prstGeom>
          <a:noFill/>
          <a:ln/>
        </p:spPr>
        <p:txBody>
          <a:bodyPr wrap="square" lIns="0" tIns="0" rIns="0" bIns="0" rtlCol="0" anchor="ctr"/>
          <a:lstStyle/>
          <a:p>
            <a:pPr indent="0" marL="0">
              <a:buNone/>
            </a:pPr>
            <a:endParaRPr lang="en-US" sz="2600" dirty="0"/>
          </a:p>
        </p:txBody>
      </p:sp>
      <p:sp>
        <p:nvSpPr>
          <p:cNvPr id="12" name="Text 9"/>
          <p:cNvSpPr txBox="1"/>
          <p:nvPr/>
        </p:nvSpPr>
        <p:spPr>
          <a:xfrm>
            <a:off x="777240" y="45262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The proximity sensors are offline.</a:t>
            </a:r>
            <a:endParaRPr lang="en-US" sz="2600" dirty="0"/>
          </a:p>
        </p:txBody>
      </p:sp>
      <p:pic>
        <p:nvPicPr>
          <p:cNvPr id="13"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5" name="code"/>
          <p:cNvSpPr/>
          <p:nvPr/>
        </p:nvSpPr>
        <p:spPr>
          <a:xfrm>
            <a:off x="548640" y="1554480"/>
            <a:ext cx="4846320" cy="3328416"/>
          </a:xfrm>
          <a:prstGeom prst="roundRect">
            <a:avLst>
              <a:gd name="adj" fmla="val 2198"/>
            </a:avLst>
          </a:prstGeom>
          <a:solidFill>
            <a:srgbClr val="111115"/>
          </a:solidFill>
          <a:ln w="15875">
            <a:solidFill>
              <a:srgbClr val="3A3A44"/>
            </a:solidFill>
            <a:prstDash val="solid"/>
          </a:ln>
        </p:spPr>
      </p:sp>
      <p:sp>
        <p:nvSpPr>
          <p:cNvPr id="6" name="Text 3"/>
          <p:cNvSpPr txBox="1"/>
          <p:nvPr/>
        </p:nvSpPr>
        <p:spPr>
          <a:xfrm>
            <a:off x="658368" y="175564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1</a:t>
            </a:r>
            <a:endParaRPr lang="en-US" sz="2000" dirty="0"/>
          </a:p>
        </p:txBody>
      </p:sp>
      <p:sp>
        <p:nvSpPr>
          <p:cNvPr id="7" name="Text 4"/>
          <p:cNvSpPr txBox="1"/>
          <p:nvPr/>
        </p:nvSpPr>
        <p:spPr>
          <a:xfrm>
            <a:off x="1188720" y="1755648"/>
            <a:ext cx="4114800" cy="731520"/>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if</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30</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b="1" dirty="0">
                <a:solidFill>
                  <a:srgbClr val="F5F5F3"/>
                </a:solidFill>
                <a:latin typeface="Consolas" pitchFamily="34" charset="0"/>
                <a:ea typeface="Consolas" pitchFamily="34" charset="-122"/>
                <a:cs typeface="Consolas" pitchFamily="34" charset="-120"/>
              </a:rPr>
              <a:t>&gt;=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50</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8" name="Text 5"/>
          <p:cNvSpPr txBox="1"/>
          <p:nvPr/>
        </p:nvSpPr>
        <p:spPr>
          <a:xfrm>
            <a:off x="658368" y="248716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2</a:t>
            </a:r>
            <a:endParaRPr lang="en-US" sz="2000" dirty="0"/>
          </a:p>
        </p:txBody>
      </p:sp>
      <p:sp>
        <p:nvSpPr>
          <p:cNvPr id="9" name="Text 6"/>
          <p:cNvSpPr txBox="1"/>
          <p:nvPr/>
        </p:nvSpPr>
        <p:spPr>
          <a:xfrm>
            <a:off x="1188720" y="2487168"/>
            <a:ext cx="4114800" cy="73152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"All clear"</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0" name="Text 7"/>
          <p:cNvSpPr txBox="1"/>
          <p:nvPr/>
        </p:nvSpPr>
        <p:spPr>
          <a:xfrm>
            <a:off x="658368" y="321868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3</a:t>
            </a:r>
            <a:endParaRPr lang="en-US" sz="2000" dirty="0"/>
          </a:p>
        </p:txBody>
      </p:sp>
      <p:sp>
        <p:nvSpPr>
          <p:cNvPr id="11" name="Text 8"/>
          <p:cNvSpPr txBox="1"/>
          <p:nvPr/>
        </p:nvSpPr>
        <p:spPr>
          <a:xfrm>
            <a:off x="1188720" y="3218688"/>
            <a:ext cx="4114800" cy="731520"/>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else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2" name="Text 9"/>
          <p:cNvSpPr txBox="1"/>
          <p:nvPr/>
        </p:nvSpPr>
        <p:spPr>
          <a:xfrm>
            <a:off x="658368" y="395020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4</a:t>
            </a:r>
            <a:endParaRPr lang="en-US" sz="2000" dirty="0"/>
          </a:p>
        </p:txBody>
      </p:sp>
      <p:sp>
        <p:nvSpPr>
          <p:cNvPr id="13" name="Text 10"/>
          <p:cNvSpPr txBox="1"/>
          <p:nvPr/>
        </p:nvSpPr>
        <p:spPr>
          <a:xfrm>
            <a:off x="1188720" y="3950208"/>
            <a:ext cx="4114800" cy="73152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"Too close"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4" name="click1"/>
          <p:cNvSpPr/>
          <p:nvPr/>
        </p:nvSpPr>
        <p:spPr>
          <a:xfrm>
            <a:off x="5623560" y="1956816"/>
            <a:ext cx="329184" cy="329184"/>
          </a:xfrm>
          <a:prstGeom prst="ellipse">
            <a:avLst/>
          </a:prstGeom>
          <a:solidFill>
            <a:srgbClr val="D8A73D"/>
          </a:solidFill>
          <a:ln/>
        </p:spPr>
      </p:sp>
      <p:sp>
        <p:nvSpPr>
          <p:cNvPr id="15" name="click1"/>
          <p:cNvSpPr txBox="1"/>
          <p:nvPr/>
        </p:nvSpPr>
        <p:spPr>
          <a:xfrm>
            <a:off x="5623560" y="195681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16" name="click1"/>
          <p:cNvSpPr txBox="1"/>
          <p:nvPr/>
        </p:nvSpPr>
        <p:spPr>
          <a:xfrm>
            <a:off x="6053328" y="1755648"/>
            <a:ext cx="1417320" cy="731520"/>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30</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50</a:t>
            </a:r>
            <a:endParaRPr lang="en-US" sz="2200" dirty="0"/>
          </a:p>
        </p:txBody>
      </p:sp>
      <p:sp>
        <p:nvSpPr>
          <p:cNvPr id="17" name="click1"/>
          <p:cNvSpPr/>
          <p:nvPr/>
        </p:nvSpPr>
        <p:spPr>
          <a:xfrm>
            <a:off x="7516368" y="2121408"/>
            <a:ext cx="365760" cy="0"/>
          </a:xfrm>
          <a:prstGeom prst="line">
            <a:avLst/>
          </a:prstGeom>
          <a:noFill/>
          <a:ln w="28575">
            <a:solidFill>
              <a:srgbClr val="A9A9B4"/>
            </a:solidFill>
            <a:prstDash val="solid"/>
            <a:tailEnd type="triangle"/>
          </a:ln>
        </p:spPr>
      </p:sp>
      <p:sp>
        <p:nvSpPr>
          <p:cNvPr id="18" name="click1"/>
          <p:cNvSpPr/>
          <p:nvPr/>
        </p:nvSpPr>
        <p:spPr>
          <a:xfrm>
            <a:off x="7973568" y="1819656"/>
            <a:ext cx="868680" cy="603504"/>
          </a:xfrm>
          <a:prstGeom prst="roundRect">
            <a:avLst>
              <a:gd name="adj" fmla="val 12121"/>
            </a:avLst>
          </a:prstGeom>
          <a:solidFill>
            <a:srgbClr val="1E1E24"/>
          </a:solidFill>
          <a:ln w="19050">
            <a:solidFill>
              <a:srgbClr val="A9A9B4"/>
            </a:solidFill>
            <a:prstDash val="solid"/>
          </a:ln>
        </p:spPr>
      </p:sp>
      <p:sp>
        <p:nvSpPr>
          <p:cNvPr id="19" name="click1"/>
          <p:cNvSpPr txBox="1"/>
          <p:nvPr/>
        </p:nvSpPr>
        <p:spPr>
          <a:xfrm>
            <a:off x="7973568" y="1819656"/>
            <a:ext cx="868680" cy="603504"/>
          </a:xfrm>
          <a:prstGeom prst="rect">
            <a:avLst/>
          </a:prstGeom>
          <a:noFill/>
          <a:ln/>
        </p:spPr>
        <p:txBody>
          <a:bodyPr wrap="square" lIns="0" tIns="0" rIns="0" bIns="0" rtlCol="0" anchor="ctr"/>
          <a:lstStyle/>
          <a:p>
            <a:pPr algn="ctr" indent="0" marL="0">
              <a:buNone/>
            </a:pPr>
            <a:r>
              <a:rPr lang="en-US" sz="2000" b="1" dirty="0">
                <a:solidFill>
                  <a:srgbClr val="F5F5F3"/>
                </a:solidFill>
                <a:latin typeface="Consolas" pitchFamily="34" charset="0"/>
                <a:ea typeface="Consolas" pitchFamily="34" charset="-122"/>
                <a:cs typeface="Consolas" pitchFamily="34" charset="-120"/>
              </a:rPr>
              <a:t>False</a:t>
            </a:r>
            <a:endParaRPr lang="en-US" sz="2000" dirty="0"/>
          </a:p>
        </p:txBody>
      </p:sp>
      <p:sp>
        <p:nvSpPr>
          <p:cNvPr id="20" name="click2"/>
          <p:cNvSpPr/>
          <p:nvPr/>
        </p:nvSpPr>
        <p:spPr>
          <a:xfrm>
            <a:off x="5623560" y="2688336"/>
            <a:ext cx="329184" cy="329184"/>
          </a:xfrm>
          <a:prstGeom prst="ellipse">
            <a:avLst/>
          </a:prstGeom>
          <a:solidFill>
            <a:srgbClr val="D8A73D"/>
          </a:solidFill>
          <a:ln/>
        </p:spPr>
      </p:sp>
      <p:sp>
        <p:nvSpPr>
          <p:cNvPr id="21" name="click2"/>
          <p:cNvSpPr txBox="1"/>
          <p:nvPr/>
        </p:nvSpPr>
        <p:spPr>
          <a:xfrm>
            <a:off x="5623560" y="268833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2" name="click2"/>
          <p:cNvSpPr txBox="1"/>
          <p:nvPr/>
        </p:nvSpPr>
        <p:spPr>
          <a:xfrm>
            <a:off x="6053328" y="3950208"/>
            <a:ext cx="2651760" cy="731520"/>
          </a:xfrm>
          <a:prstGeom prst="rect">
            <a:avLst/>
          </a:prstGeom>
          <a:noFill/>
          <a:ln/>
        </p:spPr>
        <p:txBody>
          <a:bodyPr wrap="square" lIns="0" tIns="0" rIns="0" bIns="0" rtlCol="0" anchor="ctr"/>
          <a:lstStyle/>
          <a:p>
            <a:pPr indent="0" marL="0">
              <a:buNone/>
            </a:pPr>
            <a:r>
              <a:rPr lang="en-US" sz="2000" b="1" dirty="0">
                <a:solidFill>
                  <a:srgbClr val="7FD99A"/>
                </a:solidFill>
                <a:latin typeface="Calibri" pitchFamily="34" charset="0"/>
                <a:ea typeface="Calibri" pitchFamily="34" charset="-122"/>
                <a:cs typeface="Calibri" pitchFamily="34" charset="-120"/>
              </a:rPr>
              <a:t>✓ runs</a:t>
            </a:r>
            <a:endParaRPr lang="en-US" sz="2000" dirty="0"/>
          </a:p>
        </p:txBody>
      </p:sp>
      <p:sp>
        <p:nvSpPr>
          <p:cNvPr id="23" name="click2"/>
          <p:cNvSpPr txBox="1"/>
          <p:nvPr/>
        </p:nvSpPr>
        <p:spPr>
          <a:xfrm>
            <a:off x="6053328" y="2487168"/>
            <a:ext cx="2651760" cy="731520"/>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24" name="click3"/>
          <p:cNvSpPr/>
          <p:nvPr/>
        </p:nvSpPr>
        <p:spPr>
          <a:xfrm>
            <a:off x="9098280" y="1554480"/>
            <a:ext cx="329184" cy="329184"/>
          </a:xfrm>
          <a:prstGeom prst="ellipse">
            <a:avLst/>
          </a:prstGeom>
          <a:solidFill>
            <a:srgbClr val="D8A73D"/>
          </a:solidFill>
          <a:ln/>
        </p:spPr>
      </p:sp>
      <p:sp>
        <p:nvSpPr>
          <p:cNvPr id="25" name="click3"/>
          <p:cNvSpPr txBox="1"/>
          <p:nvPr/>
        </p:nvSpPr>
        <p:spPr>
          <a:xfrm>
            <a:off x="9098280" y="155448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6" name="click3"/>
          <p:cNvSpPr txBox="1"/>
          <p:nvPr/>
        </p:nvSpPr>
        <p:spPr>
          <a:xfrm>
            <a:off x="9555480" y="1554480"/>
            <a:ext cx="2084832" cy="329184"/>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WHAT IS PRINTED</a:t>
            </a:r>
            <a:endParaRPr lang="en-US" sz="1300" dirty="0"/>
          </a:p>
        </p:txBody>
      </p:sp>
      <p:sp>
        <p:nvSpPr>
          <p:cNvPr id="27" name="click3 · terminal"/>
          <p:cNvSpPr/>
          <p:nvPr/>
        </p:nvSpPr>
        <p:spPr>
          <a:xfrm>
            <a:off x="9098280" y="2011680"/>
            <a:ext cx="2542032" cy="863600"/>
          </a:xfrm>
          <a:prstGeom prst="roundRect">
            <a:avLst>
              <a:gd name="adj" fmla="val 8471"/>
            </a:avLst>
          </a:prstGeom>
          <a:solidFill>
            <a:srgbClr val="0A0A0D"/>
          </a:solidFill>
          <a:ln w="15875">
            <a:solidFill>
              <a:srgbClr val="3A3A44"/>
            </a:solidFill>
            <a:prstDash val="solid"/>
          </a:ln>
        </p:spPr>
      </p:sp>
      <p:sp>
        <p:nvSpPr>
          <p:cNvPr id="28" name="click3"/>
          <p:cNvSpPr txBox="1"/>
          <p:nvPr/>
        </p:nvSpPr>
        <p:spPr>
          <a:xfrm>
            <a:off x="9326880" y="22402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Too close</a:t>
            </a:r>
            <a:endParaRPr lang="en-US" sz="2000" dirty="0"/>
          </a:p>
        </p:txBody>
      </p:sp>
      <p:sp>
        <p:nvSpPr>
          <p:cNvPr id="29" name="Shape 26"/>
          <p:cNvSpPr/>
          <p:nvPr/>
        </p:nvSpPr>
        <p:spPr>
          <a:xfrm>
            <a:off x="548640" y="5559552"/>
            <a:ext cx="11091672" cy="566928"/>
          </a:xfrm>
          <a:prstGeom prst="roundRect">
            <a:avLst>
              <a:gd name="adj" fmla="val 12903"/>
            </a:avLst>
          </a:prstGeom>
          <a:solidFill>
            <a:srgbClr val="2A2A32"/>
          </a:solidFill>
          <a:ln/>
        </p:spPr>
      </p:sp>
      <p:sp>
        <p:nvSpPr>
          <p:cNvPr id="30" name="Shape 27"/>
          <p:cNvSpPr/>
          <p:nvPr/>
        </p:nvSpPr>
        <p:spPr>
          <a:xfrm>
            <a:off x="731520" y="5678424"/>
            <a:ext cx="329184" cy="329184"/>
          </a:xfrm>
          <a:prstGeom prst="ellipse">
            <a:avLst/>
          </a:prstGeom>
          <a:solidFill>
            <a:srgbClr val="D8A73D"/>
          </a:solidFill>
          <a:ln/>
        </p:spPr>
      </p:sp>
      <p:sp>
        <p:nvSpPr>
          <p:cNvPr id="31" name="Text 28"/>
          <p:cNvSpPr txBox="1"/>
          <p:nvPr/>
        </p:nvSpPr>
        <p:spPr>
          <a:xfrm>
            <a:off x="731520"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32" name="Text 29"/>
          <p:cNvSpPr txBox="1"/>
          <p:nvPr/>
        </p:nvSpPr>
        <p:spPr>
          <a:xfrm>
            <a:off x="1170432" y="5559552"/>
            <a:ext cx="3011424"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or False?</a:t>
            </a:r>
            <a:endParaRPr lang="en-US" sz="1800" dirty="0"/>
          </a:p>
        </p:txBody>
      </p:sp>
      <p:sp>
        <p:nvSpPr>
          <p:cNvPr id="33" name="Shape 30"/>
          <p:cNvSpPr/>
          <p:nvPr/>
        </p:nvSpPr>
        <p:spPr>
          <a:xfrm>
            <a:off x="4428744" y="5678424"/>
            <a:ext cx="329184" cy="329184"/>
          </a:xfrm>
          <a:prstGeom prst="ellipse">
            <a:avLst/>
          </a:prstGeom>
          <a:solidFill>
            <a:srgbClr val="D8A73D"/>
          </a:solidFill>
          <a:ln/>
        </p:spPr>
      </p:sp>
      <p:sp>
        <p:nvSpPr>
          <p:cNvPr id="34" name="Text 31"/>
          <p:cNvSpPr txBox="1"/>
          <p:nvPr/>
        </p:nvSpPr>
        <p:spPr>
          <a:xfrm>
            <a:off x="4428744"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35" name="Text 32"/>
          <p:cNvSpPr txBox="1"/>
          <p:nvPr/>
        </p:nvSpPr>
        <p:spPr>
          <a:xfrm>
            <a:off x="4867656" y="5559552"/>
            <a:ext cx="3011424"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Which lines run?</a:t>
            </a:r>
            <a:endParaRPr lang="en-US" sz="1800" dirty="0"/>
          </a:p>
        </p:txBody>
      </p:sp>
      <p:sp>
        <p:nvSpPr>
          <p:cNvPr id="36" name="Shape 33"/>
          <p:cNvSpPr/>
          <p:nvPr/>
        </p:nvSpPr>
        <p:spPr>
          <a:xfrm>
            <a:off x="8125968" y="5678424"/>
            <a:ext cx="329184" cy="329184"/>
          </a:xfrm>
          <a:prstGeom prst="ellipse">
            <a:avLst/>
          </a:prstGeom>
          <a:solidFill>
            <a:srgbClr val="D8A73D"/>
          </a:solidFill>
          <a:ln/>
        </p:spPr>
      </p:sp>
      <p:sp>
        <p:nvSpPr>
          <p:cNvPr id="37" name="Text 34"/>
          <p:cNvSpPr txBox="1"/>
          <p:nvPr/>
        </p:nvSpPr>
        <p:spPr>
          <a:xfrm>
            <a:off x="8125968"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8" name="Text 35"/>
          <p:cNvSpPr txBox="1"/>
          <p:nvPr/>
        </p:nvSpPr>
        <p:spPr>
          <a:xfrm>
            <a:off x="8564880" y="5559552"/>
            <a:ext cx="3011424"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What is printed?</a:t>
            </a:r>
            <a:endParaRPr lang="en-US" sz="1800" dirty="0"/>
          </a:p>
        </p:txBody>
      </p:sp>
      <p:sp>
        <p:nvSpPr>
          <p:cNvPr id="39" name="Shape 36"/>
          <p:cNvSpPr/>
          <p:nvPr/>
        </p:nvSpPr>
        <p:spPr>
          <a:xfrm>
            <a:off x="9464040" y="566928"/>
            <a:ext cx="1280160" cy="329184"/>
          </a:xfrm>
          <a:prstGeom prst="roundRect">
            <a:avLst>
              <a:gd name="adj" fmla="val 50000"/>
            </a:avLst>
          </a:prstGeom>
          <a:solidFill>
            <a:srgbClr val="D8A73D"/>
          </a:solidFill>
          <a:ln/>
        </p:spPr>
      </p:sp>
      <p:sp>
        <p:nvSpPr>
          <p:cNvPr id="40" name="Text 37"/>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I DO</a:t>
            </a:r>
            <a:endParaRPr lang="en-US" sz="1400" dirty="0"/>
          </a:p>
        </p:txBody>
      </p:sp>
      <p:pic>
        <p:nvPicPr>
          <p:cNvPr id="41"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42"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par>
                                <p:cTn id="48" presetID="10" presetClass="entr" presetSubtype="0" fill="hold"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1" grpId="0" animBg="1"/>
      <p:bldP spid="22" grpId="0" animBg="1"/>
      <p:bldP spid="23" grpId="0" animBg="1"/>
      <p:bldP spid="25" grpId="0" animBg="1"/>
      <p:bldP spid="26"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5" name="code"/>
          <p:cNvSpPr/>
          <p:nvPr/>
        </p:nvSpPr>
        <p:spPr>
          <a:xfrm>
            <a:off x="548640" y="1554480"/>
            <a:ext cx="4846320" cy="3328416"/>
          </a:xfrm>
          <a:prstGeom prst="roundRect">
            <a:avLst>
              <a:gd name="adj" fmla="val 2198"/>
            </a:avLst>
          </a:prstGeom>
          <a:solidFill>
            <a:srgbClr val="111115"/>
          </a:solidFill>
          <a:ln w="15875">
            <a:solidFill>
              <a:srgbClr val="3A3A44"/>
            </a:solidFill>
            <a:prstDash val="solid"/>
          </a:ln>
        </p:spPr>
      </p:sp>
      <p:sp>
        <p:nvSpPr>
          <p:cNvPr id="6" name="Text 3"/>
          <p:cNvSpPr txBox="1"/>
          <p:nvPr/>
        </p:nvSpPr>
        <p:spPr>
          <a:xfrm>
            <a:off x="658368" y="175564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1</a:t>
            </a:r>
            <a:endParaRPr lang="en-US" sz="2000" dirty="0"/>
          </a:p>
        </p:txBody>
      </p:sp>
      <p:sp>
        <p:nvSpPr>
          <p:cNvPr id="7" name="Text 4"/>
          <p:cNvSpPr txBox="1"/>
          <p:nvPr/>
        </p:nvSpPr>
        <p:spPr>
          <a:xfrm>
            <a:off x="1188720" y="1755648"/>
            <a:ext cx="4114800" cy="731520"/>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if</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7</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b="1" dirty="0">
                <a:solidFill>
                  <a:srgbClr val="F5F5F3"/>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7</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8" name="Text 5"/>
          <p:cNvSpPr txBox="1"/>
          <p:nvPr/>
        </p:nvSpPr>
        <p:spPr>
          <a:xfrm>
            <a:off x="658368" y="248716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2</a:t>
            </a:r>
            <a:endParaRPr lang="en-US" sz="2000" dirty="0"/>
          </a:p>
        </p:txBody>
      </p:sp>
      <p:sp>
        <p:nvSpPr>
          <p:cNvPr id="9" name="Text 6"/>
          <p:cNvSpPr txBox="1"/>
          <p:nvPr/>
        </p:nvSpPr>
        <p:spPr>
          <a:xfrm>
            <a:off x="1188720" y="2487168"/>
            <a:ext cx="4114800" cy="73152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"Door open"</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0" name="Text 7"/>
          <p:cNvSpPr txBox="1"/>
          <p:nvPr/>
        </p:nvSpPr>
        <p:spPr>
          <a:xfrm>
            <a:off x="658368" y="321868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3</a:t>
            </a:r>
            <a:endParaRPr lang="en-US" sz="2000" dirty="0"/>
          </a:p>
        </p:txBody>
      </p:sp>
      <p:sp>
        <p:nvSpPr>
          <p:cNvPr id="11" name="Text 8"/>
          <p:cNvSpPr txBox="1"/>
          <p:nvPr/>
        </p:nvSpPr>
        <p:spPr>
          <a:xfrm>
            <a:off x="1188720" y="3218688"/>
            <a:ext cx="4114800" cy="731520"/>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else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2" name="Text 9"/>
          <p:cNvSpPr txBox="1"/>
          <p:nvPr/>
        </p:nvSpPr>
        <p:spPr>
          <a:xfrm>
            <a:off x="658368" y="3950208"/>
            <a:ext cx="274320" cy="731520"/>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4</a:t>
            </a:r>
            <a:endParaRPr lang="en-US" sz="2000" dirty="0"/>
          </a:p>
        </p:txBody>
      </p:sp>
      <p:sp>
        <p:nvSpPr>
          <p:cNvPr id="13" name="Text 10"/>
          <p:cNvSpPr txBox="1"/>
          <p:nvPr/>
        </p:nvSpPr>
        <p:spPr>
          <a:xfrm>
            <a:off x="1188720" y="3950208"/>
            <a:ext cx="4114800" cy="731520"/>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"Door locked"</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4" name="click1"/>
          <p:cNvSpPr/>
          <p:nvPr/>
        </p:nvSpPr>
        <p:spPr>
          <a:xfrm>
            <a:off x="5623560" y="1956816"/>
            <a:ext cx="329184" cy="329184"/>
          </a:xfrm>
          <a:prstGeom prst="ellipse">
            <a:avLst/>
          </a:prstGeom>
          <a:solidFill>
            <a:srgbClr val="D8A73D"/>
          </a:solidFill>
          <a:ln/>
        </p:spPr>
      </p:sp>
      <p:sp>
        <p:nvSpPr>
          <p:cNvPr id="15" name="click1"/>
          <p:cNvSpPr txBox="1"/>
          <p:nvPr/>
        </p:nvSpPr>
        <p:spPr>
          <a:xfrm>
            <a:off x="5623560" y="195681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16" name="click1"/>
          <p:cNvSpPr txBox="1"/>
          <p:nvPr/>
        </p:nvSpPr>
        <p:spPr>
          <a:xfrm>
            <a:off x="6053328" y="1755648"/>
            <a:ext cx="1417320" cy="731520"/>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7</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7</a:t>
            </a:r>
            <a:endParaRPr lang="en-US" sz="2200" dirty="0"/>
          </a:p>
        </p:txBody>
      </p:sp>
      <p:sp>
        <p:nvSpPr>
          <p:cNvPr id="17" name="click1"/>
          <p:cNvSpPr/>
          <p:nvPr/>
        </p:nvSpPr>
        <p:spPr>
          <a:xfrm>
            <a:off x="7516368" y="2121408"/>
            <a:ext cx="365760" cy="0"/>
          </a:xfrm>
          <a:prstGeom prst="line">
            <a:avLst/>
          </a:prstGeom>
          <a:noFill/>
          <a:ln w="28575">
            <a:solidFill>
              <a:srgbClr val="A9A9B4"/>
            </a:solidFill>
            <a:prstDash val="solid"/>
            <a:tailEnd type="triangle"/>
          </a:ln>
        </p:spPr>
      </p:sp>
      <p:sp>
        <p:nvSpPr>
          <p:cNvPr id="18" name="click1"/>
          <p:cNvSpPr/>
          <p:nvPr/>
        </p:nvSpPr>
        <p:spPr>
          <a:xfrm>
            <a:off x="7973568" y="1819656"/>
            <a:ext cx="868680" cy="603504"/>
          </a:xfrm>
          <a:prstGeom prst="roundRect">
            <a:avLst>
              <a:gd name="adj" fmla="val 12121"/>
            </a:avLst>
          </a:prstGeom>
          <a:solidFill>
            <a:srgbClr val="7FD99A"/>
          </a:solidFill>
          <a:ln/>
        </p:spPr>
      </p:sp>
      <p:sp>
        <p:nvSpPr>
          <p:cNvPr id="19" name="click1"/>
          <p:cNvSpPr txBox="1"/>
          <p:nvPr/>
        </p:nvSpPr>
        <p:spPr>
          <a:xfrm>
            <a:off x="7973568" y="1819656"/>
            <a:ext cx="868680" cy="603504"/>
          </a:xfrm>
          <a:prstGeom prst="rect">
            <a:avLst/>
          </a:prstGeom>
          <a:noFill/>
          <a:ln/>
        </p:spPr>
        <p:txBody>
          <a:bodyPr wrap="square" lIns="0" tIns="0" rIns="0" bIns="0" rtlCol="0" anchor="ctr"/>
          <a:lstStyle/>
          <a:p>
            <a:pPr algn="ctr" indent="0" marL="0">
              <a:buNone/>
            </a:pPr>
            <a:r>
              <a:rPr lang="en-US" sz="2000" b="1" dirty="0">
                <a:solidFill>
                  <a:srgbClr val="111115"/>
                </a:solidFill>
                <a:latin typeface="Consolas" pitchFamily="34" charset="0"/>
                <a:ea typeface="Consolas" pitchFamily="34" charset="-122"/>
                <a:cs typeface="Consolas" pitchFamily="34" charset="-120"/>
              </a:rPr>
              <a:t>True</a:t>
            </a:r>
            <a:endParaRPr lang="en-US" sz="2000" dirty="0"/>
          </a:p>
        </p:txBody>
      </p:sp>
      <p:sp>
        <p:nvSpPr>
          <p:cNvPr id="20" name="click2"/>
          <p:cNvSpPr/>
          <p:nvPr/>
        </p:nvSpPr>
        <p:spPr>
          <a:xfrm>
            <a:off x="5623560" y="2688336"/>
            <a:ext cx="329184" cy="329184"/>
          </a:xfrm>
          <a:prstGeom prst="ellipse">
            <a:avLst/>
          </a:prstGeom>
          <a:solidFill>
            <a:srgbClr val="D8A73D"/>
          </a:solidFill>
          <a:ln/>
        </p:spPr>
      </p:sp>
      <p:sp>
        <p:nvSpPr>
          <p:cNvPr id="21" name="click2"/>
          <p:cNvSpPr txBox="1"/>
          <p:nvPr/>
        </p:nvSpPr>
        <p:spPr>
          <a:xfrm>
            <a:off x="5623560" y="268833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2" name="click2"/>
          <p:cNvSpPr txBox="1"/>
          <p:nvPr/>
        </p:nvSpPr>
        <p:spPr>
          <a:xfrm>
            <a:off x="6053328" y="2487168"/>
            <a:ext cx="2651760" cy="731520"/>
          </a:xfrm>
          <a:prstGeom prst="rect">
            <a:avLst/>
          </a:prstGeom>
          <a:noFill/>
          <a:ln/>
        </p:spPr>
        <p:txBody>
          <a:bodyPr wrap="square" lIns="0" tIns="0" rIns="0" bIns="0" rtlCol="0" anchor="ctr"/>
          <a:lstStyle/>
          <a:p>
            <a:pPr indent="0" marL="0">
              <a:buNone/>
            </a:pPr>
            <a:r>
              <a:rPr lang="en-US" sz="2000" b="1" dirty="0">
                <a:solidFill>
                  <a:srgbClr val="7FD99A"/>
                </a:solidFill>
                <a:latin typeface="Calibri" pitchFamily="34" charset="0"/>
                <a:ea typeface="Calibri" pitchFamily="34" charset="-122"/>
                <a:cs typeface="Calibri" pitchFamily="34" charset="-120"/>
              </a:rPr>
              <a:t>✓ runs</a:t>
            </a:r>
            <a:endParaRPr lang="en-US" sz="2000" dirty="0"/>
          </a:p>
        </p:txBody>
      </p:sp>
      <p:sp>
        <p:nvSpPr>
          <p:cNvPr id="23" name="click2"/>
          <p:cNvSpPr txBox="1"/>
          <p:nvPr/>
        </p:nvSpPr>
        <p:spPr>
          <a:xfrm>
            <a:off x="6053328" y="3950208"/>
            <a:ext cx="2651760" cy="731520"/>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24" name="click3"/>
          <p:cNvSpPr/>
          <p:nvPr/>
        </p:nvSpPr>
        <p:spPr>
          <a:xfrm>
            <a:off x="9098280" y="1554480"/>
            <a:ext cx="329184" cy="329184"/>
          </a:xfrm>
          <a:prstGeom prst="ellipse">
            <a:avLst/>
          </a:prstGeom>
          <a:solidFill>
            <a:srgbClr val="D8A73D"/>
          </a:solidFill>
          <a:ln/>
        </p:spPr>
      </p:sp>
      <p:sp>
        <p:nvSpPr>
          <p:cNvPr id="25" name="click3"/>
          <p:cNvSpPr txBox="1"/>
          <p:nvPr/>
        </p:nvSpPr>
        <p:spPr>
          <a:xfrm>
            <a:off x="9098280" y="155448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6" name="click3"/>
          <p:cNvSpPr txBox="1"/>
          <p:nvPr/>
        </p:nvSpPr>
        <p:spPr>
          <a:xfrm>
            <a:off x="9555480" y="1554480"/>
            <a:ext cx="2084832" cy="329184"/>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WHAT IS PRINTED</a:t>
            </a:r>
            <a:endParaRPr lang="en-US" sz="1300" dirty="0"/>
          </a:p>
        </p:txBody>
      </p:sp>
      <p:sp>
        <p:nvSpPr>
          <p:cNvPr id="27" name="click3 · terminal"/>
          <p:cNvSpPr/>
          <p:nvPr/>
        </p:nvSpPr>
        <p:spPr>
          <a:xfrm>
            <a:off x="9098280" y="2011680"/>
            <a:ext cx="2542032" cy="863600"/>
          </a:xfrm>
          <a:prstGeom prst="roundRect">
            <a:avLst>
              <a:gd name="adj" fmla="val 8471"/>
            </a:avLst>
          </a:prstGeom>
          <a:solidFill>
            <a:srgbClr val="0A0A0D"/>
          </a:solidFill>
          <a:ln w="15875">
            <a:solidFill>
              <a:srgbClr val="3A3A44"/>
            </a:solidFill>
            <a:prstDash val="solid"/>
          </a:ln>
        </p:spPr>
      </p:sp>
      <p:sp>
        <p:nvSpPr>
          <p:cNvPr id="28" name="click3"/>
          <p:cNvSpPr txBox="1"/>
          <p:nvPr/>
        </p:nvSpPr>
        <p:spPr>
          <a:xfrm>
            <a:off x="9326880" y="22402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Door open</a:t>
            </a:r>
            <a:endParaRPr lang="en-US" sz="2000" dirty="0"/>
          </a:p>
        </p:txBody>
      </p:sp>
      <p:sp>
        <p:nvSpPr>
          <p:cNvPr id="29" name="Shape 26"/>
          <p:cNvSpPr/>
          <p:nvPr/>
        </p:nvSpPr>
        <p:spPr>
          <a:xfrm>
            <a:off x="548640" y="5559552"/>
            <a:ext cx="11091672" cy="566928"/>
          </a:xfrm>
          <a:prstGeom prst="roundRect">
            <a:avLst>
              <a:gd name="adj" fmla="val 12903"/>
            </a:avLst>
          </a:prstGeom>
          <a:solidFill>
            <a:srgbClr val="2A2A32"/>
          </a:solidFill>
          <a:ln/>
        </p:spPr>
      </p:sp>
      <p:sp>
        <p:nvSpPr>
          <p:cNvPr id="30" name="Shape 27"/>
          <p:cNvSpPr/>
          <p:nvPr/>
        </p:nvSpPr>
        <p:spPr>
          <a:xfrm>
            <a:off x="731520" y="5678424"/>
            <a:ext cx="329184" cy="329184"/>
          </a:xfrm>
          <a:prstGeom prst="ellipse">
            <a:avLst/>
          </a:prstGeom>
          <a:solidFill>
            <a:srgbClr val="D8A73D"/>
          </a:solidFill>
          <a:ln/>
        </p:spPr>
      </p:sp>
      <p:sp>
        <p:nvSpPr>
          <p:cNvPr id="31" name="Text 28"/>
          <p:cNvSpPr txBox="1"/>
          <p:nvPr/>
        </p:nvSpPr>
        <p:spPr>
          <a:xfrm>
            <a:off x="731520"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32" name="Text 29"/>
          <p:cNvSpPr txBox="1"/>
          <p:nvPr/>
        </p:nvSpPr>
        <p:spPr>
          <a:xfrm>
            <a:off x="1170432" y="5559552"/>
            <a:ext cx="3011424"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or False?</a:t>
            </a:r>
            <a:endParaRPr lang="en-US" sz="1800" dirty="0"/>
          </a:p>
        </p:txBody>
      </p:sp>
      <p:sp>
        <p:nvSpPr>
          <p:cNvPr id="33" name="Shape 30"/>
          <p:cNvSpPr/>
          <p:nvPr/>
        </p:nvSpPr>
        <p:spPr>
          <a:xfrm>
            <a:off x="4428744" y="5678424"/>
            <a:ext cx="329184" cy="329184"/>
          </a:xfrm>
          <a:prstGeom prst="ellipse">
            <a:avLst/>
          </a:prstGeom>
          <a:solidFill>
            <a:srgbClr val="D8A73D"/>
          </a:solidFill>
          <a:ln/>
        </p:spPr>
      </p:sp>
      <p:sp>
        <p:nvSpPr>
          <p:cNvPr id="34" name="Text 31"/>
          <p:cNvSpPr txBox="1"/>
          <p:nvPr/>
        </p:nvSpPr>
        <p:spPr>
          <a:xfrm>
            <a:off x="4428744"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35" name="Text 32"/>
          <p:cNvSpPr txBox="1"/>
          <p:nvPr/>
        </p:nvSpPr>
        <p:spPr>
          <a:xfrm>
            <a:off x="4867656" y="5559552"/>
            <a:ext cx="3011424"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Which lines run?</a:t>
            </a:r>
            <a:endParaRPr lang="en-US" sz="1800" dirty="0"/>
          </a:p>
        </p:txBody>
      </p:sp>
      <p:sp>
        <p:nvSpPr>
          <p:cNvPr id="36" name="Shape 33"/>
          <p:cNvSpPr/>
          <p:nvPr/>
        </p:nvSpPr>
        <p:spPr>
          <a:xfrm>
            <a:off x="8125968" y="5678424"/>
            <a:ext cx="329184" cy="329184"/>
          </a:xfrm>
          <a:prstGeom prst="ellipse">
            <a:avLst/>
          </a:prstGeom>
          <a:solidFill>
            <a:srgbClr val="D8A73D"/>
          </a:solidFill>
          <a:ln/>
        </p:spPr>
      </p:sp>
      <p:sp>
        <p:nvSpPr>
          <p:cNvPr id="37" name="Text 34"/>
          <p:cNvSpPr txBox="1"/>
          <p:nvPr/>
        </p:nvSpPr>
        <p:spPr>
          <a:xfrm>
            <a:off x="8125968"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8" name="Text 35"/>
          <p:cNvSpPr txBox="1"/>
          <p:nvPr/>
        </p:nvSpPr>
        <p:spPr>
          <a:xfrm>
            <a:off x="8564880" y="5559552"/>
            <a:ext cx="3011424"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What is printed?</a:t>
            </a:r>
            <a:endParaRPr lang="en-US" sz="1800" dirty="0"/>
          </a:p>
        </p:txBody>
      </p:sp>
      <p:sp>
        <p:nvSpPr>
          <p:cNvPr id="39" name="Shape 36"/>
          <p:cNvSpPr/>
          <p:nvPr/>
        </p:nvSpPr>
        <p:spPr>
          <a:xfrm>
            <a:off x="9464040" y="566928"/>
            <a:ext cx="1280160" cy="329184"/>
          </a:xfrm>
          <a:prstGeom prst="roundRect">
            <a:avLst>
              <a:gd name="adj" fmla="val 50000"/>
            </a:avLst>
          </a:prstGeom>
          <a:solidFill>
            <a:srgbClr val="D8A73D"/>
          </a:solidFill>
          <a:ln/>
        </p:spPr>
      </p:sp>
      <p:sp>
        <p:nvSpPr>
          <p:cNvPr id="40" name="Text 37"/>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WE DO</a:t>
            </a:r>
            <a:endParaRPr lang="en-US" sz="1400" dirty="0"/>
          </a:p>
        </p:txBody>
      </p:sp>
      <p:pic>
        <p:nvPicPr>
          <p:cNvPr id="41"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
        <p:nvSpPr>
          <p:cNvPr id="42"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par>
                                <p:cTn id="48" presetID="10" presetClass="entr" presetSubtype="0" fill="hold"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1" grpId="0" animBg="1"/>
      <p:bldP spid="22" grpId="0" animBg="1"/>
      <p:bldP spid="23" grpId="0" animBg="1"/>
      <p:bldP spid="25" grpId="0" animBg="1"/>
      <p:bldP spid="26" grpId="0" animBg="1"/>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5" name="Shape 2"/>
          <p:cNvSpPr/>
          <p:nvPr/>
        </p:nvSpPr>
        <p:spPr>
          <a:xfrm>
            <a:off x="548640" y="1508760"/>
            <a:ext cx="384048" cy="384048"/>
          </a:xfrm>
          <a:prstGeom prst="ellipse">
            <a:avLst/>
          </a:prstGeom>
          <a:solidFill>
            <a:srgbClr val="D8A73D"/>
          </a:solidFill>
          <a:ln/>
        </p:spPr>
      </p:sp>
      <p:sp>
        <p:nvSpPr>
          <p:cNvPr id="6" name="Text 3"/>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7" name="code"/>
          <p:cNvSpPr/>
          <p:nvPr/>
        </p:nvSpPr>
        <p:spPr>
          <a:xfrm>
            <a:off x="548640" y="2011680"/>
            <a:ext cx="3511296" cy="2231136"/>
          </a:xfrm>
          <a:prstGeom prst="roundRect">
            <a:avLst>
              <a:gd name="adj" fmla="val 3279"/>
            </a:avLst>
          </a:prstGeom>
          <a:solidFill>
            <a:srgbClr val="111115"/>
          </a:solidFill>
          <a:ln w="15875">
            <a:solidFill>
              <a:srgbClr val="3A3A44"/>
            </a:solidFill>
            <a:prstDash val="solid"/>
          </a:ln>
        </p:spPr>
      </p:sp>
      <p:sp>
        <p:nvSpPr>
          <p:cNvPr id="8" name="Text 5"/>
          <p:cNvSpPr txBox="1"/>
          <p:nvPr/>
        </p:nvSpPr>
        <p:spPr>
          <a:xfrm>
            <a:off x="731520" y="22128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9</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12</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9" name="Text 6"/>
          <p:cNvSpPr txBox="1"/>
          <p:nvPr/>
        </p:nvSpPr>
        <p:spPr>
          <a:xfrm>
            <a:off x="731520" y="26700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"Low"</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0" name="Text 7"/>
          <p:cNvSpPr txBox="1"/>
          <p:nvPr/>
        </p:nvSpPr>
        <p:spPr>
          <a:xfrm>
            <a:off x="731520" y="31272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8"/>
          <p:cNvSpPr txBox="1"/>
          <p:nvPr/>
        </p:nvSpPr>
        <p:spPr>
          <a:xfrm>
            <a:off x="731520"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"High"</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2" name="Shape 9"/>
          <p:cNvSpPr/>
          <p:nvPr/>
        </p:nvSpPr>
        <p:spPr>
          <a:xfrm>
            <a:off x="4334256" y="1508760"/>
            <a:ext cx="384048" cy="384048"/>
          </a:xfrm>
          <a:prstGeom prst="ellipse">
            <a:avLst/>
          </a:prstGeom>
          <a:solidFill>
            <a:srgbClr val="D8A73D"/>
          </a:solidFill>
          <a:ln/>
        </p:spPr>
      </p:sp>
      <p:sp>
        <p:nvSpPr>
          <p:cNvPr id="13" name="Text 10"/>
          <p:cNvSpPr txBox="1"/>
          <p:nvPr/>
        </p:nvSpPr>
        <p:spPr>
          <a:xfrm>
            <a:off x="4334256"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4" name="code"/>
          <p:cNvSpPr/>
          <p:nvPr/>
        </p:nvSpPr>
        <p:spPr>
          <a:xfrm>
            <a:off x="4334256" y="2011680"/>
            <a:ext cx="3511296" cy="2231136"/>
          </a:xfrm>
          <a:prstGeom prst="roundRect">
            <a:avLst>
              <a:gd name="adj" fmla="val 3279"/>
            </a:avLst>
          </a:prstGeom>
          <a:solidFill>
            <a:srgbClr val="111115"/>
          </a:solidFill>
          <a:ln w="15875">
            <a:solidFill>
              <a:srgbClr val="3A3A44"/>
            </a:solidFill>
            <a:prstDash val="solid"/>
          </a:ln>
        </p:spPr>
      </p:sp>
      <p:sp>
        <p:nvSpPr>
          <p:cNvPr id="15" name="Text 12"/>
          <p:cNvSpPr txBox="1"/>
          <p:nvPr/>
        </p:nvSpPr>
        <p:spPr>
          <a:xfrm>
            <a:off x="4517136" y="22128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20</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20</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6" name="Text 13"/>
          <p:cNvSpPr txBox="1"/>
          <p:nvPr/>
        </p:nvSpPr>
        <p:spPr>
          <a:xfrm>
            <a:off x="4517136" y="26700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"Alarm"</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7" name="Text 14"/>
          <p:cNvSpPr txBox="1"/>
          <p:nvPr/>
        </p:nvSpPr>
        <p:spPr>
          <a:xfrm>
            <a:off x="4517136" y="31272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8" name="Text 15"/>
          <p:cNvSpPr txBox="1"/>
          <p:nvPr/>
        </p:nvSpPr>
        <p:spPr>
          <a:xfrm>
            <a:off x="4517136"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"Quiet"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9" name="Shape 16"/>
          <p:cNvSpPr/>
          <p:nvPr/>
        </p:nvSpPr>
        <p:spPr>
          <a:xfrm>
            <a:off x="8119872" y="1508760"/>
            <a:ext cx="384048" cy="384048"/>
          </a:xfrm>
          <a:prstGeom prst="ellipse">
            <a:avLst/>
          </a:prstGeom>
          <a:solidFill>
            <a:srgbClr val="D8A73D"/>
          </a:solidFill>
          <a:ln/>
        </p:spPr>
      </p:sp>
      <p:sp>
        <p:nvSpPr>
          <p:cNvPr id="20" name="Text 17"/>
          <p:cNvSpPr txBox="1"/>
          <p:nvPr/>
        </p:nvSpPr>
        <p:spPr>
          <a:xfrm>
            <a:off x="8119872"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1" name="code"/>
          <p:cNvSpPr/>
          <p:nvPr/>
        </p:nvSpPr>
        <p:spPr>
          <a:xfrm>
            <a:off x="8119872" y="2011680"/>
            <a:ext cx="3511296" cy="2231136"/>
          </a:xfrm>
          <a:prstGeom prst="roundRect">
            <a:avLst>
              <a:gd name="adj" fmla="val 3279"/>
            </a:avLst>
          </a:prstGeom>
          <a:solidFill>
            <a:srgbClr val="111115"/>
          </a:solidFill>
          <a:ln w="15875">
            <a:solidFill>
              <a:srgbClr val="3A3A44"/>
            </a:solidFill>
            <a:prstDash val="solid"/>
          </a:ln>
        </p:spPr>
      </p:sp>
      <p:sp>
        <p:nvSpPr>
          <p:cNvPr id="22" name="Text 19"/>
          <p:cNvSpPr txBox="1"/>
          <p:nvPr/>
        </p:nvSpPr>
        <p:spPr>
          <a:xfrm>
            <a:off x="8302752" y="22128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4</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4</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3" name="Text 20"/>
          <p:cNvSpPr txBox="1"/>
          <p:nvPr/>
        </p:nvSpPr>
        <p:spPr>
          <a:xfrm>
            <a:off x="8302752" y="26700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"Ready"</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4" name="Text 21"/>
          <p:cNvSpPr txBox="1"/>
          <p:nvPr/>
        </p:nvSpPr>
        <p:spPr>
          <a:xfrm>
            <a:off x="8302752" y="31272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5" name="Text 22"/>
          <p:cNvSpPr txBox="1"/>
          <p:nvPr/>
        </p:nvSpPr>
        <p:spPr>
          <a:xfrm>
            <a:off x="8302752"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"Wait"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6" name="Shape 23"/>
          <p:cNvSpPr/>
          <p:nvPr/>
        </p:nvSpPr>
        <p:spPr>
          <a:xfrm>
            <a:off x="548640" y="4562856"/>
            <a:ext cx="11091672" cy="914400"/>
          </a:xfrm>
          <a:prstGeom prst="roundRect">
            <a:avLst>
              <a:gd name="adj" fmla="val 8000"/>
            </a:avLst>
          </a:prstGeom>
          <a:solidFill>
            <a:srgbClr val="1E1E24"/>
          </a:solidFill>
          <a:ln w="25400">
            <a:solidFill>
              <a:srgbClr val="D8A73D"/>
            </a:solidFill>
            <a:prstDash val="solid"/>
          </a:ln>
        </p:spPr>
      </p:sp>
      <p:sp>
        <p:nvSpPr>
          <p:cNvPr id="27" name="Text 24"/>
          <p:cNvSpPr txBox="1"/>
          <p:nvPr/>
        </p:nvSpPr>
        <p:spPr>
          <a:xfrm>
            <a:off x="914400" y="4562856"/>
            <a:ext cx="10332720" cy="91440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On your board: </a:t>
            </a:r>
            <a:pPr indent="0" marL="0">
              <a:buNone/>
            </a:pPr>
            <a:r>
              <a:rPr lang="en-US" sz="2400" dirty="0">
                <a:solidFill>
                  <a:srgbClr val="F5F5F3"/>
                </a:solidFill>
                <a:latin typeface="Calibri" pitchFamily="34" charset="0"/>
                <a:ea typeface="Calibri" pitchFamily="34" charset="-122"/>
                <a:cs typeface="Calibri" pitchFamily="34" charset="-120"/>
              </a:rPr>
              <a:t>write exactly what each program prints.</a:t>
            </a:r>
            <a:endParaRPr lang="en-US" sz="2400" dirty="0"/>
          </a:p>
        </p:txBody>
      </p:sp>
      <p:sp>
        <p:nvSpPr>
          <p:cNvPr id="28" name="Shape 25"/>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29" name="Text 26"/>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4 MIN</a:t>
            </a:r>
            <a:endParaRPr lang="en-US" sz="1400" dirty="0"/>
          </a:p>
        </p:txBody>
      </p:sp>
      <p:sp>
        <p:nvSpPr>
          <p:cNvPr id="30" name="Shape 27"/>
          <p:cNvSpPr/>
          <p:nvPr/>
        </p:nvSpPr>
        <p:spPr>
          <a:xfrm>
            <a:off x="8046720" y="566928"/>
            <a:ext cx="1280160" cy="329184"/>
          </a:xfrm>
          <a:prstGeom prst="roundRect">
            <a:avLst>
              <a:gd name="adj" fmla="val 50000"/>
            </a:avLst>
          </a:prstGeom>
          <a:solidFill>
            <a:srgbClr val="D8A73D"/>
          </a:solidFill>
          <a:ln/>
        </p:spPr>
      </p:sp>
      <p:sp>
        <p:nvSpPr>
          <p:cNvPr id="31" name="Text 28"/>
          <p:cNvSpPr txBox="1"/>
          <p:nvPr/>
        </p:nvSpPr>
        <p:spPr>
          <a:xfrm>
            <a:off x="804672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YOU DO</a:t>
            </a:r>
            <a:endParaRPr lang="en-US" sz="1400" dirty="0"/>
          </a:p>
        </p:txBody>
      </p:sp>
      <p:pic>
        <p:nvPicPr>
          <p:cNvPr id="32"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
        <p:nvSpPr>
          <p:cNvPr id="33"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 — answers</a:t>
            </a:r>
            <a:endParaRPr lang="en-US" sz="3600" dirty="0"/>
          </a:p>
        </p:txBody>
      </p:sp>
      <p:sp>
        <p:nvSpPr>
          <p:cNvPr id="5" name="Shape 2"/>
          <p:cNvSpPr/>
          <p:nvPr/>
        </p:nvSpPr>
        <p:spPr>
          <a:xfrm>
            <a:off x="548640" y="1508760"/>
            <a:ext cx="384048" cy="384048"/>
          </a:xfrm>
          <a:prstGeom prst="ellipse">
            <a:avLst/>
          </a:prstGeom>
          <a:solidFill>
            <a:srgbClr val="D8A73D"/>
          </a:solidFill>
          <a:ln/>
        </p:spPr>
      </p:sp>
      <p:sp>
        <p:nvSpPr>
          <p:cNvPr id="6" name="Text 3"/>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051560"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9 &lt; 12</a:t>
            </a:r>
            <a:pPr indent="0" marL="0">
              <a:buNone/>
            </a:pPr>
            <a:r>
              <a:rPr lang="en-US" sz="1800" dirty="0">
                <a:solidFill>
                  <a:srgbClr val="F5F5F3"/>
                </a:solidFill>
                <a:latin typeface="Calibri" pitchFamily="34" charset="0"/>
                <a:ea typeface="Calibri" pitchFamily="34" charset="-122"/>
                <a:cs typeface="Calibri" pitchFamily="34" charset="-120"/>
              </a:rPr>
              <a:t> is True</a:t>
            </a:r>
            <a:endParaRPr lang="en-US" sz="1800" dirty="0"/>
          </a:p>
        </p:txBody>
      </p:sp>
      <p:sp>
        <p:nvSpPr>
          <p:cNvPr id="8" name="code"/>
          <p:cNvSpPr/>
          <p:nvPr/>
        </p:nvSpPr>
        <p:spPr>
          <a:xfrm>
            <a:off x="548640" y="2011680"/>
            <a:ext cx="3511296" cy="2231136"/>
          </a:xfrm>
          <a:prstGeom prst="roundRect">
            <a:avLst>
              <a:gd name="adj" fmla="val 3279"/>
            </a:avLst>
          </a:prstGeom>
          <a:solidFill>
            <a:srgbClr val="111115"/>
          </a:solidFill>
          <a:ln w="15875">
            <a:solidFill>
              <a:srgbClr val="3A3A44"/>
            </a:solidFill>
            <a:prstDash val="solid"/>
          </a:ln>
        </p:spPr>
      </p:sp>
      <p:sp>
        <p:nvSpPr>
          <p:cNvPr id="9" name="Text 6"/>
          <p:cNvSpPr txBox="1"/>
          <p:nvPr/>
        </p:nvSpPr>
        <p:spPr>
          <a:xfrm>
            <a:off x="731520" y="22128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9</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12</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0" name="Text 7"/>
          <p:cNvSpPr txBox="1"/>
          <p:nvPr/>
        </p:nvSpPr>
        <p:spPr>
          <a:xfrm>
            <a:off x="731520" y="26700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"Low"</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8"/>
          <p:cNvSpPr txBox="1"/>
          <p:nvPr/>
        </p:nvSpPr>
        <p:spPr>
          <a:xfrm>
            <a:off x="731520" y="31272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2" name="Text 9"/>
          <p:cNvSpPr txBox="1"/>
          <p:nvPr/>
        </p:nvSpPr>
        <p:spPr>
          <a:xfrm>
            <a:off x="731520"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"High"</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3" name="terminal"/>
          <p:cNvSpPr/>
          <p:nvPr/>
        </p:nvSpPr>
        <p:spPr>
          <a:xfrm>
            <a:off x="548640" y="4425696"/>
            <a:ext cx="3511296" cy="822960"/>
          </a:xfrm>
          <a:prstGeom prst="roundRect">
            <a:avLst>
              <a:gd name="adj" fmla="val 8889"/>
            </a:avLst>
          </a:prstGeom>
          <a:solidFill>
            <a:srgbClr val="0A0A0D"/>
          </a:solidFill>
          <a:ln w="15875">
            <a:solidFill>
              <a:srgbClr val="3A3A44"/>
            </a:solidFill>
            <a:prstDash val="solid"/>
          </a:ln>
        </p:spPr>
      </p:sp>
      <p:sp>
        <p:nvSpPr>
          <p:cNvPr id="14" name="Text 11"/>
          <p:cNvSpPr txBox="1"/>
          <p:nvPr/>
        </p:nvSpPr>
        <p:spPr>
          <a:xfrm>
            <a:off x="777240" y="465429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Low</a:t>
            </a:r>
            <a:endParaRPr lang="en-US" sz="1800" dirty="0"/>
          </a:p>
        </p:txBody>
      </p:sp>
      <p:sp>
        <p:nvSpPr>
          <p:cNvPr id="15" name="Shape 12"/>
          <p:cNvSpPr/>
          <p:nvPr/>
        </p:nvSpPr>
        <p:spPr>
          <a:xfrm>
            <a:off x="4334256" y="1508760"/>
            <a:ext cx="384048" cy="384048"/>
          </a:xfrm>
          <a:prstGeom prst="ellipse">
            <a:avLst/>
          </a:prstGeom>
          <a:solidFill>
            <a:srgbClr val="D8A73D"/>
          </a:solidFill>
          <a:ln/>
        </p:spPr>
      </p:sp>
      <p:sp>
        <p:nvSpPr>
          <p:cNvPr id="16" name="Text 13"/>
          <p:cNvSpPr txBox="1"/>
          <p:nvPr/>
        </p:nvSpPr>
        <p:spPr>
          <a:xfrm>
            <a:off x="4334256"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7" name="Text 14"/>
          <p:cNvSpPr txBox="1"/>
          <p:nvPr/>
        </p:nvSpPr>
        <p:spPr>
          <a:xfrm>
            <a:off x="4837176"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20 &gt; 20</a:t>
            </a:r>
            <a:pPr indent="0" marL="0">
              <a:buNone/>
            </a:pPr>
            <a:r>
              <a:rPr lang="en-US" sz="1800" dirty="0">
                <a:solidFill>
                  <a:srgbClr val="F5F5F3"/>
                </a:solidFill>
                <a:latin typeface="Calibri" pitchFamily="34" charset="0"/>
                <a:ea typeface="Calibri" pitchFamily="34" charset="-122"/>
                <a:cs typeface="Calibri" pitchFamily="34" charset="-120"/>
              </a:rPr>
              <a:t> is False</a:t>
            </a:r>
            <a:endParaRPr lang="en-US" sz="1800" dirty="0"/>
          </a:p>
        </p:txBody>
      </p:sp>
      <p:sp>
        <p:nvSpPr>
          <p:cNvPr id="18" name="code"/>
          <p:cNvSpPr/>
          <p:nvPr/>
        </p:nvSpPr>
        <p:spPr>
          <a:xfrm>
            <a:off x="4334256" y="2011680"/>
            <a:ext cx="3511296" cy="2231136"/>
          </a:xfrm>
          <a:prstGeom prst="roundRect">
            <a:avLst>
              <a:gd name="adj" fmla="val 3279"/>
            </a:avLst>
          </a:prstGeom>
          <a:solidFill>
            <a:srgbClr val="111115"/>
          </a:solidFill>
          <a:ln w="15875">
            <a:solidFill>
              <a:srgbClr val="3A3A44"/>
            </a:solidFill>
            <a:prstDash val="solid"/>
          </a:ln>
        </p:spPr>
      </p:sp>
      <p:sp>
        <p:nvSpPr>
          <p:cNvPr id="19" name="Text 16"/>
          <p:cNvSpPr txBox="1"/>
          <p:nvPr/>
        </p:nvSpPr>
        <p:spPr>
          <a:xfrm>
            <a:off x="4517136" y="22128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20</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20</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0" name="Text 17"/>
          <p:cNvSpPr txBox="1"/>
          <p:nvPr/>
        </p:nvSpPr>
        <p:spPr>
          <a:xfrm>
            <a:off x="4517136" y="26700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"Alarm"</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1" name="Text 18"/>
          <p:cNvSpPr txBox="1"/>
          <p:nvPr/>
        </p:nvSpPr>
        <p:spPr>
          <a:xfrm>
            <a:off x="4517136" y="31272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2" name="Text 19"/>
          <p:cNvSpPr txBox="1"/>
          <p:nvPr/>
        </p:nvSpPr>
        <p:spPr>
          <a:xfrm>
            <a:off x="4517136"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"Quiet"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3" name="terminal"/>
          <p:cNvSpPr/>
          <p:nvPr/>
        </p:nvSpPr>
        <p:spPr>
          <a:xfrm>
            <a:off x="4334256" y="4425696"/>
            <a:ext cx="3511296" cy="822960"/>
          </a:xfrm>
          <a:prstGeom prst="roundRect">
            <a:avLst>
              <a:gd name="adj" fmla="val 8889"/>
            </a:avLst>
          </a:prstGeom>
          <a:solidFill>
            <a:srgbClr val="0A0A0D"/>
          </a:solidFill>
          <a:ln w="15875">
            <a:solidFill>
              <a:srgbClr val="3A3A44"/>
            </a:solidFill>
            <a:prstDash val="solid"/>
          </a:ln>
        </p:spPr>
      </p:sp>
      <p:sp>
        <p:nvSpPr>
          <p:cNvPr id="24" name="Text 21"/>
          <p:cNvSpPr txBox="1"/>
          <p:nvPr/>
        </p:nvSpPr>
        <p:spPr>
          <a:xfrm>
            <a:off x="4562856" y="465429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Quiet</a:t>
            </a:r>
            <a:endParaRPr lang="en-US" sz="1800" dirty="0"/>
          </a:p>
        </p:txBody>
      </p:sp>
      <p:sp>
        <p:nvSpPr>
          <p:cNvPr id="25" name="Shape 22"/>
          <p:cNvSpPr/>
          <p:nvPr/>
        </p:nvSpPr>
        <p:spPr>
          <a:xfrm>
            <a:off x="8119872" y="1508760"/>
            <a:ext cx="384048" cy="384048"/>
          </a:xfrm>
          <a:prstGeom prst="ellipse">
            <a:avLst/>
          </a:prstGeom>
          <a:solidFill>
            <a:srgbClr val="D8A73D"/>
          </a:solidFill>
          <a:ln/>
        </p:spPr>
      </p:sp>
      <p:sp>
        <p:nvSpPr>
          <p:cNvPr id="26" name="Text 23"/>
          <p:cNvSpPr txBox="1"/>
          <p:nvPr/>
        </p:nvSpPr>
        <p:spPr>
          <a:xfrm>
            <a:off x="8119872"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7" name="Text 24"/>
          <p:cNvSpPr txBox="1"/>
          <p:nvPr/>
        </p:nvSpPr>
        <p:spPr>
          <a:xfrm>
            <a:off x="8622792"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4 &gt;= 4</a:t>
            </a:r>
            <a:pPr indent="0" marL="0">
              <a:buNone/>
            </a:pPr>
            <a:r>
              <a:rPr lang="en-US" sz="1800" dirty="0">
                <a:solidFill>
                  <a:srgbClr val="F5F5F3"/>
                </a:solidFill>
                <a:latin typeface="Calibri" pitchFamily="34" charset="0"/>
                <a:ea typeface="Calibri" pitchFamily="34" charset="-122"/>
                <a:cs typeface="Calibri" pitchFamily="34" charset="-120"/>
              </a:rPr>
              <a:t> is True</a:t>
            </a:r>
            <a:endParaRPr lang="en-US" sz="1800" dirty="0"/>
          </a:p>
        </p:txBody>
      </p:sp>
      <p:sp>
        <p:nvSpPr>
          <p:cNvPr id="28" name="code"/>
          <p:cNvSpPr/>
          <p:nvPr/>
        </p:nvSpPr>
        <p:spPr>
          <a:xfrm>
            <a:off x="8119872" y="2011680"/>
            <a:ext cx="3511296" cy="2231136"/>
          </a:xfrm>
          <a:prstGeom prst="roundRect">
            <a:avLst>
              <a:gd name="adj" fmla="val 3279"/>
            </a:avLst>
          </a:prstGeom>
          <a:solidFill>
            <a:srgbClr val="111115"/>
          </a:solidFill>
          <a:ln w="15875">
            <a:solidFill>
              <a:srgbClr val="3A3A44"/>
            </a:solidFill>
            <a:prstDash val="solid"/>
          </a:ln>
        </p:spPr>
      </p:sp>
      <p:sp>
        <p:nvSpPr>
          <p:cNvPr id="29" name="Text 26"/>
          <p:cNvSpPr txBox="1"/>
          <p:nvPr/>
        </p:nvSpPr>
        <p:spPr>
          <a:xfrm>
            <a:off x="8302752" y="22128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4</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4</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0" name="Text 27"/>
          <p:cNvSpPr txBox="1"/>
          <p:nvPr/>
        </p:nvSpPr>
        <p:spPr>
          <a:xfrm>
            <a:off x="8302752" y="26700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"Ready"</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1" name="Text 28"/>
          <p:cNvSpPr txBox="1"/>
          <p:nvPr/>
        </p:nvSpPr>
        <p:spPr>
          <a:xfrm>
            <a:off x="8302752" y="31272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2" name="Text 29"/>
          <p:cNvSpPr txBox="1"/>
          <p:nvPr/>
        </p:nvSpPr>
        <p:spPr>
          <a:xfrm>
            <a:off x="8302752"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"Wait"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3" name="terminal"/>
          <p:cNvSpPr/>
          <p:nvPr/>
        </p:nvSpPr>
        <p:spPr>
          <a:xfrm>
            <a:off x="8119872" y="4425696"/>
            <a:ext cx="3511296" cy="822960"/>
          </a:xfrm>
          <a:prstGeom prst="roundRect">
            <a:avLst>
              <a:gd name="adj" fmla="val 8889"/>
            </a:avLst>
          </a:prstGeom>
          <a:solidFill>
            <a:srgbClr val="0A0A0D"/>
          </a:solidFill>
          <a:ln w="15875">
            <a:solidFill>
              <a:srgbClr val="3A3A44"/>
            </a:solidFill>
            <a:prstDash val="solid"/>
          </a:ln>
        </p:spPr>
      </p:sp>
      <p:sp>
        <p:nvSpPr>
          <p:cNvPr id="34" name="Text 31"/>
          <p:cNvSpPr txBox="1"/>
          <p:nvPr/>
        </p:nvSpPr>
        <p:spPr>
          <a:xfrm>
            <a:off x="8348472" y="465429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Ready</a:t>
            </a:r>
            <a:endParaRPr lang="en-US" sz="1800" dirty="0"/>
          </a:p>
        </p:txBody>
      </p:sp>
      <p:pic>
        <p:nvPicPr>
          <p:cNvPr id="35" name="Image 1" descr="Feedback">    </p:cNvPr>
          <p:cNvPicPr>
            <a:picLocks noChangeAspect="1"/>
          </p:cNvPicPr>
          <p:nvPr/>
        </p:nvPicPr>
        <p:blipFill>
          <a:blip r:embed="rId2"/>
          <a:stretch>
            <a:fillRect/>
          </a:stretch>
        </p:blipFill>
        <p:spPr>
          <a:xfrm>
            <a:off x="10972800" y="384048"/>
            <a:ext cx="731520" cy="731520"/>
          </a:xfrm>
          <a:prstGeom prst="rect">
            <a:avLst/>
          </a:prstGeom>
        </p:spPr>
      </p:pic>
      <p:sp>
        <p:nvSpPr>
          <p:cNvPr id="36"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 stores. == asks.</a:t>
            </a:r>
            <a:endParaRPr lang="en-US" sz="3600" dirty="0"/>
          </a:p>
        </p:txBody>
      </p:sp>
      <p:sp>
        <p:nvSpPr>
          <p:cNvPr id="5" name="code"/>
          <p:cNvSpPr/>
          <p:nvPr/>
        </p:nvSpPr>
        <p:spPr>
          <a:xfrm>
            <a:off x="548640" y="1691640"/>
            <a:ext cx="4206240" cy="960120"/>
          </a:xfrm>
          <a:prstGeom prst="roundRect">
            <a:avLst>
              <a:gd name="adj" fmla="val 7619"/>
            </a:avLst>
          </a:prstGeom>
          <a:solidFill>
            <a:srgbClr val="111115"/>
          </a:solidFill>
          <a:ln w="15875">
            <a:solidFill>
              <a:srgbClr val="3A3A44"/>
            </a:solidFill>
            <a:prstDash val="solid"/>
          </a:ln>
        </p:spPr>
      </p:sp>
      <p:sp>
        <p:nvSpPr>
          <p:cNvPr id="6" name="Text 3"/>
          <p:cNvSpPr txBox="1"/>
          <p:nvPr/>
        </p:nvSpPr>
        <p:spPr>
          <a:xfrm>
            <a:off x="731520" y="1892808"/>
            <a:ext cx="3931920" cy="586740"/>
          </a:xfrm>
          <a:prstGeom prst="rect">
            <a:avLst/>
          </a:prstGeom>
          <a:noFill/>
          <a:ln/>
        </p:spPr>
        <p:txBody>
          <a:bodyPr wrap="square" lIns="0" tIns="0" rIns="0" bIns="0" rtlCol="0" anchor="ctr"/>
          <a:lstStyle/>
          <a:p>
            <a:pPr indent="0" marL="0">
              <a:buNone/>
            </a:pPr>
            <a:r>
              <a:rPr lang="en-US" sz="2800" dirty="0">
                <a:solidFill>
                  <a:srgbClr val="F5F5F3"/>
                </a:solidFill>
                <a:latin typeface="Consolas" pitchFamily="34" charset="0"/>
                <a:ea typeface="Consolas" pitchFamily="34" charset="-122"/>
                <a:cs typeface="Consolas" pitchFamily="34" charset="-120"/>
              </a:rPr>
              <a:t>distance</a:t>
            </a:r>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dirty="0">
                <a:solidFill>
                  <a:srgbClr val="A9A9B4"/>
                </a:solidFill>
                <a:latin typeface="Consolas" pitchFamily="34" charset="0"/>
                <a:ea typeface="Consolas" pitchFamily="34" charset="-122"/>
                <a:cs typeface="Consolas" pitchFamily="34" charset="-120"/>
              </a:rPr>
              <a:t>=</a:t>
            </a:r>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dirty="0">
                <a:solidFill>
                  <a:srgbClr val="56B4E9"/>
                </a:solidFill>
                <a:latin typeface="Consolas" pitchFamily="34" charset="0"/>
                <a:ea typeface="Consolas" pitchFamily="34" charset="-122"/>
                <a:cs typeface="Consolas" pitchFamily="34" charset="-120"/>
              </a:rPr>
              <a:t>30</a:t>
            </a:r>
            <a:endParaRPr lang="en-US" sz="2800" dirty="0"/>
          </a:p>
        </p:txBody>
      </p:sp>
      <p:sp>
        <p:nvSpPr>
          <p:cNvPr id="7" name="Shape 4"/>
          <p:cNvSpPr/>
          <p:nvPr/>
        </p:nvSpPr>
        <p:spPr>
          <a:xfrm>
            <a:off x="4892040" y="2167128"/>
            <a:ext cx="548640" cy="0"/>
          </a:xfrm>
          <a:prstGeom prst="line">
            <a:avLst/>
          </a:prstGeom>
          <a:noFill/>
          <a:ln w="28575">
            <a:solidFill>
              <a:srgbClr val="A9A9B4"/>
            </a:solidFill>
            <a:prstDash val="solid"/>
            <a:tailEnd type="triangle"/>
          </a:ln>
        </p:spPr>
      </p:sp>
      <p:sp>
        <p:nvSpPr>
          <p:cNvPr id="8" name="Text 5"/>
          <p:cNvSpPr txBox="1"/>
          <p:nvPr/>
        </p:nvSpPr>
        <p:spPr>
          <a:xfrm>
            <a:off x="5623560" y="1600200"/>
            <a:ext cx="3291840" cy="1143000"/>
          </a:xfrm>
          <a:prstGeom prst="rect">
            <a:avLst/>
          </a:prstGeom>
          <a:noFill/>
          <a:ln/>
        </p:spPr>
        <p:txBody>
          <a:bodyPr wrap="square" lIns="0" tIns="0" rIns="0" bIns="0" rtlCol="0" anchor="ctr"/>
          <a:lstStyle/>
          <a:p>
            <a:pPr indent="0" marL="0">
              <a:buNone/>
            </a:pPr>
            <a:r>
              <a:rPr lang="en-US" sz="2600" b="1" dirty="0">
                <a:solidFill>
                  <a:srgbClr val="D8A73D"/>
                </a:solidFill>
                <a:latin typeface="Cambria" pitchFamily="34" charset="0"/>
                <a:ea typeface="Cambria" pitchFamily="34" charset="-122"/>
                <a:cs typeface="Cambria" pitchFamily="34" charset="-120"/>
              </a:rPr>
              <a:t>STORES</a:t>
            </a:r>
            <a:pPr indent="0" marL="0">
              <a:buNone/>
            </a:pPr>
            <a:endParaRPr lang="en-US" sz="2600" dirty="0"/>
          </a:p>
          <a:p>
            <a:pPr indent="0" marL="0">
              <a:buNone/>
            </a:pPr>
            <a:r>
              <a:rPr lang="en-US" sz="2200" dirty="0">
                <a:solidFill>
                  <a:srgbClr val="F5F5F3"/>
                </a:solidFill>
                <a:latin typeface="Calibri" pitchFamily="34" charset="0"/>
                <a:ea typeface="Calibri" pitchFamily="34" charset="-122"/>
                <a:cs typeface="Calibri" pitchFamily="34" charset="-120"/>
              </a:rPr>
              <a:t>puts 30 in the box</a:t>
            </a:r>
            <a:endParaRPr lang="en-US" sz="2600" dirty="0"/>
          </a:p>
        </p:txBody>
      </p:sp>
      <p:sp>
        <p:nvSpPr>
          <p:cNvPr id="9" name="Shape 6"/>
          <p:cNvSpPr/>
          <p:nvPr/>
        </p:nvSpPr>
        <p:spPr>
          <a:xfrm>
            <a:off x="9098280" y="1764792"/>
            <a:ext cx="2377440" cy="868680"/>
          </a:xfrm>
          <a:prstGeom prst="roundRect">
            <a:avLst>
              <a:gd name="adj" fmla="val 6316"/>
            </a:avLst>
          </a:prstGeom>
          <a:solidFill>
            <a:srgbClr val="111115"/>
          </a:solidFill>
          <a:ln w="25400">
            <a:solidFill>
              <a:srgbClr val="56B4E9"/>
            </a:solidFill>
            <a:prstDash val="solid"/>
          </a:ln>
        </p:spPr>
      </p:sp>
      <p:sp>
        <p:nvSpPr>
          <p:cNvPr id="10" name="Shape 7"/>
          <p:cNvSpPr/>
          <p:nvPr/>
        </p:nvSpPr>
        <p:spPr>
          <a:xfrm>
            <a:off x="9235440" y="1581912"/>
            <a:ext cx="1883664" cy="347472"/>
          </a:xfrm>
          <a:prstGeom prst="roundRect">
            <a:avLst>
              <a:gd name="adj" fmla="val 13158"/>
            </a:avLst>
          </a:prstGeom>
          <a:solidFill>
            <a:srgbClr val="56B4E9"/>
          </a:solidFill>
          <a:ln/>
        </p:spPr>
      </p:sp>
      <p:sp>
        <p:nvSpPr>
          <p:cNvPr id="11" name="Text 8"/>
          <p:cNvSpPr txBox="1"/>
          <p:nvPr/>
        </p:nvSpPr>
        <p:spPr>
          <a:xfrm>
            <a:off x="9235440" y="1581912"/>
            <a:ext cx="1883664"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distance  ·  int</a:t>
            </a:r>
            <a:endParaRPr lang="en-US" sz="1400" dirty="0"/>
          </a:p>
        </p:txBody>
      </p:sp>
      <p:sp>
        <p:nvSpPr>
          <p:cNvPr id="12" name="Text 9"/>
          <p:cNvSpPr txBox="1"/>
          <p:nvPr/>
        </p:nvSpPr>
        <p:spPr>
          <a:xfrm>
            <a:off x="9189720" y="1947672"/>
            <a:ext cx="2194560" cy="640080"/>
          </a:xfrm>
          <a:prstGeom prst="rect">
            <a:avLst/>
          </a:prstGeom>
          <a:noFill/>
          <a:ln/>
        </p:spPr>
        <p:txBody>
          <a:bodyPr wrap="square" lIns="0" tIns="0" rIns="0" bIns="0" rtlCol="0" anchor="ctr"/>
          <a:lstStyle/>
          <a:p>
            <a:pPr algn="ctr" indent="0" marL="0">
              <a:buNone/>
            </a:pPr>
            <a:r>
              <a:rPr lang="en-US" sz="2600" dirty="0">
                <a:solidFill>
                  <a:srgbClr val="F5F5F3"/>
                </a:solidFill>
                <a:latin typeface="Consolas" pitchFamily="34" charset="0"/>
                <a:ea typeface="Consolas" pitchFamily="34" charset="-122"/>
                <a:cs typeface="Consolas" pitchFamily="34" charset="-120"/>
              </a:rPr>
              <a:t>30</a:t>
            </a:r>
            <a:endParaRPr lang="en-US" sz="2600" dirty="0"/>
          </a:p>
        </p:txBody>
      </p:sp>
      <p:sp>
        <p:nvSpPr>
          <p:cNvPr id="13" name="code"/>
          <p:cNvSpPr/>
          <p:nvPr/>
        </p:nvSpPr>
        <p:spPr>
          <a:xfrm>
            <a:off x="548640" y="3154680"/>
            <a:ext cx="4206240" cy="960120"/>
          </a:xfrm>
          <a:prstGeom prst="roundRect">
            <a:avLst>
              <a:gd name="adj" fmla="val 7619"/>
            </a:avLst>
          </a:prstGeom>
          <a:solidFill>
            <a:srgbClr val="111115"/>
          </a:solidFill>
          <a:ln w="15875">
            <a:solidFill>
              <a:srgbClr val="3A3A44"/>
            </a:solidFill>
            <a:prstDash val="solid"/>
          </a:ln>
        </p:spPr>
      </p:sp>
      <p:sp>
        <p:nvSpPr>
          <p:cNvPr id="14" name="Text 11"/>
          <p:cNvSpPr txBox="1"/>
          <p:nvPr/>
        </p:nvSpPr>
        <p:spPr>
          <a:xfrm>
            <a:off x="731520" y="3355848"/>
            <a:ext cx="3931920" cy="586740"/>
          </a:xfrm>
          <a:prstGeom prst="rect">
            <a:avLst/>
          </a:prstGeom>
          <a:noFill/>
          <a:ln/>
        </p:spPr>
        <p:txBody>
          <a:bodyPr wrap="square" lIns="0" tIns="0" rIns="0" bIns="0" rtlCol="0" anchor="ctr"/>
          <a:lstStyle/>
          <a:p>
            <a:pPr indent="0" marL="0">
              <a:buNone/>
            </a:pPr>
            <a:r>
              <a:rPr lang="en-US" sz="2800" dirty="0">
                <a:solidFill>
                  <a:srgbClr val="F5F5F3"/>
                </a:solidFill>
                <a:latin typeface="Consolas" pitchFamily="34" charset="0"/>
                <a:ea typeface="Consolas" pitchFamily="34" charset="-122"/>
                <a:cs typeface="Consolas" pitchFamily="34" charset="-120"/>
              </a:rPr>
              <a:t>distance</a:t>
            </a:r>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b="1" dirty="0">
                <a:solidFill>
                  <a:srgbClr val="F5F5F3"/>
                </a:solidFill>
                <a:latin typeface="Consolas" pitchFamily="34" charset="0"/>
                <a:ea typeface="Consolas" pitchFamily="34" charset="-122"/>
                <a:cs typeface="Consolas" pitchFamily="34" charset="-120"/>
              </a:rPr>
              <a:t>==</a:t>
            </a:r>
            <a:pPr indent="0" marL="0">
              <a:buNone/>
            </a:pPr>
            <a:r>
              <a:rPr lang="en-US" sz="2800" dirty="0">
                <a:solidFill>
                  <a:srgbClr val="F5F5F3"/>
                </a:solidFill>
                <a:latin typeface="Consolas" pitchFamily="34" charset="0"/>
                <a:ea typeface="Consolas" pitchFamily="34" charset="-122"/>
                <a:cs typeface="Consolas" pitchFamily="34" charset="-120"/>
              </a:rPr>
              <a:t> </a:t>
            </a:r>
            <a:pPr indent="0" marL="0">
              <a:buNone/>
            </a:pPr>
            <a:r>
              <a:rPr lang="en-US" sz="2800" dirty="0">
                <a:solidFill>
                  <a:srgbClr val="56B4E9"/>
                </a:solidFill>
                <a:latin typeface="Consolas" pitchFamily="34" charset="0"/>
                <a:ea typeface="Consolas" pitchFamily="34" charset="-122"/>
                <a:cs typeface="Consolas" pitchFamily="34" charset="-120"/>
              </a:rPr>
              <a:t>30</a:t>
            </a:r>
            <a:endParaRPr lang="en-US" sz="2800" dirty="0"/>
          </a:p>
        </p:txBody>
      </p:sp>
      <p:sp>
        <p:nvSpPr>
          <p:cNvPr id="15" name="Shape 12"/>
          <p:cNvSpPr/>
          <p:nvPr/>
        </p:nvSpPr>
        <p:spPr>
          <a:xfrm>
            <a:off x="4892040" y="3630168"/>
            <a:ext cx="548640" cy="0"/>
          </a:xfrm>
          <a:prstGeom prst="line">
            <a:avLst/>
          </a:prstGeom>
          <a:noFill/>
          <a:ln w="28575">
            <a:solidFill>
              <a:srgbClr val="A9A9B4"/>
            </a:solidFill>
            <a:prstDash val="solid"/>
            <a:tailEnd type="triangle"/>
          </a:ln>
        </p:spPr>
      </p:sp>
      <p:sp>
        <p:nvSpPr>
          <p:cNvPr id="16" name="Text 13"/>
          <p:cNvSpPr txBox="1"/>
          <p:nvPr/>
        </p:nvSpPr>
        <p:spPr>
          <a:xfrm>
            <a:off x="5623560" y="3063240"/>
            <a:ext cx="3291840" cy="1143000"/>
          </a:xfrm>
          <a:prstGeom prst="rect">
            <a:avLst/>
          </a:prstGeom>
          <a:noFill/>
          <a:ln/>
        </p:spPr>
        <p:txBody>
          <a:bodyPr wrap="square" lIns="0" tIns="0" rIns="0" bIns="0" rtlCol="0" anchor="ctr"/>
          <a:lstStyle/>
          <a:p>
            <a:pPr indent="0" marL="0">
              <a:buNone/>
            </a:pPr>
            <a:r>
              <a:rPr lang="en-US" sz="2600" b="1" dirty="0">
                <a:solidFill>
                  <a:srgbClr val="56B4E9"/>
                </a:solidFill>
                <a:latin typeface="Cambria" pitchFamily="34" charset="0"/>
                <a:ea typeface="Cambria" pitchFamily="34" charset="-122"/>
                <a:cs typeface="Cambria" pitchFamily="34" charset="-120"/>
              </a:rPr>
              <a:t>ASKS</a:t>
            </a:r>
            <a:pPr indent="0" marL="0">
              <a:buNone/>
            </a:pPr>
            <a:endParaRPr lang="en-US" sz="2600" dirty="0"/>
          </a:p>
          <a:p>
            <a:pPr indent="0" marL="0">
              <a:buNone/>
            </a:pPr>
            <a:r>
              <a:rPr lang="en-US" sz="2200" dirty="0">
                <a:solidFill>
                  <a:srgbClr val="F5F5F3"/>
                </a:solidFill>
                <a:latin typeface="Calibri" pitchFamily="34" charset="0"/>
                <a:ea typeface="Calibri" pitchFamily="34" charset="-122"/>
                <a:cs typeface="Calibri" pitchFamily="34" charset="-120"/>
              </a:rPr>
              <a:t>is it 30?  →  True or False</a:t>
            </a:r>
            <a:endParaRPr lang="en-US" sz="2600" dirty="0"/>
          </a:p>
        </p:txBody>
      </p:sp>
      <p:sp>
        <p:nvSpPr>
          <p:cNvPr id="17" name="Shape 14"/>
          <p:cNvSpPr/>
          <p:nvPr/>
        </p:nvSpPr>
        <p:spPr>
          <a:xfrm>
            <a:off x="9098280" y="3337560"/>
            <a:ext cx="1371600" cy="594360"/>
          </a:xfrm>
          <a:prstGeom prst="roundRect">
            <a:avLst>
              <a:gd name="adj" fmla="val 12308"/>
            </a:avLst>
          </a:prstGeom>
          <a:solidFill>
            <a:srgbClr val="7FD99A"/>
          </a:solidFill>
          <a:ln/>
        </p:spPr>
      </p:sp>
      <p:sp>
        <p:nvSpPr>
          <p:cNvPr id="18" name="Text 15"/>
          <p:cNvSpPr txBox="1"/>
          <p:nvPr/>
        </p:nvSpPr>
        <p:spPr>
          <a:xfrm>
            <a:off x="9098280" y="3337560"/>
            <a:ext cx="1371600" cy="594360"/>
          </a:xfrm>
          <a:prstGeom prst="rect">
            <a:avLst/>
          </a:prstGeom>
          <a:noFill/>
          <a:ln/>
        </p:spPr>
        <p:txBody>
          <a:bodyPr wrap="square" lIns="0" tIns="0" rIns="0" bIns="0" rtlCol="0" anchor="ctr"/>
          <a:lstStyle/>
          <a:p>
            <a:pPr algn="ctr" indent="0" marL="0">
              <a:buNone/>
            </a:pPr>
            <a:r>
              <a:rPr lang="en-US" sz="2600" b="1" dirty="0">
                <a:solidFill>
                  <a:srgbClr val="111115"/>
                </a:solidFill>
                <a:latin typeface="Consolas" pitchFamily="34" charset="0"/>
                <a:ea typeface="Consolas" pitchFamily="34" charset="-122"/>
                <a:cs typeface="Consolas" pitchFamily="34" charset="-120"/>
              </a:rPr>
              <a:t>True</a:t>
            </a:r>
            <a:endParaRPr lang="en-US" sz="2600" dirty="0"/>
          </a:p>
        </p:txBody>
      </p:sp>
      <p:sp>
        <p:nvSpPr>
          <p:cNvPr id="19" name="Shape 16"/>
          <p:cNvSpPr/>
          <p:nvPr/>
        </p:nvSpPr>
        <p:spPr>
          <a:xfrm>
            <a:off x="548640" y="4800600"/>
            <a:ext cx="11091672" cy="960120"/>
          </a:xfrm>
          <a:prstGeom prst="roundRect">
            <a:avLst>
              <a:gd name="adj" fmla="val 7619"/>
            </a:avLst>
          </a:prstGeom>
          <a:solidFill>
            <a:srgbClr val="1E1E24"/>
          </a:solidFill>
          <a:ln w="25400">
            <a:solidFill>
              <a:srgbClr val="D8A73D"/>
            </a:solidFill>
            <a:prstDash val="solid"/>
          </a:ln>
        </p:spPr>
      </p:sp>
      <p:sp>
        <p:nvSpPr>
          <p:cNvPr id="20" name="Text 17"/>
          <p:cNvSpPr txBox="1"/>
          <p:nvPr/>
        </p:nvSpPr>
        <p:spPr>
          <a:xfrm>
            <a:off x="914400" y="4800600"/>
            <a:ext cx="10332720" cy="96012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An if must use ==. </a:t>
            </a:r>
            <a:pPr indent="0" marL="0">
              <a:buNone/>
            </a:pPr>
            <a:r>
              <a:rPr lang="en-US" sz="2400" dirty="0">
                <a:solidFill>
                  <a:srgbClr val="F5F5F3"/>
                </a:solidFill>
                <a:latin typeface="Calibri" pitchFamily="34" charset="0"/>
                <a:ea typeface="Calibri" pitchFamily="34" charset="-122"/>
                <a:cs typeface="Calibri" pitchFamily="34" charset="-120"/>
              </a:rPr>
              <a:t>This crashes:   </a:t>
            </a:r>
            <a:pPr indent="0" marL="0">
              <a:buNone/>
            </a:pPr>
            <a:r>
              <a:rPr lang="en-US" sz="2400" dirty="0">
                <a:solidFill>
                  <a:srgbClr val="F5F5F3"/>
                </a:solidFill>
                <a:latin typeface="Consolas" pitchFamily="34" charset="0"/>
                <a:ea typeface="Consolas" pitchFamily="34" charset="-122"/>
                <a:cs typeface="Consolas" pitchFamily="34" charset="-120"/>
              </a:rPr>
              <a:t>if distance = 30:</a:t>
            </a:r>
            <a:pPr indent="0" marL="0">
              <a:buNone/>
            </a:pPr>
            <a:r>
              <a:rPr lang="en-US" sz="2400" dirty="0">
                <a:solidFill>
                  <a:srgbClr val="F5F5F3"/>
                </a:solidFill>
                <a:latin typeface="Calibri" pitchFamily="34" charset="0"/>
                <a:ea typeface="Calibri" pitchFamily="34" charset="-122"/>
                <a:cs typeface="Calibri" pitchFamily="34" charset="-120"/>
              </a:rPr>
              <a:t>  →  </a:t>
            </a:r>
            <a:pPr indent="0" marL="0">
              <a:buNone/>
            </a:pPr>
            <a:r>
              <a:rPr lang="en-US" sz="2400" b="1" dirty="0">
                <a:solidFill>
                  <a:srgbClr val="FF6B6B"/>
                </a:solidFill>
                <a:latin typeface="Consolas" pitchFamily="34" charset="0"/>
                <a:ea typeface="Consolas" pitchFamily="34" charset="-122"/>
                <a:cs typeface="Consolas" pitchFamily="34" charset="-120"/>
              </a:rPr>
              <a:t>SyntaxError</a:t>
            </a:r>
            <a:endParaRPr lang="en-US" sz="2400" dirty="0"/>
          </a:p>
        </p:txBody>
      </p:sp>
      <p:pic>
        <p:nvPicPr>
          <p:cNvPr id="21"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5" name="code"/>
          <p:cNvSpPr/>
          <p:nvPr/>
        </p:nvSpPr>
        <p:spPr>
          <a:xfrm>
            <a:off x="548640" y="1554480"/>
            <a:ext cx="4846320" cy="3803904"/>
          </a:xfrm>
          <a:prstGeom prst="roundRect">
            <a:avLst>
              <a:gd name="adj" fmla="val 1923"/>
            </a:avLst>
          </a:prstGeom>
          <a:solidFill>
            <a:srgbClr val="111115"/>
          </a:solidFill>
          <a:ln w="15875">
            <a:solidFill>
              <a:srgbClr val="3A3A44"/>
            </a:solidFill>
            <a:prstDash val="solid"/>
          </a:ln>
        </p:spPr>
      </p:sp>
      <p:sp>
        <p:nvSpPr>
          <p:cNvPr id="6" name="Text 3"/>
          <p:cNvSpPr txBox="1"/>
          <p:nvPr/>
        </p:nvSpPr>
        <p:spPr>
          <a:xfrm>
            <a:off x="658368" y="1755648"/>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1</a:t>
            </a:r>
            <a:endParaRPr lang="en-US" sz="2000" dirty="0"/>
          </a:p>
        </p:txBody>
      </p:sp>
      <p:sp>
        <p:nvSpPr>
          <p:cNvPr id="7" name="Text 4"/>
          <p:cNvSpPr txBox="1"/>
          <p:nvPr/>
        </p:nvSpPr>
        <p:spPr>
          <a:xfrm>
            <a:off x="1188720" y="1755648"/>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distance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30</a:t>
            </a:r>
            <a:endParaRPr lang="en-US" sz="2400" dirty="0"/>
          </a:p>
        </p:txBody>
      </p:sp>
      <p:sp>
        <p:nvSpPr>
          <p:cNvPr id="8" name="Text 5"/>
          <p:cNvSpPr txBox="1"/>
          <p:nvPr/>
        </p:nvSpPr>
        <p:spPr>
          <a:xfrm>
            <a:off x="658368" y="2322576"/>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2</a:t>
            </a:r>
            <a:endParaRPr lang="en-US" sz="2000" dirty="0"/>
          </a:p>
        </p:txBody>
      </p:sp>
      <p:sp>
        <p:nvSpPr>
          <p:cNvPr id="9" name="Text 6"/>
          <p:cNvSpPr txBox="1"/>
          <p:nvPr/>
        </p:nvSpPr>
        <p:spPr>
          <a:xfrm>
            <a:off x="1188720" y="2322576"/>
            <a:ext cx="4114800" cy="566928"/>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if</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F5F5F3"/>
                </a:solidFill>
                <a:latin typeface="Consolas" pitchFamily="34" charset="0"/>
                <a:ea typeface="Consolas" pitchFamily="34" charset="-122"/>
                <a:cs typeface="Consolas" pitchFamily="34" charset="-120"/>
              </a:rPr>
              <a:t>distance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b="1" dirty="0">
                <a:solidFill>
                  <a:srgbClr val="F5F5F3"/>
                </a:solidFill>
                <a:latin typeface="Consolas" pitchFamily="34" charset="0"/>
                <a:ea typeface="Consolas" pitchFamily="34" charset="-122"/>
                <a:cs typeface="Consolas" pitchFamily="34" charset="-120"/>
              </a:rPr>
              <a:t>&gt;=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50</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0" name="Text 7"/>
          <p:cNvSpPr txBox="1"/>
          <p:nvPr/>
        </p:nvSpPr>
        <p:spPr>
          <a:xfrm>
            <a:off x="658368" y="2889504"/>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3</a:t>
            </a:r>
            <a:endParaRPr lang="en-US" sz="2000" dirty="0"/>
          </a:p>
        </p:txBody>
      </p:sp>
      <p:sp>
        <p:nvSpPr>
          <p:cNvPr id="11" name="Text 8"/>
          <p:cNvSpPr txBox="1"/>
          <p:nvPr/>
        </p:nvSpPr>
        <p:spPr>
          <a:xfrm>
            <a:off x="1188720" y="2889504"/>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"All clear"</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2" name="Text 9"/>
          <p:cNvSpPr txBox="1"/>
          <p:nvPr/>
        </p:nvSpPr>
        <p:spPr>
          <a:xfrm>
            <a:off x="658368" y="3456432"/>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4</a:t>
            </a:r>
            <a:endParaRPr lang="en-US" sz="2000" dirty="0"/>
          </a:p>
        </p:txBody>
      </p:sp>
      <p:sp>
        <p:nvSpPr>
          <p:cNvPr id="13" name="Text 10"/>
          <p:cNvSpPr txBox="1"/>
          <p:nvPr/>
        </p:nvSpPr>
        <p:spPr>
          <a:xfrm>
            <a:off x="1188720" y="3456432"/>
            <a:ext cx="4114800" cy="566928"/>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else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4" name="Text 11"/>
          <p:cNvSpPr txBox="1"/>
          <p:nvPr/>
        </p:nvSpPr>
        <p:spPr>
          <a:xfrm>
            <a:off x="658368" y="4023360"/>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5</a:t>
            </a:r>
            <a:endParaRPr lang="en-US" sz="2000" dirty="0"/>
          </a:p>
        </p:txBody>
      </p:sp>
      <p:sp>
        <p:nvSpPr>
          <p:cNvPr id="15" name="Text 12"/>
          <p:cNvSpPr txBox="1"/>
          <p:nvPr/>
        </p:nvSpPr>
        <p:spPr>
          <a:xfrm>
            <a:off x="1188720" y="4023360"/>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"Too close"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6" name="Text 13"/>
          <p:cNvSpPr txBox="1"/>
          <p:nvPr/>
        </p:nvSpPr>
        <p:spPr>
          <a:xfrm>
            <a:off x="658368" y="4590288"/>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6</a:t>
            </a:r>
            <a:endParaRPr lang="en-US" sz="2000" dirty="0"/>
          </a:p>
        </p:txBody>
      </p:sp>
      <p:sp>
        <p:nvSpPr>
          <p:cNvPr id="17" name="Text 14"/>
          <p:cNvSpPr txBox="1"/>
          <p:nvPr/>
        </p:nvSpPr>
        <p:spPr>
          <a:xfrm>
            <a:off x="1188720" y="4590288"/>
            <a:ext cx="4114800" cy="566928"/>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"Scan complete"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8" name="click1"/>
          <p:cNvSpPr/>
          <p:nvPr/>
        </p:nvSpPr>
        <p:spPr>
          <a:xfrm>
            <a:off x="5623560" y="1874520"/>
            <a:ext cx="329184" cy="329184"/>
          </a:xfrm>
          <a:prstGeom prst="ellipse">
            <a:avLst/>
          </a:prstGeom>
          <a:solidFill>
            <a:srgbClr val="D8A73D"/>
          </a:solidFill>
          <a:ln/>
        </p:spPr>
      </p:sp>
      <p:sp>
        <p:nvSpPr>
          <p:cNvPr id="19" name="click1"/>
          <p:cNvSpPr txBox="1"/>
          <p:nvPr/>
        </p:nvSpPr>
        <p:spPr>
          <a:xfrm>
            <a:off x="5623560" y="187452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20" name="click1"/>
          <p:cNvSpPr/>
          <p:nvPr/>
        </p:nvSpPr>
        <p:spPr>
          <a:xfrm>
            <a:off x="6099048" y="1810512"/>
            <a:ext cx="2148840" cy="475488"/>
          </a:xfrm>
          <a:prstGeom prst="roundRect">
            <a:avLst>
              <a:gd name="adj" fmla="val 11538"/>
            </a:avLst>
          </a:prstGeom>
          <a:solidFill>
            <a:srgbClr val="111115"/>
          </a:solidFill>
          <a:ln w="25400">
            <a:solidFill>
              <a:srgbClr val="56B4E9"/>
            </a:solidFill>
            <a:prstDash val="solid"/>
          </a:ln>
        </p:spPr>
      </p:sp>
      <p:sp>
        <p:nvSpPr>
          <p:cNvPr id="21" name="click1"/>
          <p:cNvSpPr/>
          <p:nvPr/>
        </p:nvSpPr>
        <p:spPr>
          <a:xfrm>
            <a:off x="6236208" y="1627632"/>
            <a:ext cx="1883664" cy="347472"/>
          </a:xfrm>
          <a:prstGeom prst="roundRect">
            <a:avLst>
              <a:gd name="adj" fmla="val 13158"/>
            </a:avLst>
          </a:prstGeom>
          <a:solidFill>
            <a:srgbClr val="56B4E9"/>
          </a:solidFill>
          <a:ln/>
        </p:spPr>
      </p:sp>
      <p:sp>
        <p:nvSpPr>
          <p:cNvPr id="22" name="click1"/>
          <p:cNvSpPr txBox="1"/>
          <p:nvPr/>
        </p:nvSpPr>
        <p:spPr>
          <a:xfrm>
            <a:off x="6236208" y="1627632"/>
            <a:ext cx="1883664"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distance  ·  int</a:t>
            </a:r>
            <a:endParaRPr lang="en-US" sz="1400" dirty="0"/>
          </a:p>
        </p:txBody>
      </p:sp>
      <p:sp>
        <p:nvSpPr>
          <p:cNvPr id="23" name="click1"/>
          <p:cNvSpPr txBox="1"/>
          <p:nvPr/>
        </p:nvSpPr>
        <p:spPr>
          <a:xfrm>
            <a:off x="6190488" y="1993392"/>
            <a:ext cx="1965960" cy="246888"/>
          </a:xfrm>
          <a:prstGeom prst="rect">
            <a:avLst/>
          </a:prstGeom>
          <a:noFill/>
          <a:ln/>
        </p:spPr>
        <p:txBody>
          <a:bodyPr wrap="square" lIns="0" tIns="0" rIns="0" bIns="0" rtlCol="0" anchor="ctr"/>
          <a:lstStyle/>
          <a:p>
            <a:pPr algn="ctr" indent="0" marL="0">
              <a:buNone/>
            </a:pPr>
            <a:r>
              <a:rPr lang="en-US" sz="2000" dirty="0">
                <a:solidFill>
                  <a:srgbClr val="F5F5F3"/>
                </a:solidFill>
                <a:latin typeface="Consolas" pitchFamily="34" charset="0"/>
                <a:ea typeface="Consolas" pitchFamily="34" charset="-122"/>
                <a:cs typeface="Consolas" pitchFamily="34" charset="-120"/>
              </a:rPr>
              <a:t>30</a:t>
            </a:r>
            <a:endParaRPr lang="en-US" sz="2000" dirty="0"/>
          </a:p>
        </p:txBody>
      </p:sp>
      <p:sp>
        <p:nvSpPr>
          <p:cNvPr id="24" name="click2"/>
          <p:cNvSpPr/>
          <p:nvPr/>
        </p:nvSpPr>
        <p:spPr>
          <a:xfrm>
            <a:off x="5623560" y="2441448"/>
            <a:ext cx="329184" cy="329184"/>
          </a:xfrm>
          <a:prstGeom prst="ellipse">
            <a:avLst/>
          </a:prstGeom>
          <a:solidFill>
            <a:srgbClr val="D8A73D"/>
          </a:solidFill>
          <a:ln/>
        </p:spPr>
      </p:sp>
      <p:sp>
        <p:nvSpPr>
          <p:cNvPr id="25" name="click2"/>
          <p:cNvSpPr txBox="1"/>
          <p:nvPr/>
        </p:nvSpPr>
        <p:spPr>
          <a:xfrm>
            <a:off x="5623560" y="2441448"/>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6" name="click2"/>
          <p:cNvSpPr txBox="1"/>
          <p:nvPr/>
        </p:nvSpPr>
        <p:spPr>
          <a:xfrm>
            <a:off x="6053328" y="2322576"/>
            <a:ext cx="1417320" cy="566928"/>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30</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50</a:t>
            </a:r>
            <a:endParaRPr lang="en-US" sz="2200" dirty="0"/>
          </a:p>
        </p:txBody>
      </p:sp>
      <p:sp>
        <p:nvSpPr>
          <p:cNvPr id="27" name="click2"/>
          <p:cNvSpPr/>
          <p:nvPr/>
        </p:nvSpPr>
        <p:spPr>
          <a:xfrm>
            <a:off x="7516368" y="2606040"/>
            <a:ext cx="365760" cy="0"/>
          </a:xfrm>
          <a:prstGeom prst="line">
            <a:avLst/>
          </a:prstGeom>
          <a:noFill/>
          <a:ln w="28575">
            <a:solidFill>
              <a:srgbClr val="A9A9B4"/>
            </a:solidFill>
            <a:prstDash val="solid"/>
            <a:tailEnd type="triangle"/>
          </a:ln>
        </p:spPr>
      </p:sp>
      <p:sp>
        <p:nvSpPr>
          <p:cNvPr id="28" name="click2"/>
          <p:cNvSpPr/>
          <p:nvPr/>
        </p:nvSpPr>
        <p:spPr>
          <a:xfrm>
            <a:off x="7973568" y="2386584"/>
            <a:ext cx="868680" cy="438912"/>
          </a:xfrm>
          <a:prstGeom prst="roundRect">
            <a:avLst>
              <a:gd name="adj" fmla="val 16667"/>
            </a:avLst>
          </a:prstGeom>
          <a:solidFill>
            <a:srgbClr val="1E1E24"/>
          </a:solidFill>
          <a:ln w="19050">
            <a:solidFill>
              <a:srgbClr val="A9A9B4"/>
            </a:solidFill>
            <a:prstDash val="solid"/>
          </a:ln>
        </p:spPr>
      </p:sp>
      <p:sp>
        <p:nvSpPr>
          <p:cNvPr id="29" name="click2"/>
          <p:cNvSpPr txBox="1"/>
          <p:nvPr/>
        </p:nvSpPr>
        <p:spPr>
          <a:xfrm>
            <a:off x="7973568" y="2386584"/>
            <a:ext cx="868680" cy="438912"/>
          </a:xfrm>
          <a:prstGeom prst="rect">
            <a:avLst/>
          </a:prstGeom>
          <a:noFill/>
          <a:ln/>
        </p:spPr>
        <p:txBody>
          <a:bodyPr wrap="square" lIns="0" tIns="0" rIns="0" bIns="0" rtlCol="0" anchor="ctr"/>
          <a:lstStyle/>
          <a:p>
            <a:pPr algn="ctr" indent="0" marL="0">
              <a:buNone/>
            </a:pPr>
            <a:r>
              <a:rPr lang="en-US" sz="2000" b="1" dirty="0">
                <a:solidFill>
                  <a:srgbClr val="F5F5F3"/>
                </a:solidFill>
                <a:latin typeface="Consolas" pitchFamily="34" charset="0"/>
                <a:ea typeface="Consolas" pitchFamily="34" charset="-122"/>
                <a:cs typeface="Consolas" pitchFamily="34" charset="-120"/>
              </a:rPr>
              <a:t>False</a:t>
            </a:r>
            <a:endParaRPr lang="en-US" sz="2000" dirty="0"/>
          </a:p>
        </p:txBody>
      </p:sp>
      <p:sp>
        <p:nvSpPr>
          <p:cNvPr id="30" name="click3"/>
          <p:cNvSpPr/>
          <p:nvPr/>
        </p:nvSpPr>
        <p:spPr>
          <a:xfrm>
            <a:off x="5623560" y="3008376"/>
            <a:ext cx="329184" cy="329184"/>
          </a:xfrm>
          <a:prstGeom prst="ellipse">
            <a:avLst/>
          </a:prstGeom>
          <a:solidFill>
            <a:srgbClr val="D8A73D"/>
          </a:solidFill>
          <a:ln/>
        </p:spPr>
      </p:sp>
      <p:sp>
        <p:nvSpPr>
          <p:cNvPr id="31" name="click3"/>
          <p:cNvSpPr txBox="1"/>
          <p:nvPr/>
        </p:nvSpPr>
        <p:spPr>
          <a:xfrm>
            <a:off x="5623560" y="300837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2" name="click3"/>
          <p:cNvSpPr txBox="1"/>
          <p:nvPr/>
        </p:nvSpPr>
        <p:spPr>
          <a:xfrm>
            <a:off x="6053328" y="4023360"/>
            <a:ext cx="2651760" cy="566928"/>
          </a:xfrm>
          <a:prstGeom prst="rect">
            <a:avLst/>
          </a:prstGeom>
          <a:noFill/>
          <a:ln/>
        </p:spPr>
        <p:txBody>
          <a:bodyPr wrap="square" lIns="0" tIns="0" rIns="0" bIns="0" rtlCol="0" anchor="ctr"/>
          <a:lstStyle/>
          <a:p>
            <a:pPr indent="0" marL="0">
              <a:buNone/>
            </a:pPr>
            <a:r>
              <a:rPr lang="en-US" sz="2000" b="1" dirty="0">
                <a:solidFill>
                  <a:srgbClr val="7FD99A"/>
                </a:solidFill>
                <a:latin typeface="Calibri" pitchFamily="34" charset="0"/>
                <a:ea typeface="Calibri" pitchFamily="34" charset="-122"/>
                <a:cs typeface="Calibri" pitchFamily="34" charset="-120"/>
              </a:rPr>
              <a:t>✓ runs</a:t>
            </a:r>
            <a:endParaRPr lang="en-US" sz="2000" dirty="0"/>
          </a:p>
        </p:txBody>
      </p:sp>
      <p:sp>
        <p:nvSpPr>
          <p:cNvPr id="33" name="click3"/>
          <p:cNvSpPr txBox="1"/>
          <p:nvPr/>
        </p:nvSpPr>
        <p:spPr>
          <a:xfrm>
            <a:off x="6053328" y="2889504"/>
            <a:ext cx="2651760" cy="566928"/>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34" name="click3"/>
          <p:cNvSpPr txBox="1"/>
          <p:nvPr/>
        </p:nvSpPr>
        <p:spPr>
          <a:xfrm>
            <a:off x="6053328" y="4590288"/>
            <a:ext cx="2651760" cy="566928"/>
          </a:xfrm>
          <a:prstGeom prst="rect">
            <a:avLst/>
          </a:prstGeom>
          <a:noFill/>
          <a:ln/>
        </p:spPr>
        <p:txBody>
          <a:bodyPr wrap="square" lIns="0" tIns="0" rIns="0" bIns="0" rtlCol="0" anchor="ctr"/>
          <a:lstStyle/>
          <a:p>
            <a:pPr indent="0" marL="0">
              <a:buNone/>
            </a:pPr>
            <a:r>
              <a:rPr lang="en-US" sz="2000" b="1" dirty="0">
                <a:solidFill>
                  <a:srgbClr val="D8A73D"/>
                </a:solidFill>
                <a:latin typeface="Calibri" pitchFamily="34" charset="0"/>
                <a:ea typeface="Calibri" pitchFamily="34" charset="-122"/>
                <a:cs typeface="Calibri" pitchFamily="34" charset="-120"/>
              </a:rPr>
              <a:t>✓ runs every time</a:t>
            </a:r>
            <a:endParaRPr lang="en-US" sz="2000" dirty="0"/>
          </a:p>
        </p:txBody>
      </p:sp>
      <p:sp>
        <p:nvSpPr>
          <p:cNvPr id="35" name="click4"/>
          <p:cNvSpPr/>
          <p:nvPr/>
        </p:nvSpPr>
        <p:spPr>
          <a:xfrm>
            <a:off x="9098280" y="1554480"/>
            <a:ext cx="329184" cy="329184"/>
          </a:xfrm>
          <a:prstGeom prst="ellipse">
            <a:avLst/>
          </a:prstGeom>
          <a:solidFill>
            <a:srgbClr val="D8A73D"/>
          </a:solidFill>
          <a:ln/>
        </p:spPr>
      </p:sp>
      <p:sp>
        <p:nvSpPr>
          <p:cNvPr id="36" name="click4"/>
          <p:cNvSpPr txBox="1"/>
          <p:nvPr/>
        </p:nvSpPr>
        <p:spPr>
          <a:xfrm>
            <a:off x="9098280" y="155448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37" name="click4"/>
          <p:cNvSpPr txBox="1"/>
          <p:nvPr/>
        </p:nvSpPr>
        <p:spPr>
          <a:xfrm>
            <a:off x="9555480" y="1554480"/>
            <a:ext cx="2084832" cy="329184"/>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WHAT IS PRINTED</a:t>
            </a:r>
            <a:endParaRPr lang="en-US" sz="1300" dirty="0"/>
          </a:p>
        </p:txBody>
      </p:sp>
      <p:sp>
        <p:nvSpPr>
          <p:cNvPr id="38" name="click4 · terminal"/>
          <p:cNvSpPr/>
          <p:nvPr/>
        </p:nvSpPr>
        <p:spPr>
          <a:xfrm>
            <a:off x="9098280" y="2011680"/>
            <a:ext cx="2542032" cy="1270000"/>
          </a:xfrm>
          <a:prstGeom prst="roundRect">
            <a:avLst>
              <a:gd name="adj" fmla="val 5760"/>
            </a:avLst>
          </a:prstGeom>
          <a:solidFill>
            <a:srgbClr val="0A0A0D"/>
          </a:solidFill>
          <a:ln w="15875">
            <a:solidFill>
              <a:srgbClr val="3A3A44"/>
            </a:solidFill>
            <a:prstDash val="solid"/>
          </a:ln>
        </p:spPr>
      </p:sp>
      <p:sp>
        <p:nvSpPr>
          <p:cNvPr id="39" name="click4"/>
          <p:cNvSpPr txBox="1"/>
          <p:nvPr/>
        </p:nvSpPr>
        <p:spPr>
          <a:xfrm>
            <a:off x="9326880" y="22402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Too close</a:t>
            </a:r>
            <a:endParaRPr lang="en-US" sz="2000" dirty="0"/>
          </a:p>
        </p:txBody>
      </p:sp>
      <p:sp>
        <p:nvSpPr>
          <p:cNvPr id="40" name="click4"/>
          <p:cNvSpPr txBox="1"/>
          <p:nvPr/>
        </p:nvSpPr>
        <p:spPr>
          <a:xfrm>
            <a:off x="9326880" y="26466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Scan complete</a:t>
            </a:r>
            <a:endParaRPr lang="en-US" sz="2000" dirty="0"/>
          </a:p>
        </p:txBody>
      </p:sp>
      <p:sp>
        <p:nvSpPr>
          <p:cNvPr id="41" name="Shape 38"/>
          <p:cNvSpPr/>
          <p:nvPr/>
        </p:nvSpPr>
        <p:spPr>
          <a:xfrm>
            <a:off x="548640" y="5559552"/>
            <a:ext cx="11091672" cy="566928"/>
          </a:xfrm>
          <a:prstGeom prst="roundRect">
            <a:avLst>
              <a:gd name="adj" fmla="val 12903"/>
            </a:avLst>
          </a:prstGeom>
          <a:solidFill>
            <a:srgbClr val="2A2A32"/>
          </a:solidFill>
          <a:ln/>
        </p:spPr>
      </p:sp>
      <p:sp>
        <p:nvSpPr>
          <p:cNvPr id="42" name="Shape 39"/>
          <p:cNvSpPr/>
          <p:nvPr/>
        </p:nvSpPr>
        <p:spPr>
          <a:xfrm>
            <a:off x="731520" y="5678424"/>
            <a:ext cx="329184" cy="329184"/>
          </a:xfrm>
          <a:prstGeom prst="ellipse">
            <a:avLst/>
          </a:prstGeom>
          <a:solidFill>
            <a:srgbClr val="D8A73D"/>
          </a:solidFill>
          <a:ln/>
        </p:spPr>
      </p:sp>
      <p:sp>
        <p:nvSpPr>
          <p:cNvPr id="43" name="Text 40"/>
          <p:cNvSpPr txBox="1"/>
          <p:nvPr/>
        </p:nvSpPr>
        <p:spPr>
          <a:xfrm>
            <a:off x="731520"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44" name="Text 41"/>
          <p:cNvSpPr txBox="1"/>
          <p:nvPr/>
        </p:nvSpPr>
        <p:spPr>
          <a:xfrm>
            <a:off x="1170432"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Look in the box</a:t>
            </a:r>
            <a:endParaRPr lang="en-US" sz="1800" dirty="0"/>
          </a:p>
        </p:txBody>
      </p:sp>
      <p:sp>
        <p:nvSpPr>
          <p:cNvPr id="45" name="Shape 42"/>
          <p:cNvSpPr/>
          <p:nvPr/>
        </p:nvSpPr>
        <p:spPr>
          <a:xfrm>
            <a:off x="3504438" y="5678424"/>
            <a:ext cx="329184" cy="329184"/>
          </a:xfrm>
          <a:prstGeom prst="ellipse">
            <a:avLst/>
          </a:prstGeom>
          <a:solidFill>
            <a:srgbClr val="D8A73D"/>
          </a:solidFill>
          <a:ln/>
        </p:spPr>
      </p:sp>
      <p:sp>
        <p:nvSpPr>
          <p:cNvPr id="46" name="Text 43"/>
          <p:cNvSpPr txBox="1"/>
          <p:nvPr/>
        </p:nvSpPr>
        <p:spPr>
          <a:xfrm>
            <a:off x="3504438"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47" name="Text 44"/>
          <p:cNvSpPr txBox="1"/>
          <p:nvPr/>
        </p:nvSpPr>
        <p:spPr>
          <a:xfrm>
            <a:off x="3943350"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or False?</a:t>
            </a:r>
            <a:endParaRPr lang="en-US" sz="1800" dirty="0"/>
          </a:p>
        </p:txBody>
      </p:sp>
      <p:sp>
        <p:nvSpPr>
          <p:cNvPr id="48" name="Shape 45"/>
          <p:cNvSpPr/>
          <p:nvPr/>
        </p:nvSpPr>
        <p:spPr>
          <a:xfrm>
            <a:off x="6277356" y="5678424"/>
            <a:ext cx="329184" cy="329184"/>
          </a:xfrm>
          <a:prstGeom prst="ellipse">
            <a:avLst/>
          </a:prstGeom>
          <a:solidFill>
            <a:srgbClr val="D8A73D"/>
          </a:solidFill>
          <a:ln/>
        </p:spPr>
      </p:sp>
      <p:sp>
        <p:nvSpPr>
          <p:cNvPr id="49" name="Text 46"/>
          <p:cNvSpPr txBox="1"/>
          <p:nvPr/>
        </p:nvSpPr>
        <p:spPr>
          <a:xfrm>
            <a:off x="6277356"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50" name="Text 47"/>
          <p:cNvSpPr txBox="1"/>
          <p:nvPr/>
        </p:nvSpPr>
        <p:spPr>
          <a:xfrm>
            <a:off x="6716268"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Which lines run?</a:t>
            </a:r>
            <a:endParaRPr lang="en-US" sz="1800" dirty="0"/>
          </a:p>
        </p:txBody>
      </p:sp>
      <p:sp>
        <p:nvSpPr>
          <p:cNvPr id="51" name="Shape 48"/>
          <p:cNvSpPr/>
          <p:nvPr/>
        </p:nvSpPr>
        <p:spPr>
          <a:xfrm>
            <a:off x="9050274" y="5678424"/>
            <a:ext cx="329184" cy="329184"/>
          </a:xfrm>
          <a:prstGeom prst="ellipse">
            <a:avLst/>
          </a:prstGeom>
          <a:solidFill>
            <a:srgbClr val="D8A73D"/>
          </a:solidFill>
          <a:ln/>
        </p:spPr>
      </p:sp>
      <p:sp>
        <p:nvSpPr>
          <p:cNvPr id="52" name="Text 49"/>
          <p:cNvSpPr txBox="1"/>
          <p:nvPr/>
        </p:nvSpPr>
        <p:spPr>
          <a:xfrm>
            <a:off x="9050274"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53" name="Text 50"/>
          <p:cNvSpPr txBox="1"/>
          <p:nvPr/>
        </p:nvSpPr>
        <p:spPr>
          <a:xfrm>
            <a:off x="9489186"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What is printed?</a:t>
            </a:r>
            <a:endParaRPr lang="en-US" sz="1800" dirty="0"/>
          </a:p>
        </p:txBody>
      </p:sp>
      <p:sp>
        <p:nvSpPr>
          <p:cNvPr id="54" name="Shape 51"/>
          <p:cNvSpPr/>
          <p:nvPr/>
        </p:nvSpPr>
        <p:spPr>
          <a:xfrm>
            <a:off x="9464040" y="566928"/>
            <a:ext cx="1280160" cy="329184"/>
          </a:xfrm>
          <a:prstGeom prst="roundRect">
            <a:avLst>
              <a:gd name="adj" fmla="val 50000"/>
            </a:avLst>
          </a:prstGeom>
          <a:solidFill>
            <a:srgbClr val="D8A73D"/>
          </a:solidFill>
          <a:ln/>
        </p:spPr>
      </p:sp>
      <p:sp>
        <p:nvSpPr>
          <p:cNvPr id="55" name="Text 52"/>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I DO</a:t>
            </a:r>
            <a:endParaRPr lang="en-US" sz="1400" dirty="0"/>
          </a:p>
        </p:txBody>
      </p:sp>
      <p:pic>
        <p:nvPicPr>
          <p:cNvPr id="56"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57"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500"/>
                                        <p:tgtEl>
                                          <p:spTgt spid="37"/>
                                        </p:tgtEl>
                                      </p:cBhvr>
                                    </p:animEffect>
                                  </p:childTnLst>
                                </p:cTn>
                              </p:par>
                              <p:par>
                                <p:cTn id="71" presetID="10" presetClass="entr" presetSubtype="0" fill="hold" nodeType="with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500"/>
                                        <p:tgtEl>
                                          <p:spTgt spid="3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fade">
                                      <p:cBhvr>
                                        <p:cTn id="76" dur="500"/>
                                        <p:tgtEl>
                                          <p:spTgt spid="3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3" grpId="0" animBg="1"/>
      <p:bldP spid="25" grpId="0" animBg="1"/>
      <p:bldP spid="26" grpId="0" animBg="1"/>
      <p:bldP spid="29" grpId="0" animBg="1"/>
      <p:bldP spid="31" grpId="0" animBg="1"/>
      <p:bldP spid="32" grpId="0" animBg="1"/>
      <p:bldP spid="33" grpId="0" animBg="1"/>
      <p:bldP spid="34" grpId="0" animBg="1"/>
      <p:bldP spid="36" grpId="0" animBg="1"/>
      <p:bldP spid="37" grpId="0" animBg="1"/>
      <p:bldP spid="39" grpId="0" animBg="1"/>
      <p:bldP spid="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5" name="code"/>
          <p:cNvSpPr/>
          <p:nvPr/>
        </p:nvSpPr>
        <p:spPr>
          <a:xfrm>
            <a:off x="548640" y="1554480"/>
            <a:ext cx="4846320" cy="3803904"/>
          </a:xfrm>
          <a:prstGeom prst="roundRect">
            <a:avLst>
              <a:gd name="adj" fmla="val 1923"/>
            </a:avLst>
          </a:prstGeom>
          <a:solidFill>
            <a:srgbClr val="111115"/>
          </a:solidFill>
          <a:ln w="15875">
            <a:solidFill>
              <a:srgbClr val="3A3A44"/>
            </a:solidFill>
            <a:prstDash val="solid"/>
          </a:ln>
        </p:spPr>
      </p:sp>
      <p:sp>
        <p:nvSpPr>
          <p:cNvPr id="6" name="Text 3"/>
          <p:cNvSpPr txBox="1"/>
          <p:nvPr/>
        </p:nvSpPr>
        <p:spPr>
          <a:xfrm>
            <a:off x="658368" y="1755648"/>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1</a:t>
            </a:r>
            <a:endParaRPr lang="en-US" sz="2000" dirty="0"/>
          </a:p>
        </p:txBody>
      </p:sp>
      <p:sp>
        <p:nvSpPr>
          <p:cNvPr id="7" name="Text 4"/>
          <p:cNvSpPr txBox="1"/>
          <p:nvPr/>
        </p:nvSpPr>
        <p:spPr>
          <a:xfrm>
            <a:off x="1188720" y="1755648"/>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oxygen</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20</a:t>
            </a:r>
            <a:endParaRPr lang="en-US" sz="2400" dirty="0"/>
          </a:p>
        </p:txBody>
      </p:sp>
      <p:sp>
        <p:nvSpPr>
          <p:cNvPr id="8" name="Text 5"/>
          <p:cNvSpPr txBox="1"/>
          <p:nvPr/>
        </p:nvSpPr>
        <p:spPr>
          <a:xfrm>
            <a:off x="658368" y="2322576"/>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2</a:t>
            </a:r>
            <a:endParaRPr lang="en-US" sz="2000" dirty="0"/>
          </a:p>
        </p:txBody>
      </p:sp>
      <p:sp>
        <p:nvSpPr>
          <p:cNvPr id="9" name="Text 6"/>
          <p:cNvSpPr txBox="1"/>
          <p:nvPr/>
        </p:nvSpPr>
        <p:spPr>
          <a:xfrm>
            <a:off x="1188720" y="2322576"/>
            <a:ext cx="4114800" cy="566928"/>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if</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F5F5F3"/>
                </a:solidFill>
                <a:latin typeface="Consolas" pitchFamily="34" charset="0"/>
                <a:ea typeface="Consolas" pitchFamily="34" charset="-122"/>
                <a:cs typeface="Consolas" pitchFamily="34" charset="-120"/>
              </a:rPr>
              <a:t>oxygen</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b="1" dirty="0">
                <a:solidFill>
                  <a:srgbClr val="F5F5F3"/>
                </a:solidFill>
                <a:latin typeface="Consolas" pitchFamily="34" charset="0"/>
                <a:ea typeface="Consolas" pitchFamily="34" charset="-122"/>
                <a:cs typeface="Consolas" pitchFamily="34" charset="-120"/>
              </a:rPr>
              <a:t>&lt;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56B4E9"/>
                </a:solidFill>
                <a:latin typeface="Consolas" pitchFamily="34" charset="0"/>
                <a:ea typeface="Consolas" pitchFamily="34" charset="-122"/>
                <a:cs typeface="Consolas" pitchFamily="34" charset="-120"/>
              </a:rPr>
              <a:t>20</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0" name="Text 7"/>
          <p:cNvSpPr txBox="1"/>
          <p:nvPr/>
        </p:nvSpPr>
        <p:spPr>
          <a:xfrm>
            <a:off x="658368" y="2889504"/>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3</a:t>
            </a:r>
            <a:endParaRPr lang="en-US" sz="2000" dirty="0"/>
          </a:p>
        </p:txBody>
      </p:sp>
      <p:sp>
        <p:nvSpPr>
          <p:cNvPr id="11" name="Text 8"/>
          <p:cNvSpPr txBox="1"/>
          <p:nvPr/>
        </p:nvSpPr>
        <p:spPr>
          <a:xfrm>
            <a:off x="1188720" y="2889504"/>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"Refill now"</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2" name="Text 9"/>
          <p:cNvSpPr txBox="1"/>
          <p:nvPr/>
        </p:nvSpPr>
        <p:spPr>
          <a:xfrm>
            <a:off x="658368" y="3456432"/>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4</a:t>
            </a:r>
            <a:endParaRPr lang="en-US" sz="2000" dirty="0"/>
          </a:p>
        </p:txBody>
      </p:sp>
      <p:sp>
        <p:nvSpPr>
          <p:cNvPr id="13" name="Text 10"/>
          <p:cNvSpPr txBox="1"/>
          <p:nvPr/>
        </p:nvSpPr>
        <p:spPr>
          <a:xfrm>
            <a:off x="1188720" y="3456432"/>
            <a:ext cx="4114800" cy="566928"/>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else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4" name="Text 11"/>
          <p:cNvSpPr txBox="1"/>
          <p:nvPr/>
        </p:nvSpPr>
        <p:spPr>
          <a:xfrm>
            <a:off x="658368" y="4023360"/>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5</a:t>
            </a:r>
            <a:endParaRPr lang="en-US" sz="2000" dirty="0"/>
          </a:p>
        </p:txBody>
      </p:sp>
      <p:sp>
        <p:nvSpPr>
          <p:cNvPr id="15" name="Text 12"/>
          <p:cNvSpPr txBox="1"/>
          <p:nvPr/>
        </p:nvSpPr>
        <p:spPr>
          <a:xfrm>
            <a:off x="1188720" y="4023360"/>
            <a:ext cx="4114800" cy="566928"/>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"Oxygen OK"</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6" name="Text 13"/>
          <p:cNvSpPr txBox="1"/>
          <p:nvPr/>
        </p:nvSpPr>
        <p:spPr>
          <a:xfrm>
            <a:off x="658368" y="4590288"/>
            <a:ext cx="274320" cy="566928"/>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6</a:t>
            </a:r>
            <a:endParaRPr lang="en-US" sz="2000" dirty="0"/>
          </a:p>
        </p:txBody>
      </p:sp>
      <p:sp>
        <p:nvSpPr>
          <p:cNvPr id="17" name="Text 14"/>
          <p:cNvSpPr txBox="1"/>
          <p:nvPr/>
        </p:nvSpPr>
        <p:spPr>
          <a:xfrm>
            <a:off x="1188720" y="4590288"/>
            <a:ext cx="4114800" cy="566928"/>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"Check done"</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8" name="click1"/>
          <p:cNvSpPr/>
          <p:nvPr/>
        </p:nvSpPr>
        <p:spPr>
          <a:xfrm>
            <a:off x="5623560" y="1874520"/>
            <a:ext cx="329184" cy="329184"/>
          </a:xfrm>
          <a:prstGeom prst="ellipse">
            <a:avLst/>
          </a:prstGeom>
          <a:solidFill>
            <a:srgbClr val="D8A73D"/>
          </a:solidFill>
          <a:ln/>
        </p:spPr>
      </p:sp>
      <p:sp>
        <p:nvSpPr>
          <p:cNvPr id="19" name="click1"/>
          <p:cNvSpPr txBox="1"/>
          <p:nvPr/>
        </p:nvSpPr>
        <p:spPr>
          <a:xfrm>
            <a:off x="5623560" y="187452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20" name="click1"/>
          <p:cNvSpPr/>
          <p:nvPr/>
        </p:nvSpPr>
        <p:spPr>
          <a:xfrm>
            <a:off x="6099048" y="1810512"/>
            <a:ext cx="2148840" cy="475488"/>
          </a:xfrm>
          <a:prstGeom prst="roundRect">
            <a:avLst>
              <a:gd name="adj" fmla="val 11538"/>
            </a:avLst>
          </a:prstGeom>
          <a:solidFill>
            <a:srgbClr val="111115"/>
          </a:solidFill>
          <a:ln w="25400">
            <a:solidFill>
              <a:srgbClr val="56B4E9"/>
            </a:solidFill>
            <a:prstDash val="solid"/>
          </a:ln>
        </p:spPr>
      </p:sp>
      <p:sp>
        <p:nvSpPr>
          <p:cNvPr id="21" name="click1"/>
          <p:cNvSpPr/>
          <p:nvPr/>
        </p:nvSpPr>
        <p:spPr>
          <a:xfrm>
            <a:off x="6236208" y="1627632"/>
            <a:ext cx="1682496" cy="347472"/>
          </a:xfrm>
          <a:prstGeom prst="roundRect">
            <a:avLst>
              <a:gd name="adj" fmla="val 13158"/>
            </a:avLst>
          </a:prstGeom>
          <a:solidFill>
            <a:srgbClr val="56B4E9"/>
          </a:solidFill>
          <a:ln/>
        </p:spPr>
      </p:sp>
      <p:sp>
        <p:nvSpPr>
          <p:cNvPr id="22" name="click1"/>
          <p:cNvSpPr txBox="1"/>
          <p:nvPr/>
        </p:nvSpPr>
        <p:spPr>
          <a:xfrm>
            <a:off x="6236208" y="1627632"/>
            <a:ext cx="1682496"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oxygen  ·  int</a:t>
            </a:r>
            <a:endParaRPr lang="en-US" sz="1400" dirty="0"/>
          </a:p>
        </p:txBody>
      </p:sp>
      <p:sp>
        <p:nvSpPr>
          <p:cNvPr id="23" name="click1"/>
          <p:cNvSpPr txBox="1"/>
          <p:nvPr/>
        </p:nvSpPr>
        <p:spPr>
          <a:xfrm>
            <a:off x="6190488" y="1993392"/>
            <a:ext cx="1965960" cy="246888"/>
          </a:xfrm>
          <a:prstGeom prst="rect">
            <a:avLst/>
          </a:prstGeom>
          <a:noFill/>
          <a:ln/>
        </p:spPr>
        <p:txBody>
          <a:bodyPr wrap="square" lIns="0" tIns="0" rIns="0" bIns="0" rtlCol="0" anchor="ctr"/>
          <a:lstStyle/>
          <a:p>
            <a:pPr algn="ctr" indent="0" marL="0">
              <a:buNone/>
            </a:pPr>
            <a:r>
              <a:rPr lang="en-US" sz="2000" dirty="0">
                <a:solidFill>
                  <a:srgbClr val="F5F5F3"/>
                </a:solidFill>
                <a:latin typeface="Consolas" pitchFamily="34" charset="0"/>
                <a:ea typeface="Consolas" pitchFamily="34" charset="-122"/>
                <a:cs typeface="Consolas" pitchFamily="34" charset="-120"/>
              </a:rPr>
              <a:t>20</a:t>
            </a:r>
            <a:endParaRPr lang="en-US" sz="2000" dirty="0"/>
          </a:p>
        </p:txBody>
      </p:sp>
      <p:sp>
        <p:nvSpPr>
          <p:cNvPr id="24" name="click2"/>
          <p:cNvSpPr/>
          <p:nvPr/>
        </p:nvSpPr>
        <p:spPr>
          <a:xfrm>
            <a:off x="5623560" y="2441448"/>
            <a:ext cx="329184" cy="329184"/>
          </a:xfrm>
          <a:prstGeom prst="ellipse">
            <a:avLst/>
          </a:prstGeom>
          <a:solidFill>
            <a:srgbClr val="D8A73D"/>
          </a:solidFill>
          <a:ln/>
        </p:spPr>
      </p:sp>
      <p:sp>
        <p:nvSpPr>
          <p:cNvPr id="25" name="click2"/>
          <p:cNvSpPr txBox="1"/>
          <p:nvPr/>
        </p:nvSpPr>
        <p:spPr>
          <a:xfrm>
            <a:off x="5623560" y="2441448"/>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6" name="click2"/>
          <p:cNvSpPr txBox="1"/>
          <p:nvPr/>
        </p:nvSpPr>
        <p:spPr>
          <a:xfrm>
            <a:off x="6053328" y="2322576"/>
            <a:ext cx="1417320" cy="566928"/>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20</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&lt;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20</a:t>
            </a:r>
            <a:endParaRPr lang="en-US" sz="2200" dirty="0"/>
          </a:p>
        </p:txBody>
      </p:sp>
      <p:sp>
        <p:nvSpPr>
          <p:cNvPr id="27" name="click2"/>
          <p:cNvSpPr/>
          <p:nvPr/>
        </p:nvSpPr>
        <p:spPr>
          <a:xfrm>
            <a:off x="7516368" y="2606040"/>
            <a:ext cx="365760" cy="0"/>
          </a:xfrm>
          <a:prstGeom prst="line">
            <a:avLst/>
          </a:prstGeom>
          <a:noFill/>
          <a:ln w="28575">
            <a:solidFill>
              <a:srgbClr val="A9A9B4"/>
            </a:solidFill>
            <a:prstDash val="solid"/>
            <a:tailEnd type="triangle"/>
          </a:ln>
        </p:spPr>
      </p:sp>
      <p:sp>
        <p:nvSpPr>
          <p:cNvPr id="28" name="click2"/>
          <p:cNvSpPr/>
          <p:nvPr/>
        </p:nvSpPr>
        <p:spPr>
          <a:xfrm>
            <a:off x="7973568" y="2386584"/>
            <a:ext cx="868680" cy="438912"/>
          </a:xfrm>
          <a:prstGeom prst="roundRect">
            <a:avLst>
              <a:gd name="adj" fmla="val 16667"/>
            </a:avLst>
          </a:prstGeom>
          <a:solidFill>
            <a:srgbClr val="1E1E24"/>
          </a:solidFill>
          <a:ln w="19050">
            <a:solidFill>
              <a:srgbClr val="A9A9B4"/>
            </a:solidFill>
            <a:prstDash val="solid"/>
          </a:ln>
        </p:spPr>
      </p:sp>
      <p:sp>
        <p:nvSpPr>
          <p:cNvPr id="29" name="click2"/>
          <p:cNvSpPr txBox="1"/>
          <p:nvPr/>
        </p:nvSpPr>
        <p:spPr>
          <a:xfrm>
            <a:off x="7973568" y="2386584"/>
            <a:ext cx="868680" cy="438912"/>
          </a:xfrm>
          <a:prstGeom prst="rect">
            <a:avLst/>
          </a:prstGeom>
          <a:noFill/>
          <a:ln/>
        </p:spPr>
        <p:txBody>
          <a:bodyPr wrap="square" lIns="0" tIns="0" rIns="0" bIns="0" rtlCol="0" anchor="ctr"/>
          <a:lstStyle/>
          <a:p>
            <a:pPr algn="ctr" indent="0" marL="0">
              <a:buNone/>
            </a:pPr>
            <a:r>
              <a:rPr lang="en-US" sz="2000" b="1" dirty="0">
                <a:solidFill>
                  <a:srgbClr val="F5F5F3"/>
                </a:solidFill>
                <a:latin typeface="Consolas" pitchFamily="34" charset="0"/>
                <a:ea typeface="Consolas" pitchFamily="34" charset="-122"/>
                <a:cs typeface="Consolas" pitchFamily="34" charset="-120"/>
              </a:rPr>
              <a:t>False</a:t>
            </a:r>
            <a:endParaRPr lang="en-US" sz="2000" dirty="0"/>
          </a:p>
        </p:txBody>
      </p:sp>
      <p:sp>
        <p:nvSpPr>
          <p:cNvPr id="30" name="click3"/>
          <p:cNvSpPr/>
          <p:nvPr/>
        </p:nvSpPr>
        <p:spPr>
          <a:xfrm>
            <a:off x="5623560" y="3008376"/>
            <a:ext cx="329184" cy="329184"/>
          </a:xfrm>
          <a:prstGeom prst="ellipse">
            <a:avLst/>
          </a:prstGeom>
          <a:solidFill>
            <a:srgbClr val="D8A73D"/>
          </a:solidFill>
          <a:ln/>
        </p:spPr>
      </p:sp>
      <p:sp>
        <p:nvSpPr>
          <p:cNvPr id="31" name="click3"/>
          <p:cNvSpPr txBox="1"/>
          <p:nvPr/>
        </p:nvSpPr>
        <p:spPr>
          <a:xfrm>
            <a:off x="5623560" y="300837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2" name="click3"/>
          <p:cNvSpPr txBox="1"/>
          <p:nvPr/>
        </p:nvSpPr>
        <p:spPr>
          <a:xfrm>
            <a:off x="6053328" y="4023360"/>
            <a:ext cx="2651760" cy="566928"/>
          </a:xfrm>
          <a:prstGeom prst="rect">
            <a:avLst/>
          </a:prstGeom>
          <a:noFill/>
          <a:ln/>
        </p:spPr>
        <p:txBody>
          <a:bodyPr wrap="square" lIns="0" tIns="0" rIns="0" bIns="0" rtlCol="0" anchor="ctr"/>
          <a:lstStyle/>
          <a:p>
            <a:pPr indent="0" marL="0">
              <a:buNone/>
            </a:pPr>
            <a:r>
              <a:rPr lang="en-US" sz="2000" b="1" dirty="0">
                <a:solidFill>
                  <a:srgbClr val="7FD99A"/>
                </a:solidFill>
                <a:latin typeface="Calibri" pitchFamily="34" charset="0"/>
                <a:ea typeface="Calibri" pitchFamily="34" charset="-122"/>
                <a:cs typeface="Calibri" pitchFamily="34" charset="-120"/>
              </a:rPr>
              <a:t>✓ runs</a:t>
            </a:r>
            <a:endParaRPr lang="en-US" sz="2000" dirty="0"/>
          </a:p>
        </p:txBody>
      </p:sp>
      <p:sp>
        <p:nvSpPr>
          <p:cNvPr id="33" name="click3"/>
          <p:cNvSpPr txBox="1"/>
          <p:nvPr/>
        </p:nvSpPr>
        <p:spPr>
          <a:xfrm>
            <a:off x="6053328" y="2889504"/>
            <a:ext cx="2651760" cy="566928"/>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34" name="click3"/>
          <p:cNvSpPr txBox="1"/>
          <p:nvPr/>
        </p:nvSpPr>
        <p:spPr>
          <a:xfrm>
            <a:off x="6053328" y="4590288"/>
            <a:ext cx="2651760" cy="566928"/>
          </a:xfrm>
          <a:prstGeom prst="rect">
            <a:avLst/>
          </a:prstGeom>
          <a:noFill/>
          <a:ln/>
        </p:spPr>
        <p:txBody>
          <a:bodyPr wrap="square" lIns="0" tIns="0" rIns="0" bIns="0" rtlCol="0" anchor="ctr"/>
          <a:lstStyle/>
          <a:p>
            <a:pPr indent="0" marL="0">
              <a:buNone/>
            </a:pPr>
            <a:r>
              <a:rPr lang="en-US" sz="2000" b="1" dirty="0">
                <a:solidFill>
                  <a:srgbClr val="D8A73D"/>
                </a:solidFill>
                <a:latin typeface="Calibri" pitchFamily="34" charset="0"/>
                <a:ea typeface="Calibri" pitchFamily="34" charset="-122"/>
                <a:cs typeface="Calibri" pitchFamily="34" charset="-120"/>
              </a:rPr>
              <a:t>✓ runs every time</a:t>
            </a:r>
            <a:endParaRPr lang="en-US" sz="2000" dirty="0"/>
          </a:p>
        </p:txBody>
      </p:sp>
      <p:sp>
        <p:nvSpPr>
          <p:cNvPr id="35" name="click4"/>
          <p:cNvSpPr/>
          <p:nvPr/>
        </p:nvSpPr>
        <p:spPr>
          <a:xfrm>
            <a:off x="9098280" y="1554480"/>
            <a:ext cx="329184" cy="329184"/>
          </a:xfrm>
          <a:prstGeom prst="ellipse">
            <a:avLst/>
          </a:prstGeom>
          <a:solidFill>
            <a:srgbClr val="D8A73D"/>
          </a:solidFill>
          <a:ln/>
        </p:spPr>
      </p:sp>
      <p:sp>
        <p:nvSpPr>
          <p:cNvPr id="36" name="click4"/>
          <p:cNvSpPr txBox="1"/>
          <p:nvPr/>
        </p:nvSpPr>
        <p:spPr>
          <a:xfrm>
            <a:off x="9098280" y="155448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37" name="click4"/>
          <p:cNvSpPr txBox="1"/>
          <p:nvPr/>
        </p:nvSpPr>
        <p:spPr>
          <a:xfrm>
            <a:off x="9555480" y="1554480"/>
            <a:ext cx="2084832" cy="329184"/>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WHAT IS PRINTED</a:t>
            </a:r>
            <a:endParaRPr lang="en-US" sz="1300" dirty="0"/>
          </a:p>
        </p:txBody>
      </p:sp>
      <p:sp>
        <p:nvSpPr>
          <p:cNvPr id="38" name="click4 · terminal"/>
          <p:cNvSpPr/>
          <p:nvPr/>
        </p:nvSpPr>
        <p:spPr>
          <a:xfrm>
            <a:off x="9098280" y="2011680"/>
            <a:ext cx="2542032" cy="1270000"/>
          </a:xfrm>
          <a:prstGeom prst="roundRect">
            <a:avLst>
              <a:gd name="adj" fmla="val 5760"/>
            </a:avLst>
          </a:prstGeom>
          <a:solidFill>
            <a:srgbClr val="0A0A0D"/>
          </a:solidFill>
          <a:ln w="15875">
            <a:solidFill>
              <a:srgbClr val="3A3A44"/>
            </a:solidFill>
            <a:prstDash val="solid"/>
          </a:ln>
        </p:spPr>
      </p:sp>
      <p:sp>
        <p:nvSpPr>
          <p:cNvPr id="39" name="click4"/>
          <p:cNvSpPr txBox="1"/>
          <p:nvPr/>
        </p:nvSpPr>
        <p:spPr>
          <a:xfrm>
            <a:off x="9326880" y="22402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Oxygen OK</a:t>
            </a:r>
            <a:endParaRPr lang="en-US" sz="2000" dirty="0"/>
          </a:p>
        </p:txBody>
      </p:sp>
      <p:sp>
        <p:nvSpPr>
          <p:cNvPr id="40" name="click4"/>
          <p:cNvSpPr txBox="1"/>
          <p:nvPr/>
        </p:nvSpPr>
        <p:spPr>
          <a:xfrm>
            <a:off x="9326880" y="26466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Check done</a:t>
            </a:r>
            <a:endParaRPr lang="en-US" sz="2000" dirty="0"/>
          </a:p>
        </p:txBody>
      </p:sp>
      <p:sp>
        <p:nvSpPr>
          <p:cNvPr id="41" name="Shape 38"/>
          <p:cNvSpPr/>
          <p:nvPr/>
        </p:nvSpPr>
        <p:spPr>
          <a:xfrm>
            <a:off x="548640" y="5559552"/>
            <a:ext cx="11091672" cy="566928"/>
          </a:xfrm>
          <a:prstGeom prst="roundRect">
            <a:avLst>
              <a:gd name="adj" fmla="val 12903"/>
            </a:avLst>
          </a:prstGeom>
          <a:solidFill>
            <a:srgbClr val="2A2A32"/>
          </a:solidFill>
          <a:ln/>
        </p:spPr>
      </p:sp>
      <p:sp>
        <p:nvSpPr>
          <p:cNvPr id="42" name="Shape 39"/>
          <p:cNvSpPr/>
          <p:nvPr/>
        </p:nvSpPr>
        <p:spPr>
          <a:xfrm>
            <a:off x="731520" y="5678424"/>
            <a:ext cx="329184" cy="329184"/>
          </a:xfrm>
          <a:prstGeom prst="ellipse">
            <a:avLst/>
          </a:prstGeom>
          <a:solidFill>
            <a:srgbClr val="D8A73D"/>
          </a:solidFill>
          <a:ln/>
        </p:spPr>
      </p:sp>
      <p:sp>
        <p:nvSpPr>
          <p:cNvPr id="43" name="Text 40"/>
          <p:cNvSpPr txBox="1"/>
          <p:nvPr/>
        </p:nvSpPr>
        <p:spPr>
          <a:xfrm>
            <a:off x="731520"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44" name="Text 41"/>
          <p:cNvSpPr txBox="1"/>
          <p:nvPr/>
        </p:nvSpPr>
        <p:spPr>
          <a:xfrm>
            <a:off x="1170432"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Look in the box</a:t>
            </a:r>
            <a:endParaRPr lang="en-US" sz="1800" dirty="0"/>
          </a:p>
        </p:txBody>
      </p:sp>
      <p:sp>
        <p:nvSpPr>
          <p:cNvPr id="45" name="Shape 42"/>
          <p:cNvSpPr/>
          <p:nvPr/>
        </p:nvSpPr>
        <p:spPr>
          <a:xfrm>
            <a:off x="3504438" y="5678424"/>
            <a:ext cx="329184" cy="329184"/>
          </a:xfrm>
          <a:prstGeom prst="ellipse">
            <a:avLst/>
          </a:prstGeom>
          <a:solidFill>
            <a:srgbClr val="D8A73D"/>
          </a:solidFill>
          <a:ln/>
        </p:spPr>
      </p:sp>
      <p:sp>
        <p:nvSpPr>
          <p:cNvPr id="46" name="Text 43"/>
          <p:cNvSpPr txBox="1"/>
          <p:nvPr/>
        </p:nvSpPr>
        <p:spPr>
          <a:xfrm>
            <a:off x="3504438"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47" name="Text 44"/>
          <p:cNvSpPr txBox="1"/>
          <p:nvPr/>
        </p:nvSpPr>
        <p:spPr>
          <a:xfrm>
            <a:off x="3943350"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or False?</a:t>
            </a:r>
            <a:endParaRPr lang="en-US" sz="1800" dirty="0"/>
          </a:p>
        </p:txBody>
      </p:sp>
      <p:sp>
        <p:nvSpPr>
          <p:cNvPr id="48" name="Shape 45"/>
          <p:cNvSpPr/>
          <p:nvPr/>
        </p:nvSpPr>
        <p:spPr>
          <a:xfrm>
            <a:off x="6277356" y="5678424"/>
            <a:ext cx="329184" cy="329184"/>
          </a:xfrm>
          <a:prstGeom prst="ellipse">
            <a:avLst/>
          </a:prstGeom>
          <a:solidFill>
            <a:srgbClr val="D8A73D"/>
          </a:solidFill>
          <a:ln/>
        </p:spPr>
      </p:sp>
      <p:sp>
        <p:nvSpPr>
          <p:cNvPr id="49" name="Text 46"/>
          <p:cNvSpPr txBox="1"/>
          <p:nvPr/>
        </p:nvSpPr>
        <p:spPr>
          <a:xfrm>
            <a:off x="6277356"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50" name="Text 47"/>
          <p:cNvSpPr txBox="1"/>
          <p:nvPr/>
        </p:nvSpPr>
        <p:spPr>
          <a:xfrm>
            <a:off x="6716268"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Which lines run?</a:t>
            </a:r>
            <a:endParaRPr lang="en-US" sz="1800" dirty="0"/>
          </a:p>
        </p:txBody>
      </p:sp>
      <p:sp>
        <p:nvSpPr>
          <p:cNvPr id="51" name="Shape 48"/>
          <p:cNvSpPr/>
          <p:nvPr/>
        </p:nvSpPr>
        <p:spPr>
          <a:xfrm>
            <a:off x="9050274" y="5678424"/>
            <a:ext cx="329184" cy="329184"/>
          </a:xfrm>
          <a:prstGeom prst="ellipse">
            <a:avLst/>
          </a:prstGeom>
          <a:solidFill>
            <a:srgbClr val="D8A73D"/>
          </a:solidFill>
          <a:ln/>
        </p:spPr>
      </p:sp>
      <p:sp>
        <p:nvSpPr>
          <p:cNvPr id="52" name="Text 49"/>
          <p:cNvSpPr txBox="1"/>
          <p:nvPr/>
        </p:nvSpPr>
        <p:spPr>
          <a:xfrm>
            <a:off x="9050274" y="5678424"/>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53" name="Text 50"/>
          <p:cNvSpPr txBox="1"/>
          <p:nvPr/>
        </p:nvSpPr>
        <p:spPr>
          <a:xfrm>
            <a:off x="9489186" y="5559552"/>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What is printed?</a:t>
            </a:r>
            <a:endParaRPr lang="en-US" sz="1800" dirty="0"/>
          </a:p>
        </p:txBody>
      </p:sp>
      <p:sp>
        <p:nvSpPr>
          <p:cNvPr id="54" name="Shape 51"/>
          <p:cNvSpPr/>
          <p:nvPr/>
        </p:nvSpPr>
        <p:spPr>
          <a:xfrm>
            <a:off x="9464040" y="566928"/>
            <a:ext cx="1280160" cy="329184"/>
          </a:xfrm>
          <a:prstGeom prst="roundRect">
            <a:avLst>
              <a:gd name="adj" fmla="val 50000"/>
            </a:avLst>
          </a:prstGeom>
          <a:solidFill>
            <a:srgbClr val="D8A73D"/>
          </a:solidFill>
          <a:ln/>
        </p:spPr>
      </p:sp>
      <p:sp>
        <p:nvSpPr>
          <p:cNvPr id="55" name="Text 52"/>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WE DO</a:t>
            </a:r>
            <a:endParaRPr lang="en-US" sz="1400" dirty="0"/>
          </a:p>
        </p:txBody>
      </p:sp>
      <p:pic>
        <p:nvPicPr>
          <p:cNvPr id="56"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
        <p:nvSpPr>
          <p:cNvPr id="57"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500"/>
                                        <p:tgtEl>
                                          <p:spTgt spid="37"/>
                                        </p:tgtEl>
                                      </p:cBhvr>
                                    </p:animEffect>
                                  </p:childTnLst>
                                </p:cTn>
                              </p:par>
                              <p:par>
                                <p:cTn id="71" presetID="10" presetClass="entr" presetSubtype="0" fill="hold" nodeType="with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500"/>
                                        <p:tgtEl>
                                          <p:spTgt spid="3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fade">
                                      <p:cBhvr>
                                        <p:cTn id="76" dur="500"/>
                                        <p:tgtEl>
                                          <p:spTgt spid="3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3" grpId="0" animBg="1"/>
      <p:bldP spid="25" grpId="0" animBg="1"/>
      <p:bldP spid="26" grpId="0" animBg="1"/>
      <p:bldP spid="29" grpId="0" animBg="1"/>
      <p:bldP spid="31" grpId="0" animBg="1"/>
      <p:bldP spid="32" grpId="0" animBg="1"/>
      <p:bldP spid="33" grpId="0" animBg="1"/>
      <p:bldP spid="34" grpId="0" animBg="1"/>
      <p:bldP spid="36" grpId="0" animBg="1"/>
      <p:bldP spid="37" grpId="0" animBg="1"/>
      <p:bldP spid="39" grpId="0" animBg="1"/>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5" name="Shape 2"/>
          <p:cNvSpPr/>
          <p:nvPr/>
        </p:nvSpPr>
        <p:spPr>
          <a:xfrm>
            <a:off x="548640" y="1508760"/>
            <a:ext cx="384048" cy="384048"/>
          </a:xfrm>
          <a:prstGeom prst="ellipse">
            <a:avLst/>
          </a:prstGeom>
          <a:solidFill>
            <a:srgbClr val="D8A73D"/>
          </a:solidFill>
          <a:ln/>
        </p:spPr>
      </p:sp>
      <p:sp>
        <p:nvSpPr>
          <p:cNvPr id="6" name="Text 3"/>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7" name="code"/>
          <p:cNvSpPr/>
          <p:nvPr/>
        </p:nvSpPr>
        <p:spPr>
          <a:xfrm>
            <a:off x="548640" y="2011680"/>
            <a:ext cx="3511296" cy="2816352"/>
          </a:xfrm>
          <a:prstGeom prst="roundRect">
            <a:avLst>
              <a:gd name="adj" fmla="val 2597"/>
            </a:avLst>
          </a:prstGeom>
          <a:solidFill>
            <a:srgbClr val="111115"/>
          </a:solidFill>
          <a:ln w="15875">
            <a:solidFill>
              <a:srgbClr val="3A3A44"/>
            </a:solidFill>
            <a:prstDash val="solid"/>
          </a:ln>
        </p:spPr>
      </p:sp>
      <p:sp>
        <p:nvSpPr>
          <p:cNvPr id="8" name="Text 5"/>
          <p:cNvSpPr txBox="1"/>
          <p:nvPr/>
        </p:nvSpPr>
        <p:spPr>
          <a:xfrm>
            <a:off x="731520"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level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3</a:t>
            </a:r>
            <a:endParaRPr lang="en-US" sz="2000" dirty="0"/>
          </a:p>
        </p:txBody>
      </p:sp>
      <p:sp>
        <p:nvSpPr>
          <p:cNvPr id="9" name="Text 6"/>
          <p:cNvSpPr txBox="1"/>
          <p:nvPr/>
        </p:nvSpPr>
        <p:spPr>
          <a:xfrm>
            <a:off x="731520"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level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0" name="Text 7"/>
          <p:cNvSpPr txBox="1"/>
          <p:nvPr/>
        </p:nvSpPr>
        <p:spPr>
          <a:xfrm>
            <a:off x="731520"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"Locked"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8"/>
          <p:cNvSpPr txBox="1"/>
          <p:nvPr/>
        </p:nvSpPr>
        <p:spPr>
          <a:xfrm>
            <a:off x="731520"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2" name="Text 9"/>
          <p:cNvSpPr txBox="1"/>
          <p:nvPr/>
        </p:nvSpPr>
        <p:spPr>
          <a:xfrm>
            <a:off x="731520"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"Open"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3" name="Shape 10"/>
          <p:cNvSpPr/>
          <p:nvPr/>
        </p:nvSpPr>
        <p:spPr>
          <a:xfrm>
            <a:off x="4334256" y="1508760"/>
            <a:ext cx="384048" cy="384048"/>
          </a:xfrm>
          <a:prstGeom prst="ellipse">
            <a:avLst/>
          </a:prstGeom>
          <a:solidFill>
            <a:srgbClr val="D8A73D"/>
          </a:solidFill>
          <a:ln/>
        </p:spPr>
      </p:sp>
      <p:sp>
        <p:nvSpPr>
          <p:cNvPr id="14" name="Text 11"/>
          <p:cNvSpPr txBox="1"/>
          <p:nvPr/>
        </p:nvSpPr>
        <p:spPr>
          <a:xfrm>
            <a:off x="4334256"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5" name="code"/>
          <p:cNvSpPr/>
          <p:nvPr/>
        </p:nvSpPr>
        <p:spPr>
          <a:xfrm>
            <a:off x="4334256" y="2011680"/>
            <a:ext cx="3511296" cy="2816352"/>
          </a:xfrm>
          <a:prstGeom prst="roundRect">
            <a:avLst>
              <a:gd name="adj" fmla="val 2597"/>
            </a:avLst>
          </a:prstGeom>
          <a:solidFill>
            <a:srgbClr val="111115"/>
          </a:solidFill>
          <a:ln w="15875">
            <a:solidFill>
              <a:srgbClr val="3A3A44"/>
            </a:solidFill>
            <a:prstDash val="solid"/>
          </a:ln>
        </p:spPr>
      </p:sp>
      <p:sp>
        <p:nvSpPr>
          <p:cNvPr id="16" name="Text 13"/>
          <p:cNvSpPr txBox="1"/>
          <p:nvPr/>
        </p:nvSpPr>
        <p:spPr>
          <a:xfrm>
            <a:off x="4517136"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power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50</a:t>
            </a:r>
            <a:endParaRPr lang="en-US" sz="2000" dirty="0"/>
          </a:p>
        </p:txBody>
      </p:sp>
      <p:sp>
        <p:nvSpPr>
          <p:cNvPr id="17" name="Text 14"/>
          <p:cNvSpPr txBox="1"/>
          <p:nvPr/>
        </p:nvSpPr>
        <p:spPr>
          <a:xfrm>
            <a:off x="4517136"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power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50</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8" name="Text 15"/>
          <p:cNvSpPr txBox="1"/>
          <p:nvPr/>
        </p:nvSpPr>
        <p:spPr>
          <a:xfrm>
            <a:off x="4517136"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"Systems on"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9" name="Text 16"/>
          <p:cNvSpPr txBox="1"/>
          <p:nvPr/>
        </p:nvSpPr>
        <p:spPr>
          <a:xfrm>
            <a:off x="4517136"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0" name="Text 17"/>
          <p:cNvSpPr txBox="1"/>
          <p:nvPr/>
        </p:nvSpPr>
        <p:spPr>
          <a:xfrm>
            <a:off x="4517136"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"Backup"</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1" name="Text 18"/>
          <p:cNvSpPr txBox="1"/>
          <p:nvPr/>
        </p:nvSpPr>
        <p:spPr>
          <a:xfrm>
            <a:off x="4517136" y="4224528"/>
            <a:ext cx="3236976" cy="402336"/>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"Done"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2" name="Shape 19"/>
          <p:cNvSpPr/>
          <p:nvPr/>
        </p:nvSpPr>
        <p:spPr>
          <a:xfrm>
            <a:off x="8119872" y="1508760"/>
            <a:ext cx="384048" cy="384048"/>
          </a:xfrm>
          <a:prstGeom prst="ellipse">
            <a:avLst/>
          </a:prstGeom>
          <a:solidFill>
            <a:srgbClr val="D8A73D"/>
          </a:solidFill>
          <a:ln/>
        </p:spPr>
      </p:sp>
      <p:sp>
        <p:nvSpPr>
          <p:cNvPr id="23" name="Text 20"/>
          <p:cNvSpPr txBox="1"/>
          <p:nvPr/>
        </p:nvSpPr>
        <p:spPr>
          <a:xfrm>
            <a:off x="8119872"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4" name="code"/>
          <p:cNvSpPr/>
          <p:nvPr/>
        </p:nvSpPr>
        <p:spPr>
          <a:xfrm>
            <a:off x="8119872" y="2011680"/>
            <a:ext cx="3511296" cy="2816352"/>
          </a:xfrm>
          <a:prstGeom prst="roundRect">
            <a:avLst>
              <a:gd name="adj" fmla="val 2597"/>
            </a:avLst>
          </a:prstGeom>
          <a:solidFill>
            <a:srgbClr val="111115"/>
          </a:solidFill>
          <a:ln w="15875">
            <a:solidFill>
              <a:srgbClr val="3A3A44"/>
            </a:solidFill>
            <a:prstDash val="solid"/>
          </a:ln>
        </p:spPr>
      </p:sp>
      <p:sp>
        <p:nvSpPr>
          <p:cNvPr id="25" name="Text 22"/>
          <p:cNvSpPr txBox="1"/>
          <p:nvPr/>
        </p:nvSpPr>
        <p:spPr>
          <a:xfrm>
            <a:off x="8302752"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"n"</a:t>
            </a:r>
            <a:endParaRPr lang="en-US" sz="2000" dirty="0"/>
          </a:p>
        </p:txBody>
      </p:sp>
      <p:sp>
        <p:nvSpPr>
          <p:cNvPr id="26" name="Text 23"/>
          <p:cNvSpPr txBox="1"/>
          <p:nvPr/>
        </p:nvSpPr>
        <p:spPr>
          <a:xfrm>
            <a:off x="8302752"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"y"</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7" name="Text 24"/>
          <p:cNvSpPr txBox="1"/>
          <p:nvPr/>
        </p:nvSpPr>
        <p:spPr>
          <a:xfrm>
            <a:off x="8302752"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"Sent"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8" name="Text 25"/>
          <p:cNvSpPr txBox="1"/>
          <p:nvPr/>
        </p:nvSpPr>
        <p:spPr>
          <a:xfrm>
            <a:off x="8302752"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9" name="Text 26"/>
          <p:cNvSpPr txBox="1"/>
          <p:nvPr/>
        </p:nvSpPr>
        <p:spPr>
          <a:xfrm>
            <a:off x="8302752"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"Cancelled"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0" name="Text 27"/>
          <p:cNvSpPr txBox="1"/>
          <p:nvPr/>
        </p:nvSpPr>
        <p:spPr>
          <a:xfrm>
            <a:off x="8302752" y="4224528"/>
            <a:ext cx="3236976" cy="402336"/>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"Done"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1" name="Shape 28"/>
          <p:cNvSpPr/>
          <p:nvPr/>
        </p:nvSpPr>
        <p:spPr>
          <a:xfrm>
            <a:off x="548640" y="5148072"/>
            <a:ext cx="11091672" cy="914400"/>
          </a:xfrm>
          <a:prstGeom prst="roundRect">
            <a:avLst>
              <a:gd name="adj" fmla="val 8000"/>
            </a:avLst>
          </a:prstGeom>
          <a:solidFill>
            <a:srgbClr val="1E1E24"/>
          </a:solidFill>
          <a:ln w="25400">
            <a:solidFill>
              <a:srgbClr val="D8A73D"/>
            </a:solidFill>
            <a:prstDash val="solid"/>
          </a:ln>
        </p:spPr>
      </p:sp>
      <p:sp>
        <p:nvSpPr>
          <p:cNvPr id="32" name="Text 29"/>
          <p:cNvSpPr txBox="1"/>
          <p:nvPr/>
        </p:nvSpPr>
        <p:spPr>
          <a:xfrm>
            <a:off x="914400" y="5148072"/>
            <a:ext cx="10332720" cy="91440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On your board: </a:t>
            </a:r>
            <a:pPr indent="0" marL="0">
              <a:buNone/>
            </a:pPr>
            <a:r>
              <a:rPr lang="en-US" sz="2400" dirty="0">
                <a:solidFill>
                  <a:srgbClr val="F5F5F3"/>
                </a:solidFill>
                <a:latin typeface="Calibri" pitchFamily="34" charset="0"/>
                <a:ea typeface="Calibri" pitchFamily="34" charset="-122"/>
                <a:cs typeface="Calibri" pitchFamily="34" charset="-120"/>
              </a:rPr>
              <a:t>write exactly what each program prints.</a:t>
            </a:r>
            <a:endParaRPr lang="en-US" sz="2400" dirty="0"/>
          </a:p>
        </p:txBody>
      </p:sp>
      <p:sp>
        <p:nvSpPr>
          <p:cNvPr id="33" name="Shape 30"/>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34" name="Text 31"/>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4 MIN</a:t>
            </a:r>
            <a:endParaRPr lang="en-US" sz="1400" dirty="0"/>
          </a:p>
        </p:txBody>
      </p:sp>
      <p:sp>
        <p:nvSpPr>
          <p:cNvPr id="35" name="Shape 32"/>
          <p:cNvSpPr/>
          <p:nvPr/>
        </p:nvSpPr>
        <p:spPr>
          <a:xfrm>
            <a:off x="8046720" y="566928"/>
            <a:ext cx="1280160" cy="329184"/>
          </a:xfrm>
          <a:prstGeom prst="roundRect">
            <a:avLst>
              <a:gd name="adj" fmla="val 50000"/>
            </a:avLst>
          </a:prstGeom>
          <a:solidFill>
            <a:srgbClr val="D8A73D"/>
          </a:solidFill>
          <a:ln/>
        </p:spPr>
      </p:sp>
      <p:sp>
        <p:nvSpPr>
          <p:cNvPr id="36" name="Text 33"/>
          <p:cNvSpPr txBox="1"/>
          <p:nvPr/>
        </p:nvSpPr>
        <p:spPr>
          <a:xfrm>
            <a:off x="804672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YOU DO</a:t>
            </a:r>
            <a:endParaRPr lang="en-US" sz="1400" dirty="0"/>
          </a:p>
        </p:txBody>
      </p:sp>
      <p:pic>
        <p:nvPicPr>
          <p:cNvPr id="37"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
        <p:nvSpPr>
          <p:cNvPr id="38"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 — answers</a:t>
            </a:r>
            <a:endParaRPr lang="en-US" sz="3600" dirty="0"/>
          </a:p>
        </p:txBody>
      </p:sp>
      <p:sp>
        <p:nvSpPr>
          <p:cNvPr id="5" name="Shape 2"/>
          <p:cNvSpPr/>
          <p:nvPr/>
        </p:nvSpPr>
        <p:spPr>
          <a:xfrm>
            <a:off x="548640" y="1508760"/>
            <a:ext cx="384048" cy="384048"/>
          </a:xfrm>
          <a:prstGeom prst="ellipse">
            <a:avLst/>
          </a:prstGeom>
          <a:solidFill>
            <a:srgbClr val="D8A73D"/>
          </a:solidFill>
          <a:ln/>
        </p:spPr>
      </p:sp>
      <p:sp>
        <p:nvSpPr>
          <p:cNvPr id="6" name="Text 3"/>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051560"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3 &gt; 2</a:t>
            </a:r>
            <a:pPr indent="0" marL="0">
              <a:buNone/>
            </a:pPr>
            <a:r>
              <a:rPr lang="en-US" sz="1800" dirty="0">
                <a:solidFill>
                  <a:srgbClr val="F5F5F3"/>
                </a:solidFill>
                <a:latin typeface="Calibri" pitchFamily="34" charset="0"/>
                <a:ea typeface="Calibri" pitchFamily="34" charset="-122"/>
                <a:cs typeface="Calibri" pitchFamily="34" charset="-120"/>
              </a:rPr>
              <a:t> is True</a:t>
            </a:r>
            <a:endParaRPr lang="en-US" sz="1800" dirty="0"/>
          </a:p>
        </p:txBody>
      </p:sp>
      <p:sp>
        <p:nvSpPr>
          <p:cNvPr id="8" name="code"/>
          <p:cNvSpPr/>
          <p:nvPr/>
        </p:nvSpPr>
        <p:spPr>
          <a:xfrm>
            <a:off x="548640" y="2011680"/>
            <a:ext cx="3511296" cy="2816352"/>
          </a:xfrm>
          <a:prstGeom prst="roundRect">
            <a:avLst>
              <a:gd name="adj" fmla="val 2597"/>
            </a:avLst>
          </a:prstGeom>
          <a:solidFill>
            <a:srgbClr val="111115"/>
          </a:solidFill>
          <a:ln w="15875">
            <a:solidFill>
              <a:srgbClr val="3A3A44"/>
            </a:solidFill>
            <a:prstDash val="solid"/>
          </a:ln>
        </p:spPr>
      </p:sp>
      <p:sp>
        <p:nvSpPr>
          <p:cNvPr id="9" name="Text 6"/>
          <p:cNvSpPr txBox="1"/>
          <p:nvPr/>
        </p:nvSpPr>
        <p:spPr>
          <a:xfrm>
            <a:off x="731520"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level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3</a:t>
            </a:r>
            <a:endParaRPr lang="en-US" sz="2000" dirty="0"/>
          </a:p>
        </p:txBody>
      </p:sp>
      <p:sp>
        <p:nvSpPr>
          <p:cNvPr id="10" name="Text 7"/>
          <p:cNvSpPr txBox="1"/>
          <p:nvPr/>
        </p:nvSpPr>
        <p:spPr>
          <a:xfrm>
            <a:off x="731520"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level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8"/>
          <p:cNvSpPr txBox="1"/>
          <p:nvPr/>
        </p:nvSpPr>
        <p:spPr>
          <a:xfrm>
            <a:off x="731520"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"Locked"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2" name="Text 9"/>
          <p:cNvSpPr txBox="1"/>
          <p:nvPr/>
        </p:nvSpPr>
        <p:spPr>
          <a:xfrm>
            <a:off x="731520"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3" name="Text 10"/>
          <p:cNvSpPr txBox="1"/>
          <p:nvPr/>
        </p:nvSpPr>
        <p:spPr>
          <a:xfrm>
            <a:off x="731520"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"Open"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4" name="terminal"/>
          <p:cNvSpPr/>
          <p:nvPr/>
        </p:nvSpPr>
        <p:spPr>
          <a:xfrm>
            <a:off x="548640" y="5010912"/>
            <a:ext cx="3511296" cy="822960"/>
          </a:xfrm>
          <a:prstGeom prst="roundRect">
            <a:avLst>
              <a:gd name="adj" fmla="val 8889"/>
            </a:avLst>
          </a:prstGeom>
          <a:solidFill>
            <a:srgbClr val="0A0A0D"/>
          </a:solidFill>
          <a:ln w="15875">
            <a:solidFill>
              <a:srgbClr val="3A3A44"/>
            </a:solidFill>
            <a:prstDash val="solid"/>
          </a:ln>
        </p:spPr>
      </p:sp>
      <p:sp>
        <p:nvSpPr>
          <p:cNvPr id="15" name="Text 12"/>
          <p:cNvSpPr txBox="1"/>
          <p:nvPr/>
        </p:nvSpPr>
        <p:spPr>
          <a:xfrm>
            <a:off x="777240" y="5239512"/>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Locked</a:t>
            </a:r>
            <a:endParaRPr lang="en-US" sz="1800" dirty="0"/>
          </a:p>
        </p:txBody>
      </p:sp>
      <p:sp>
        <p:nvSpPr>
          <p:cNvPr id="16" name="Shape 13"/>
          <p:cNvSpPr/>
          <p:nvPr/>
        </p:nvSpPr>
        <p:spPr>
          <a:xfrm>
            <a:off x="4334256" y="1508760"/>
            <a:ext cx="384048" cy="384048"/>
          </a:xfrm>
          <a:prstGeom prst="ellipse">
            <a:avLst/>
          </a:prstGeom>
          <a:solidFill>
            <a:srgbClr val="D8A73D"/>
          </a:solidFill>
          <a:ln/>
        </p:spPr>
      </p:sp>
      <p:sp>
        <p:nvSpPr>
          <p:cNvPr id="17" name="Text 14"/>
          <p:cNvSpPr txBox="1"/>
          <p:nvPr/>
        </p:nvSpPr>
        <p:spPr>
          <a:xfrm>
            <a:off x="4334256"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8" name="Text 15"/>
          <p:cNvSpPr txBox="1"/>
          <p:nvPr/>
        </p:nvSpPr>
        <p:spPr>
          <a:xfrm>
            <a:off x="4837176"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50 &gt;= 50</a:t>
            </a:r>
            <a:pPr indent="0" marL="0">
              <a:buNone/>
            </a:pPr>
            <a:r>
              <a:rPr lang="en-US" sz="1800" dirty="0">
                <a:solidFill>
                  <a:srgbClr val="F5F5F3"/>
                </a:solidFill>
                <a:latin typeface="Calibri" pitchFamily="34" charset="0"/>
                <a:ea typeface="Calibri" pitchFamily="34" charset="-122"/>
                <a:cs typeface="Calibri" pitchFamily="34" charset="-120"/>
              </a:rPr>
              <a:t> is True</a:t>
            </a:r>
            <a:endParaRPr lang="en-US" sz="1800" dirty="0"/>
          </a:p>
        </p:txBody>
      </p:sp>
      <p:sp>
        <p:nvSpPr>
          <p:cNvPr id="19" name="code"/>
          <p:cNvSpPr/>
          <p:nvPr/>
        </p:nvSpPr>
        <p:spPr>
          <a:xfrm>
            <a:off x="4334256" y="2011680"/>
            <a:ext cx="3511296" cy="2816352"/>
          </a:xfrm>
          <a:prstGeom prst="roundRect">
            <a:avLst>
              <a:gd name="adj" fmla="val 2597"/>
            </a:avLst>
          </a:prstGeom>
          <a:solidFill>
            <a:srgbClr val="111115"/>
          </a:solidFill>
          <a:ln w="15875">
            <a:solidFill>
              <a:srgbClr val="3A3A44"/>
            </a:solidFill>
            <a:prstDash val="solid"/>
          </a:ln>
        </p:spPr>
      </p:sp>
      <p:sp>
        <p:nvSpPr>
          <p:cNvPr id="20" name="Text 17"/>
          <p:cNvSpPr txBox="1"/>
          <p:nvPr/>
        </p:nvSpPr>
        <p:spPr>
          <a:xfrm>
            <a:off x="4517136"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power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50</a:t>
            </a:r>
            <a:endParaRPr lang="en-US" sz="2000" dirty="0"/>
          </a:p>
        </p:txBody>
      </p:sp>
      <p:sp>
        <p:nvSpPr>
          <p:cNvPr id="21" name="Text 18"/>
          <p:cNvSpPr txBox="1"/>
          <p:nvPr/>
        </p:nvSpPr>
        <p:spPr>
          <a:xfrm>
            <a:off x="4517136"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power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50</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2" name="Text 19"/>
          <p:cNvSpPr txBox="1"/>
          <p:nvPr/>
        </p:nvSpPr>
        <p:spPr>
          <a:xfrm>
            <a:off x="4517136"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"Systems on"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3" name="Text 20"/>
          <p:cNvSpPr txBox="1"/>
          <p:nvPr/>
        </p:nvSpPr>
        <p:spPr>
          <a:xfrm>
            <a:off x="4517136"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4" name="Text 21"/>
          <p:cNvSpPr txBox="1"/>
          <p:nvPr/>
        </p:nvSpPr>
        <p:spPr>
          <a:xfrm>
            <a:off x="4517136"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"Backup"</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5" name="Text 22"/>
          <p:cNvSpPr txBox="1"/>
          <p:nvPr/>
        </p:nvSpPr>
        <p:spPr>
          <a:xfrm>
            <a:off x="4517136" y="4224528"/>
            <a:ext cx="3236976" cy="402336"/>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"Done"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6" name="terminal"/>
          <p:cNvSpPr/>
          <p:nvPr/>
        </p:nvSpPr>
        <p:spPr>
          <a:xfrm>
            <a:off x="4334256" y="5010912"/>
            <a:ext cx="3511296" cy="1188720"/>
          </a:xfrm>
          <a:prstGeom prst="roundRect">
            <a:avLst>
              <a:gd name="adj" fmla="val 6154"/>
            </a:avLst>
          </a:prstGeom>
          <a:solidFill>
            <a:srgbClr val="0A0A0D"/>
          </a:solidFill>
          <a:ln w="15875">
            <a:solidFill>
              <a:srgbClr val="3A3A44"/>
            </a:solidFill>
            <a:prstDash val="solid"/>
          </a:ln>
        </p:spPr>
      </p:sp>
      <p:sp>
        <p:nvSpPr>
          <p:cNvPr id="27" name="Text 24"/>
          <p:cNvSpPr txBox="1"/>
          <p:nvPr/>
        </p:nvSpPr>
        <p:spPr>
          <a:xfrm>
            <a:off x="4562856" y="5239512"/>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Systems on</a:t>
            </a:r>
            <a:endParaRPr lang="en-US" sz="1800" dirty="0"/>
          </a:p>
        </p:txBody>
      </p:sp>
      <p:sp>
        <p:nvSpPr>
          <p:cNvPr id="28" name="Text 25"/>
          <p:cNvSpPr txBox="1"/>
          <p:nvPr/>
        </p:nvSpPr>
        <p:spPr>
          <a:xfrm>
            <a:off x="4562856" y="5605272"/>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Done</a:t>
            </a:r>
            <a:endParaRPr lang="en-US" sz="1800" dirty="0"/>
          </a:p>
        </p:txBody>
      </p:sp>
      <p:sp>
        <p:nvSpPr>
          <p:cNvPr id="29" name="Shape 26"/>
          <p:cNvSpPr/>
          <p:nvPr/>
        </p:nvSpPr>
        <p:spPr>
          <a:xfrm>
            <a:off x="8119872" y="1508760"/>
            <a:ext cx="384048" cy="384048"/>
          </a:xfrm>
          <a:prstGeom prst="ellipse">
            <a:avLst/>
          </a:prstGeom>
          <a:solidFill>
            <a:srgbClr val="D8A73D"/>
          </a:solidFill>
          <a:ln/>
        </p:spPr>
      </p:sp>
      <p:sp>
        <p:nvSpPr>
          <p:cNvPr id="30" name="Text 27"/>
          <p:cNvSpPr txBox="1"/>
          <p:nvPr/>
        </p:nvSpPr>
        <p:spPr>
          <a:xfrm>
            <a:off x="8119872"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1" name="Text 28"/>
          <p:cNvSpPr txBox="1"/>
          <p:nvPr/>
        </p:nvSpPr>
        <p:spPr>
          <a:xfrm>
            <a:off x="8622792"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"n" == "y"</a:t>
            </a:r>
            <a:pPr indent="0" marL="0">
              <a:buNone/>
            </a:pPr>
            <a:r>
              <a:rPr lang="en-US" sz="1800" dirty="0">
                <a:solidFill>
                  <a:srgbClr val="F5F5F3"/>
                </a:solidFill>
                <a:latin typeface="Calibri" pitchFamily="34" charset="0"/>
                <a:ea typeface="Calibri" pitchFamily="34" charset="-122"/>
                <a:cs typeface="Calibri" pitchFamily="34" charset="-120"/>
              </a:rPr>
              <a:t> is False</a:t>
            </a:r>
            <a:endParaRPr lang="en-US" sz="1800" dirty="0"/>
          </a:p>
        </p:txBody>
      </p:sp>
      <p:sp>
        <p:nvSpPr>
          <p:cNvPr id="32" name="code"/>
          <p:cNvSpPr/>
          <p:nvPr/>
        </p:nvSpPr>
        <p:spPr>
          <a:xfrm>
            <a:off x="8119872" y="2011680"/>
            <a:ext cx="3511296" cy="2816352"/>
          </a:xfrm>
          <a:prstGeom prst="roundRect">
            <a:avLst>
              <a:gd name="adj" fmla="val 2597"/>
            </a:avLst>
          </a:prstGeom>
          <a:solidFill>
            <a:srgbClr val="111115"/>
          </a:solidFill>
          <a:ln w="15875">
            <a:solidFill>
              <a:srgbClr val="3A3A44"/>
            </a:solidFill>
            <a:prstDash val="solid"/>
          </a:ln>
        </p:spPr>
      </p:sp>
      <p:sp>
        <p:nvSpPr>
          <p:cNvPr id="33" name="Text 30"/>
          <p:cNvSpPr txBox="1"/>
          <p:nvPr/>
        </p:nvSpPr>
        <p:spPr>
          <a:xfrm>
            <a:off x="8302752" y="2212848"/>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"n"</a:t>
            </a:r>
            <a:endParaRPr lang="en-US" sz="2000" dirty="0"/>
          </a:p>
        </p:txBody>
      </p:sp>
      <p:sp>
        <p:nvSpPr>
          <p:cNvPr id="34" name="Text 31"/>
          <p:cNvSpPr txBox="1"/>
          <p:nvPr/>
        </p:nvSpPr>
        <p:spPr>
          <a:xfrm>
            <a:off x="8302752" y="2615184"/>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if</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"y"</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5" name="Text 32"/>
          <p:cNvSpPr txBox="1"/>
          <p:nvPr/>
        </p:nvSpPr>
        <p:spPr>
          <a:xfrm>
            <a:off x="8302752" y="3017520"/>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"Sent"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6" name="Text 33"/>
          <p:cNvSpPr txBox="1"/>
          <p:nvPr/>
        </p:nvSpPr>
        <p:spPr>
          <a:xfrm>
            <a:off x="8302752" y="3419856"/>
            <a:ext cx="3236976" cy="402336"/>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else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7" name="Text 34"/>
          <p:cNvSpPr txBox="1"/>
          <p:nvPr/>
        </p:nvSpPr>
        <p:spPr>
          <a:xfrm>
            <a:off x="8302752" y="3822192"/>
            <a:ext cx="3236976" cy="402336"/>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"Cancelled"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8" name="Text 35"/>
          <p:cNvSpPr txBox="1"/>
          <p:nvPr/>
        </p:nvSpPr>
        <p:spPr>
          <a:xfrm>
            <a:off x="8302752" y="4224528"/>
            <a:ext cx="3236976" cy="402336"/>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"Done"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9" name="terminal"/>
          <p:cNvSpPr/>
          <p:nvPr/>
        </p:nvSpPr>
        <p:spPr>
          <a:xfrm>
            <a:off x="8119872" y="5010912"/>
            <a:ext cx="3511296" cy="1188720"/>
          </a:xfrm>
          <a:prstGeom prst="roundRect">
            <a:avLst>
              <a:gd name="adj" fmla="val 6154"/>
            </a:avLst>
          </a:prstGeom>
          <a:solidFill>
            <a:srgbClr val="0A0A0D"/>
          </a:solidFill>
          <a:ln w="15875">
            <a:solidFill>
              <a:srgbClr val="3A3A44"/>
            </a:solidFill>
            <a:prstDash val="solid"/>
          </a:ln>
        </p:spPr>
      </p:sp>
      <p:sp>
        <p:nvSpPr>
          <p:cNvPr id="40" name="Text 37"/>
          <p:cNvSpPr txBox="1"/>
          <p:nvPr/>
        </p:nvSpPr>
        <p:spPr>
          <a:xfrm>
            <a:off x="8348472" y="5239512"/>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Cancelled</a:t>
            </a:r>
            <a:endParaRPr lang="en-US" sz="1800" dirty="0"/>
          </a:p>
        </p:txBody>
      </p:sp>
      <p:sp>
        <p:nvSpPr>
          <p:cNvPr id="41" name="Text 38"/>
          <p:cNvSpPr txBox="1"/>
          <p:nvPr/>
        </p:nvSpPr>
        <p:spPr>
          <a:xfrm>
            <a:off x="8348472" y="5605272"/>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Done</a:t>
            </a:r>
            <a:endParaRPr lang="en-US" sz="1800" dirty="0"/>
          </a:p>
        </p:txBody>
      </p:sp>
      <p:pic>
        <p:nvPicPr>
          <p:cNvPr id="42" name="Image 1" descr="Feedback">    </p:cNvPr>
          <p:cNvPicPr>
            <a:picLocks noChangeAspect="1"/>
          </p:cNvPicPr>
          <p:nvPr/>
        </p:nvPicPr>
        <p:blipFill>
          <a:blip r:embed="rId2"/>
          <a:stretch>
            <a:fillRect/>
          </a:stretch>
        </p:blipFill>
        <p:spPr>
          <a:xfrm>
            <a:off x="10972800" y="384048"/>
            <a:ext cx="731520" cy="731520"/>
          </a:xfrm>
          <a:prstGeom prst="rect">
            <a:avLst/>
          </a:prstGeom>
        </p:spPr>
      </p:pic>
      <p:sp>
        <p:nvSpPr>
          <p:cNvPr id="43"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elif: a third path</a:t>
            </a:r>
            <a:endParaRPr lang="en-US" sz="3600" dirty="0"/>
          </a:p>
        </p:txBody>
      </p:sp>
      <p:sp>
        <p:nvSpPr>
          <p:cNvPr id="5" name="code"/>
          <p:cNvSpPr/>
          <p:nvPr/>
        </p:nvSpPr>
        <p:spPr>
          <a:xfrm>
            <a:off x="548640" y="1554480"/>
            <a:ext cx="4846320" cy="3922776"/>
          </a:xfrm>
          <a:prstGeom prst="roundRect">
            <a:avLst>
              <a:gd name="adj" fmla="val 1865"/>
            </a:avLst>
          </a:prstGeom>
          <a:solidFill>
            <a:srgbClr val="111115"/>
          </a:solidFill>
          <a:ln w="15875">
            <a:solidFill>
              <a:srgbClr val="3A3A44"/>
            </a:solidFill>
            <a:prstDash val="solid"/>
          </a:ln>
        </p:spPr>
      </p:sp>
      <p:sp>
        <p:nvSpPr>
          <p:cNvPr id="6" name="Text 3"/>
          <p:cNvSpPr txBox="1"/>
          <p:nvPr/>
        </p:nvSpPr>
        <p:spPr>
          <a:xfrm>
            <a:off x="658368" y="175564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7" name="Text 4"/>
          <p:cNvSpPr txBox="1"/>
          <p:nvPr/>
        </p:nvSpPr>
        <p:spPr>
          <a:xfrm>
            <a:off x="1188720" y="175564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35</a:t>
            </a:r>
            <a:endParaRPr lang="en-US" sz="2200" dirty="0"/>
          </a:p>
        </p:txBody>
      </p:sp>
      <p:sp>
        <p:nvSpPr>
          <p:cNvPr id="8" name="Text 5"/>
          <p:cNvSpPr txBox="1"/>
          <p:nvPr/>
        </p:nvSpPr>
        <p:spPr>
          <a:xfrm>
            <a:off x="658368" y="225856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9" name="Text 6"/>
          <p:cNvSpPr txBox="1"/>
          <p:nvPr/>
        </p:nvSpPr>
        <p:spPr>
          <a:xfrm>
            <a:off x="1188720" y="2258568"/>
            <a:ext cx="4114800" cy="5029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if</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70</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0" name="Text 7"/>
          <p:cNvSpPr txBox="1"/>
          <p:nvPr/>
        </p:nvSpPr>
        <p:spPr>
          <a:xfrm>
            <a:off x="658368" y="276148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3</a:t>
            </a:r>
            <a:endParaRPr lang="en-US" sz="1800" dirty="0"/>
          </a:p>
        </p:txBody>
      </p:sp>
      <p:sp>
        <p:nvSpPr>
          <p:cNvPr id="11" name="Text 8"/>
          <p:cNvSpPr txBox="1"/>
          <p:nvPr/>
        </p:nvSpPr>
        <p:spPr>
          <a:xfrm>
            <a:off x="1188720" y="276148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"Full"</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2" name="Text 9"/>
          <p:cNvSpPr txBox="1"/>
          <p:nvPr/>
        </p:nvSpPr>
        <p:spPr>
          <a:xfrm>
            <a:off x="658368" y="326440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4</a:t>
            </a:r>
            <a:endParaRPr lang="en-US" sz="1800" dirty="0"/>
          </a:p>
        </p:txBody>
      </p:sp>
      <p:sp>
        <p:nvSpPr>
          <p:cNvPr id="13" name="Text 10"/>
          <p:cNvSpPr txBox="1"/>
          <p:nvPr/>
        </p:nvSpPr>
        <p:spPr>
          <a:xfrm>
            <a:off x="1188720" y="3264408"/>
            <a:ext cx="4114800" cy="5029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elif</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30</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4" name="Text 11"/>
          <p:cNvSpPr txBox="1"/>
          <p:nvPr/>
        </p:nvSpPr>
        <p:spPr>
          <a:xfrm>
            <a:off x="658368" y="376732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5</a:t>
            </a:r>
            <a:endParaRPr lang="en-US" sz="1800" dirty="0"/>
          </a:p>
        </p:txBody>
      </p:sp>
      <p:sp>
        <p:nvSpPr>
          <p:cNvPr id="15" name="Text 12"/>
          <p:cNvSpPr txBox="1"/>
          <p:nvPr/>
        </p:nvSpPr>
        <p:spPr>
          <a:xfrm>
            <a:off x="1188720" y="376732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"Low"</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6" name="Text 13"/>
          <p:cNvSpPr txBox="1"/>
          <p:nvPr/>
        </p:nvSpPr>
        <p:spPr>
          <a:xfrm>
            <a:off x="658368" y="427024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6</a:t>
            </a:r>
            <a:endParaRPr lang="en-US" sz="1800" dirty="0"/>
          </a:p>
        </p:txBody>
      </p:sp>
      <p:sp>
        <p:nvSpPr>
          <p:cNvPr id="17" name="Text 14"/>
          <p:cNvSpPr txBox="1"/>
          <p:nvPr/>
        </p:nvSpPr>
        <p:spPr>
          <a:xfrm>
            <a:off x="1188720" y="4270248"/>
            <a:ext cx="4114800" cy="5029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else</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8" name="Text 15"/>
          <p:cNvSpPr txBox="1"/>
          <p:nvPr/>
        </p:nvSpPr>
        <p:spPr>
          <a:xfrm>
            <a:off x="658368" y="477316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7</a:t>
            </a:r>
            <a:endParaRPr lang="en-US" sz="1800" dirty="0"/>
          </a:p>
        </p:txBody>
      </p:sp>
      <p:sp>
        <p:nvSpPr>
          <p:cNvPr id="19" name="Text 16"/>
          <p:cNvSpPr txBox="1"/>
          <p:nvPr/>
        </p:nvSpPr>
        <p:spPr>
          <a:xfrm>
            <a:off x="1188720" y="477316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"Critical"</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20" name="click1"/>
          <p:cNvSpPr/>
          <p:nvPr/>
        </p:nvSpPr>
        <p:spPr>
          <a:xfrm>
            <a:off x="5623560" y="1842516"/>
            <a:ext cx="329184" cy="329184"/>
          </a:xfrm>
          <a:prstGeom prst="ellipse">
            <a:avLst/>
          </a:prstGeom>
          <a:solidFill>
            <a:srgbClr val="D8A73D"/>
          </a:solidFill>
          <a:ln/>
        </p:spPr>
      </p:sp>
      <p:sp>
        <p:nvSpPr>
          <p:cNvPr id="21" name="click1"/>
          <p:cNvSpPr txBox="1"/>
          <p:nvPr/>
        </p:nvSpPr>
        <p:spPr>
          <a:xfrm>
            <a:off x="5623560" y="184251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22" name="click1"/>
          <p:cNvSpPr/>
          <p:nvPr/>
        </p:nvSpPr>
        <p:spPr>
          <a:xfrm>
            <a:off x="6099048" y="1810512"/>
            <a:ext cx="2148840" cy="411480"/>
          </a:xfrm>
          <a:prstGeom prst="roundRect">
            <a:avLst>
              <a:gd name="adj" fmla="val 13333"/>
            </a:avLst>
          </a:prstGeom>
          <a:solidFill>
            <a:srgbClr val="111115"/>
          </a:solidFill>
          <a:ln w="25400">
            <a:solidFill>
              <a:srgbClr val="56B4E9"/>
            </a:solidFill>
            <a:prstDash val="solid"/>
          </a:ln>
        </p:spPr>
      </p:sp>
      <p:sp>
        <p:nvSpPr>
          <p:cNvPr id="23" name="click1"/>
          <p:cNvSpPr/>
          <p:nvPr/>
        </p:nvSpPr>
        <p:spPr>
          <a:xfrm>
            <a:off x="6236208" y="1627632"/>
            <a:ext cx="1783080" cy="347472"/>
          </a:xfrm>
          <a:prstGeom prst="roundRect">
            <a:avLst>
              <a:gd name="adj" fmla="val 13158"/>
            </a:avLst>
          </a:prstGeom>
          <a:solidFill>
            <a:srgbClr val="56B4E9"/>
          </a:solidFill>
          <a:ln/>
        </p:spPr>
      </p:sp>
      <p:sp>
        <p:nvSpPr>
          <p:cNvPr id="24" name="click1"/>
          <p:cNvSpPr txBox="1"/>
          <p:nvPr/>
        </p:nvSpPr>
        <p:spPr>
          <a:xfrm>
            <a:off x="6236208" y="1627632"/>
            <a:ext cx="1783080"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battery  ·  int</a:t>
            </a:r>
            <a:endParaRPr lang="en-US" sz="1400" dirty="0"/>
          </a:p>
        </p:txBody>
      </p:sp>
      <p:sp>
        <p:nvSpPr>
          <p:cNvPr id="25" name="click1"/>
          <p:cNvSpPr txBox="1"/>
          <p:nvPr/>
        </p:nvSpPr>
        <p:spPr>
          <a:xfrm>
            <a:off x="6190488" y="1993392"/>
            <a:ext cx="1965960" cy="182880"/>
          </a:xfrm>
          <a:prstGeom prst="rect">
            <a:avLst/>
          </a:prstGeom>
          <a:noFill/>
          <a:ln/>
        </p:spPr>
        <p:txBody>
          <a:bodyPr wrap="square" lIns="0" tIns="0" rIns="0" bIns="0" rtlCol="0" anchor="ctr"/>
          <a:lstStyle/>
          <a:p>
            <a:pPr algn="ctr" indent="0" marL="0">
              <a:buNone/>
            </a:pPr>
            <a:r>
              <a:rPr lang="en-US" sz="2000" dirty="0">
                <a:solidFill>
                  <a:srgbClr val="F5F5F3"/>
                </a:solidFill>
                <a:latin typeface="Consolas" pitchFamily="34" charset="0"/>
                <a:ea typeface="Consolas" pitchFamily="34" charset="-122"/>
                <a:cs typeface="Consolas" pitchFamily="34" charset="-120"/>
              </a:rPr>
              <a:t>35</a:t>
            </a:r>
            <a:endParaRPr lang="en-US" sz="2000" dirty="0"/>
          </a:p>
        </p:txBody>
      </p:sp>
      <p:sp>
        <p:nvSpPr>
          <p:cNvPr id="26" name="click2"/>
          <p:cNvSpPr/>
          <p:nvPr/>
        </p:nvSpPr>
        <p:spPr>
          <a:xfrm>
            <a:off x="5623560" y="2345436"/>
            <a:ext cx="329184" cy="329184"/>
          </a:xfrm>
          <a:prstGeom prst="ellipse">
            <a:avLst/>
          </a:prstGeom>
          <a:solidFill>
            <a:srgbClr val="D8A73D"/>
          </a:solidFill>
          <a:ln/>
        </p:spPr>
      </p:sp>
      <p:sp>
        <p:nvSpPr>
          <p:cNvPr id="27" name="click2"/>
          <p:cNvSpPr txBox="1"/>
          <p:nvPr/>
        </p:nvSpPr>
        <p:spPr>
          <a:xfrm>
            <a:off x="5623560" y="234543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8" name="click2"/>
          <p:cNvSpPr txBox="1"/>
          <p:nvPr/>
        </p:nvSpPr>
        <p:spPr>
          <a:xfrm>
            <a:off x="6053328" y="2258568"/>
            <a:ext cx="1417320" cy="502920"/>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35</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70</a:t>
            </a:r>
            <a:endParaRPr lang="en-US" sz="2200" dirty="0"/>
          </a:p>
        </p:txBody>
      </p:sp>
      <p:sp>
        <p:nvSpPr>
          <p:cNvPr id="29" name="click2"/>
          <p:cNvSpPr/>
          <p:nvPr/>
        </p:nvSpPr>
        <p:spPr>
          <a:xfrm>
            <a:off x="7516368" y="2510028"/>
            <a:ext cx="365760" cy="0"/>
          </a:xfrm>
          <a:prstGeom prst="line">
            <a:avLst/>
          </a:prstGeom>
          <a:noFill/>
          <a:ln w="28575">
            <a:solidFill>
              <a:srgbClr val="A9A9B4"/>
            </a:solidFill>
            <a:prstDash val="solid"/>
            <a:tailEnd type="triangle"/>
          </a:ln>
        </p:spPr>
      </p:sp>
      <p:sp>
        <p:nvSpPr>
          <p:cNvPr id="30" name="click2"/>
          <p:cNvSpPr/>
          <p:nvPr/>
        </p:nvSpPr>
        <p:spPr>
          <a:xfrm>
            <a:off x="7973568" y="2322576"/>
            <a:ext cx="868680" cy="374904"/>
          </a:xfrm>
          <a:prstGeom prst="roundRect">
            <a:avLst>
              <a:gd name="adj" fmla="val 19512"/>
            </a:avLst>
          </a:prstGeom>
          <a:solidFill>
            <a:srgbClr val="1E1E24"/>
          </a:solidFill>
          <a:ln w="19050">
            <a:solidFill>
              <a:srgbClr val="A9A9B4"/>
            </a:solidFill>
            <a:prstDash val="solid"/>
          </a:ln>
        </p:spPr>
      </p:sp>
      <p:sp>
        <p:nvSpPr>
          <p:cNvPr id="31" name="click2"/>
          <p:cNvSpPr txBox="1"/>
          <p:nvPr/>
        </p:nvSpPr>
        <p:spPr>
          <a:xfrm>
            <a:off x="7973568" y="2322576"/>
            <a:ext cx="868680" cy="374904"/>
          </a:xfrm>
          <a:prstGeom prst="rect">
            <a:avLst/>
          </a:prstGeom>
          <a:noFill/>
          <a:ln/>
        </p:spPr>
        <p:txBody>
          <a:bodyPr wrap="square" lIns="0" tIns="0" rIns="0" bIns="0" rtlCol="0" anchor="ctr"/>
          <a:lstStyle/>
          <a:p>
            <a:pPr algn="ctr" indent="0" marL="0">
              <a:buNone/>
            </a:pPr>
            <a:r>
              <a:rPr lang="en-US" sz="2000" b="1" dirty="0">
                <a:solidFill>
                  <a:srgbClr val="F5F5F3"/>
                </a:solidFill>
                <a:latin typeface="Consolas" pitchFamily="34" charset="0"/>
                <a:ea typeface="Consolas" pitchFamily="34" charset="-122"/>
                <a:cs typeface="Consolas" pitchFamily="34" charset="-120"/>
              </a:rPr>
              <a:t>False</a:t>
            </a:r>
            <a:endParaRPr lang="en-US" sz="2000" dirty="0"/>
          </a:p>
        </p:txBody>
      </p:sp>
      <p:sp>
        <p:nvSpPr>
          <p:cNvPr id="32" name="click3"/>
          <p:cNvSpPr/>
          <p:nvPr/>
        </p:nvSpPr>
        <p:spPr>
          <a:xfrm>
            <a:off x="5623560" y="3351276"/>
            <a:ext cx="329184" cy="329184"/>
          </a:xfrm>
          <a:prstGeom prst="ellipse">
            <a:avLst/>
          </a:prstGeom>
          <a:solidFill>
            <a:srgbClr val="D8A73D"/>
          </a:solidFill>
          <a:ln/>
        </p:spPr>
      </p:sp>
      <p:sp>
        <p:nvSpPr>
          <p:cNvPr id="33" name="click3"/>
          <p:cNvSpPr txBox="1"/>
          <p:nvPr/>
        </p:nvSpPr>
        <p:spPr>
          <a:xfrm>
            <a:off x="5623560" y="335127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34" name="click3"/>
          <p:cNvSpPr txBox="1"/>
          <p:nvPr/>
        </p:nvSpPr>
        <p:spPr>
          <a:xfrm>
            <a:off x="6053328" y="3264408"/>
            <a:ext cx="1417320" cy="502920"/>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35</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30</a:t>
            </a:r>
            <a:endParaRPr lang="en-US" sz="2200" dirty="0"/>
          </a:p>
        </p:txBody>
      </p:sp>
      <p:sp>
        <p:nvSpPr>
          <p:cNvPr id="35" name="click3"/>
          <p:cNvSpPr/>
          <p:nvPr/>
        </p:nvSpPr>
        <p:spPr>
          <a:xfrm>
            <a:off x="7516368" y="3515868"/>
            <a:ext cx="365760" cy="0"/>
          </a:xfrm>
          <a:prstGeom prst="line">
            <a:avLst/>
          </a:prstGeom>
          <a:noFill/>
          <a:ln w="28575">
            <a:solidFill>
              <a:srgbClr val="A9A9B4"/>
            </a:solidFill>
            <a:prstDash val="solid"/>
            <a:tailEnd type="triangle"/>
          </a:ln>
        </p:spPr>
      </p:sp>
      <p:sp>
        <p:nvSpPr>
          <p:cNvPr id="36" name="click3"/>
          <p:cNvSpPr/>
          <p:nvPr/>
        </p:nvSpPr>
        <p:spPr>
          <a:xfrm>
            <a:off x="7973568" y="3328416"/>
            <a:ext cx="868680" cy="374904"/>
          </a:xfrm>
          <a:prstGeom prst="roundRect">
            <a:avLst>
              <a:gd name="adj" fmla="val 19512"/>
            </a:avLst>
          </a:prstGeom>
          <a:solidFill>
            <a:srgbClr val="7FD99A"/>
          </a:solidFill>
          <a:ln/>
        </p:spPr>
      </p:sp>
      <p:sp>
        <p:nvSpPr>
          <p:cNvPr id="37" name="click3"/>
          <p:cNvSpPr txBox="1"/>
          <p:nvPr/>
        </p:nvSpPr>
        <p:spPr>
          <a:xfrm>
            <a:off x="7973568" y="3328416"/>
            <a:ext cx="868680" cy="374904"/>
          </a:xfrm>
          <a:prstGeom prst="rect">
            <a:avLst/>
          </a:prstGeom>
          <a:noFill/>
          <a:ln/>
        </p:spPr>
        <p:txBody>
          <a:bodyPr wrap="square" lIns="0" tIns="0" rIns="0" bIns="0" rtlCol="0" anchor="ctr"/>
          <a:lstStyle/>
          <a:p>
            <a:pPr algn="ctr" indent="0" marL="0">
              <a:buNone/>
            </a:pPr>
            <a:r>
              <a:rPr lang="en-US" sz="2000" b="1" dirty="0">
                <a:solidFill>
                  <a:srgbClr val="111115"/>
                </a:solidFill>
                <a:latin typeface="Consolas" pitchFamily="34" charset="0"/>
                <a:ea typeface="Consolas" pitchFamily="34" charset="-122"/>
                <a:cs typeface="Consolas" pitchFamily="34" charset="-120"/>
              </a:rPr>
              <a:t>True</a:t>
            </a:r>
            <a:endParaRPr lang="en-US" sz="2000" dirty="0"/>
          </a:p>
        </p:txBody>
      </p:sp>
      <p:sp>
        <p:nvSpPr>
          <p:cNvPr id="38" name="click4"/>
          <p:cNvSpPr/>
          <p:nvPr/>
        </p:nvSpPr>
        <p:spPr>
          <a:xfrm>
            <a:off x="5623560" y="2848356"/>
            <a:ext cx="329184" cy="329184"/>
          </a:xfrm>
          <a:prstGeom prst="ellipse">
            <a:avLst/>
          </a:prstGeom>
          <a:solidFill>
            <a:srgbClr val="D8A73D"/>
          </a:solidFill>
          <a:ln/>
        </p:spPr>
      </p:sp>
      <p:sp>
        <p:nvSpPr>
          <p:cNvPr id="39" name="click4"/>
          <p:cNvSpPr txBox="1"/>
          <p:nvPr/>
        </p:nvSpPr>
        <p:spPr>
          <a:xfrm>
            <a:off x="5623560" y="284835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40" name="click4"/>
          <p:cNvSpPr txBox="1"/>
          <p:nvPr/>
        </p:nvSpPr>
        <p:spPr>
          <a:xfrm>
            <a:off x="6053328" y="3767328"/>
            <a:ext cx="2651760" cy="502920"/>
          </a:xfrm>
          <a:prstGeom prst="rect">
            <a:avLst/>
          </a:prstGeom>
          <a:noFill/>
          <a:ln/>
        </p:spPr>
        <p:txBody>
          <a:bodyPr wrap="square" lIns="0" tIns="0" rIns="0" bIns="0" rtlCol="0" anchor="ctr"/>
          <a:lstStyle/>
          <a:p>
            <a:pPr indent="0" marL="0">
              <a:buNone/>
            </a:pPr>
            <a:r>
              <a:rPr lang="en-US" sz="2000" b="1" dirty="0">
                <a:solidFill>
                  <a:srgbClr val="7FD99A"/>
                </a:solidFill>
                <a:latin typeface="Calibri" pitchFamily="34" charset="0"/>
                <a:ea typeface="Calibri" pitchFamily="34" charset="-122"/>
                <a:cs typeface="Calibri" pitchFamily="34" charset="-120"/>
              </a:rPr>
              <a:t>✓ runs</a:t>
            </a:r>
            <a:endParaRPr lang="en-US" sz="2000" dirty="0"/>
          </a:p>
        </p:txBody>
      </p:sp>
      <p:sp>
        <p:nvSpPr>
          <p:cNvPr id="41" name="click4"/>
          <p:cNvSpPr txBox="1"/>
          <p:nvPr/>
        </p:nvSpPr>
        <p:spPr>
          <a:xfrm>
            <a:off x="6053328" y="2761488"/>
            <a:ext cx="2651760" cy="502920"/>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42" name="click4"/>
          <p:cNvSpPr txBox="1"/>
          <p:nvPr/>
        </p:nvSpPr>
        <p:spPr>
          <a:xfrm>
            <a:off x="6053328" y="4773168"/>
            <a:ext cx="2651760" cy="502920"/>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43" name="click5"/>
          <p:cNvSpPr/>
          <p:nvPr/>
        </p:nvSpPr>
        <p:spPr>
          <a:xfrm>
            <a:off x="9098280" y="1554480"/>
            <a:ext cx="329184" cy="329184"/>
          </a:xfrm>
          <a:prstGeom prst="ellipse">
            <a:avLst/>
          </a:prstGeom>
          <a:solidFill>
            <a:srgbClr val="D8A73D"/>
          </a:solidFill>
          <a:ln/>
        </p:spPr>
      </p:sp>
      <p:sp>
        <p:nvSpPr>
          <p:cNvPr id="44" name="click5"/>
          <p:cNvSpPr txBox="1"/>
          <p:nvPr/>
        </p:nvSpPr>
        <p:spPr>
          <a:xfrm>
            <a:off x="9098280" y="155448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45" name="click5"/>
          <p:cNvSpPr txBox="1"/>
          <p:nvPr/>
        </p:nvSpPr>
        <p:spPr>
          <a:xfrm>
            <a:off x="9555480" y="1554480"/>
            <a:ext cx="2084832" cy="329184"/>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WHAT IS PRINTED</a:t>
            </a:r>
            <a:endParaRPr lang="en-US" sz="1300" dirty="0"/>
          </a:p>
        </p:txBody>
      </p:sp>
      <p:sp>
        <p:nvSpPr>
          <p:cNvPr id="46" name="click5 · terminal"/>
          <p:cNvSpPr/>
          <p:nvPr/>
        </p:nvSpPr>
        <p:spPr>
          <a:xfrm>
            <a:off x="9098280" y="2011680"/>
            <a:ext cx="2542032" cy="863600"/>
          </a:xfrm>
          <a:prstGeom prst="roundRect">
            <a:avLst>
              <a:gd name="adj" fmla="val 8471"/>
            </a:avLst>
          </a:prstGeom>
          <a:solidFill>
            <a:srgbClr val="0A0A0D"/>
          </a:solidFill>
          <a:ln w="15875">
            <a:solidFill>
              <a:srgbClr val="3A3A44"/>
            </a:solidFill>
            <a:prstDash val="solid"/>
          </a:ln>
        </p:spPr>
      </p:sp>
      <p:sp>
        <p:nvSpPr>
          <p:cNvPr id="47" name="click5"/>
          <p:cNvSpPr txBox="1"/>
          <p:nvPr/>
        </p:nvSpPr>
        <p:spPr>
          <a:xfrm>
            <a:off x="9326880" y="22402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Low</a:t>
            </a:r>
            <a:endParaRPr lang="en-US" sz="2000" dirty="0"/>
          </a:p>
        </p:txBody>
      </p:sp>
      <p:sp>
        <p:nvSpPr>
          <p:cNvPr id="48" name="Shape 45"/>
          <p:cNvSpPr/>
          <p:nvPr/>
        </p:nvSpPr>
        <p:spPr>
          <a:xfrm>
            <a:off x="548640" y="5596128"/>
            <a:ext cx="11091672" cy="566928"/>
          </a:xfrm>
          <a:prstGeom prst="roundRect">
            <a:avLst>
              <a:gd name="adj" fmla="val 12903"/>
            </a:avLst>
          </a:prstGeom>
          <a:solidFill>
            <a:srgbClr val="2A2A32"/>
          </a:solidFill>
          <a:ln/>
        </p:spPr>
      </p:sp>
      <p:sp>
        <p:nvSpPr>
          <p:cNvPr id="49" name="Shape 46"/>
          <p:cNvSpPr/>
          <p:nvPr/>
        </p:nvSpPr>
        <p:spPr>
          <a:xfrm>
            <a:off x="731520" y="5715000"/>
            <a:ext cx="329184" cy="329184"/>
          </a:xfrm>
          <a:prstGeom prst="ellipse">
            <a:avLst/>
          </a:prstGeom>
          <a:solidFill>
            <a:srgbClr val="D8A73D"/>
          </a:solidFill>
          <a:ln/>
        </p:spPr>
      </p:sp>
      <p:sp>
        <p:nvSpPr>
          <p:cNvPr id="50" name="Text 47"/>
          <p:cNvSpPr txBox="1"/>
          <p:nvPr/>
        </p:nvSpPr>
        <p:spPr>
          <a:xfrm>
            <a:off x="731520"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51" name="Text 48"/>
          <p:cNvSpPr txBox="1"/>
          <p:nvPr/>
        </p:nvSpPr>
        <p:spPr>
          <a:xfrm>
            <a:off x="1170432"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Look in the box</a:t>
            </a:r>
            <a:endParaRPr lang="en-US" sz="1800" dirty="0"/>
          </a:p>
        </p:txBody>
      </p:sp>
      <p:sp>
        <p:nvSpPr>
          <p:cNvPr id="52" name="Shape 49"/>
          <p:cNvSpPr/>
          <p:nvPr/>
        </p:nvSpPr>
        <p:spPr>
          <a:xfrm>
            <a:off x="3504438" y="5715000"/>
            <a:ext cx="329184" cy="329184"/>
          </a:xfrm>
          <a:prstGeom prst="ellipse">
            <a:avLst/>
          </a:prstGeom>
          <a:solidFill>
            <a:srgbClr val="D8A73D"/>
          </a:solidFill>
          <a:ln/>
        </p:spPr>
      </p:sp>
      <p:sp>
        <p:nvSpPr>
          <p:cNvPr id="53" name="Text 50"/>
          <p:cNvSpPr txBox="1"/>
          <p:nvPr/>
        </p:nvSpPr>
        <p:spPr>
          <a:xfrm>
            <a:off x="3504438"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54" name="Text 51"/>
          <p:cNvSpPr txBox="1"/>
          <p:nvPr/>
        </p:nvSpPr>
        <p:spPr>
          <a:xfrm>
            <a:off x="3943350"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Check from the top</a:t>
            </a:r>
            <a:endParaRPr lang="en-US" sz="1800" dirty="0"/>
          </a:p>
        </p:txBody>
      </p:sp>
      <p:sp>
        <p:nvSpPr>
          <p:cNvPr id="55" name="Shape 52"/>
          <p:cNvSpPr/>
          <p:nvPr/>
        </p:nvSpPr>
        <p:spPr>
          <a:xfrm>
            <a:off x="6277356" y="5715000"/>
            <a:ext cx="329184" cy="329184"/>
          </a:xfrm>
          <a:prstGeom prst="ellipse">
            <a:avLst/>
          </a:prstGeom>
          <a:solidFill>
            <a:srgbClr val="D8A73D"/>
          </a:solidFill>
          <a:ln/>
        </p:spPr>
      </p:sp>
      <p:sp>
        <p:nvSpPr>
          <p:cNvPr id="56" name="Text 53"/>
          <p:cNvSpPr txBox="1"/>
          <p:nvPr/>
        </p:nvSpPr>
        <p:spPr>
          <a:xfrm>
            <a:off x="6277356"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57" name="Text 54"/>
          <p:cNvSpPr txBox="1"/>
          <p:nvPr/>
        </p:nvSpPr>
        <p:spPr>
          <a:xfrm>
            <a:off x="6716268"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Which lines run?</a:t>
            </a:r>
            <a:endParaRPr lang="en-US" sz="1800" dirty="0"/>
          </a:p>
        </p:txBody>
      </p:sp>
      <p:sp>
        <p:nvSpPr>
          <p:cNvPr id="58" name="Shape 55"/>
          <p:cNvSpPr/>
          <p:nvPr/>
        </p:nvSpPr>
        <p:spPr>
          <a:xfrm>
            <a:off x="9050274" y="5715000"/>
            <a:ext cx="329184" cy="329184"/>
          </a:xfrm>
          <a:prstGeom prst="ellipse">
            <a:avLst/>
          </a:prstGeom>
          <a:solidFill>
            <a:srgbClr val="D8A73D"/>
          </a:solidFill>
          <a:ln/>
        </p:spPr>
      </p:sp>
      <p:sp>
        <p:nvSpPr>
          <p:cNvPr id="59" name="Text 56"/>
          <p:cNvSpPr txBox="1"/>
          <p:nvPr/>
        </p:nvSpPr>
        <p:spPr>
          <a:xfrm>
            <a:off x="9050274"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60" name="Text 57"/>
          <p:cNvSpPr txBox="1"/>
          <p:nvPr/>
        </p:nvSpPr>
        <p:spPr>
          <a:xfrm>
            <a:off x="9489186"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What is printed?</a:t>
            </a:r>
            <a:endParaRPr lang="en-US" sz="1800" dirty="0"/>
          </a:p>
        </p:txBody>
      </p:sp>
      <p:sp>
        <p:nvSpPr>
          <p:cNvPr id="61" name="Shape 58"/>
          <p:cNvSpPr/>
          <p:nvPr/>
        </p:nvSpPr>
        <p:spPr>
          <a:xfrm>
            <a:off x="9464040" y="566928"/>
            <a:ext cx="1280160" cy="329184"/>
          </a:xfrm>
          <a:prstGeom prst="roundRect">
            <a:avLst>
              <a:gd name="adj" fmla="val 50000"/>
            </a:avLst>
          </a:prstGeom>
          <a:solidFill>
            <a:srgbClr val="D8A73D"/>
          </a:solidFill>
          <a:ln/>
        </p:spPr>
      </p:sp>
      <p:sp>
        <p:nvSpPr>
          <p:cNvPr id="62" name="Text 59"/>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I DO</a:t>
            </a:r>
            <a:endParaRPr lang="en-US" sz="1400" dirty="0"/>
          </a:p>
        </p:txBody>
      </p:sp>
      <p:pic>
        <p:nvPicPr>
          <p:cNvPr id="63"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64"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par>
                                <p:cTn id="34" presetID="10" presetClass="entr" presetSubtype="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par>
                                <p:cTn id="57" presetID="10" presetClass="entr" presetSubtype="0"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5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500"/>
                                        <p:tgtEl>
                                          <p:spTgt spid="3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500"/>
                                        <p:tgtEl>
                                          <p:spTgt spid="3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500"/>
                                        <p:tgtEl>
                                          <p:spTgt spid="4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500"/>
                                        <p:tgtEl>
                                          <p:spTgt spid="4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500"/>
                                        <p:tgtEl>
                                          <p:spTgt spid="4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5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500"/>
                                        <p:tgtEl>
                                          <p:spTgt spid="45"/>
                                        </p:tgtEl>
                                      </p:cBhvr>
                                    </p:animEffect>
                                  </p:childTnLst>
                                </p:cTn>
                              </p:par>
                              <p:par>
                                <p:cTn id="91" presetID="10" presetClass="entr" presetSubtype="0" fill="hold"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500"/>
                                        <p:tgtEl>
                                          <p:spTgt spid="4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25" grpId="0" animBg="1"/>
      <p:bldP spid="27" grpId="0" animBg="1"/>
      <p:bldP spid="28" grpId="0" animBg="1"/>
      <p:bldP spid="31" grpId="0" animBg="1"/>
      <p:bldP spid="33" grpId="0" animBg="1"/>
      <p:bldP spid="34" grpId="0" animBg="1"/>
      <p:bldP spid="37" grpId="0" animBg="1"/>
      <p:bldP spid="39" grpId="0" animBg="1"/>
      <p:bldP spid="40" grpId="0" animBg="1"/>
      <p:bldP spid="41" grpId="0" animBg="1"/>
      <p:bldP spid="42" grpId="0" animBg="1"/>
      <p:bldP spid="44" grpId="0" animBg="1"/>
      <p:bldP spid="45" grpId="0" animBg="1"/>
      <p:bldP spid="4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The first True one wins</a:t>
            </a:r>
            <a:endParaRPr lang="en-US" sz="3600" dirty="0"/>
          </a:p>
        </p:txBody>
      </p:sp>
      <p:sp>
        <p:nvSpPr>
          <p:cNvPr id="5" name="code"/>
          <p:cNvSpPr/>
          <p:nvPr/>
        </p:nvSpPr>
        <p:spPr>
          <a:xfrm>
            <a:off x="548640" y="1554480"/>
            <a:ext cx="4846320" cy="3922776"/>
          </a:xfrm>
          <a:prstGeom prst="roundRect">
            <a:avLst>
              <a:gd name="adj" fmla="val 1865"/>
            </a:avLst>
          </a:prstGeom>
          <a:solidFill>
            <a:srgbClr val="111115"/>
          </a:solidFill>
          <a:ln w="15875">
            <a:solidFill>
              <a:srgbClr val="3A3A44"/>
            </a:solidFill>
            <a:prstDash val="solid"/>
          </a:ln>
        </p:spPr>
      </p:sp>
      <p:sp>
        <p:nvSpPr>
          <p:cNvPr id="6" name="Text 3"/>
          <p:cNvSpPr txBox="1"/>
          <p:nvPr/>
        </p:nvSpPr>
        <p:spPr>
          <a:xfrm>
            <a:off x="658368" y="175564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7" name="Text 4"/>
          <p:cNvSpPr txBox="1"/>
          <p:nvPr/>
        </p:nvSpPr>
        <p:spPr>
          <a:xfrm>
            <a:off x="1188720" y="175564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80</a:t>
            </a:r>
            <a:endParaRPr lang="en-US" sz="2200" dirty="0"/>
          </a:p>
        </p:txBody>
      </p:sp>
      <p:sp>
        <p:nvSpPr>
          <p:cNvPr id="8" name="Text 5"/>
          <p:cNvSpPr txBox="1"/>
          <p:nvPr/>
        </p:nvSpPr>
        <p:spPr>
          <a:xfrm>
            <a:off x="658368" y="225856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9" name="Text 6"/>
          <p:cNvSpPr txBox="1"/>
          <p:nvPr/>
        </p:nvSpPr>
        <p:spPr>
          <a:xfrm>
            <a:off x="1188720" y="2258568"/>
            <a:ext cx="4114800" cy="5029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if</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70</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0" name="Text 7"/>
          <p:cNvSpPr txBox="1"/>
          <p:nvPr/>
        </p:nvSpPr>
        <p:spPr>
          <a:xfrm>
            <a:off x="658368" y="276148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3</a:t>
            </a:r>
            <a:endParaRPr lang="en-US" sz="1800" dirty="0"/>
          </a:p>
        </p:txBody>
      </p:sp>
      <p:sp>
        <p:nvSpPr>
          <p:cNvPr id="11" name="Text 8"/>
          <p:cNvSpPr txBox="1"/>
          <p:nvPr/>
        </p:nvSpPr>
        <p:spPr>
          <a:xfrm>
            <a:off x="1188720" y="276148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"Full"</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2" name="Text 9"/>
          <p:cNvSpPr txBox="1"/>
          <p:nvPr/>
        </p:nvSpPr>
        <p:spPr>
          <a:xfrm>
            <a:off x="658368" y="326440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4</a:t>
            </a:r>
            <a:endParaRPr lang="en-US" sz="1800" dirty="0"/>
          </a:p>
        </p:txBody>
      </p:sp>
      <p:sp>
        <p:nvSpPr>
          <p:cNvPr id="13" name="Text 10"/>
          <p:cNvSpPr txBox="1"/>
          <p:nvPr/>
        </p:nvSpPr>
        <p:spPr>
          <a:xfrm>
            <a:off x="1188720" y="3264408"/>
            <a:ext cx="4114800" cy="5029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elif</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battery</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30</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4" name="Text 11"/>
          <p:cNvSpPr txBox="1"/>
          <p:nvPr/>
        </p:nvSpPr>
        <p:spPr>
          <a:xfrm>
            <a:off x="658368" y="376732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5</a:t>
            </a:r>
            <a:endParaRPr lang="en-US" sz="1800" dirty="0"/>
          </a:p>
        </p:txBody>
      </p:sp>
      <p:sp>
        <p:nvSpPr>
          <p:cNvPr id="15" name="Text 12"/>
          <p:cNvSpPr txBox="1"/>
          <p:nvPr/>
        </p:nvSpPr>
        <p:spPr>
          <a:xfrm>
            <a:off x="1188720" y="376732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"Low"</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6" name="Text 13"/>
          <p:cNvSpPr txBox="1"/>
          <p:nvPr/>
        </p:nvSpPr>
        <p:spPr>
          <a:xfrm>
            <a:off x="658368" y="427024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6</a:t>
            </a:r>
            <a:endParaRPr lang="en-US" sz="1800" dirty="0"/>
          </a:p>
        </p:txBody>
      </p:sp>
      <p:sp>
        <p:nvSpPr>
          <p:cNvPr id="17" name="Text 14"/>
          <p:cNvSpPr txBox="1"/>
          <p:nvPr/>
        </p:nvSpPr>
        <p:spPr>
          <a:xfrm>
            <a:off x="1188720" y="4270248"/>
            <a:ext cx="4114800" cy="50292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else</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8" name="Text 15"/>
          <p:cNvSpPr txBox="1"/>
          <p:nvPr/>
        </p:nvSpPr>
        <p:spPr>
          <a:xfrm>
            <a:off x="658368" y="4773168"/>
            <a:ext cx="274320" cy="50292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7</a:t>
            </a:r>
            <a:endParaRPr lang="en-US" sz="1800" dirty="0"/>
          </a:p>
        </p:txBody>
      </p:sp>
      <p:sp>
        <p:nvSpPr>
          <p:cNvPr id="19" name="Text 16"/>
          <p:cNvSpPr txBox="1"/>
          <p:nvPr/>
        </p:nvSpPr>
        <p:spPr>
          <a:xfrm>
            <a:off x="1188720" y="4773168"/>
            <a:ext cx="4114800" cy="50292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"Critical"</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20" name="click1"/>
          <p:cNvSpPr/>
          <p:nvPr/>
        </p:nvSpPr>
        <p:spPr>
          <a:xfrm>
            <a:off x="5623560" y="1842516"/>
            <a:ext cx="329184" cy="329184"/>
          </a:xfrm>
          <a:prstGeom prst="ellipse">
            <a:avLst/>
          </a:prstGeom>
          <a:solidFill>
            <a:srgbClr val="D8A73D"/>
          </a:solidFill>
          <a:ln/>
        </p:spPr>
      </p:sp>
      <p:sp>
        <p:nvSpPr>
          <p:cNvPr id="21" name="click1"/>
          <p:cNvSpPr txBox="1"/>
          <p:nvPr/>
        </p:nvSpPr>
        <p:spPr>
          <a:xfrm>
            <a:off x="5623560" y="184251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22" name="click1"/>
          <p:cNvSpPr/>
          <p:nvPr/>
        </p:nvSpPr>
        <p:spPr>
          <a:xfrm>
            <a:off x="6099048" y="1810512"/>
            <a:ext cx="2148840" cy="411480"/>
          </a:xfrm>
          <a:prstGeom prst="roundRect">
            <a:avLst>
              <a:gd name="adj" fmla="val 13333"/>
            </a:avLst>
          </a:prstGeom>
          <a:solidFill>
            <a:srgbClr val="111115"/>
          </a:solidFill>
          <a:ln w="25400">
            <a:solidFill>
              <a:srgbClr val="56B4E9"/>
            </a:solidFill>
            <a:prstDash val="solid"/>
          </a:ln>
        </p:spPr>
      </p:sp>
      <p:sp>
        <p:nvSpPr>
          <p:cNvPr id="23" name="click1"/>
          <p:cNvSpPr/>
          <p:nvPr/>
        </p:nvSpPr>
        <p:spPr>
          <a:xfrm>
            <a:off x="6236208" y="1627632"/>
            <a:ext cx="1783080" cy="347472"/>
          </a:xfrm>
          <a:prstGeom prst="roundRect">
            <a:avLst>
              <a:gd name="adj" fmla="val 13158"/>
            </a:avLst>
          </a:prstGeom>
          <a:solidFill>
            <a:srgbClr val="56B4E9"/>
          </a:solidFill>
          <a:ln/>
        </p:spPr>
      </p:sp>
      <p:sp>
        <p:nvSpPr>
          <p:cNvPr id="24" name="click1"/>
          <p:cNvSpPr txBox="1"/>
          <p:nvPr/>
        </p:nvSpPr>
        <p:spPr>
          <a:xfrm>
            <a:off x="6236208" y="1627632"/>
            <a:ext cx="1783080"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battery  ·  int</a:t>
            </a:r>
            <a:endParaRPr lang="en-US" sz="1400" dirty="0"/>
          </a:p>
        </p:txBody>
      </p:sp>
      <p:sp>
        <p:nvSpPr>
          <p:cNvPr id="25" name="click1"/>
          <p:cNvSpPr txBox="1"/>
          <p:nvPr/>
        </p:nvSpPr>
        <p:spPr>
          <a:xfrm>
            <a:off x="6190488" y="1993392"/>
            <a:ext cx="1965960" cy="182880"/>
          </a:xfrm>
          <a:prstGeom prst="rect">
            <a:avLst/>
          </a:prstGeom>
          <a:noFill/>
          <a:ln/>
        </p:spPr>
        <p:txBody>
          <a:bodyPr wrap="square" lIns="0" tIns="0" rIns="0" bIns="0" rtlCol="0" anchor="ctr"/>
          <a:lstStyle/>
          <a:p>
            <a:pPr algn="ctr" indent="0" marL="0">
              <a:buNone/>
            </a:pPr>
            <a:r>
              <a:rPr lang="en-US" sz="2000" dirty="0">
                <a:solidFill>
                  <a:srgbClr val="F5F5F3"/>
                </a:solidFill>
                <a:latin typeface="Consolas" pitchFamily="34" charset="0"/>
                <a:ea typeface="Consolas" pitchFamily="34" charset="-122"/>
                <a:cs typeface="Consolas" pitchFamily="34" charset="-120"/>
              </a:rPr>
              <a:t>80</a:t>
            </a:r>
            <a:endParaRPr lang="en-US" sz="2000" dirty="0"/>
          </a:p>
        </p:txBody>
      </p:sp>
      <p:sp>
        <p:nvSpPr>
          <p:cNvPr id="26" name="click2"/>
          <p:cNvSpPr/>
          <p:nvPr/>
        </p:nvSpPr>
        <p:spPr>
          <a:xfrm>
            <a:off x="5623560" y="2345436"/>
            <a:ext cx="329184" cy="329184"/>
          </a:xfrm>
          <a:prstGeom prst="ellipse">
            <a:avLst/>
          </a:prstGeom>
          <a:solidFill>
            <a:srgbClr val="D8A73D"/>
          </a:solidFill>
          <a:ln/>
        </p:spPr>
      </p:sp>
      <p:sp>
        <p:nvSpPr>
          <p:cNvPr id="27" name="click2"/>
          <p:cNvSpPr txBox="1"/>
          <p:nvPr/>
        </p:nvSpPr>
        <p:spPr>
          <a:xfrm>
            <a:off x="5623560" y="234543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8" name="click2"/>
          <p:cNvSpPr txBox="1"/>
          <p:nvPr/>
        </p:nvSpPr>
        <p:spPr>
          <a:xfrm>
            <a:off x="6053328" y="2258568"/>
            <a:ext cx="1417320" cy="502920"/>
          </a:xfrm>
          <a:prstGeom prst="rect">
            <a:avLst/>
          </a:prstGeom>
          <a:noFill/>
          <a:ln/>
        </p:spPr>
        <p:txBody>
          <a:bodyPr wrap="square" lIns="0" tIns="0" rIns="0" bIns="0" rtlCol="0" anchor="ctr"/>
          <a:lstStyle/>
          <a:p>
            <a:pPr indent="0" marL="0">
              <a:buNone/>
            </a:pPr>
            <a:r>
              <a:rPr lang="en-US" sz="2200" dirty="0">
                <a:solidFill>
                  <a:srgbClr val="56B4E9"/>
                </a:solidFill>
                <a:latin typeface="Consolas" pitchFamily="34" charset="0"/>
                <a:ea typeface="Consolas" pitchFamily="34" charset="-122"/>
                <a:cs typeface="Consolas" pitchFamily="34" charset="-120"/>
              </a:rPr>
              <a:t>80</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70</a:t>
            </a:r>
            <a:endParaRPr lang="en-US" sz="2200" dirty="0"/>
          </a:p>
        </p:txBody>
      </p:sp>
      <p:sp>
        <p:nvSpPr>
          <p:cNvPr id="29" name="click2"/>
          <p:cNvSpPr/>
          <p:nvPr/>
        </p:nvSpPr>
        <p:spPr>
          <a:xfrm>
            <a:off x="7516368" y="2510028"/>
            <a:ext cx="365760" cy="0"/>
          </a:xfrm>
          <a:prstGeom prst="line">
            <a:avLst/>
          </a:prstGeom>
          <a:noFill/>
          <a:ln w="28575">
            <a:solidFill>
              <a:srgbClr val="A9A9B4"/>
            </a:solidFill>
            <a:prstDash val="solid"/>
            <a:tailEnd type="triangle"/>
          </a:ln>
        </p:spPr>
      </p:sp>
      <p:sp>
        <p:nvSpPr>
          <p:cNvPr id="30" name="click2"/>
          <p:cNvSpPr/>
          <p:nvPr/>
        </p:nvSpPr>
        <p:spPr>
          <a:xfrm>
            <a:off x="7973568" y="2322576"/>
            <a:ext cx="868680" cy="374904"/>
          </a:xfrm>
          <a:prstGeom prst="roundRect">
            <a:avLst>
              <a:gd name="adj" fmla="val 19512"/>
            </a:avLst>
          </a:prstGeom>
          <a:solidFill>
            <a:srgbClr val="7FD99A"/>
          </a:solidFill>
          <a:ln/>
        </p:spPr>
      </p:sp>
      <p:sp>
        <p:nvSpPr>
          <p:cNvPr id="31" name="click2"/>
          <p:cNvSpPr txBox="1"/>
          <p:nvPr/>
        </p:nvSpPr>
        <p:spPr>
          <a:xfrm>
            <a:off x="7973568" y="2322576"/>
            <a:ext cx="868680" cy="374904"/>
          </a:xfrm>
          <a:prstGeom prst="rect">
            <a:avLst/>
          </a:prstGeom>
          <a:noFill/>
          <a:ln/>
        </p:spPr>
        <p:txBody>
          <a:bodyPr wrap="square" lIns="0" tIns="0" rIns="0" bIns="0" rtlCol="0" anchor="ctr"/>
          <a:lstStyle/>
          <a:p>
            <a:pPr algn="ctr" indent="0" marL="0">
              <a:buNone/>
            </a:pPr>
            <a:r>
              <a:rPr lang="en-US" sz="2000" b="1" dirty="0">
                <a:solidFill>
                  <a:srgbClr val="111115"/>
                </a:solidFill>
                <a:latin typeface="Consolas" pitchFamily="34" charset="0"/>
                <a:ea typeface="Consolas" pitchFamily="34" charset="-122"/>
                <a:cs typeface="Consolas" pitchFamily="34" charset="-120"/>
              </a:rPr>
              <a:t>True</a:t>
            </a:r>
            <a:endParaRPr lang="en-US" sz="2000" dirty="0"/>
          </a:p>
        </p:txBody>
      </p:sp>
      <p:sp>
        <p:nvSpPr>
          <p:cNvPr id="32" name="click2"/>
          <p:cNvSpPr txBox="1"/>
          <p:nvPr/>
        </p:nvSpPr>
        <p:spPr>
          <a:xfrm>
            <a:off x="6053328" y="3264408"/>
            <a:ext cx="2651760" cy="502920"/>
          </a:xfrm>
          <a:prstGeom prst="rect">
            <a:avLst/>
          </a:prstGeom>
          <a:noFill/>
          <a:ln/>
        </p:spPr>
        <p:txBody>
          <a:bodyPr wrap="square" lIns="0" tIns="0" rIns="0" bIns="0" rtlCol="0" anchor="ctr"/>
          <a:lstStyle/>
          <a:p>
            <a:pPr indent="0" marL="0">
              <a:buNone/>
            </a:pPr>
            <a:r>
              <a:rPr lang="en-US" sz="1800" i="1" dirty="0">
                <a:solidFill>
                  <a:srgbClr val="6E6E7A"/>
                </a:solidFill>
                <a:latin typeface="Calibri" pitchFamily="34" charset="0"/>
                <a:ea typeface="Calibri" pitchFamily="34" charset="-122"/>
                <a:cs typeface="Calibri" pitchFamily="34" charset="-120"/>
              </a:rPr>
              <a:t>not checked</a:t>
            </a:r>
            <a:endParaRPr lang="en-US" sz="1800" dirty="0"/>
          </a:p>
        </p:txBody>
      </p:sp>
      <p:sp>
        <p:nvSpPr>
          <p:cNvPr id="33" name="click3"/>
          <p:cNvSpPr/>
          <p:nvPr/>
        </p:nvSpPr>
        <p:spPr>
          <a:xfrm>
            <a:off x="5623560" y="2848356"/>
            <a:ext cx="329184" cy="329184"/>
          </a:xfrm>
          <a:prstGeom prst="ellipse">
            <a:avLst/>
          </a:prstGeom>
          <a:solidFill>
            <a:srgbClr val="D8A73D"/>
          </a:solidFill>
          <a:ln/>
        </p:spPr>
      </p:sp>
      <p:sp>
        <p:nvSpPr>
          <p:cNvPr id="34" name="click3"/>
          <p:cNvSpPr txBox="1"/>
          <p:nvPr/>
        </p:nvSpPr>
        <p:spPr>
          <a:xfrm>
            <a:off x="5623560" y="2848356"/>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5" name="click3"/>
          <p:cNvSpPr txBox="1"/>
          <p:nvPr/>
        </p:nvSpPr>
        <p:spPr>
          <a:xfrm>
            <a:off x="6053328" y="2761488"/>
            <a:ext cx="2651760" cy="502920"/>
          </a:xfrm>
          <a:prstGeom prst="rect">
            <a:avLst/>
          </a:prstGeom>
          <a:noFill/>
          <a:ln/>
        </p:spPr>
        <p:txBody>
          <a:bodyPr wrap="square" lIns="0" tIns="0" rIns="0" bIns="0" rtlCol="0" anchor="ctr"/>
          <a:lstStyle/>
          <a:p>
            <a:pPr indent="0" marL="0">
              <a:buNone/>
            </a:pPr>
            <a:r>
              <a:rPr lang="en-US" sz="2000" b="1" dirty="0">
                <a:solidFill>
                  <a:srgbClr val="7FD99A"/>
                </a:solidFill>
                <a:latin typeface="Calibri" pitchFamily="34" charset="0"/>
                <a:ea typeface="Calibri" pitchFamily="34" charset="-122"/>
                <a:cs typeface="Calibri" pitchFamily="34" charset="-120"/>
              </a:rPr>
              <a:t>✓ runs</a:t>
            </a:r>
            <a:endParaRPr lang="en-US" sz="2000" dirty="0"/>
          </a:p>
        </p:txBody>
      </p:sp>
      <p:sp>
        <p:nvSpPr>
          <p:cNvPr id="36" name="click3"/>
          <p:cNvSpPr txBox="1"/>
          <p:nvPr/>
        </p:nvSpPr>
        <p:spPr>
          <a:xfrm>
            <a:off x="6053328" y="3767328"/>
            <a:ext cx="2651760" cy="502920"/>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37" name="click3"/>
          <p:cNvSpPr txBox="1"/>
          <p:nvPr/>
        </p:nvSpPr>
        <p:spPr>
          <a:xfrm>
            <a:off x="6053328" y="4773168"/>
            <a:ext cx="2651760" cy="502920"/>
          </a:xfrm>
          <a:prstGeom prst="rect">
            <a:avLst/>
          </a:prstGeom>
          <a:noFill/>
          <a:ln/>
        </p:spPr>
        <p:txBody>
          <a:bodyPr wrap="square" lIns="0" tIns="0" rIns="0" bIns="0" rtlCol="0" anchor="ctr"/>
          <a:lstStyle/>
          <a:p>
            <a:pPr indent="0" marL="0">
              <a:buNone/>
            </a:pPr>
            <a:r>
              <a:rPr lang="en-US" sz="2000" i="1" dirty="0">
                <a:solidFill>
                  <a:srgbClr val="6E6E7A"/>
                </a:solidFill>
                <a:latin typeface="Calibri" pitchFamily="34" charset="0"/>
                <a:ea typeface="Calibri" pitchFamily="34" charset="-122"/>
                <a:cs typeface="Calibri" pitchFamily="34" charset="-120"/>
              </a:rPr>
              <a:t>skipped</a:t>
            </a:r>
            <a:endParaRPr lang="en-US" sz="2000" dirty="0"/>
          </a:p>
        </p:txBody>
      </p:sp>
      <p:sp>
        <p:nvSpPr>
          <p:cNvPr id="38" name="click4"/>
          <p:cNvSpPr/>
          <p:nvPr/>
        </p:nvSpPr>
        <p:spPr>
          <a:xfrm>
            <a:off x="9098280" y="1554480"/>
            <a:ext cx="329184" cy="329184"/>
          </a:xfrm>
          <a:prstGeom prst="ellipse">
            <a:avLst/>
          </a:prstGeom>
          <a:solidFill>
            <a:srgbClr val="D8A73D"/>
          </a:solidFill>
          <a:ln/>
        </p:spPr>
      </p:sp>
      <p:sp>
        <p:nvSpPr>
          <p:cNvPr id="39" name="click4"/>
          <p:cNvSpPr txBox="1"/>
          <p:nvPr/>
        </p:nvSpPr>
        <p:spPr>
          <a:xfrm>
            <a:off x="9098280" y="155448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40" name="click4"/>
          <p:cNvSpPr txBox="1"/>
          <p:nvPr/>
        </p:nvSpPr>
        <p:spPr>
          <a:xfrm>
            <a:off x="9555480" y="1554480"/>
            <a:ext cx="2084832" cy="329184"/>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WHAT IS PRINTED</a:t>
            </a:r>
            <a:endParaRPr lang="en-US" sz="1300" dirty="0"/>
          </a:p>
        </p:txBody>
      </p:sp>
      <p:sp>
        <p:nvSpPr>
          <p:cNvPr id="41" name="click4 · terminal"/>
          <p:cNvSpPr/>
          <p:nvPr/>
        </p:nvSpPr>
        <p:spPr>
          <a:xfrm>
            <a:off x="9098280" y="2011680"/>
            <a:ext cx="2542032" cy="863600"/>
          </a:xfrm>
          <a:prstGeom prst="roundRect">
            <a:avLst>
              <a:gd name="adj" fmla="val 8471"/>
            </a:avLst>
          </a:prstGeom>
          <a:solidFill>
            <a:srgbClr val="0A0A0D"/>
          </a:solidFill>
          <a:ln w="15875">
            <a:solidFill>
              <a:srgbClr val="3A3A44"/>
            </a:solidFill>
            <a:prstDash val="solid"/>
          </a:ln>
        </p:spPr>
      </p:sp>
      <p:sp>
        <p:nvSpPr>
          <p:cNvPr id="42" name="click4"/>
          <p:cNvSpPr txBox="1"/>
          <p:nvPr/>
        </p:nvSpPr>
        <p:spPr>
          <a:xfrm>
            <a:off x="9326880" y="2240280"/>
            <a:ext cx="2084832" cy="4064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Full</a:t>
            </a:r>
            <a:endParaRPr lang="en-US" sz="2000" dirty="0"/>
          </a:p>
        </p:txBody>
      </p:sp>
      <p:sp>
        <p:nvSpPr>
          <p:cNvPr id="43" name="Shape 40"/>
          <p:cNvSpPr/>
          <p:nvPr/>
        </p:nvSpPr>
        <p:spPr>
          <a:xfrm>
            <a:off x="548640" y="5596128"/>
            <a:ext cx="11091672" cy="566928"/>
          </a:xfrm>
          <a:prstGeom prst="roundRect">
            <a:avLst>
              <a:gd name="adj" fmla="val 12903"/>
            </a:avLst>
          </a:prstGeom>
          <a:solidFill>
            <a:srgbClr val="2A2A32"/>
          </a:solidFill>
          <a:ln/>
        </p:spPr>
      </p:sp>
      <p:sp>
        <p:nvSpPr>
          <p:cNvPr id="44" name="Shape 41"/>
          <p:cNvSpPr/>
          <p:nvPr/>
        </p:nvSpPr>
        <p:spPr>
          <a:xfrm>
            <a:off x="731520" y="5715000"/>
            <a:ext cx="329184" cy="329184"/>
          </a:xfrm>
          <a:prstGeom prst="ellipse">
            <a:avLst/>
          </a:prstGeom>
          <a:solidFill>
            <a:srgbClr val="D8A73D"/>
          </a:solidFill>
          <a:ln/>
        </p:spPr>
      </p:sp>
      <p:sp>
        <p:nvSpPr>
          <p:cNvPr id="45" name="Text 42"/>
          <p:cNvSpPr txBox="1"/>
          <p:nvPr/>
        </p:nvSpPr>
        <p:spPr>
          <a:xfrm>
            <a:off x="731520"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46" name="Text 43"/>
          <p:cNvSpPr txBox="1"/>
          <p:nvPr/>
        </p:nvSpPr>
        <p:spPr>
          <a:xfrm>
            <a:off x="1170432"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Look in the box</a:t>
            </a:r>
            <a:endParaRPr lang="en-US" sz="1800" dirty="0"/>
          </a:p>
        </p:txBody>
      </p:sp>
      <p:sp>
        <p:nvSpPr>
          <p:cNvPr id="47" name="Shape 44"/>
          <p:cNvSpPr/>
          <p:nvPr/>
        </p:nvSpPr>
        <p:spPr>
          <a:xfrm>
            <a:off x="3504438" y="5715000"/>
            <a:ext cx="329184" cy="329184"/>
          </a:xfrm>
          <a:prstGeom prst="ellipse">
            <a:avLst/>
          </a:prstGeom>
          <a:solidFill>
            <a:srgbClr val="D8A73D"/>
          </a:solidFill>
          <a:ln/>
        </p:spPr>
      </p:sp>
      <p:sp>
        <p:nvSpPr>
          <p:cNvPr id="48" name="Text 45"/>
          <p:cNvSpPr txBox="1"/>
          <p:nvPr/>
        </p:nvSpPr>
        <p:spPr>
          <a:xfrm>
            <a:off x="3504438"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49" name="Text 46"/>
          <p:cNvSpPr txBox="1"/>
          <p:nvPr/>
        </p:nvSpPr>
        <p:spPr>
          <a:xfrm>
            <a:off x="3943350"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Check from the top</a:t>
            </a:r>
            <a:endParaRPr lang="en-US" sz="1800" dirty="0"/>
          </a:p>
        </p:txBody>
      </p:sp>
      <p:sp>
        <p:nvSpPr>
          <p:cNvPr id="50" name="Shape 47"/>
          <p:cNvSpPr/>
          <p:nvPr/>
        </p:nvSpPr>
        <p:spPr>
          <a:xfrm>
            <a:off x="6277356" y="5715000"/>
            <a:ext cx="329184" cy="329184"/>
          </a:xfrm>
          <a:prstGeom prst="ellipse">
            <a:avLst/>
          </a:prstGeom>
          <a:solidFill>
            <a:srgbClr val="D8A73D"/>
          </a:solidFill>
          <a:ln/>
        </p:spPr>
      </p:sp>
      <p:sp>
        <p:nvSpPr>
          <p:cNvPr id="51" name="Text 48"/>
          <p:cNvSpPr txBox="1"/>
          <p:nvPr/>
        </p:nvSpPr>
        <p:spPr>
          <a:xfrm>
            <a:off x="6277356"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52" name="Text 49"/>
          <p:cNvSpPr txBox="1"/>
          <p:nvPr/>
        </p:nvSpPr>
        <p:spPr>
          <a:xfrm>
            <a:off x="6716268"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Which lines run?</a:t>
            </a:r>
            <a:endParaRPr lang="en-US" sz="1800" dirty="0"/>
          </a:p>
        </p:txBody>
      </p:sp>
      <p:sp>
        <p:nvSpPr>
          <p:cNvPr id="53" name="Shape 50"/>
          <p:cNvSpPr/>
          <p:nvPr/>
        </p:nvSpPr>
        <p:spPr>
          <a:xfrm>
            <a:off x="9050274" y="5715000"/>
            <a:ext cx="329184" cy="329184"/>
          </a:xfrm>
          <a:prstGeom prst="ellipse">
            <a:avLst/>
          </a:prstGeom>
          <a:solidFill>
            <a:srgbClr val="D8A73D"/>
          </a:solidFill>
          <a:ln/>
        </p:spPr>
      </p:sp>
      <p:sp>
        <p:nvSpPr>
          <p:cNvPr id="54" name="Text 51"/>
          <p:cNvSpPr txBox="1"/>
          <p:nvPr/>
        </p:nvSpPr>
        <p:spPr>
          <a:xfrm>
            <a:off x="9050274"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55" name="Text 52"/>
          <p:cNvSpPr txBox="1"/>
          <p:nvPr/>
        </p:nvSpPr>
        <p:spPr>
          <a:xfrm>
            <a:off x="9489186"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What is printed?</a:t>
            </a:r>
            <a:endParaRPr lang="en-US" sz="1800" dirty="0"/>
          </a:p>
        </p:txBody>
      </p:sp>
      <p:sp>
        <p:nvSpPr>
          <p:cNvPr id="56" name="Shape 53"/>
          <p:cNvSpPr/>
          <p:nvPr/>
        </p:nvSpPr>
        <p:spPr>
          <a:xfrm>
            <a:off x="9464040" y="566928"/>
            <a:ext cx="1280160" cy="329184"/>
          </a:xfrm>
          <a:prstGeom prst="roundRect">
            <a:avLst>
              <a:gd name="adj" fmla="val 50000"/>
            </a:avLst>
          </a:prstGeom>
          <a:solidFill>
            <a:srgbClr val="D8A73D"/>
          </a:solidFill>
          <a:ln/>
        </p:spPr>
      </p:sp>
      <p:sp>
        <p:nvSpPr>
          <p:cNvPr id="57" name="Text 54"/>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I DO</a:t>
            </a:r>
            <a:endParaRPr lang="en-US" sz="1400" dirty="0"/>
          </a:p>
        </p:txBody>
      </p:sp>
      <p:pic>
        <p:nvPicPr>
          <p:cNvPr id="58" name="Image 1" descr="New information">    </p:cNvPr>
          <p:cNvPicPr>
            <a:picLocks noChangeAspect="1"/>
          </p:cNvPicPr>
          <p:nvPr/>
        </p:nvPicPr>
        <p:blipFill>
          <a:blip r:embed="rId2"/>
          <a:stretch>
            <a:fillRect/>
          </a:stretch>
        </p:blipFill>
        <p:spPr>
          <a:xfrm>
            <a:off x="10972800" y="384048"/>
            <a:ext cx="731520" cy="731520"/>
          </a:xfrm>
          <a:prstGeom prst="rect">
            <a:avLst/>
          </a:prstGeom>
        </p:spPr>
      </p:pic>
      <p:sp>
        <p:nvSpPr>
          <p:cNvPr id="59"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par>
                                <p:cTn id="34" presetID="10" presetClass="entr" presetSubtype="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5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500"/>
                                        <p:tgtEl>
                                          <p:spTgt spid="3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500"/>
                                        <p:tgtEl>
                                          <p:spTgt spid="3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500"/>
                                        <p:tgtEl>
                                          <p:spTgt spid="40"/>
                                        </p:tgtEl>
                                      </p:cBhvr>
                                    </p:animEffect>
                                  </p:childTnLst>
                                </p:cTn>
                              </p:par>
                              <p:par>
                                <p:cTn id="74" presetID="10" presetClass="entr" presetSubtype="0" fill="hold" nodeType="with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25" grpId="0" animBg="1"/>
      <p:bldP spid="27" grpId="0" animBg="1"/>
      <p:bldP spid="28" grpId="0" animBg="1"/>
      <p:bldP spid="31" grpId="0" animBg="1"/>
      <p:bldP spid="32" grpId="0" animBg="1"/>
      <p:bldP spid="34" grpId="0" animBg="1"/>
      <p:bldP spid="35" grpId="0" animBg="1"/>
      <p:bldP spid="36" grpId="0" animBg="1"/>
      <p:bldP spid="37" grpId="0" animBg="1"/>
      <p:bldP spid="39" grpId="0" animBg="1"/>
      <p:bldP spid="40" grpId="0" animBg="1"/>
      <p:bldP spid="4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CHAPTER 2</a:t>
            </a:r>
            <a:endParaRPr lang="en-US" sz="1400" dirty="0"/>
          </a:p>
        </p:txBody>
      </p:sp>
      <p:sp>
        <p:nvSpPr>
          <p:cNvPr id="5" name="Text 2"/>
          <p:cNvSpPr txBox="1"/>
          <p:nvPr/>
        </p:nvSpPr>
        <p:spPr>
          <a:xfrm>
            <a:off x="548640" y="914400"/>
            <a:ext cx="54864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Proximity</a:t>
            </a:r>
            <a:endParaRPr lang="en-US" sz="4800" dirty="0"/>
          </a:p>
        </p:txBody>
      </p:sp>
      <p:sp>
        <p:nvSpPr>
          <p:cNvPr id="6" name="terminal"/>
          <p:cNvSpPr/>
          <p:nvPr/>
        </p:nvSpPr>
        <p:spPr>
          <a:xfrm>
            <a:off x="548640" y="2148840"/>
            <a:ext cx="5212080" cy="2788920"/>
          </a:xfrm>
          <a:prstGeom prst="roundRect">
            <a:avLst>
              <a:gd name="adj" fmla="val 2623"/>
            </a:avLst>
          </a:prstGeom>
          <a:solidFill>
            <a:srgbClr val="0D1310"/>
          </a:solidFill>
          <a:ln w="15875">
            <a:solidFill>
              <a:srgbClr val="2C4434"/>
            </a:solidFill>
            <a:prstDash val="solid"/>
          </a:ln>
        </p:spPr>
      </p:sp>
      <p:sp>
        <p:nvSpPr>
          <p:cNvPr id="7" name="Text 4"/>
          <p:cNvSpPr txBox="1"/>
          <p:nvPr/>
        </p:nvSpPr>
        <p:spPr>
          <a:xfrm>
            <a:off x="777240" y="2331720"/>
            <a:ext cx="475488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SENSOR OPS</a:t>
            </a:r>
            <a:endParaRPr lang="en-US" sz="1200" dirty="0"/>
          </a:p>
        </p:txBody>
      </p:sp>
      <p:sp>
        <p:nvSpPr>
          <p:cNvPr id="8" name="Text 5"/>
          <p:cNvSpPr txBox="1"/>
          <p:nvPr/>
        </p:nvSpPr>
        <p:spPr>
          <a:xfrm>
            <a:off x="777240" y="26974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The room is empty.</a:t>
            </a:r>
            <a:endParaRPr lang="en-US" sz="2000" dirty="0"/>
          </a:p>
        </p:txBody>
      </p:sp>
      <p:sp>
        <p:nvSpPr>
          <p:cNvPr id="9" name="Text 6"/>
          <p:cNvSpPr txBox="1"/>
          <p:nvPr/>
        </p:nvSpPr>
        <p:spPr>
          <a:xfrm>
            <a:off x="777240" y="3103880"/>
            <a:ext cx="4754880" cy="406400"/>
          </a:xfrm>
          <a:prstGeom prst="rect">
            <a:avLst/>
          </a:prstGeom>
          <a:noFill/>
          <a:ln/>
        </p:spPr>
        <p:txBody>
          <a:bodyPr wrap="square" lIns="0" tIns="0" rIns="0" bIns="0" rtlCol="0" anchor="ctr"/>
          <a:lstStyle/>
          <a:p>
            <a:pPr indent="0" marL="0">
              <a:buNone/>
            </a:pPr>
            <a:endParaRPr lang="en-US" sz="2000" dirty="0"/>
          </a:p>
        </p:txBody>
      </p:sp>
      <p:sp>
        <p:nvSpPr>
          <p:cNvPr id="10" name="Text 7"/>
          <p:cNvSpPr txBox="1"/>
          <p:nvPr/>
        </p:nvSpPr>
        <p:spPr>
          <a:xfrm>
            <a:off x="777240" y="35102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Frost on the floor.</a:t>
            </a:r>
            <a:endParaRPr lang="en-US" sz="2000" dirty="0"/>
          </a:p>
        </p:txBody>
      </p:sp>
      <p:sp>
        <p:nvSpPr>
          <p:cNvPr id="11" name="Text 8"/>
          <p:cNvSpPr txBox="1"/>
          <p:nvPr/>
        </p:nvSpPr>
        <p:spPr>
          <a:xfrm>
            <a:off x="777240" y="39166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A vent cover hangs open</a:t>
            </a:r>
            <a:endParaRPr lang="en-US" sz="2000" dirty="0"/>
          </a:p>
        </p:txBody>
      </p:sp>
      <p:sp>
        <p:nvSpPr>
          <p:cNvPr id="12" name="Text 9"/>
          <p:cNvSpPr txBox="1"/>
          <p:nvPr/>
        </p:nvSpPr>
        <p:spPr>
          <a:xfrm>
            <a:off x="777240" y="43230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above the console.</a:t>
            </a:r>
            <a:endParaRPr lang="en-US" sz="2000" dirty="0"/>
          </a:p>
        </p:txBody>
      </p:sp>
      <p:sp>
        <p:nvSpPr>
          <p:cNvPr id="13" name="Shape 10"/>
          <p:cNvSpPr/>
          <p:nvPr/>
        </p:nvSpPr>
        <p:spPr>
          <a:xfrm>
            <a:off x="6172200" y="1417320"/>
            <a:ext cx="5468112" cy="4434840"/>
          </a:xfrm>
          <a:prstGeom prst="roundRect">
            <a:avLst>
              <a:gd name="adj" fmla="val 1649"/>
            </a:avLst>
          </a:prstGeom>
          <a:solidFill>
            <a:srgbClr val="2A2A32"/>
          </a:solidFill>
          <a:ln w="15875">
            <a:solidFill>
              <a:srgbClr val="3A3A44"/>
            </a:solidFill>
            <a:prstDash val="solid"/>
          </a:ln>
        </p:spPr>
      </p:sp>
      <p:sp>
        <p:nvSpPr>
          <p:cNvPr id="14" name="Text 11"/>
          <p:cNvSpPr txBox="1"/>
          <p:nvPr/>
        </p:nvSpPr>
        <p:spPr>
          <a:xfrm>
            <a:off x="6492240" y="164592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YOUR TASK</a:t>
            </a:r>
            <a:endParaRPr lang="en-US" sz="1300" dirty="0"/>
          </a:p>
        </p:txBody>
      </p:sp>
      <p:sp>
        <p:nvSpPr>
          <p:cNvPr id="15" name="Text 12"/>
          <p:cNvSpPr txBox="1"/>
          <p:nvPr/>
        </p:nvSpPr>
        <p:spPr>
          <a:xfrm>
            <a:off x="6492240" y="1965960"/>
            <a:ext cx="4828032" cy="822960"/>
          </a:xfrm>
          <a:prstGeom prst="rect">
            <a:avLst/>
          </a:prstGeom>
          <a:noFill/>
          <a:ln/>
        </p:spPr>
        <p:txBody>
          <a:bodyPr wrap="square" lIns="0" tIns="0" rIns="0" bIns="0" rtlCol="0" anchor="ctr"/>
          <a:lstStyle/>
          <a:p>
            <a:pPr indent="0" marL="0">
              <a:buNone/>
            </a:pPr>
            <a:r>
              <a:rPr lang="en-US" sz="2600" dirty="0">
                <a:solidFill>
                  <a:srgbClr val="F5F5F3"/>
                </a:solidFill>
                <a:latin typeface="Calibri" pitchFamily="34" charset="0"/>
                <a:ea typeface="Calibri" pitchFamily="34" charset="-122"/>
                <a:cs typeface="Calibri" pitchFamily="34" charset="-120"/>
              </a:rPr>
              <a:t>Open </a:t>
            </a:r>
            <a:pPr indent="0" marL="0">
              <a:buNone/>
            </a:pPr>
            <a:r>
              <a:rPr lang="en-US" sz="2600" b="1" dirty="0">
                <a:solidFill>
                  <a:srgbClr val="D8A73D"/>
                </a:solidFill>
                <a:latin typeface="Calibri" pitchFamily="34" charset="0"/>
                <a:ea typeface="Calibri" pitchFamily="34" charset="-122"/>
                <a:cs typeface="Calibri" pitchFamily="34" charset="-120"/>
              </a:rPr>
              <a:t>Proximity</a:t>
            </a:r>
            <a:pPr indent="0" marL="0">
              <a:buNone/>
            </a:pPr>
            <a:r>
              <a:rPr lang="en-US" sz="2600" dirty="0">
                <a:solidFill>
                  <a:srgbClr val="F5F5F3"/>
                </a:solidFill>
                <a:latin typeface="Calibri" pitchFamily="34" charset="0"/>
                <a:ea typeface="Calibri" pitchFamily="34" charset="-122"/>
                <a:cs typeface="Calibri" pitchFamily="34" charset="-120"/>
              </a:rPr>
              <a:t> from Google Classroom</a:t>
            </a:r>
            <a:endParaRPr lang="en-US" sz="2600" dirty="0"/>
          </a:p>
        </p:txBody>
      </p:sp>
      <p:sp>
        <p:nvSpPr>
          <p:cNvPr id="16" name="Shape 13"/>
          <p:cNvSpPr/>
          <p:nvPr/>
        </p:nvSpPr>
        <p:spPr>
          <a:xfrm>
            <a:off x="6492240" y="3063240"/>
            <a:ext cx="914400" cy="685800"/>
          </a:xfrm>
          <a:prstGeom prst="roundRect">
            <a:avLst>
              <a:gd name="adj" fmla="val 8000"/>
            </a:avLst>
          </a:prstGeom>
          <a:solidFill>
            <a:srgbClr val="1E1E24"/>
          </a:solidFill>
          <a:ln w="15875">
            <a:solidFill>
              <a:srgbClr val="D8A73D"/>
            </a:solidFill>
            <a:prstDash val="solid"/>
          </a:ln>
        </p:spPr>
      </p:sp>
      <p:sp>
        <p:nvSpPr>
          <p:cNvPr id="17" name="Text 14"/>
          <p:cNvSpPr txBox="1"/>
          <p:nvPr/>
        </p:nvSpPr>
        <p:spPr>
          <a:xfrm>
            <a:off x="6492240"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P</a:t>
            </a:r>
            <a:endParaRPr lang="en-US" sz="2800" dirty="0"/>
          </a:p>
        </p:txBody>
      </p:sp>
      <p:sp>
        <p:nvSpPr>
          <p:cNvPr id="18" name="Text 15"/>
          <p:cNvSpPr txBox="1"/>
          <p:nvPr/>
        </p:nvSpPr>
        <p:spPr>
          <a:xfrm>
            <a:off x="6400800"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Predict</a:t>
            </a:r>
            <a:endParaRPr lang="en-US" sz="1200" dirty="0"/>
          </a:p>
        </p:txBody>
      </p:sp>
      <p:sp>
        <p:nvSpPr>
          <p:cNvPr id="19" name="Shape 16"/>
          <p:cNvSpPr/>
          <p:nvPr/>
        </p:nvSpPr>
        <p:spPr>
          <a:xfrm>
            <a:off x="7470648" y="3063240"/>
            <a:ext cx="914400" cy="685800"/>
          </a:xfrm>
          <a:prstGeom prst="roundRect">
            <a:avLst>
              <a:gd name="adj" fmla="val 8000"/>
            </a:avLst>
          </a:prstGeom>
          <a:solidFill>
            <a:srgbClr val="1E1E24"/>
          </a:solidFill>
          <a:ln w="15875">
            <a:solidFill>
              <a:srgbClr val="D8A73D"/>
            </a:solidFill>
            <a:prstDash val="solid"/>
          </a:ln>
        </p:spPr>
      </p:sp>
      <p:sp>
        <p:nvSpPr>
          <p:cNvPr id="20" name="Text 17"/>
          <p:cNvSpPr txBox="1"/>
          <p:nvPr/>
        </p:nvSpPr>
        <p:spPr>
          <a:xfrm>
            <a:off x="7470648"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R</a:t>
            </a:r>
            <a:endParaRPr lang="en-US" sz="2800" dirty="0"/>
          </a:p>
        </p:txBody>
      </p:sp>
      <p:sp>
        <p:nvSpPr>
          <p:cNvPr id="21" name="Text 18"/>
          <p:cNvSpPr txBox="1"/>
          <p:nvPr/>
        </p:nvSpPr>
        <p:spPr>
          <a:xfrm>
            <a:off x="7379208"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Run</a:t>
            </a:r>
            <a:endParaRPr lang="en-US" sz="1200" dirty="0"/>
          </a:p>
        </p:txBody>
      </p:sp>
      <p:sp>
        <p:nvSpPr>
          <p:cNvPr id="22" name="Shape 19"/>
          <p:cNvSpPr/>
          <p:nvPr/>
        </p:nvSpPr>
        <p:spPr>
          <a:xfrm>
            <a:off x="8449056" y="3063240"/>
            <a:ext cx="914400" cy="685800"/>
          </a:xfrm>
          <a:prstGeom prst="roundRect">
            <a:avLst>
              <a:gd name="adj" fmla="val 8000"/>
            </a:avLst>
          </a:prstGeom>
          <a:solidFill>
            <a:srgbClr val="1E1E24"/>
          </a:solidFill>
          <a:ln w="15875">
            <a:solidFill>
              <a:srgbClr val="D8A73D"/>
            </a:solidFill>
            <a:prstDash val="solid"/>
          </a:ln>
        </p:spPr>
      </p:sp>
      <p:sp>
        <p:nvSpPr>
          <p:cNvPr id="23" name="Text 20"/>
          <p:cNvSpPr txBox="1"/>
          <p:nvPr/>
        </p:nvSpPr>
        <p:spPr>
          <a:xfrm>
            <a:off x="8449056"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I</a:t>
            </a:r>
            <a:endParaRPr lang="en-US" sz="2800" dirty="0"/>
          </a:p>
        </p:txBody>
      </p:sp>
      <p:sp>
        <p:nvSpPr>
          <p:cNvPr id="24" name="Text 21"/>
          <p:cNvSpPr txBox="1"/>
          <p:nvPr/>
        </p:nvSpPr>
        <p:spPr>
          <a:xfrm>
            <a:off x="8357616"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Investigate</a:t>
            </a:r>
            <a:endParaRPr lang="en-US" sz="1200" dirty="0"/>
          </a:p>
        </p:txBody>
      </p:sp>
      <p:sp>
        <p:nvSpPr>
          <p:cNvPr id="25" name="Shape 22"/>
          <p:cNvSpPr/>
          <p:nvPr/>
        </p:nvSpPr>
        <p:spPr>
          <a:xfrm>
            <a:off x="9427464" y="3063240"/>
            <a:ext cx="914400" cy="685800"/>
          </a:xfrm>
          <a:prstGeom prst="roundRect">
            <a:avLst>
              <a:gd name="adj" fmla="val 8000"/>
            </a:avLst>
          </a:prstGeom>
          <a:solidFill>
            <a:srgbClr val="1E1E24"/>
          </a:solidFill>
          <a:ln w="15875">
            <a:solidFill>
              <a:srgbClr val="D8A73D"/>
            </a:solidFill>
            <a:prstDash val="solid"/>
          </a:ln>
        </p:spPr>
      </p:sp>
      <p:sp>
        <p:nvSpPr>
          <p:cNvPr id="26" name="Text 23"/>
          <p:cNvSpPr txBox="1"/>
          <p:nvPr/>
        </p:nvSpPr>
        <p:spPr>
          <a:xfrm>
            <a:off x="9427464"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27" name="Text 24"/>
          <p:cNvSpPr txBox="1"/>
          <p:nvPr/>
        </p:nvSpPr>
        <p:spPr>
          <a:xfrm>
            <a:off x="9336024"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Modify</a:t>
            </a:r>
            <a:endParaRPr lang="en-US" sz="1200" dirty="0"/>
          </a:p>
        </p:txBody>
      </p:sp>
      <p:sp>
        <p:nvSpPr>
          <p:cNvPr id="28" name="Shape 25"/>
          <p:cNvSpPr/>
          <p:nvPr/>
        </p:nvSpPr>
        <p:spPr>
          <a:xfrm>
            <a:off x="10405872" y="3063240"/>
            <a:ext cx="914400" cy="685800"/>
          </a:xfrm>
          <a:prstGeom prst="roundRect">
            <a:avLst>
              <a:gd name="adj" fmla="val 8000"/>
            </a:avLst>
          </a:prstGeom>
          <a:solidFill>
            <a:srgbClr val="1E1E24"/>
          </a:solidFill>
          <a:ln w="15875">
            <a:solidFill>
              <a:srgbClr val="D8A73D"/>
            </a:solidFill>
            <a:prstDash val="solid"/>
          </a:ln>
        </p:spPr>
      </p:sp>
      <p:sp>
        <p:nvSpPr>
          <p:cNvPr id="29" name="Text 26"/>
          <p:cNvSpPr txBox="1"/>
          <p:nvPr/>
        </p:nvSpPr>
        <p:spPr>
          <a:xfrm>
            <a:off x="10405872"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30" name="Text 27"/>
          <p:cNvSpPr txBox="1"/>
          <p:nvPr/>
        </p:nvSpPr>
        <p:spPr>
          <a:xfrm>
            <a:off x="10314432"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Make</a:t>
            </a:r>
            <a:endParaRPr lang="en-US" sz="1200" dirty="0"/>
          </a:p>
        </p:txBody>
      </p:sp>
      <p:sp>
        <p:nvSpPr>
          <p:cNvPr id="31" name="Text 28"/>
          <p:cNvSpPr txBox="1"/>
          <p:nvPr/>
        </p:nvSpPr>
        <p:spPr>
          <a:xfrm>
            <a:off x="6492240" y="4343400"/>
            <a:ext cx="4828032" cy="1280160"/>
          </a:xfrm>
          <a:prstGeom prst="rect">
            <a:avLst/>
          </a:prstGeom>
          <a:noFill/>
          <a:ln/>
        </p:spPr>
        <p:txBody>
          <a:bodyPr wrap="square" lIns="0" tIns="0" rIns="0" bIns="0" rtlCol="0" anchor="ctr"/>
          <a:lstStyle/>
          <a:p>
            <a:pPr indent="0" marL="0">
              <a:buNone/>
            </a:pPr>
            <a:r>
              <a:rPr lang="en-US" sz="1900" b="1" dirty="0">
                <a:solidFill>
                  <a:srgbClr val="D8A73D"/>
                </a:solidFill>
                <a:latin typeface="Calibri" pitchFamily="34" charset="0"/>
                <a:ea typeface="Calibri" pitchFamily="34" charset="-122"/>
                <a:cs typeface="Calibri" pitchFamily="34" charset="-120"/>
              </a:rPr>
              <a:t>Two calls this time: </a:t>
            </a:r>
            <a:pPr indent="0" marL="0">
              <a:buNone/>
            </a:pPr>
            <a:r>
              <a:rPr lang="en-US" sz="1900" dirty="0">
                <a:solidFill>
                  <a:srgbClr val="F5F5F3"/>
                </a:solidFill>
                <a:latin typeface="Calibri" pitchFamily="34" charset="0"/>
                <a:ea typeface="Calibri" pitchFamily="34" charset="-122"/>
                <a:cs typeface="Calibri" pitchFamily="34" charset="-120"/>
              </a:rPr>
              <a:t>one in Modify, one in Make. They change the story, not your score.</a:t>
            </a:r>
            <a:endParaRPr lang="en-US" sz="1900" dirty="0"/>
          </a:p>
        </p:txBody>
      </p:sp>
      <p:sp>
        <p:nvSpPr>
          <p:cNvPr id="32" name="Shape 29"/>
          <p:cNvSpPr/>
          <p:nvPr/>
        </p:nvSpPr>
        <p:spPr>
          <a:xfrm>
            <a:off x="10131552" y="1627632"/>
            <a:ext cx="1280160" cy="329184"/>
          </a:xfrm>
          <a:prstGeom prst="roundRect">
            <a:avLst>
              <a:gd name="adj" fmla="val 50000"/>
            </a:avLst>
          </a:prstGeom>
          <a:solidFill>
            <a:srgbClr val="1E1E24"/>
          </a:solidFill>
          <a:ln w="15875">
            <a:solidFill>
              <a:srgbClr val="D8A73D"/>
            </a:solidFill>
            <a:prstDash val="solid"/>
          </a:ln>
        </p:spPr>
      </p:sp>
      <p:sp>
        <p:nvSpPr>
          <p:cNvPr id="33" name="Text 30"/>
          <p:cNvSpPr txBox="1"/>
          <p:nvPr/>
        </p:nvSpPr>
        <p:spPr>
          <a:xfrm>
            <a:off x="10131552" y="1627632"/>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≈30 MIN</a:t>
            </a:r>
            <a:endParaRPr lang="en-US" sz="1400" dirty="0"/>
          </a:p>
        </p:txBody>
      </p:sp>
      <p:pic>
        <p:nvPicPr>
          <p:cNvPr id="34" name="Image 1" descr="Deliberate practice">    </p:cNvPr>
          <p:cNvPicPr>
            <a:picLocks noChangeAspect="1"/>
          </p:cNvPicPr>
          <p:nvPr/>
        </p:nvPicPr>
        <p:blipFill>
          <a:blip r:embed="rId2"/>
          <a:stretch>
            <a:fillRect/>
          </a:stretch>
        </p:blipFill>
        <p:spPr>
          <a:xfrm>
            <a:off x="10972800" y="384048"/>
            <a:ext cx="731520" cy="7315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tation edge_amber" descr="C:\Users\n.houlton_grange.out\source\repos\interactive\_presentations\Y9_Python\station\edge_amber.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E69F00"/>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SENSOR OPS   ·   MOTION DETECTED   ·   BIO-SCAN: NOT HUMAN</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input() gives text, so convert it</a:t>
            </a:r>
            <a:endParaRPr lang="en-US" sz="3600" dirty="0"/>
          </a:p>
        </p:txBody>
      </p:sp>
      <p:sp>
        <p:nvSpPr>
          <p:cNvPr id="5" name="code"/>
          <p:cNvSpPr/>
          <p:nvPr/>
        </p:nvSpPr>
        <p:spPr>
          <a:xfrm>
            <a:off x="548640" y="1600200"/>
            <a:ext cx="7498080" cy="1324356"/>
          </a:xfrm>
          <a:prstGeom prst="roundRect">
            <a:avLst>
              <a:gd name="adj" fmla="val 5524"/>
            </a:avLst>
          </a:prstGeom>
          <a:solidFill>
            <a:srgbClr val="111115"/>
          </a:solidFill>
          <a:ln w="15875">
            <a:solidFill>
              <a:srgbClr val="3A3A44"/>
            </a:solidFill>
            <a:prstDash val="solid"/>
          </a:ln>
        </p:spPr>
      </p:sp>
      <p:sp>
        <p:nvSpPr>
          <p:cNvPr id="6" name="Text 3"/>
          <p:cNvSpPr txBox="1"/>
          <p:nvPr/>
        </p:nvSpPr>
        <p:spPr>
          <a:xfrm>
            <a:off x="658368" y="180136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7" name="Text 4"/>
          <p:cNvSpPr txBox="1"/>
          <p:nvPr/>
        </p:nvSpPr>
        <p:spPr>
          <a:xfrm>
            <a:off x="1188720" y="1801368"/>
            <a:ext cx="67665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distance</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"Distance: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8" name="Shape 5"/>
          <p:cNvSpPr/>
          <p:nvPr/>
        </p:nvSpPr>
        <p:spPr>
          <a:xfrm>
            <a:off x="603504" y="2262378"/>
            <a:ext cx="7388352" cy="461010"/>
          </a:xfrm>
          <a:prstGeom prst="rect">
            <a:avLst/>
          </a:prstGeom>
          <a:solidFill>
            <a:srgbClr val="2B2618"/>
          </a:solidFill>
          <a:ln/>
        </p:spPr>
      </p:sp>
      <p:sp>
        <p:nvSpPr>
          <p:cNvPr id="9" name="Text 6"/>
          <p:cNvSpPr txBox="1"/>
          <p:nvPr/>
        </p:nvSpPr>
        <p:spPr>
          <a:xfrm>
            <a:off x="658368" y="226237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10" name="Text 7"/>
          <p:cNvSpPr txBox="1"/>
          <p:nvPr/>
        </p:nvSpPr>
        <p:spPr>
          <a:xfrm>
            <a:off x="1188720" y="2262378"/>
            <a:ext cx="6766560" cy="46101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if</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distance</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&gt;=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50</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1" name="terminal"/>
          <p:cNvSpPr/>
          <p:nvPr/>
        </p:nvSpPr>
        <p:spPr>
          <a:xfrm>
            <a:off x="548640" y="3153156"/>
            <a:ext cx="11091672" cy="1143000"/>
          </a:xfrm>
          <a:prstGeom prst="roundRect">
            <a:avLst>
              <a:gd name="adj" fmla="val 6400"/>
            </a:avLst>
          </a:prstGeom>
          <a:solidFill>
            <a:srgbClr val="0A0A0D"/>
          </a:solidFill>
          <a:ln w="15875">
            <a:solidFill>
              <a:srgbClr val="3A3A44"/>
            </a:solidFill>
            <a:prstDash val="solid"/>
          </a:ln>
        </p:spPr>
      </p:sp>
      <p:sp>
        <p:nvSpPr>
          <p:cNvPr id="12" name="Text 9"/>
          <p:cNvSpPr txBox="1"/>
          <p:nvPr/>
        </p:nvSpPr>
        <p:spPr>
          <a:xfrm>
            <a:off x="777240" y="3336036"/>
            <a:ext cx="10634472" cy="274320"/>
          </a:xfrm>
          <a:prstGeom prst="rect">
            <a:avLst/>
          </a:prstGeom>
          <a:noFill/>
          <a:ln/>
        </p:spPr>
        <p:txBody>
          <a:bodyPr wrap="square" lIns="0" tIns="0" rIns="0" bIns="0" rtlCol="0" anchor="ctr"/>
          <a:lstStyle/>
          <a:p>
            <a:pPr indent="0" marL="0">
              <a:buNone/>
            </a:pPr>
            <a:r>
              <a:rPr lang="en-US" sz="1200" b="1" spc="200" kern="0" dirty="0">
                <a:solidFill>
                  <a:srgbClr val="A9A9B4"/>
                </a:solidFill>
                <a:latin typeface="Calibri" pitchFamily="34" charset="0"/>
                <a:ea typeface="Calibri" pitchFamily="34" charset="-122"/>
                <a:cs typeface="Calibri" pitchFamily="34" charset="-120"/>
              </a:rPr>
              <a:t>ERROR — LAST LINE</a:t>
            </a:r>
            <a:endParaRPr lang="en-US" sz="1200" dirty="0"/>
          </a:p>
        </p:txBody>
      </p:sp>
      <p:sp>
        <p:nvSpPr>
          <p:cNvPr id="13" name="Text 10"/>
          <p:cNvSpPr txBox="1"/>
          <p:nvPr/>
        </p:nvSpPr>
        <p:spPr>
          <a:xfrm>
            <a:off x="777240" y="3701796"/>
            <a:ext cx="10634472" cy="365760"/>
          </a:xfrm>
          <a:prstGeom prst="rect">
            <a:avLst/>
          </a:prstGeom>
          <a:noFill/>
          <a:ln/>
        </p:spPr>
        <p:txBody>
          <a:bodyPr wrap="square" lIns="0" tIns="0" rIns="0" bIns="0" rtlCol="0" anchor="ctr"/>
          <a:lstStyle/>
          <a:p>
            <a:pPr indent="0" marL="0">
              <a:buNone/>
            </a:pPr>
            <a:r>
              <a:rPr lang="en-US" sz="1800" b="1" dirty="0">
                <a:solidFill>
                  <a:srgbClr val="FF6B6B"/>
                </a:solidFill>
                <a:latin typeface="Consolas" pitchFamily="34" charset="0"/>
                <a:ea typeface="Consolas" pitchFamily="34" charset="-122"/>
                <a:cs typeface="Consolas" pitchFamily="34" charset="-120"/>
              </a:rPr>
              <a:t>TypeError: </a:t>
            </a:r>
            <a:pPr indent="0" marL="0">
              <a:buNone/>
            </a:pPr>
            <a:r>
              <a:rPr lang="en-US" sz="1800" dirty="0">
                <a:solidFill>
                  <a:srgbClr val="FF6B6B"/>
                </a:solidFill>
                <a:latin typeface="Consolas" pitchFamily="34" charset="0"/>
                <a:ea typeface="Consolas" pitchFamily="34" charset="-122"/>
                <a:cs typeface="Consolas" pitchFamily="34" charset="-120"/>
              </a:rPr>
              <a:t>'&gt;=' not supported between instances of 'str' and 'int'</a:t>
            </a:r>
            <a:endParaRPr lang="en-US" sz="1800" dirty="0"/>
          </a:p>
        </p:txBody>
      </p:sp>
      <p:sp>
        <p:nvSpPr>
          <p:cNvPr id="14" name="Text 11"/>
          <p:cNvSpPr txBox="1"/>
          <p:nvPr/>
        </p:nvSpPr>
        <p:spPr>
          <a:xfrm>
            <a:off x="8412480" y="155448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15" name="Shape 12"/>
          <p:cNvSpPr/>
          <p:nvPr/>
        </p:nvSpPr>
        <p:spPr>
          <a:xfrm>
            <a:off x="8412480" y="2103120"/>
            <a:ext cx="2743200" cy="868680"/>
          </a:xfrm>
          <a:prstGeom prst="roundRect">
            <a:avLst>
              <a:gd name="adj" fmla="val 6316"/>
            </a:avLst>
          </a:prstGeom>
          <a:solidFill>
            <a:srgbClr val="111115"/>
          </a:solidFill>
          <a:ln w="25400">
            <a:solidFill>
              <a:srgbClr val="E69F00"/>
            </a:solidFill>
            <a:prstDash val="solid"/>
          </a:ln>
        </p:spPr>
      </p:sp>
      <p:sp>
        <p:nvSpPr>
          <p:cNvPr id="16" name="Shape 13"/>
          <p:cNvSpPr/>
          <p:nvPr/>
        </p:nvSpPr>
        <p:spPr>
          <a:xfrm>
            <a:off x="8549640" y="1920240"/>
            <a:ext cx="1883664" cy="347472"/>
          </a:xfrm>
          <a:prstGeom prst="roundRect">
            <a:avLst>
              <a:gd name="adj" fmla="val 13158"/>
            </a:avLst>
          </a:prstGeom>
          <a:solidFill>
            <a:srgbClr val="E69F00"/>
          </a:solidFill>
          <a:ln/>
        </p:spPr>
      </p:sp>
      <p:sp>
        <p:nvSpPr>
          <p:cNvPr id="17" name="Text 14"/>
          <p:cNvSpPr txBox="1"/>
          <p:nvPr/>
        </p:nvSpPr>
        <p:spPr>
          <a:xfrm>
            <a:off x="8549640" y="1920240"/>
            <a:ext cx="1883664"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distance  ·  str</a:t>
            </a:r>
            <a:endParaRPr lang="en-US" sz="1400" dirty="0"/>
          </a:p>
        </p:txBody>
      </p:sp>
      <p:sp>
        <p:nvSpPr>
          <p:cNvPr id="18" name="Text 15"/>
          <p:cNvSpPr txBox="1"/>
          <p:nvPr/>
        </p:nvSpPr>
        <p:spPr>
          <a:xfrm>
            <a:off x="8503920" y="2286000"/>
            <a:ext cx="2560320" cy="640080"/>
          </a:xfrm>
          <a:prstGeom prst="rect">
            <a:avLst/>
          </a:prstGeom>
          <a:noFill/>
          <a:ln/>
        </p:spPr>
        <p:txBody>
          <a:bodyPr wrap="square" lIns="0" tIns="0" rIns="0" bIns="0" rtlCol="0" anchor="ctr"/>
          <a:lstStyle/>
          <a:p>
            <a:pPr algn="ctr" indent="0" marL="0">
              <a:buNone/>
            </a:pPr>
            <a:r>
              <a:rPr lang="en-US" sz="2600" dirty="0">
                <a:solidFill>
                  <a:srgbClr val="F5F5F3"/>
                </a:solidFill>
                <a:latin typeface="Consolas" pitchFamily="34" charset="0"/>
                <a:ea typeface="Consolas" pitchFamily="34" charset="-122"/>
                <a:cs typeface="Consolas" pitchFamily="34" charset="-120"/>
              </a:rPr>
              <a:t>"30"</a:t>
            </a:r>
            <a:endParaRPr lang="en-US" sz="2600" dirty="0"/>
          </a:p>
        </p:txBody>
      </p:sp>
      <p:sp>
        <p:nvSpPr>
          <p:cNvPr id="19" name="Shape 16"/>
          <p:cNvSpPr/>
          <p:nvPr/>
        </p:nvSpPr>
        <p:spPr>
          <a:xfrm>
            <a:off x="548640" y="4572000"/>
            <a:ext cx="11091672" cy="1188720"/>
          </a:xfrm>
          <a:prstGeom prst="roundRect">
            <a:avLst>
              <a:gd name="adj" fmla="val 6154"/>
            </a:avLst>
          </a:prstGeom>
          <a:solidFill>
            <a:srgbClr val="1E1E24"/>
          </a:solidFill>
          <a:ln w="25400">
            <a:solidFill>
              <a:srgbClr val="D8A73D"/>
            </a:solidFill>
            <a:prstDash val="solid"/>
          </a:ln>
        </p:spPr>
      </p:sp>
      <p:sp>
        <p:nvSpPr>
          <p:cNvPr id="20" name="Text 17"/>
          <p:cNvSpPr txBox="1"/>
          <p:nvPr/>
        </p:nvSpPr>
        <p:spPr>
          <a:xfrm>
            <a:off x="914400" y="4572000"/>
            <a:ext cx="10332720" cy="118872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Python points at line 2, but the fix is on line 1:</a:t>
            </a:r>
            <a:pPr indent="0" marL="0">
              <a:buNone/>
            </a:pPr>
            <a:endParaRPr lang="en-US" sz="2400" dirty="0"/>
          </a:p>
          <a:p>
            <a:pPr indent="0" marL="0">
              <a:buNone/>
            </a:pPr>
            <a:r>
              <a:rPr lang="en-US" sz="2400" dirty="0">
                <a:solidFill>
                  <a:srgbClr val="F5F5F3"/>
                </a:solidFill>
                <a:latin typeface="Consolas" pitchFamily="34" charset="0"/>
                <a:ea typeface="Consolas" pitchFamily="34" charset="-122"/>
                <a:cs typeface="Consolas" pitchFamily="34" charset="-120"/>
              </a:rPr>
              <a:t>distance = int(input("Distance: "))</a:t>
            </a:r>
            <a:endParaRPr lang="en-US" sz="2400" dirty="0"/>
          </a:p>
        </p:txBody>
      </p:sp>
      <p:pic>
        <p:nvPicPr>
          <p:cNvPr id="21" name="Image 1" descr="Feedback">    </p:cNvPr>
          <p:cNvPicPr>
            <a:picLocks noChangeAspect="1"/>
          </p:cNvPicPr>
          <p:nvPr/>
        </p:nvPicPr>
        <p:blipFill>
          <a:blip r:embed="rId2"/>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auto · 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auto · 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Plenary</a:t>
            </a:r>
            <a:endParaRPr lang="en-US" sz="3600" dirty="0"/>
          </a:p>
        </p:txBody>
      </p:sp>
      <p:sp>
        <p:nvSpPr>
          <p:cNvPr id="6" name="Shape 2"/>
          <p:cNvSpPr/>
          <p:nvPr/>
        </p:nvSpPr>
        <p:spPr>
          <a:xfrm>
            <a:off x="548640" y="1508760"/>
            <a:ext cx="11091672" cy="1097280"/>
          </a:xfrm>
          <a:prstGeom prst="roundRect">
            <a:avLst>
              <a:gd name="adj" fmla="val 6667"/>
            </a:avLst>
          </a:prstGeom>
          <a:solidFill>
            <a:srgbClr val="2A2A32"/>
          </a:solidFill>
          <a:ln w="25400">
            <a:solidFill>
              <a:srgbClr val="D8A73D"/>
            </a:solidFill>
            <a:prstDash val="solid"/>
          </a:ln>
        </p:spPr>
      </p:sp>
      <p:sp>
        <p:nvSpPr>
          <p:cNvPr id="7" name="Text 3"/>
          <p:cNvSpPr txBox="1"/>
          <p:nvPr/>
        </p:nvSpPr>
        <p:spPr>
          <a:xfrm>
            <a:off x="914400" y="1627632"/>
            <a:ext cx="36576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8" name="Text 4"/>
          <p:cNvSpPr txBox="1"/>
          <p:nvPr/>
        </p:nvSpPr>
        <p:spPr>
          <a:xfrm>
            <a:off x="914400" y="1901952"/>
            <a:ext cx="10332720" cy="594360"/>
          </a:xfrm>
          <a:prstGeom prst="rect">
            <a:avLst/>
          </a:prstGeom>
          <a:noFill/>
          <a:ln/>
        </p:spPr>
        <p:txBody>
          <a:bodyPr wrap="square" lIns="0" tIns="0" rIns="0" bIns="0" rtlCol="0" anchor="ctr"/>
          <a:lstStyle/>
          <a:p>
            <a:pPr indent="0" marL="0">
              <a:buNone/>
            </a:pPr>
            <a:r>
              <a:rPr lang="en-US" sz="2600" b="1" dirty="0">
                <a:solidFill>
                  <a:srgbClr val="F5F5F3"/>
                </a:solidFill>
                <a:latin typeface="Cambria" pitchFamily="34" charset="0"/>
                <a:ea typeface="Cambria" pitchFamily="34" charset="-122"/>
                <a:cs typeface="Cambria" pitchFamily="34" charset="-120"/>
              </a:rPr>
              <a:t>How do we make a program choose which lines to run?</a:t>
            </a:r>
            <a:endParaRPr lang="en-US" sz="2600" dirty="0"/>
          </a:p>
        </p:txBody>
      </p:sp>
      <p:sp>
        <p:nvSpPr>
          <p:cNvPr id="9" name="Shape 5"/>
          <p:cNvSpPr/>
          <p:nvPr/>
        </p:nvSpPr>
        <p:spPr>
          <a:xfrm>
            <a:off x="548640" y="2953512"/>
            <a:ext cx="438912" cy="438912"/>
          </a:xfrm>
          <a:prstGeom prst="ellipse">
            <a:avLst/>
          </a:prstGeom>
          <a:solidFill>
            <a:srgbClr val="D8A73D"/>
          </a:solidFill>
          <a:ln/>
        </p:spPr>
      </p:sp>
      <p:sp>
        <p:nvSpPr>
          <p:cNvPr id="10" name="Text 6"/>
          <p:cNvSpPr txBox="1"/>
          <p:nvPr/>
        </p:nvSpPr>
        <p:spPr>
          <a:xfrm>
            <a:off x="548640" y="2953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11" name="Text 7"/>
          <p:cNvSpPr txBox="1"/>
          <p:nvPr/>
        </p:nvSpPr>
        <p:spPr>
          <a:xfrm>
            <a:off x="1188720" y="2880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Write if / elif / else for temp: 30 or more → Hot, 15 or more → Warm, else Cold.</a:t>
            </a:r>
            <a:endParaRPr lang="en-US" sz="2200" dirty="0"/>
          </a:p>
        </p:txBody>
      </p:sp>
      <p:sp>
        <p:nvSpPr>
          <p:cNvPr id="12" name="Shape 8"/>
          <p:cNvSpPr/>
          <p:nvPr/>
        </p:nvSpPr>
        <p:spPr>
          <a:xfrm>
            <a:off x="548640" y="4096512"/>
            <a:ext cx="438912" cy="438912"/>
          </a:xfrm>
          <a:prstGeom prst="ellipse">
            <a:avLst/>
          </a:prstGeom>
          <a:solidFill>
            <a:srgbClr val="D8A73D"/>
          </a:solidFill>
          <a:ln/>
        </p:spPr>
      </p:sp>
      <p:sp>
        <p:nvSpPr>
          <p:cNvPr id="13" name="Text 9"/>
          <p:cNvSpPr txBox="1"/>
          <p:nvPr/>
        </p:nvSpPr>
        <p:spPr>
          <a:xfrm>
            <a:off x="548640" y="4096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4" name="Text 10"/>
          <p:cNvSpPr txBox="1"/>
          <p:nvPr/>
        </p:nvSpPr>
        <p:spPr>
          <a:xfrm>
            <a:off x="1188720" y="4023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Fix this line, and say why it crashed:</a:t>
            </a:r>
            <a:endParaRPr lang="en-US" sz="2200" dirty="0"/>
          </a:p>
        </p:txBody>
      </p:sp>
      <p:sp>
        <p:nvSpPr>
          <p:cNvPr id="15" name="Text 11"/>
          <p:cNvSpPr txBox="1"/>
          <p:nvPr/>
        </p:nvSpPr>
        <p:spPr>
          <a:xfrm>
            <a:off x="1188720" y="4572000"/>
            <a:ext cx="5943600" cy="45720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if</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answer</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69F00"/>
                </a:solidFill>
                <a:latin typeface="Consolas" pitchFamily="34" charset="0"/>
                <a:ea typeface="Consolas" pitchFamily="34" charset="-122"/>
                <a:cs typeface="Consolas" pitchFamily="34" charset="-120"/>
              </a:rPr>
              <a:t>"y"</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6" name="terminal"/>
          <p:cNvSpPr/>
          <p:nvPr/>
        </p:nvSpPr>
        <p:spPr>
          <a:xfrm>
            <a:off x="1188720" y="5303520"/>
            <a:ext cx="7589520" cy="685800"/>
          </a:xfrm>
          <a:prstGeom prst="roundRect">
            <a:avLst>
              <a:gd name="adj" fmla="val 10667"/>
            </a:avLst>
          </a:prstGeom>
          <a:solidFill>
            <a:srgbClr val="0D1310"/>
          </a:solidFill>
          <a:ln w="15875">
            <a:solidFill>
              <a:srgbClr val="2C4434"/>
            </a:solidFill>
            <a:prstDash val="solid"/>
          </a:ln>
        </p:spPr>
      </p:sp>
      <p:sp>
        <p:nvSpPr>
          <p:cNvPr id="17" name="Text 13"/>
          <p:cNvSpPr txBox="1"/>
          <p:nvPr/>
        </p:nvSpPr>
        <p:spPr>
          <a:xfrm>
            <a:off x="1417320" y="5532120"/>
            <a:ext cx="7132320" cy="365760"/>
          </a:xfrm>
          <a:prstGeom prst="rect">
            <a:avLst/>
          </a:prstGeom>
          <a:noFill/>
          <a:ln/>
        </p:spPr>
        <p:txBody>
          <a:bodyPr wrap="square" lIns="0" tIns="0" rIns="0" bIns="0" rtlCol="0" anchor="ctr"/>
          <a:lstStyle/>
          <a:p>
            <a:pPr indent="0" marL="0">
              <a:buNone/>
            </a:pPr>
            <a:r>
              <a:rPr lang="en-US" sz="1800" dirty="0">
                <a:solidFill>
                  <a:srgbClr val="7FD99A"/>
                </a:solidFill>
                <a:latin typeface="Consolas" pitchFamily="34" charset="0"/>
                <a:ea typeface="Consolas" pitchFamily="34" charset="-122"/>
                <a:cs typeface="Consolas" pitchFamily="34" charset="-120"/>
              </a:rPr>
              <a:t>AIRLOCK: SEALED · ACCESS CODE CHANGED · BY: </a:t>
            </a:r>
            <a:pPr indent="0" marL="0">
              <a:buNone/>
            </a:pPr>
            <a:r>
              <a:rPr lang="en-US" sz="1800" b="1" dirty="0">
                <a:solidFill>
                  <a:srgbClr val="D8A73D"/>
                </a:solidFill>
                <a:latin typeface="Consolas" pitchFamily="34" charset="0"/>
                <a:ea typeface="Consolas" pitchFamily="34" charset="-122"/>
                <a:cs typeface="Consolas" pitchFamily="34" charset="-120"/>
              </a:rPr>
              <a:t>WARDEN</a:t>
            </a:r>
            <a:endParaRPr lang="en-US" sz="1800" dirty="0"/>
          </a:p>
        </p:txBody>
      </p:sp>
      <p:pic>
        <p:nvPicPr>
          <p:cNvPr id="18" name="Image 2" descr="Recap and recall">    </p:cNvPr>
          <p:cNvPicPr>
            <a:picLocks noChangeAspect="1"/>
          </p:cNvPicPr>
          <p:nvPr/>
        </p:nvPicPr>
        <p:blipFill>
          <a:blip r:embed="rId3"/>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par>
                                <p:cTn id="8" presetID="10" presetClass="entr" presetSubtype="0" fill="hold" nodeType="withEffect">
                                  <p:stCondLst>
                                    <p:cond delay="7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Station Zero — Y9 Python Lesson 2: Selection</dc:title>
  <dc:subject>PptxGenJS Presentation</dc:subject>
  <dc:creator>Nicholas Houlton</dc:creator>
  <cp:lastModifiedBy>Nicholas Houlton</cp:lastModifiedBy>
  <cp:revision>1</cp:revision>
  <dcterms:created xsi:type="dcterms:W3CDTF">2026-10-15T10:26:44Z</dcterms:created>
  <dcterms:modified xsi:type="dcterms:W3CDTF">2026-10-15T10:26:44Z</dcterms:modified>
</cp:coreProperties>
</file>