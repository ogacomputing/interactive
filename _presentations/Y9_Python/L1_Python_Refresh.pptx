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cap &amp; Recall" id="{5734A809-3087-07EE-AD46-C2C9C16BAF47}">
          <p14:sldIdLst>
            <p14:sldId id="256"/>
            <p14:sldId id="257"/>
          </p14:sldIdLst>
        </p14:section>
        <p14:section name="Title" id="{EE8766DF-69D2-030B-7A7F-7A8604EDB0D9}">
          <p14:sldIdLst>
            <p14:sldId id="258"/>
            <p14:sldId id="259"/>
          </p14:sldIdLst>
        </p14:section>
        <p14:section name="Part 1 — Wake Up" id="{167F875B-0509-5ED2-ED03-859020A2218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2 — Life Support" id="{1828C796-9FA8-9AE1-02E2-8F1944809DA9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lenary" id="{FDC466AD-9C74-12CF-9440-1F6934EAB2C9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335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5 minutes, silent, no notes. Mini-whiteboards or books.
It's a year since they last wrote Python. Most of it is stored but hard to recall, so they retrieve it before anything is re-taught.
Q1–2 are multiple choice (everyone can commit to an answer). Q3–4 need a written answer: a word for Q3, the exact output for Q4.
Ask for a confidence rating 1–3 next to each answer — confident-but-wrong answers are the ones most worth correcting (hypercorrection).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and self-mark. Hands up for "confident (3) and wrong" on each — spend time on those.
Q3: a missing closing quote is a SyntaxError — we'll see what that error looks like on the debugging slide.
Q4: the space comes from inside the quotes, "Hi ". Without it you'd get HiSam.
Note any question most of the class missed — that's the evidence for whether the unit needs another reactivation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premise — don't put it on screen (redundancy effect):
"You wake from cryosleep on Station Zero, a research station orbiting an uncharted planet. A solar storm has wiped the station's software and every door is locked. The rest of the crew are still frozen in their pods — except Pod 2, Engineer Hale's. It's empty. You're the only engineer awake, and you'll have to rebuild each system in Python to survive."
Keep it to under a minute. Tone it down if the class finds it too intense.
In Slide Show this slide fades in through black, then the frost creeps into the corners by itself: let it finish before you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question = the whole unit (selection, loops, functions are coming).
Lesson question = today. Nothing here is brand new — it's everything from Year 8 Unit 1, joined into one program.
We come back to this question in the plenary.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clicks: each line, then what's on screen after it, then what's in memory after it. Before each click, ask "what will appear?"
Click 1–3 (line 1): = is STORE, not "equals". Python works out the right-hand side, then puts it in the box named on the left. Nothing appears on screen — many students expect it to.
Click 4–6 (line 2): no quotes round name, so Python looks in the box and prints what's inside. Memory doesn't change — print only reads it.
Link to the Do Now (Q2): score = 5 then score = 9 — a box holds one value, so the new one replaces the old.
The orange box is how the activity's memory panel shows a string (str). Next slide: the same box, but the USER fills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clicks: each line, then what's on screen after it, then what's in memory after it. Before each click, ask "what will appear?"
Click 1–3 (line 1): input() shows the question and WAITS. The user types Riley and presses Enter. = stores what they typed in name.
Click 4–6 (line 2): + joins "Hi " to what's stored in name, and print() shows the result. Memory doesn't change — print only reads name.
The four verbs in gold are today's sub-goals: ASK, STORE, JOIN, PRINT. Say them every time you live-code.
The orange box is how the activity's memory panel shows a string (str) — the same colours they'll see later.
LIVE CODE (optional, 2 min): type the two lines in the IDE and run it with a student's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Discriminating example: the two lines differ by one pair of quotes.
Cover the outputs, ask "what does each print?", then reveal.
This is Predict question 2 territory in the activity (line 3 "only prints").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Silent, 2 minutes, then 3-2-1 show boards.
Look for: "room on level level" (printed the variable names), and missing spaces "Medbayon level3".
Don't reveal yet —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4 → the highlighted output. Ask a student who wrote the wrong version to explain the fix.
Two common mistakes: printing the variable NAMES, and losing the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handy — flip back to it during Investigate in both activities.
Model the recipe out loud on this error (it's Recap question 3):
1. Read the LAST line first — SyntaxError: the string never ends.
2. Find the line number — line 3.
3. Read line 3 aloud, quote by quote — "open quote, Scanning dot dot dot, close bracket"… no closing quote.
4. Compare to what you meant — add the closing quote.
Error messages are information, not a telling-off.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open "Wake Up — Input Refresh" from Google Classroom (Y9 › Python › Lesson 1).
It runs the full PRIMM cycle by itself: Predict (3 questions) → Run → Investigate (2 steps; Break it plants a NameError) → Modify (4 steps; step 1 is the door choice) → Make (crew locator).
Circulate. During Investigate, point students back to the debugging recipe before they press Get help.
Fast finishers: the Make extension (a third question and one line using all three answers).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Whole-class feedback after Wake Up — this was the planted bug in Investigate.
Ask: "Which line did Python point to? Which word was wrong?" Then: "Why didn't deleting the line count as fixing it?"
The memory box only has a variable called name (lower case).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before explanation — even a wrong guess makes the next slide stick better.
Take two or three answers. Don't confirm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of the Turn &amp; Talk. The label on each box is its data type: str (text, orange) or int (whole number, blue).
Same + sign, different job — Python decides by the TYPE of the two values.
Mixing them crashes: TypeError. Remember this — it's the planted bug in Life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input() ALWAYS gives back text, even when the user types a number. "6" in quotes, orange.
int() converts text to a whole number so you can calculate. str() converts a number back to text so + can join it into a sentence.
str() is the new one for some — Year 8 only used int().
Ask: what would int("six") do? (ValueError — they'll try it in Investigate.)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Recipe: ASK → STORE → CONVERT → CALCULATE → OUTPUT. These are the Life Support starter lines, near enough.
Line 1 does three jobs. Trace it inside-out with your finger: input() asks, int() converts, = stores.
LIVE CODE (optional): type it, run with 6, then delete int( ) and run again — the output shows 6 repeated 50 times. Ask why. (They'll meet this in Investigate step 1, so you can leave it as a teaser instead.)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the table onto whiteboards. Fill it in line by line: what is in battery after each line, and what's printed.
Line 2 overwrites battery — the old value is gone (like Recap Q2).
Watch for: battery = "80" (forgot int() converts), and 80 in the last row (forgot the overwrite).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boards against the table.
Line 1: "80" becomes the number 80. Line 2: 80 − 15 = 65 replaces 80. Line 3 prints Power left: 65%.
Ask: what if we took str() out of line 3? → TypeError, because + can't join text and a number. That's exactly the bug they fix in Life Support's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open "Life Support — Casting" from Google Classroom.
Predict (3 questions) → Run → Investigate (3 steps: delete int(); type "six" → ValueError; Break it plants the TypeError, fixed with str()) → Modify (4 steps; step 1 is the oxygen-rate choice) → Make (survival supply manifest).
Hale's last log appears after Investigate — let it land.
Anyone who didn't finish Wake Up: finish it first; their choices carry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on whiteboards or a sticky note.
1. crew = int(input("How many crew are awake? ")) — any prompt is fine; int() and the variable name crew are the point.
2. print("Crew awake: " + str(crew)) — crew is a number, and + can't join text and a number, so it's a TypeError.
Close the story: "Motion in Sensor Ops. The tag says HALE. Next lesson, we find out what's moving." (Hale is dead — leave it hanging.)
In Slide Show this slide fades in through black and the amber alarm creeps in by itself: Chapter 2's state, which Lesson 2's deck opens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Z_DARK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ZERO  ·  Y9 PYTHON  ·  LESSON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Z_LIGHT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ZERO  ·  Y9 PYTHON  ·  LESSON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Z_COVER"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Recall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notes. Answer every question — a guess beats a blank. Then rate your confidence: 1, 2 or 3.</a:t>
            </a:r>
            <a:endParaRPr lang="en-US" sz="1800" dirty="0"/>
          </a:p>
        </p:txBody>
      </p:sp>
      <p:sp>
        <p:nvSpPr>
          <p:cNvPr id="4" name="q1"/>
          <p:cNvSpPr/>
          <p:nvPr/>
        </p:nvSpPr>
        <p:spPr>
          <a:xfrm>
            <a:off x="548640" y="160020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1368"/>
            <a:ext cx="384048" cy="384048"/>
          </a:xfrm>
          <a:prstGeom prst="ellipse">
            <a:avLst/>
          </a:prstGeom>
          <a:solidFill>
            <a:srgbClr val="1E1E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EDE6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1828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F5F5F3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1828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A, B OR 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24028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print() do?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51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text on the screen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80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to type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text into a file</a:t>
            </a:r>
            <a:endParaRPr lang="en-US" sz="1800" dirty="0"/>
          </a:p>
        </p:txBody>
      </p:sp>
      <p:sp>
        <p:nvSpPr>
          <p:cNvPr id="15" name="q2"/>
          <p:cNvSpPr/>
          <p:nvPr/>
        </p:nvSpPr>
        <p:spPr>
          <a:xfrm>
            <a:off x="6236208" y="160020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1801368"/>
            <a:ext cx="384048" cy="384048"/>
          </a:xfrm>
          <a:prstGeom prst="ellipse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67728" y="182880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EDE6D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67728" y="1828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59368" y="182880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F5F5F3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59368" y="1828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A, B OR 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24028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print?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64808" y="2651760"/>
            <a:ext cx="2286000" cy="1088136"/>
          </a:xfrm>
          <a:prstGeom prst="roundRect">
            <a:avLst>
              <a:gd name="adj" fmla="val 5042"/>
            </a:avLst>
          </a:prstGeom>
          <a:solidFill>
            <a:srgbClr val="1111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01968" y="27432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30449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33467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979408" y="26517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79408" y="29809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979408" y="33101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8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30" name="q3"/>
          <p:cNvSpPr/>
          <p:nvPr/>
        </p:nvSpPr>
        <p:spPr>
          <a:xfrm>
            <a:off x="548640" y="402336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224528"/>
            <a:ext cx="384048" cy="384048"/>
          </a:xfrm>
          <a:prstGeom prst="ellipse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80160" y="425196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EDE6D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280160" y="4251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71800" y="425196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F5F5F3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71800" y="4251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6634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crashes. What is missing?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77240" y="5074920"/>
            <a:ext cx="4956048" cy="484632"/>
          </a:xfrm>
          <a:prstGeom prst="roundRect">
            <a:avLst>
              <a:gd name="adj" fmla="val 11321"/>
            </a:avLst>
          </a:prstGeom>
          <a:solidFill>
            <a:srgbClr val="11111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400" y="5166360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"Hello)</a:t>
            </a:r>
            <a:endParaRPr lang="en-US" sz="1800" dirty="0"/>
          </a:p>
        </p:txBody>
      </p:sp>
      <p:sp>
        <p:nvSpPr>
          <p:cNvPr id="40" name="q4"/>
          <p:cNvSpPr/>
          <p:nvPr/>
        </p:nvSpPr>
        <p:spPr>
          <a:xfrm>
            <a:off x="6236208" y="402336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64808" y="4224528"/>
            <a:ext cx="384048" cy="384048"/>
          </a:xfrm>
          <a:prstGeom prst="ellipse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6480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67728" y="425196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EDE6D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67728" y="4251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59368" y="425196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F5F5F3"/>
          </a:solidFill>
          <a:ln w="15875">
            <a:solidFill>
              <a:srgbClr val="D6D5D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59368" y="4251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64808" y="46634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exactly what this prints.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464808" y="5074920"/>
            <a:ext cx="4956048" cy="786384"/>
          </a:xfrm>
          <a:prstGeom prst="roundRect">
            <a:avLst>
              <a:gd name="adj" fmla="val 6977"/>
            </a:avLst>
          </a:prstGeom>
          <a:solidFill>
            <a:srgbClr val="11111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601968" y="5166360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"Sam"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6601968" y="546811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"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46404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F5F3"/>
          </a:solidFill>
          <a:ln w="15875">
            <a:solidFill>
              <a:srgbClr val="1E1E2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64040" y="566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400" dirty="0"/>
          </a:p>
        </p:txBody>
      </p:sp>
      <p:pic>
        <p:nvPicPr>
          <p:cNvPr id="53" name="Image 0" descr="Recap and rec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Recall — answers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own. Confident but wrong? Those are the ones to fix.</a:t>
            </a:r>
            <a:endParaRPr lang="en-US" sz="1800" dirty="0"/>
          </a:p>
        </p:txBody>
      </p:sp>
      <p:sp>
        <p:nvSpPr>
          <p:cNvPr id="4" name="q1"/>
          <p:cNvSpPr/>
          <p:nvPr/>
        </p:nvSpPr>
        <p:spPr>
          <a:xfrm>
            <a:off x="548640" y="160020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1368"/>
            <a:ext cx="384048" cy="38404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828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1828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A, B OR 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24028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print() do?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51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Shows text on the screen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80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to type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text into a file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651760"/>
            <a:ext cx="1892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is the one that asks the user</a:t>
            </a:r>
            <a:endParaRPr lang="en-US" sz="1800" dirty="0"/>
          </a:p>
        </p:txBody>
      </p:sp>
      <p:sp>
        <p:nvSpPr>
          <p:cNvPr id="16" name="q2"/>
          <p:cNvSpPr/>
          <p:nvPr/>
        </p:nvSpPr>
        <p:spPr>
          <a:xfrm>
            <a:off x="6236208" y="160020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1801368"/>
            <a:ext cx="384048" cy="38404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48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67728" y="182880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7728" y="1828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59368" y="182880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59368" y="1828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A, B OR C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224028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print?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64808" y="2651760"/>
            <a:ext cx="2286000" cy="1088136"/>
          </a:xfrm>
          <a:prstGeom prst="roundRect">
            <a:avLst>
              <a:gd name="adj" fmla="val 5042"/>
            </a:avLst>
          </a:prstGeom>
          <a:solidFill>
            <a:srgbClr val="11111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27432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30449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33467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79408" y="26517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979408" y="29809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9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979408" y="33101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265176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value replaces the old one</a:t>
            </a:r>
            <a:endParaRPr lang="en-US" sz="1800" dirty="0"/>
          </a:p>
        </p:txBody>
      </p:sp>
      <p:sp>
        <p:nvSpPr>
          <p:cNvPr id="32" name="q3"/>
          <p:cNvSpPr/>
          <p:nvPr/>
        </p:nvSpPr>
        <p:spPr>
          <a:xfrm>
            <a:off x="548640" y="402336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224528"/>
            <a:ext cx="384048" cy="38404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80160" y="425196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80160" y="4251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71800" y="425196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71800" y="4251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46634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crashes. What is missing?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77240" y="5074920"/>
            <a:ext cx="4956048" cy="484632"/>
          </a:xfrm>
          <a:prstGeom prst="roundRect">
            <a:avLst>
              <a:gd name="adj" fmla="val 11321"/>
            </a:avLst>
          </a:prstGeom>
          <a:solidFill>
            <a:srgbClr val="11111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" y="5166360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"Hello)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63270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closing quote mark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print("Hello")</a:t>
            </a:r>
            <a:endParaRPr lang="en-US" sz="2200" dirty="0"/>
          </a:p>
        </p:txBody>
      </p:sp>
      <p:sp>
        <p:nvSpPr>
          <p:cNvPr id="43" name="q4"/>
          <p:cNvSpPr/>
          <p:nvPr/>
        </p:nvSpPr>
        <p:spPr>
          <a:xfrm>
            <a:off x="6236208" y="4023360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4224528"/>
            <a:ext cx="384048" cy="384048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6480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67728" y="4251960"/>
            <a:ext cx="160020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67728" y="4251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· LESSON 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59368" y="4251960"/>
            <a:ext cx="1783080" cy="310896"/>
          </a:xfrm>
          <a:prstGeom prst="roundRect">
            <a:avLst>
              <a:gd name="adj" fmla="val 52941"/>
            </a:avLst>
          </a:prstGeom>
          <a:solidFill>
            <a:srgbClr val="1E1E24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59368" y="4251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64808" y="46634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exactly what this prints.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464808" y="5074920"/>
            <a:ext cx="4956048" cy="786384"/>
          </a:xfrm>
          <a:prstGeom prst="roundRect">
            <a:avLst>
              <a:gd name="adj" fmla="val 6977"/>
            </a:avLst>
          </a:prstGeom>
          <a:solidFill>
            <a:srgbClr val="11111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01968" y="5166360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"Sam"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6601968" y="546811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"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8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6464808" y="593445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Sam</a:t>
            </a: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space is inside the quotes</a:t>
            </a:r>
            <a:endParaRPr lang="en-US" sz="2200" dirty="0"/>
          </a:p>
        </p:txBody>
      </p:sp>
      <p:pic>
        <p:nvPicPr>
          <p:cNvPr id="55" name="Image 0" descr="Recap and rec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to · 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Y9 PYTHON  ·  LESSON 1  ·  PYTHON REFRESH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Zero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9A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— Wake Up</a:t>
            </a:r>
            <a:endParaRPr lang="en-US" sz="2800" dirty="0"/>
          </a:p>
        </p:txBody>
      </p:sp>
      <p:sp>
        <p:nvSpPr>
          <p:cNvPr id="7" name="terminal"/>
          <p:cNvSpPr/>
          <p:nvPr/>
        </p:nvSpPr>
        <p:spPr>
          <a:xfrm>
            <a:off x="6903720" y="1600200"/>
            <a:ext cx="4663440" cy="2809240"/>
          </a:xfrm>
          <a:prstGeom prst="roundRect">
            <a:avLst>
              <a:gd name="adj" fmla="val 2604"/>
            </a:avLst>
          </a:prstGeom>
          <a:solidFill>
            <a:srgbClr val="0D1310"/>
          </a:solidFill>
          <a:ln w="15875">
            <a:solidFill>
              <a:srgbClr val="2C44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STATUS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14884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....... WIPED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55524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DOORS .......... SEALED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96164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AWAKE ..... 1 OF 5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36804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2 .......... </a:t>
            </a:r>
            <a:r>
              <a:rPr lang="en-US" sz="2000" b="1" dirty="0">
                <a:solidFill>
                  <a:srgbClr val="D8A7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77444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_</a:t>
            </a:r>
            <a:endParaRPr lang="en-US" sz="2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learning?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E1E24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QUESTION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write programs that make decisions, repeat and reuse code?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2A2A32"/>
          </a:solidFill>
          <a:ln w="31750">
            <a:solidFill>
              <a:srgbClr val="D8A7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QUESTION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862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ask for, store, and process user input?</a:t>
            </a:r>
            <a:endParaRPr lang="en-US" sz="3600" dirty="0"/>
          </a:p>
        </p:txBody>
      </p:sp>
      <p:pic>
        <p:nvPicPr>
          <p:cNvPr id="11" name="Image 1" descr="Clarity of learning inten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named box in memory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</a:t>
            </a:r>
            <a:endParaRPr lang="en-US" sz="1300" dirty="0"/>
          </a:p>
        </p:txBody>
      </p:sp>
      <p:sp>
        <p:nvSpPr>
          <p:cNvPr id="8" name="click1 · code"/>
          <p:cNvSpPr/>
          <p:nvPr/>
        </p:nvSpPr>
        <p:spPr>
          <a:xfrm>
            <a:off x="548640" y="18745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9" name="click1"/>
          <p:cNvSpPr txBox="1"/>
          <p:nvPr/>
        </p:nvSpPr>
        <p:spPr>
          <a:xfrm>
            <a:off x="658368" y="2075688"/>
            <a:ext cx="274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click1"/>
          <p:cNvSpPr txBox="1"/>
          <p:nvPr/>
        </p:nvSpPr>
        <p:spPr>
          <a:xfrm>
            <a:off x="1188720" y="2075688"/>
            <a:ext cx="4846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6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600" dirty="0"/>
          </a:p>
        </p:txBody>
      </p:sp>
      <p:sp>
        <p:nvSpPr>
          <p:cNvPr id="11" name="click1"/>
          <p:cNvSpPr txBox="1"/>
          <p:nvPr/>
        </p:nvSpPr>
        <p:spPr>
          <a:xfrm>
            <a:off x="640080" y="28803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"Riley" in a box called </a:t>
            </a: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Here = means store, not equals</a:t>
            </a:r>
            <a:endParaRPr lang="en-US" sz="2000" dirty="0"/>
          </a:p>
        </p:txBody>
      </p:sp>
      <p:sp>
        <p:nvSpPr>
          <p:cNvPr id="12" name="click2 · terminal"/>
          <p:cNvSpPr/>
          <p:nvPr/>
        </p:nvSpPr>
        <p:spPr>
          <a:xfrm>
            <a:off x="6446520" y="187452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3" name="click2"/>
          <p:cNvSpPr txBox="1"/>
          <p:nvPr/>
        </p:nvSpPr>
        <p:spPr>
          <a:xfrm>
            <a:off x="64465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screen: storing is silent</a:t>
            </a:r>
            <a:endParaRPr lang="en-US" sz="1400" dirty="0"/>
          </a:p>
        </p:txBody>
      </p:sp>
      <p:sp>
        <p:nvSpPr>
          <p:cNvPr id="14" name="click3"/>
          <p:cNvSpPr/>
          <p:nvPr/>
        </p:nvSpPr>
        <p:spPr>
          <a:xfrm>
            <a:off x="9601200" y="2148840"/>
            <a:ext cx="2039112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5" name="click3"/>
          <p:cNvSpPr/>
          <p:nvPr/>
        </p:nvSpPr>
        <p:spPr>
          <a:xfrm>
            <a:off x="9738360" y="196596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6" name="click3"/>
          <p:cNvSpPr txBox="1"/>
          <p:nvPr/>
        </p:nvSpPr>
        <p:spPr>
          <a:xfrm>
            <a:off x="9738360" y="19659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17" name="click3"/>
          <p:cNvSpPr txBox="1"/>
          <p:nvPr/>
        </p:nvSpPr>
        <p:spPr>
          <a:xfrm>
            <a:off x="9692640" y="23317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400" dirty="0"/>
          </a:p>
        </p:txBody>
      </p:sp>
      <p:sp>
        <p:nvSpPr>
          <p:cNvPr id="18" name="click4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3A3A44"/>
            </a:solidFill>
            <a:prstDash val="solid"/>
          </a:ln>
        </p:spPr>
      </p:sp>
      <p:sp>
        <p:nvSpPr>
          <p:cNvPr id="19" name="click4 · code"/>
          <p:cNvSpPr/>
          <p:nvPr/>
        </p:nvSpPr>
        <p:spPr>
          <a:xfrm>
            <a:off x="548640" y="40690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0" name="click4"/>
          <p:cNvSpPr txBox="1"/>
          <p:nvPr/>
        </p:nvSpPr>
        <p:spPr>
          <a:xfrm>
            <a:off x="658368" y="4270248"/>
            <a:ext cx="274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click4"/>
          <p:cNvSpPr txBox="1"/>
          <p:nvPr/>
        </p:nvSpPr>
        <p:spPr>
          <a:xfrm>
            <a:off x="1188720" y="4270248"/>
            <a:ext cx="4846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22" name="click4"/>
          <p:cNvSpPr txBox="1"/>
          <p:nvPr/>
        </p:nvSpPr>
        <p:spPr>
          <a:xfrm>
            <a:off x="640080" y="50749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box called </a:t>
            </a: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what’s inside</a:t>
            </a:r>
            <a:endParaRPr lang="en-US" sz="2000" dirty="0"/>
          </a:p>
        </p:txBody>
      </p:sp>
      <p:sp>
        <p:nvSpPr>
          <p:cNvPr id="23" name="click5 · terminal"/>
          <p:cNvSpPr/>
          <p:nvPr/>
        </p:nvSpPr>
        <p:spPr>
          <a:xfrm>
            <a:off x="6446520" y="40690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4" name="click5"/>
          <p:cNvSpPr txBox="1"/>
          <p:nvPr/>
        </p:nvSpPr>
        <p:spPr>
          <a:xfrm>
            <a:off x="6675120" y="4297680"/>
            <a:ext cx="24688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Riley</a:t>
            </a:r>
            <a:endParaRPr lang="en-US" sz="2200" dirty="0"/>
          </a:p>
        </p:txBody>
      </p:sp>
      <p:sp>
        <p:nvSpPr>
          <p:cNvPr id="25" name="click6"/>
          <p:cNvSpPr/>
          <p:nvPr/>
        </p:nvSpPr>
        <p:spPr>
          <a:xfrm>
            <a:off x="9601200" y="4343400"/>
            <a:ext cx="2039112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26" name="click6"/>
          <p:cNvSpPr/>
          <p:nvPr/>
        </p:nvSpPr>
        <p:spPr>
          <a:xfrm>
            <a:off x="9738360" y="41605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27" name="click6"/>
          <p:cNvSpPr txBox="1"/>
          <p:nvPr/>
        </p:nvSpPr>
        <p:spPr>
          <a:xfrm>
            <a:off x="9738360" y="41605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28" name="click6"/>
          <p:cNvSpPr txBox="1"/>
          <p:nvPr/>
        </p:nvSpPr>
        <p:spPr>
          <a:xfrm>
            <a:off x="9692640" y="452628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400" dirty="0"/>
          </a:p>
        </p:txBody>
      </p:sp>
      <p:sp>
        <p:nvSpPr>
          <p:cNvPr id="29" name="click6"/>
          <p:cNvSpPr txBox="1"/>
          <p:nvPr/>
        </p:nvSpPr>
        <p:spPr>
          <a:xfrm>
            <a:off x="9601200" y="53035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400" dirty="0"/>
          </a:p>
        </p:txBody>
      </p:sp>
      <p:pic>
        <p:nvPicPr>
          <p:cNvPr id="30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4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input(): the user fills the box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</a:t>
            </a:r>
            <a:endParaRPr lang="en-US" sz="1300" dirty="0"/>
          </a:p>
        </p:txBody>
      </p:sp>
      <p:sp>
        <p:nvSpPr>
          <p:cNvPr id="8" name="click1 · code"/>
          <p:cNvSpPr/>
          <p:nvPr/>
        </p:nvSpPr>
        <p:spPr>
          <a:xfrm>
            <a:off x="548640" y="18745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9" name="click1"/>
          <p:cNvSpPr txBox="1"/>
          <p:nvPr/>
        </p:nvSpPr>
        <p:spPr>
          <a:xfrm>
            <a:off x="658368" y="2075688"/>
            <a:ext cx="274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click1"/>
          <p:cNvSpPr txBox="1"/>
          <p:nvPr/>
        </p:nvSpPr>
        <p:spPr>
          <a:xfrm>
            <a:off x="1188720" y="2075688"/>
            <a:ext cx="4846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6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6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"Name? "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11" name="click1"/>
          <p:cNvSpPr txBox="1"/>
          <p:nvPr/>
        </p:nvSpPr>
        <p:spPr>
          <a:xfrm>
            <a:off x="640080" y="28803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question and waits. Then </a:t>
            </a: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 user typed in </a:t>
            </a: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000" dirty="0"/>
          </a:p>
        </p:txBody>
      </p:sp>
      <p:sp>
        <p:nvSpPr>
          <p:cNvPr id="12" name="click2 · terminal"/>
          <p:cNvSpPr/>
          <p:nvPr/>
        </p:nvSpPr>
        <p:spPr>
          <a:xfrm>
            <a:off x="6446520" y="187452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3" name="click2"/>
          <p:cNvSpPr txBox="1"/>
          <p:nvPr/>
        </p:nvSpPr>
        <p:spPr>
          <a:xfrm>
            <a:off x="6675120" y="2103120"/>
            <a:ext cx="24688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Name? </a:t>
            </a:r>
            <a:r>
              <a:rPr lang="en-US" sz="22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Riley</a:t>
            </a:r>
            <a:endParaRPr lang="en-US" sz="2200" dirty="0"/>
          </a:p>
        </p:txBody>
      </p:sp>
      <p:sp>
        <p:nvSpPr>
          <p:cNvPr id="14" name="click2"/>
          <p:cNvSpPr txBox="1"/>
          <p:nvPr/>
        </p:nvSpPr>
        <p:spPr>
          <a:xfrm>
            <a:off x="64465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typed Riley</a:t>
            </a:r>
            <a:endParaRPr lang="en-US" sz="1400" dirty="0"/>
          </a:p>
        </p:txBody>
      </p:sp>
      <p:sp>
        <p:nvSpPr>
          <p:cNvPr id="15" name="click3"/>
          <p:cNvSpPr/>
          <p:nvPr/>
        </p:nvSpPr>
        <p:spPr>
          <a:xfrm>
            <a:off x="9601200" y="2148840"/>
            <a:ext cx="2039112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6" name="click3"/>
          <p:cNvSpPr/>
          <p:nvPr/>
        </p:nvSpPr>
        <p:spPr>
          <a:xfrm>
            <a:off x="9738360" y="196596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7" name="click3"/>
          <p:cNvSpPr txBox="1"/>
          <p:nvPr/>
        </p:nvSpPr>
        <p:spPr>
          <a:xfrm>
            <a:off x="9738360" y="19659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18" name="click3"/>
          <p:cNvSpPr txBox="1"/>
          <p:nvPr/>
        </p:nvSpPr>
        <p:spPr>
          <a:xfrm>
            <a:off x="9692640" y="23317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400" dirty="0"/>
          </a:p>
        </p:txBody>
      </p:sp>
      <p:sp>
        <p:nvSpPr>
          <p:cNvPr id="19" name="click4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3A3A44"/>
            </a:solidFill>
            <a:prstDash val="solid"/>
          </a:ln>
        </p:spPr>
      </p:sp>
      <p:sp>
        <p:nvSpPr>
          <p:cNvPr id="20" name="click4 · code"/>
          <p:cNvSpPr/>
          <p:nvPr/>
        </p:nvSpPr>
        <p:spPr>
          <a:xfrm>
            <a:off x="548640" y="40690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1" name="click4"/>
          <p:cNvSpPr txBox="1"/>
          <p:nvPr/>
        </p:nvSpPr>
        <p:spPr>
          <a:xfrm>
            <a:off x="658368" y="4270248"/>
            <a:ext cx="274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click4"/>
          <p:cNvSpPr txBox="1"/>
          <p:nvPr/>
        </p:nvSpPr>
        <p:spPr>
          <a:xfrm>
            <a:off x="1188720" y="4270248"/>
            <a:ext cx="484632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6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"</a:t>
            </a: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2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23" name="click4"/>
          <p:cNvSpPr txBox="1"/>
          <p:nvPr/>
        </p:nvSpPr>
        <p:spPr>
          <a:xfrm>
            <a:off x="640080" y="50749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"Hi " to what’s in </a:t>
            </a: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r>
              <a:rPr lang="en-US" sz="20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</a:t>
            </a:r>
            <a:endParaRPr lang="en-US" sz="2000" dirty="0"/>
          </a:p>
        </p:txBody>
      </p:sp>
      <p:sp>
        <p:nvSpPr>
          <p:cNvPr id="24" name="click5 · terminal"/>
          <p:cNvSpPr/>
          <p:nvPr/>
        </p:nvSpPr>
        <p:spPr>
          <a:xfrm>
            <a:off x="6446520" y="40690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5" name="click5"/>
          <p:cNvSpPr txBox="1"/>
          <p:nvPr/>
        </p:nvSpPr>
        <p:spPr>
          <a:xfrm>
            <a:off x="6675120" y="4297680"/>
            <a:ext cx="24688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Name? Riley</a:t>
            </a:r>
            <a:endParaRPr lang="en-US" sz="2200" dirty="0"/>
          </a:p>
        </p:txBody>
      </p:sp>
      <p:sp>
        <p:nvSpPr>
          <p:cNvPr id="26" name="click5"/>
          <p:cNvSpPr txBox="1"/>
          <p:nvPr/>
        </p:nvSpPr>
        <p:spPr>
          <a:xfrm>
            <a:off x="6675120" y="4744720"/>
            <a:ext cx="24688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Riley</a:t>
            </a:r>
            <a:endParaRPr lang="en-US" sz="2200" dirty="0"/>
          </a:p>
        </p:txBody>
      </p:sp>
      <p:sp>
        <p:nvSpPr>
          <p:cNvPr id="27" name="click6"/>
          <p:cNvSpPr/>
          <p:nvPr/>
        </p:nvSpPr>
        <p:spPr>
          <a:xfrm>
            <a:off x="9601200" y="4343400"/>
            <a:ext cx="2039112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28" name="click6"/>
          <p:cNvSpPr/>
          <p:nvPr/>
        </p:nvSpPr>
        <p:spPr>
          <a:xfrm>
            <a:off x="9738360" y="41605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29" name="click6"/>
          <p:cNvSpPr txBox="1"/>
          <p:nvPr/>
        </p:nvSpPr>
        <p:spPr>
          <a:xfrm>
            <a:off x="9738360" y="41605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30" name="click6"/>
          <p:cNvSpPr txBox="1"/>
          <p:nvPr/>
        </p:nvSpPr>
        <p:spPr>
          <a:xfrm>
            <a:off x="9692640" y="452628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400" dirty="0"/>
          </a:p>
        </p:txBody>
      </p:sp>
      <p:sp>
        <p:nvSpPr>
          <p:cNvPr id="31" name="click6"/>
          <p:cNvSpPr txBox="1"/>
          <p:nvPr/>
        </p:nvSpPr>
        <p:spPr>
          <a:xfrm>
            <a:off x="9601200" y="53035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400" dirty="0"/>
          </a:p>
        </p:txBody>
      </p:sp>
      <p:pic>
        <p:nvPicPr>
          <p:cNvPr id="32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Quotes: the word, or what’s stored?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96596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9659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600" dirty="0"/>
          </a:p>
        </p:txBody>
      </p:sp>
      <p:sp>
        <p:nvSpPr>
          <p:cNvPr id="10" name="code"/>
          <p:cNvSpPr/>
          <p:nvPr/>
        </p:nvSpPr>
        <p:spPr>
          <a:xfrm>
            <a:off x="548640" y="34290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630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4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24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251960" y="3858768"/>
            <a:ext cx="640080" cy="0"/>
          </a:xfrm>
          <a:prstGeom prst="line">
            <a:avLst/>
          </a:prstGeom>
          <a:noFill/>
          <a:ln w="28575">
            <a:solidFill>
              <a:srgbClr val="A9A9B4"/>
            </a:solidFill>
            <a:prstDash val="solid"/>
            <a:tailEnd type="triangle"/>
          </a:ln>
        </p:spPr>
      </p:sp>
      <p:sp>
        <p:nvSpPr>
          <p:cNvPr id="13" name="terminal"/>
          <p:cNvSpPr/>
          <p:nvPr/>
        </p:nvSpPr>
        <p:spPr>
          <a:xfrm>
            <a:off x="5029200" y="34290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3657600"/>
            <a:ext cx="1737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3429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quotes</a:t>
            </a: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printed exactly as written</a:t>
            </a:r>
            <a:endParaRPr lang="en-US" sz="2200" dirty="0"/>
          </a:p>
        </p:txBody>
      </p:sp>
      <p:sp>
        <p:nvSpPr>
          <p:cNvPr id="16" name="code"/>
          <p:cNvSpPr/>
          <p:nvPr/>
        </p:nvSpPr>
        <p:spPr>
          <a:xfrm>
            <a:off x="548640" y="46634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864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4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4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251960" y="5093208"/>
            <a:ext cx="640080" cy="0"/>
          </a:xfrm>
          <a:prstGeom prst="line">
            <a:avLst/>
          </a:prstGeom>
          <a:noFill/>
          <a:ln w="28575">
            <a:solidFill>
              <a:srgbClr val="A9A9B4"/>
            </a:solidFill>
            <a:prstDash val="solid"/>
            <a:tailEnd type="triangle"/>
          </a:ln>
        </p:spPr>
      </p:sp>
      <p:sp>
        <p:nvSpPr>
          <p:cNvPr id="19" name="terminal"/>
          <p:cNvSpPr/>
          <p:nvPr/>
        </p:nvSpPr>
        <p:spPr>
          <a:xfrm>
            <a:off x="5029200" y="466344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57800" y="4892040"/>
            <a:ext cx="1737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Riley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46634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quotes</a:t>
            </a: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prints what’s stored inside</a:t>
            </a:r>
            <a:endParaRPr lang="en-US" sz="2200" dirty="0"/>
          </a:p>
        </p:txBody>
      </p:sp>
      <p:pic>
        <p:nvPicPr>
          <p:cNvPr id="22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600200"/>
            <a:ext cx="7040880" cy="2246376"/>
          </a:xfrm>
          <a:prstGeom prst="roundRect">
            <a:avLst>
              <a:gd name="adj" fmla="val 3256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80136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0136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room?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237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26237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level?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72338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2338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"Scanning..."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18439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18439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on level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level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909560" y="1600200"/>
            <a:ext cx="3730752" cy="1947672"/>
          </a:xfrm>
          <a:prstGeom prst="roundRect">
            <a:avLst>
              <a:gd name="adj" fmla="val 3756"/>
            </a:avLst>
          </a:prstGeom>
          <a:solidFill>
            <a:srgbClr val="2A2A3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838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  </a:t>
            </a:r>
            <a:r>
              <a:rPr lang="en-US" sz="28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Medbay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  </a:t>
            </a:r>
            <a:r>
              <a:rPr lang="en-US" sz="28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1E24"/>
          </a:solidFill>
          <a:ln w="25400">
            <a:solidFill>
              <a:srgbClr val="D8A7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1605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whiteboard: </a:t>
            </a:r>
            <a:r>
              <a:rPr lang="en-US" sz="25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exact last line this program prints.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946404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64040" y="566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 MIN</a:t>
            </a:r>
            <a:endParaRPr lang="en-US" sz="1400" dirty="0"/>
          </a:p>
        </p:txBody>
      </p:sp>
      <p:pic>
        <p:nvPicPr>
          <p:cNvPr id="22" name="Image 1" descr="Deliberate pract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— what it prints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600200"/>
            <a:ext cx="7040880" cy="2246376"/>
          </a:xfrm>
          <a:prstGeom prst="roundRect">
            <a:avLst>
              <a:gd name="adj" fmla="val 3256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80136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0136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room?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237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26237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level?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72338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2338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"Scanning..."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03504" y="3184398"/>
            <a:ext cx="6931152" cy="461010"/>
          </a:xfrm>
          <a:prstGeom prst="rect">
            <a:avLst/>
          </a:prstGeom>
          <a:solidFill>
            <a:srgbClr val="2B261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" y="318439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184398"/>
            <a:ext cx="63093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on level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level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5" name="terminal"/>
          <p:cNvSpPr/>
          <p:nvPr/>
        </p:nvSpPr>
        <p:spPr>
          <a:xfrm>
            <a:off x="7909560" y="1600200"/>
            <a:ext cx="3730752" cy="2402840"/>
          </a:xfrm>
          <a:prstGeom prst="roundRect">
            <a:avLst>
              <a:gd name="adj" fmla="val 3044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38160" y="17830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2148840"/>
            <a:ext cx="327355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room? </a:t>
            </a:r>
            <a:r>
              <a:rPr lang="en-US" sz="20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Medbay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2555240"/>
            <a:ext cx="327355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level? </a:t>
            </a:r>
            <a:r>
              <a:rPr lang="en-US" sz="20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2961640"/>
            <a:ext cx="327355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Scanning...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3368040"/>
            <a:ext cx="327355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7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Medbay on level 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2A2A3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20624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room on level level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quotes → Python prints what’s stored, not the name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245352" y="42062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2A2A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19672" y="420624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on level "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spaces come from inside the quotes</a:t>
            </a:r>
            <a:endParaRPr lang="en-US" sz="2000" dirty="0"/>
          </a:p>
        </p:txBody>
      </p:sp>
      <p:pic>
        <p:nvPicPr>
          <p:cNvPr id="25" name="Image 1" descr="Feedba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recipe</a:t>
            </a:r>
            <a:endParaRPr lang="en-US" sz="3600" dirty="0"/>
          </a:p>
        </p:txBody>
      </p:sp>
      <p:sp>
        <p:nvSpPr>
          <p:cNvPr id="5" name="terminal"/>
          <p:cNvSpPr/>
          <p:nvPr/>
        </p:nvSpPr>
        <p:spPr>
          <a:xfrm>
            <a:off x="548640" y="1554480"/>
            <a:ext cx="8503920" cy="2402840"/>
          </a:xfrm>
          <a:prstGeom prst="roundRect">
            <a:avLst>
              <a:gd name="adj" fmla="val 3044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80467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"main.py", line 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09520"/>
            <a:ext cx="80467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print("Scanning...)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15920"/>
            <a:ext cx="80467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^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22320"/>
            <a:ext cx="804672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</a:t>
            </a:r>
            <a:r>
              <a:rPr lang="en-US" sz="2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 literal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733540" y="3306064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33540" y="3306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58640" y="2086864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58640" y="208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218940" y="2493264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18940" y="2493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2A2A32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4206240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475488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last line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5486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error?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364992" y="397764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2A2A32"/>
          </a:solidFill>
          <a:ln/>
        </p:spPr>
      </p:sp>
      <p:sp>
        <p:nvSpPr>
          <p:cNvPr id="23" name="Shape 20"/>
          <p:cNvSpPr/>
          <p:nvPr/>
        </p:nvSpPr>
        <p:spPr>
          <a:xfrm>
            <a:off x="3566160" y="4206240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56616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475488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number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5486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181344" y="397764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2A2A32"/>
          </a:solidFill>
          <a:ln/>
        </p:spPr>
      </p:sp>
      <p:sp>
        <p:nvSpPr>
          <p:cNvPr id="28" name="Shape 25"/>
          <p:cNvSpPr/>
          <p:nvPr/>
        </p:nvSpPr>
        <p:spPr>
          <a:xfrm>
            <a:off x="6382512" y="4206240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82512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382512" y="475488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that line aloud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382512" y="5486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by quote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997696" y="3977640"/>
            <a:ext cx="2633472" cy="2011680"/>
          </a:xfrm>
          <a:prstGeom prst="roundRect">
            <a:avLst>
              <a:gd name="adj" fmla="val 3636"/>
            </a:avLst>
          </a:prstGeom>
          <a:solidFill>
            <a:srgbClr val="2A2A32"/>
          </a:solidFill>
          <a:ln/>
        </p:spPr>
      </p:sp>
      <p:sp>
        <p:nvSpPr>
          <p:cNvPr id="33" name="Shape 30"/>
          <p:cNvSpPr/>
          <p:nvPr/>
        </p:nvSpPr>
        <p:spPr>
          <a:xfrm>
            <a:off x="9198864" y="4206240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98864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9198864" y="475488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what you meant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9198864" y="5486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"Scanning..."</a:t>
            </a:r>
            <a:r>
              <a:rPr lang="en-US" sz="16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pic>
        <p:nvPicPr>
          <p:cNvPr id="37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Wake Up</a:t>
            </a:r>
            <a:endParaRPr lang="en-US" sz="4800" dirty="0"/>
          </a:p>
        </p:txBody>
      </p:sp>
      <p:sp>
        <p:nvSpPr>
          <p:cNvPr id="6" name="terminal"/>
          <p:cNvSpPr/>
          <p:nvPr/>
        </p:nvSpPr>
        <p:spPr>
          <a:xfrm>
            <a:off x="548640" y="214884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0D1310"/>
          </a:solidFill>
          <a:ln w="15875">
            <a:solidFill>
              <a:srgbClr val="2C44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 BAY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pod is frosted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38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— except Pod 2.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102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166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Open. Empty.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230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Cracked from the inside.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965960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26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Up</a:t>
            </a:r>
            <a:r>
              <a:rPr lang="en-US" sz="26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Google Classroom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492240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70648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70648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737920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449056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49056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835761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427464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27464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933602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405872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405872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1031443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4343400"/>
            <a:ext cx="4828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1 is your call. </a:t>
            </a:r>
            <a:r>
              <a:rPr lang="en-US" sz="19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the story, not your score.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10131552" y="162763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31552" y="1627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≈20 MIN</a:t>
            </a:r>
            <a:endParaRPr lang="en-US" sz="1400" dirty="0"/>
          </a:p>
        </p:txBody>
      </p:sp>
      <p:pic>
        <p:nvPicPr>
          <p:cNvPr id="34" name="Image 1" descr="Deliberate pract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CRYO BAY   ·   TEMP −41°C   ·   POWER 12%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Capitals matter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600200"/>
            <a:ext cx="7498080" cy="1324356"/>
          </a:xfrm>
          <a:prstGeom prst="roundRect">
            <a:avLst>
              <a:gd name="adj" fmla="val 5524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80136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01368"/>
            <a:ext cx="67665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your name: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03504" y="2262378"/>
            <a:ext cx="7388352" cy="461010"/>
          </a:xfrm>
          <a:prstGeom prst="rect">
            <a:avLst/>
          </a:prstGeom>
          <a:solidFill>
            <a:srgbClr val="2B261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" y="226237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262378"/>
            <a:ext cx="676656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"Access granted to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1" name="terminal"/>
          <p:cNvSpPr/>
          <p:nvPr/>
        </p:nvSpPr>
        <p:spPr>
          <a:xfrm>
            <a:off x="548640" y="3153156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336036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— LAST LINE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01796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</a:t>
            </a:r>
            <a:r>
              <a:rPr lang="en-US" sz="18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'Name' is not defined. Did you mean: 'name'?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2480" y="21031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192024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49640" y="19202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·  str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"Riley"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E1E24"/>
          </a:solidFill>
          <a:ln w="25400">
            <a:solidFill>
              <a:srgbClr val="D8A7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r>
              <a:rPr lang="en-US" sz="2400" b="1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24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two different names. Python only knows the one you stored.</a:t>
            </a:r>
            <a:endParaRPr lang="en-US" sz="2400" dirty="0"/>
          </a:p>
        </p:txBody>
      </p:sp>
      <p:pic>
        <p:nvPicPr>
          <p:cNvPr id="21" name="Image 1" descr="Feedba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94%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or add?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7373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38528"/>
            <a:ext cx="5120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30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0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3000" dirty="0"/>
          </a:p>
        </p:txBody>
      </p:sp>
      <p:sp>
        <p:nvSpPr>
          <p:cNvPr id="7" name="terminal"/>
          <p:cNvSpPr/>
          <p:nvPr/>
        </p:nvSpPr>
        <p:spPr>
          <a:xfrm>
            <a:off x="548640" y="31546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383280"/>
            <a:ext cx="4937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3000" dirty="0"/>
          </a:p>
        </p:txBody>
      </p:sp>
      <p:sp>
        <p:nvSpPr>
          <p:cNvPr id="9" name="code"/>
          <p:cNvSpPr/>
          <p:nvPr/>
        </p:nvSpPr>
        <p:spPr>
          <a:xfrm>
            <a:off x="6245352" y="17373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8232" y="1938528"/>
            <a:ext cx="5120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30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30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30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3000" dirty="0"/>
          </a:p>
        </p:txBody>
      </p:sp>
      <p:sp>
        <p:nvSpPr>
          <p:cNvPr id="11" name="terminal"/>
          <p:cNvSpPr/>
          <p:nvPr/>
        </p:nvSpPr>
        <p:spPr>
          <a:xfrm>
            <a:off x="6245352" y="31546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73952" y="3383280"/>
            <a:ext cx="4937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E1E24"/>
          </a:solidFill>
          <a:ln w="25400">
            <a:solidFill>
              <a:srgbClr val="D8A7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5262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&amp; Talk: </a:t>
            </a:r>
            <a:r>
              <a:rPr lang="en-US" sz="25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one print — and why are they different?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946404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64040" y="566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 MIN</a:t>
            </a:r>
            <a:endParaRPr lang="en-US" sz="1400" dirty="0"/>
          </a:p>
        </p:txBody>
      </p:sp>
      <p:pic>
        <p:nvPicPr>
          <p:cNvPr id="17" name="Image 1" descr="Deliberate pract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91%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joins text, adds numbers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60020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1783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2926080" y="17830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63240" y="160020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6324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800600" y="2212848"/>
            <a:ext cx="822960" cy="0"/>
          </a:xfrm>
          <a:prstGeom prst="line">
            <a:avLst/>
          </a:prstGeom>
          <a:noFill/>
          <a:ln w="28575">
            <a:solidFill>
              <a:srgbClr val="D8A73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760720" y="17830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160020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9788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"55"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1783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017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32004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3600" dirty="0"/>
          </a:p>
        </p:txBody>
      </p:sp>
      <p:sp>
        <p:nvSpPr>
          <p:cNvPr id="25" name="Shape 22"/>
          <p:cNvSpPr/>
          <p:nvPr/>
        </p:nvSpPr>
        <p:spPr>
          <a:xfrm>
            <a:off x="2926080" y="32004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63240" y="3017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06324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01752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4800600" y="3630168"/>
            <a:ext cx="822960" cy="0"/>
          </a:xfrm>
          <a:prstGeom prst="line">
            <a:avLst/>
          </a:prstGeom>
          <a:noFill/>
          <a:ln w="28575">
            <a:solidFill>
              <a:srgbClr val="D8A73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76072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97880" y="3017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89788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85216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32004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2600" dirty="0"/>
          </a:p>
        </p:txBody>
      </p:sp>
      <p:sp>
        <p:nvSpPr>
          <p:cNvPr id="35" name="Shape 32"/>
          <p:cNvSpPr/>
          <p:nvPr/>
        </p:nvSpPr>
        <p:spPr>
          <a:xfrm>
            <a:off x="548640" y="46177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5800" y="443484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434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4800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2331720" y="4617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3600" dirty="0"/>
          </a:p>
        </p:txBody>
      </p:sp>
      <p:sp>
        <p:nvSpPr>
          <p:cNvPr id="40" name="Shape 37"/>
          <p:cNvSpPr/>
          <p:nvPr/>
        </p:nvSpPr>
        <p:spPr>
          <a:xfrm>
            <a:off x="2926080" y="46177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063240" y="443484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063240" y="4434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017520" y="4800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44" name="Shape 41"/>
          <p:cNvSpPr/>
          <p:nvPr/>
        </p:nvSpPr>
        <p:spPr>
          <a:xfrm>
            <a:off x="4800600" y="5047488"/>
            <a:ext cx="822960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45" name="terminal"/>
          <p:cNvSpPr/>
          <p:nvPr/>
        </p:nvSpPr>
        <p:spPr>
          <a:xfrm>
            <a:off x="5760720" y="4617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89320" y="4846320"/>
            <a:ext cx="19202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8412480" y="4617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mix text and numbers</a:t>
            </a:r>
            <a:endParaRPr lang="en-US" sz="2200" dirty="0"/>
          </a:p>
        </p:txBody>
      </p:sp>
      <p:pic>
        <p:nvPicPr>
          <p:cNvPr id="48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88%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gives text — so convert it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NUMBER</a:t>
            </a:r>
            <a:endParaRPr lang="en-US" sz="1300" dirty="0"/>
          </a:p>
        </p:txBody>
      </p:sp>
      <p:sp>
        <p:nvSpPr>
          <p:cNvPr id="6" name="terminal"/>
          <p:cNvSpPr/>
          <p:nvPr/>
        </p:nvSpPr>
        <p:spPr>
          <a:xfrm>
            <a:off x="548640" y="20574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0A0A0D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286000"/>
            <a:ext cx="173736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Hours? </a:t>
            </a:r>
            <a:r>
              <a:rPr lang="en-US" sz="22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834640" y="2487168"/>
            <a:ext cx="502920" cy="0"/>
          </a:xfrm>
          <a:prstGeom prst="line">
            <a:avLst/>
          </a:prstGeom>
          <a:noFill/>
          <a:ln w="28575">
            <a:solidFill>
              <a:srgbClr val="A9A9B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29000" y="20574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874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"6"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49240" y="2487168"/>
            <a:ext cx="1371600" cy="0"/>
          </a:xfrm>
          <a:prstGeom prst="line">
            <a:avLst/>
          </a:prstGeom>
          <a:noFill/>
          <a:ln w="28575">
            <a:solidFill>
              <a:srgbClr val="D8A73D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3492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812280" y="20574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49440" y="1874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do maths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→ TEXT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29000" y="43434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56B4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66160" y="4160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56B4E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56616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5349240" y="4773168"/>
            <a:ext cx="1371600" cy="0"/>
          </a:xfrm>
          <a:prstGeom prst="line">
            <a:avLst/>
          </a:prstGeom>
          <a:noFill/>
          <a:ln w="28575">
            <a:solidFill>
              <a:srgbClr val="D8A73D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3492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812280" y="43434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11115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49440" y="41605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69F0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94944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"300"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4343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+ can join it</a:t>
            </a:r>
            <a:endParaRPr lang="en-US" sz="2200" dirty="0"/>
          </a:p>
        </p:txBody>
      </p:sp>
      <p:pic>
        <p:nvPicPr>
          <p:cNvPr id="32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85%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recipe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600200"/>
            <a:ext cx="7223760" cy="3008376"/>
          </a:xfrm>
          <a:prstGeom prst="roundRect">
            <a:avLst>
              <a:gd name="adj" fmla="val 2432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80136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0136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"Hours until rescue: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67004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67004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oxygen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hours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53872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53872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"Oxygen: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oxygen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863840" y="2235708"/>
            <a:ext cx="502920" cy="0"/>
          </a:xfrm>
          <a:prstGeom prst="line">
            <a:avLst/>
          </a:prstGeom>
          <a:noFill/>
          <a:ln w="28575">
            <a:solidFill>
              <a:srgbClr val="6E6E7A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8503920" y="18699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r>
              <a:rPr lang="en-US" sz="2200" dirty="0">
                <a:solidFill>
                  <a:srgbClr val="6E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r>
              <a:rPr lang="en-US" sz="22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r>
              <a:rPr lang="en-US" sz="2200" dirty="0">
                <a:solidFill>
                  <a:srgbClr val="6E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r>
              <a:rPr lang="en-US" sz="22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863840" y="3104388"/>
            <a:ext cx="502920" cy="0"/>
          </a:xfrm>
          <a:prstGeom prst="line">
            <a:avLst/>
          </a:prstGeom>
          <a:noFill/>
          <a:ln w="28575">
            <a:solidFill>
              <a:srgbClr val="6E6E7A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8503920" y="27386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863840" y="3973068"/>
            <a:ext cx="502920" cy="0"/>
          </a:xfrm>
          <a:prstGeom prst="line">
            <a:avLst/>
          </a:prstGeom>
          <a:noFill/>
          <a:ln w="28575">
            <a:solidFill>
              <a:srgbClr val="6E6E7A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8503920" y="360730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r>
              <a:rPr lang="en-US" sz="2200" dirty="0">
                <a:solidFill>
                  <a:srgbClr val="A9A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str() to join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2A2A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 runs inside-out: </a:t>
            </a: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first, then int(), then = stores it.</a:t>
            </a:r>
            <a:endParaRPr lang="en-US" sz="2200" dirty="0"/>
          </a:p>
        </p:txBody>
      </p:sp>
      <p:pic>
        <p:nvPicPr>
          <p:cNvPr id="20" name="Image 1" descr="New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82%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— trace it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508760"/>
            <a:ext cx="8046720" cy="1785366"/>
          </a:xfrm>
          <a:prstGeom prst="roundRect">
            <a:avLst>
              <a:gd name="adj" fmla="val 4097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70992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0992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"Battery %: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7093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7093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63194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63194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"Power left: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823960" y="1508760"/>
            <a:ext cx="2816352" cy="1719072"/>
          </a:xfrm>
          <a:prstGeom prst="roundRect">
            <a:avLst>
              <a:gd name="adj" fmla="val 4255"/>
            </a:avLst>
          </a:prstGeom>
          <a:solidFill>
            <a:srgbClr val="2A2A3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0525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057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4000" dirty="0"/>
          </a:p>
        </p:txBody>
      </p:sp>
      <p:sp>
        <p:nvSpPr>
          <p:cNvPr id="15" name="Shape 12"/>
          <p:cNvSpPr/>
          <p:nvPr/>
        </p:nvSpPr>
        <p:spPr>
          <a:xfrm>
            <a:off x="946404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64040" y="566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 MIN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8A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56B4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battery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8A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Image 1" descr="Deliberate pract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79%   ·   POWER 31%   ·   CREW AWAKE 1/5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— answers</a:t>
            </a:r>
            <a:endParaRPr lang="en-US" sz="3600" dirty="0"/>
          </a:p>
        </p:txBody>
      </p:sp>
      <p:sp>
        <p:nvSpPr>
          <p:cNvPr id="5" name="code"/>
          <p:cNvSpPr/>
          <p:nvPr/>
        </p:nvSpPr>
        <p:spPr>
          <a:xfrm>
            <a:off x="548640" y="1508760"/>
            <a:ext cx="8046720" cy="1785366"/>
          </a:xfrm>
          <a:prstGeom prst="roundRect">
            <a:avLst>
              <a:gd name="adj" fmla="val 4097"/>
            </a:avLst>
          </a:prstGeom>
          <a:solidFill>
            <a:srgbClr val="111115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70992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0992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"Battery %: 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7093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7093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battery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03504" y="2631948"/>
            <a:ext cx="7936992" cy="461010"/>
          </a:xfrm>
          <a:prstGeom prst="rect">
            <a:avLst/>
          </a:prstGeom>
          <a:solidFill>
            <a:srgbClr val="2B261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" y="2631948"/>
            <a:ext cx="27432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631948"/>
            <a:ext cx="7315200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"Power left: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"%"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823960" y="1508760"/>
            <a:ext cx="2816352" cy="1719072"/>
          </a:xfrm>
          <a:prstGeom prst="roundRect">
            <a:avLst>
              <a:gd name="adj" fmla="val 4255"/>
            </a:avLst>
          </a:prstGeom>
          <a:solidFill>
            <a:srgbClr val="2A2A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52560" y="1600200"/>
            <a:ext cx="24688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  <a:r>
              <a:rPr lang="en-US" sz="2200" b="1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8A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56B4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battery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8A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56B4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56B4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A9A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D8A7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 left: 65%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Image 1" descr="Feedba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on frost" descr="C:\Users\n.houlton_grange.out\source\repos\interactive\_presentations\Y9_Python\station\fr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SUPPORT   ·   O2 76%   ·   POWER 31%   ·   CREW AWAKE 1/5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Support</a:t>
            </a:r>
            <a:endParaRPr lang="en-US" sz="4800" dirty="0"/>
          </a:p>
        </p:txBody>
      </p:sp>
      <p:sp>
        <p:nvSpPr>
          <p:cNvPr id="6" name="terminal"/>
          <p:cNvSpPr/>
          <p:nvPr/>
        </p:nvSpPr>
        <p:spPr>
          <a:xfrm>
            <a:off x="548640" y="214884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0D1310"/>
          </a:solidFill>
          <a:ln w="15875">
            <a:solidFill>
              <a:srgbClr val="2C44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trail of frost leads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38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Life Support.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102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166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Something that cold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23080"/>
            <a:ext cx="47548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shouldn’t be able to walk.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2A2A32"/>
          </a:solidFill>
          <a:ln w="15875">
            <a:solidFill>
              <a:srgbClr val="3A3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965960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26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Support</a:t>
            </a:r>
            <a:r>
              <a:rPr lang="en-US" sz="26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Google Classroom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492240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70648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70648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737920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449056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49056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835761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427464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27464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933602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405872" y="3063240"/>
            <a:ext cx="914400" cy="6858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405872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A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1031443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4343400"/>
            <a:ext cx="4828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1 is your call again. </a:t>
            </a:r>
            <a:r>
              <a:rPr lang="en-US" sz="19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 and your door choice decide what happens to Pod 5.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10131552" y="1627632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5875">
            <a:solidFill>
              <a:srgbClr val="D8A73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31552" y="1627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≈20 MIN</a:t>
            </a:r>
            <a:endParaRPr lang="en-US" sz="1400" dirty="0"/>
          </a:p>
        </p:txBody>
      </p:sp>
      <p:pic>
        <p:nvPicPr>
          <p:cNvPr id="34" name="Image 1" descr="Deliberate pract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to · station edge_amber" descr="C:\Users\n.houlton_grange.out\source\repos\interactive\_presentations\Y9_Python\station\edg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ion status"/>
          <p:cNvSpPr txBox="1"/>
          <p:nvPr/>
        </p:nvSpPr>
        <p:spPr>
          <a:xfrm>
            <a:off x="548640" y="731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r>
              <a:rPr lang="en-US" sz="1100" kern="0" spc="10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OPS   ·   MOTION DETECTED   ·   BIO-SCAN: NOT HUMAN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2A2A32"/>
          </a:solidFill>
          <a:ln w="25400">
            <a:solidFill>
              <a:srgbClr val="D8A7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A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QUESTION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90195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ask for, store and calculate with what a user types?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953512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880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line that asks how many crew are awake and stores it as a whole number in crew.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4096512"/>
            <a:ext cx="438912" cy="438912"/>
          </a:xfrm>
          <a:prstGeom prst="ellipse">
            <a:avLst/>
          </a:prstGeom>
          <a:solidFill>
            <a:srgbClr val="D8A7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4023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this line, and say why it crashed: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572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"Crew awake: "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F5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crew</a:t>
            </a:r>
            <a:r>
              <a:rPr lang="en-US" sz="2200" dirty="0">
                <a:solidFill>
                  <a:srgbClr val="A9A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5" name="terminal"/>
          <p:cNvSpPr/>
          <p:nvPr/>
        </p:nvSpPr>
        <p:spPr>
          <a:xfrm>
            <a:off x="1188720" y="530352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0D1310"/>
          </a:solidFill>
          <a:ln w="15875">
            <a:solidFill>
              <a:srgbClr val="2C44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5532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FD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 DETECTED · SENSOR OPS · TAG: </a:t>
            </a:r>
            <a:r>
              <a:rPr lang="en-US" sz="1800" b="1" dirty="0">
                <a:solidFill>
                  <a:srgbClr val="D8A7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HALE</a:t>
            </a:r>
            <a:endParaRPr lang="en-US" sz="1800" dirty="0"/>
          </a:p>
        </p:txBody>
      </p:sp>
      <p:pic>
        <p:nvPicPr>
          <p:cNvPr id="17" name="Image 1" descr="Recap and rec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84048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6E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tion Zero">
  <a:themeElements>
    <a:clrScheme name="Station Zero">
      <a:dk1>
        <a:srgbClr val="1E1E24"/>
      </a:dk1>
      <a:lt1>
        <a:srgbClr val="F5F5F3"/>
      </a:lt1>
      <a:dk2>
        <a:srgbClr val="141418"/>
      </a:dk2>
      <a:lt2>
        <a:srgbClr val="E9E8E4"/>
      </a:lt2>
      <a:accent1>
        <a:srgbClr val="D8A73D"/>
      </a:accent1>
      <a:accent2>
        <a:srgbClr val="E69F00"/>
      </a:accent2>
      <a:accent3>
        <a:srgbClr val="56B4E9"/>
      </a:accent3>
      <a:accent4>
        <a:srgbClr val="7FD99A"/>
      </a:accent4>
      <a:accent5>
        <a:srgbClr val="FF6B6B"/>
      </a:accent5>
      <a:accent6>
        <a:srgbClr val="A9A9B4"/>
      </a:accent6>
      <a:hlink>
        <a:srgbClr val="56B4E9"/>
      </a:hlink>
      <a:folHlink>
        <a:srgbClr val="A9A9B4"/>
      </a:folHlink>
    </a:clrScheme>
    <a:fontScheme name="Station Ze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3402</Words>
  <Application>Microsoft Office PowerPoint</Application>
  <PresentationFormat>Widescreen</PresentationFormat>
  <Paragraphs>407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Station Zero</vt:lpstr>
      <vt:lpstr>Recap &amp; Recall</vt:lpstr>
      <vt:lpstr>Recap &amp; Recall — answers</vt:lpstr>
      <vt:lpstr>PowerPoint Presentation</vt:lpstr>
      <vt:lpstr>What are we learning?</vt:lpstr>
      <vt:lpstr>A variable is a named box in memory</vt:lpstr>
      <vt:lpstr>input(): the user fills the box</vt:lpstr>
      <vt:lpstr>Quotes: the word, or what’s stored?</vt:lpstr>
      <vt:lpstr>Predict</vt:lpstr>
      <vt:lpstr>Predict — what it prints</vt:lpstr>
      <vt:lpstr>Debugging recipe</vt:lpstr>
      <vt:lpstr>PowerPoint Presentation</vt:lpstr>
      <vt:lpstr>Capitals matter</vt:lpstr>
      <vt:lpstr>Join or add?</vt:lpstr>
      <vt:lpstr>+ joins text, adds numbers</vt:lpstr>
      <vt:lpstr>input() gives text — so convert it</vt:lpstr>
      <vt:lpstr>The whole recipe</vt:lpstr>
      <vt:lpstr>Predict — trace it</vt:lpstr>
      <vt:lpstr>Trace — answers</vt:lpstr>
      <vt:lpstr>PowerPoint Presentation</vt:lpstr>
      <vt:lpstr>Plenary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Station Zero — Y9 Python Lesson 1: Python Refresh</dc:title>
  <dc:subject>PptxGenJS Presentation</dc:subject>
  <dc:creator>Nicholas Houlton</dc:creator>
  <cp:lastModifiedBy>N P Houlton</cp:lastModifiedBy>
  <cp:revision>2</cp:revision>
  <dcterms:created xsi:type="dcterms:W3CDTF">2026-10-08T18:20:00Z</dcterms:created>
  <dcterms:modified xsi:type="dcterms:W3CDTF">2026-10-14T08:36:41Z</dcterms:modified>
</cp:coreProperties>
</file>