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cap &amp; Recall" id="{1804cbfa-bd6d-31dc-2ebc-67dbb2b74de2}">
          <p14:sldIdLst>
            <p14:sldId id="256"/>
            <p14:sldId id="257"/>
          </p14:sldIdLst>
        </p14:section>
        <p14:section name="Title" id="{51b3e0c7-175a-b4b6-9896-bab0432b7b69}">
          <p14:sldIdLst>
            <p14:sldId id="258"/>
            <p14:sldId id="259"/>
          </p14:sldIdLst>
        </p14:section>
        <p14:section name="Part 1 — Wake Up" id="{dd933a5e-dfbf-ebae-ffff-207c6bba1e11}">
          <p14:sldIdLst>
            <p14:sldId id="260"/>
            <p14:sldId id="261"/>
            <p14:sldId id="262"/>
            <p14:sldId id="263"/>
            <p14:sldId id="264"/>
            <p14:sldId id="265"/>
            <p14:sldId id="266"/>
            <p14:sldId id="267"/>
            <p14:sldId id="268"/>
          </p14:sldIdLst>
        </p14:section>
        <p14:section name="Part 2 — Life Support" id="{f6a3d1a8-260d-ae2b-8dee-b688f5555caf}">
          <p14:sldIdLst>
            <p14:sldId id="269"/>
            <p14:sldId id="270"/>
            <p14:sldId id="271"/>
            <p14:sldId id="272"/>
            <p14:sldId id="273"/>
            <p14:sldId id="274"/>
            <p14:sldId id="275"/>
            <p14:sldId id="276"/>
          </p14:sldIdLst>
        </p14:section>
        <p14:section name="Plenary" id="{4aeeaa0d-a618-cf13-6673-1dbf4d29d9dc}">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5 minutes, silent, no notes. Mini-whiteboards or books.
It's a year since they last wrote Python. Most of it is stored but hard to recall, so they retrieve it before anything is re-taught.
Q1–2 are multiple choice (everyone can commit to an answer). Q3–4 need a written answer: a word for Q3, the exact output for Q4.
Ask for a confidence rating 1–3 next to each answer — confident-but-wrong answers are the ones most worth correcting (hypercorrection).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self-mark. Hands up for "confident (3) and wrong" on each — spend time on those.
Q3: a missing closing quote is a SyntaxError — we'll see what that error looks like on the debugging slide.
Q4: the space comes from inside the quotes, "Hi ". Without it you'd get HiSam.
Note any question most of the class missed — that's the evidence for whether the unit needs another reactivation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premise — don't put it on screen (redundancy effect):
"You wake from cryosleep on Station Zero, a research station orbiting an uncharted planet. A solar storm has wiped the station's software and every door is locked. The rest of the crew are still frozen in their pods — except Pod 2, Engineer Hale's. It's empty. You're the only engineer awake, and you'll have to rebuild each system in Python to survive."
Keep it to under a minute. Tone it down if the class finds it too intense.
In Slide Show this slide fades in through black, then the frost creeps into the corners by itself: let it finish before you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question = the whole unit (selection, loops, functions are coming).
Lesson question = today. Nothing here is brand new — it's everything from Year 8 Unit 1, joined into one program.
We come back to this question in the plenary.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clicks: each line, then what's on screen after it, then what's in memory after it. Before each click, ask "what will appear?"
Click 1–3 (line 1): = is STORE, not "equals". Python works out the right-hand side, then puts it in the box named on the left. Nothing appears on screen — many students expect it to.
Click 4–6 (line 2): no quotes round name, so Python looks in the box and prints what's inside. Memory doesn't change — print only reads it.
Link to the Do Now (Q2): score = 5 then score = 9 — a box holds one value, so the new one replaces the old.
The orange box is how the activity's memory panel shows a string (str). Next slide: the same box, but the USER fills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clicks: each line, then what's on screen after it, then what's in memory after it. Before each click, ask "what will appear?"
Click 1–3 (line 1): input() shows the question and WAITS. The user types Riley and presses Enter. = stores what they typed in name.
Click 4–6 (line 2): + joins "Hi " to what's stored in name, and print() shows the result. Memory doesn't change — print only reads name.
The four verbs in gold are today's sub-goals: ASK, STORE, JOIN, PRINT. Say them every time you live-code.
The orange box is how the activity's memory panel shows a string (str) — the same colours they'll see later.
LIVE CODE (optional, 2 min): type the two lines in the IDE and run it with a student's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Discriminating example: the two lines differ by one pair of quotes.
Cover the outputs, ask "what does each print?", then reveal.
This is Predict question 2 territory in the activity (line 3 "only 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in 20 seconds, then straight into Predict. It's the premise from the title slide, shortened: for anyone who has forgotten it, or was late.
No discussion here: the next part of the story is on the chapter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2 minutes, then 3-2-1 show boards.
Look for: "room on level level" (printed the variable names), and missing spaces "Medbayon level3".
Don't reveal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4 → the highlighted output. Ask a student who wrote the wrong version to explain the fix.
Two common mistakes: printing the variable NAMES, and losing the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handy — flip back to it during Investigate in both activities.
Model the recipe out loud on this error (it's Recap question 3):
1. Read the LAST line first — SyntaxError: the string never ends.
2. Find the line number — line 3.
3. Read line 3 aloud, quote by quote — "open quote, Scanning dot dot dot, close bracket"… no closing quote.
4. Compare to what you meant — add the closing quote.
Error messages are information, not a telling-off.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open "Wake Up — Input Refresh" from Google Classroom (Y9 › Python › Lesson 1).
It runs the full PRIMM cycle by itself: Predict (3 questions) → Run → Investigate (2 steps; Break it plants a NameError) → Modify (4 steps; step 1 is the door choice) → Make (crew locator).
Circulate. During Investigate, point students back to the debugging recipe before they press Get help.
Fast finishers: the Make extension (a third question and one line using all three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Whole-class feedback after Wake Up — this was the planted bug in Investigate.
Ask: "Which line did Python point to? Which word was wrong?" Then: "Why didn't deleting the line count as fixing it?"
The memory box only has a variable called name (lower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before explanation — even a wrong guess makes the next slide stick better.
Take two or three answers. Don't confirm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of the Turn &amp; Talk. The label on each box is its data type: str (text, orange) or int (whole number, blue).
Same + sign, different job — Python decides by the TYPE of the two values.
Mixing them crashes: TypeError. Remember this — it's the planted bug in Life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ALWAYS gives back text, even when the user types a number. "6" in quotes, orange.
int() converts text to a whole number so you can calculate. str() converts a number back to text so + can join it into a sentence.
str() is the new one for some — Year 8 only used int().
Ask: what would int("six") do? (ValueError — they'll try it in Investigate.)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Recipe: ASK → STORE → CONVERT → CALCULATE → OUTPUT. These are the Life Support starter lines, near enough.
Line 1 does three jobs. Trace it inside-out with your finger: input() asks, int() converts, = stores.
LIVE CODE (optional): type it, run with 6, then delete int( ) and run again — the output shows 6 repeated 50 times. Ask why. (They'll meet this in Investigate step 1, so you can leave it as a teaser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in 20 seconds, then straight into the trace. This is what Wake Up revealed, for anyone who didn't finish it.
It leaves out the door choice on purpose: that differs from student to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table onto whiteboards. Fill it in line by line: what is in battery after each line, and what's printed.
Line 2 overwrites battery — the old value is gone (like Recap Q2).
Watch for: battery = "80" (forgot int() converts), and 80 in the last row (forgot the overwrite).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boards against the table.
Line 1: "80" becomes the number 80. Line 2: 80 − 15 = 65 replaces 80. Line 3 prints Power left: 65%.
Ask: what if we took str() out of line 3? → TypeError, because + can't join text and a number. That's exactly the bug they fix in Life Support's Investigate.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open "Life Support — Casting" from Google Classroom.
Predict (3 questions) → Run → Investigate (3 steps: delete int(); type "six" → ValueError; Break it plants the TypeError, fixed with str()) → Modify (4 steps; step 1 is the oxygen-rate choice) → Make (survival supply manifest).
Hale's last log appears after Investigate — let it land.
Anyone who didn't finish Wake Up: finish it first; their choices carry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task on whiteboards or a sticky note.
1. crew = int(input("How many crew are awake? ")) — any prompt is fine; int() and the variable name crew are the point.
2. print("Crew awake: " + str(crew)) — crew is a number, and + can't join text and a number, so it's a TypeError.
Close the story: "Motion in Sensor Ops. The tag says HALE. Next lesson, we find out what's moving." (Hale is dead — leave it hanging.)
In Slide Show this slide fades in through black and the amber alarm creeps in by itself: Chapter 2's state, which Lesson 2's deck opens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LESSON 1</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LESSON 1</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4"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5" name="Shape 3"/>
          <p:cNvSpPr/>
          <p:nvPr/>
        </p:nvSpPr>
        <p:spPr>
          <a:xfrm>
            <a:off x="777240" y="1801368"/>
            <a:ext cx="384048" cy="384048"/>
          </a:xfrm>
          <a:prstGeom prst="ellipse">
            <a:avLst/>
          </a:prstGeom>
          <a:solidFill>
            <a:srgbClr val="1E1E24"/>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EDE6D3"/>
          </a:solidFill>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5"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6" name="Shape 14"/>
          <p:cNvSpPr/>
          <p:nvPr/>
        </p:nvSpPr>
        <p:spPr>
          <a:xfrm>
            <a:off x="6464808" y="1801368"/>
            <a:ext cx="384048" cy="384048"/>
          </a:xfrm>
          <a:prstGeom prst="ellipse">
            <a:avLst/>
          </a:prstGeom>
          <a:solidFill>
            <a:srgbClr val="1E1E24"/>
          </a:solidFill>
          <a:ln/>
        </p:spPr>
      </p:sp>
      <p:sp>
        <p:nvSpPr>
          <p:cNvPr id="17" name="Text 15"/>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8" name="Shape 16"/>
          <p:cNvSpPr/>
          <p:nvPr/>
        </p:nvSpPr>
        <p:spPr>
          <a:xfrm>
            <a:off x="6967728" y="1828800"/>
            <a:ext cx="1600200" cy="310896"/>
          </a:xfrm>
          <a:prstGeom prst="roundRect">
            <a:avLst>
              <a:gd name="adj" fmla="val 52941"/>
            </a:avLst>
          </a:prstGeom>
          <a:solidFill>
            <a:srgbClr val="EDE6D3"/>
          </a:solidFill>
          <a:ln/>
        </p:spPr>
      </p:sp>
      <p:sp>
        <p:nvSpPr>
          <p:cNvPr id="19" name="Text 17"/>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0" name="Shape 18"/>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1" name="Text 19"/>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2" name="Text 20"/>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3" name="Shape 21"/>
          <p:cNvSpPr/>
          <p:nvPr/>
        </p:nvSpPr>
        <p:spPr>
          <a:xfrm>
            <a:off x="6464808" y="2651760"/>
            <a:ext cx="2286000" cy="1088136"/>
          </a:xfrm>
          <a:prstGeom prst="roundRect">
            <a:avLst>
              <a:gd name="adj" fmla="val 5042"/>
            </a:avLst>
          </a:prstGeom>
          <a:solidFill>
            <a:srgbClr val="111115"/>
          </a:solidFill>
          <a:ln/>
        </p:spPr>
      </p:sp>
      <p:sp>
        <p:nvSpPr>
          <p:cNvPr id="24" name="Text 22"/>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5" name="Text 23"/>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6" name="Text 24"/>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7" name="Text 25"/>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8" name="Text 26"/>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29" name="Text 27"/>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0"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1" name="Shape 29"/>
          <p:cNvSpPr/>
          <p:nvPr/>
        </p:nvSpPr>
        <p:spPr>
          <a:xfrm>
            <a:off x="777240" y="4224528"/>
            <a:ext cx="384048" cy="384048"/>
          </a:xfrm>
          <a:prstGeom prst="ellipse">
            <a:avLst/>
          </a:prstGeom>
          <a:solidFill>
            <a:srgbClr val="1E1E24"/>
          </a:solidFill>
          <a:ln/>
        </p:spPr>
      </p:sp>
      <p:sp>
        <p:nvSpPr>
          <p:cNvPr id="32" name="Text 30"/>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3" name="Shape 31"/>
          <p:cNvSpPr/>
          <p:nvPr/>
        </p:nvSpPr>
        <p:spPr>
          <a:xfrm>
            <a:off x="1280160" y="4251960"/>
            <a:ext cx="1600200" cy="310896"/>
          </a:xfrm>
          <a:prstGeom prst="roundRect">
            <a:avLst>
              <a:gd name="adj" fmla="val 52941"/>
            </a:avLst>
          </a:prstGeom>
          <a:solidFill>
            <a:srgbClr val="EDE6D3"/>
          </a:solidFill>
          <a:ln/>
        </p:spPr>
      </p:sp>
      <p:sp>
        <p:nvSpPr>
          <p:cNvPr id="34" name="Text 32"/>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5" name="Shape 33"/>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6" name="Text 34"/>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7" name="Text 35"/>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8" name="Shape 36"/>
          <p:cNvSpPr/>
          <p:nvPr/>
        </p:nvSpPr>
        <p:spPr>
          <a:xfrm>
            <a:off x="777240" y="5074920"/>
            <a:ext cx="4956048" cy="484632"/>
          </a:xfrm>
          <a:prstGeom prst="roundRect">
            <a:avLst>
              <a:gd name="adj" fmla="val 11321"/>
            </a:avLst>
          </a:prstGeom>
          <a:solidFill>
            <a:srgbClr val="111115"/>
          </a:solidFill>
          <a:ln/>
        </p:spPr>
      </p:sp>
      <p:sp>
        <p:nvSpPr>
          <p:cNvPr id="39" name="Text 37"/>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0"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1" name="Shape 39"/>
          <p:cNvSpPr/>
          <p:nvPr/>
        </p:nvSpPr>
        <p:spPr>
          <a:xfrm>
            <a:off x="6464808" y="4224528"/>
            <a:ext cx="384048" cy="384048"/>
          </a:xfrm>
          <a:prstGeom prst="ellipse">
            <a:avLst/>
          </a:prstGeom>
          <a:solidFill>
            <a:srgbClr val="1E1E24"/>
          </a:solidFill>
          <a:ln/>
        </p:spPr>
      </p:sp>
      <p:sp>
        <p:nvSpPr>
          <p:cNvPr id="42"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3" name="Shape 41"/>
          <p:cNvSpPr/>
          <p:nvPr/>
        </p:nvSpPr>
        <p:spPr>
          <a:xfrm>
            <a:off x="6967728" y="4251960"/>
            <a:ext cx="1600200" cy="310896"/>
          </a:xfrm>
          <a:prstGeom prst="roundRect">
            <a:avLst>
              <a:gd name="adj" fmla="val 52941"/>
            </a:avLst>
          </a:prstGeom>
          <a:solidFill>
            <a:srgbClr val="EDE6D3"/>
          </a:solidFill>
          <a:ln/>
        </p:spPr>
      </p:sp>
      <p:sp>
        <p:nvSpPr>
          <p:cNvPr id="44"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5" name="Shape 43"/>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6"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7"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8" name="Shape 46"/>
          <p:cNvSpPr/>
          <p:nvPr/>
        </p:nvSpPr>
        <p:spPr>
          <a:xfrm>
            <a:off x="6464808" y="5074920"/>
            <a:ext cx="4956048" cy="786384"/>
          </a:xfrm>
          <a:prstGeom prst="roundRect">
            <a:avLst>
              <a:gd name="adj" fmla="val 6977"/>
            </a:avLst>
          </a:prstGeom>
          <a:solidFill>
            <a:srgbClr val="111115"/>
          </a:solidFill>
          <a:ln/>
        </p:spPr>
      </p:sp>
      <p:sp>
        <p:nvSpPr>
          <p:cNvPr id="49"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0"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1" name="Shape 49"/>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2" name="Text 5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3"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4"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5" name="Shape 3"/>
          <p:cNvSpPr/>
          <p:nvPr/>
        </p:nvSpPr>
        <p:spPr>
          <a:xfrm>
            <a:off x="777240" y="1801368"/>
            <a:ext cx="384048" cy="384048"/>
          </a:xfrm>
          <a:prstGeom prst="ellipse">
            <a:avLst/>
          </a:prstGeom>
          <a:solidFill>
            <a:srgbClr val="D8A73D"/>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A   </a:t>
            </a:r>
            <a:pPr indent="0" marL="0">
              <a:buNone/>
            </a:pPr>
            <a:r>
              <a:rPr lang="en-US" sz="1800" b="1" dirty="0">
                <a:solidFill>
                  <a:srgbClr val="7FD99A"/>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Saves text into a file</a:t>
            </a:r>
            <a:endParaRPr lang="en-US" sz="1800" dirty="0"/>
          </a:p>
        </p:txBody>
      </p:sp>
      <p:sp>
        <p:nvSpPr>
          <p:cNvPr id="15" name="Text 13"/>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input() is the one that asks the user</a:t>
            </a:r>
            <a:endParaRPr lang="en-US" sz="1800" dirty="0"/>
          </a:p>
        </p:txBody>
      </p:sp>
      <p:sp>
        <p:nvSpPr>
          <p:cNvPr id="16"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17" name="Shape 15"/>
          <p:cNvSpPr/>
          <p:nvPr/>
        </p:nvSpPr>
        <p:spPr>
          <a:xfrm>
            <a:off x="6464808" y="1801368"/>
            <a:ext cx="384048" cy="384048"/>
          </a:xfrm>
          <a:prstGeom prst="ellipse">
            <a:avLst/>
          </a:prstGeom>
          <a:solidFill>
            <a:srgbClr val="D8A73D"/>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14</a:t>
            </a:r>
            <a:endParaRPr lang="en-US" sz="1800" dirty="0"/>
          </a:p>
        </p:txBody>
      </p:sp>
      <p:sp>
        <p:nvSpPr>
          <p:cNvPr id="31" name="Text 29"/>
          <p:cNvSpPr txBox="1"/>
          <p:nvPr/>
        </p:nvSpPr>
        <p:spPr>
          <a:xfrm>
            <a:off x="9756648" y="2651760"/>
            <a:ext cx="170992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the new value replaces the old one</a:t>
            </a:r>
            <a:endParaRPr lang="en-US" sz="1800" dirty="0"/>
          </a:p>
        </p:txBody>
      </p:sp>
      <p:sp>
        <p:nvSpPr>
          <p:cNvPr id="32"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3" name="Shape 31"/>
          <p:cNvSpPr/>
          <p:nvPr/>
        </p:nvSpPr>
        <p:spPr>
          <a:xfrm>
            <a:off x="777240" y="4224528"/>
            <a:ext cx="384048" cy="384048"/>
          </a:xfrm>
          <a:prstGeom prst="ellipse">
            <a:avLst/>
          </a:prstGeom>
          <a:solidFill>
            <a:srgbClr val="D8A73D"/>
          </a:solidFill>
          <a:ln/>
        </p:spPr>
      </p:sp>
      <p:sp>
        <p:nvSpPr>
          <p:cNvPr id="34" name="Text 32"/>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5" name="Shape 33"/>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6" name="Text 34"/>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37" name="Shape 35"/>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8" name="Text 36"/>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9" name="Text 37"/>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This line crashes. What is missing?</a:t>
            </a:r>
            <a:endParaRPr lang="en-US" sz="2000" dirty="0"/>
          </a:p>
        </p:txBody>
      </p:sp>
      <p:sp>
        <p:nvSpPr>
          <p:cNvPr id="40" name="Shape 38"/>
          <p:cNvSpPr/>
          <p:nvPr/>
        </p:nvSpPr>
        <p:spPr>
          <a:xfrm>
            <a:off x="777240" y="5074920"/>
            <a:ext cx="4956048" cy="484632"/>
          </a:xfrm>
          <a:prstGeom prst="roundRect">
            <a:avLst>
              <a:gd name="adj" fmla="val 11321"/>
            </a:avLst>
          </a:prstGeom>
          <a:solidFill>
            <a:srgbClr val="111115"/>
          </a:solidFill>
          <a:ln/>
        </p:spPr>
      </p:sp>
      <p:sp>
        <p:nvSpPr>
          <p:cNvPr id="41" name="Text 39"/>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2" name="Text 40"/>
          <p:cNvSpPr txBox="1"/>
          <p:nvPr/>
        </p:nvSpPr>
        <p:spPr>
          <a:xfrm>
            <a:off x="777240" y="5632704"/>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alibri" pitchFamily="34" charset="0"/>
                <a:ea typeface="Calibri" pitchFamily="34" charset="-122"/>
                <a:cs typeface="Calibri" pitchFamily="34" charset="-120"/>
              </a:rPr>
              <a:t>A closing quote mark</a:t>
            </a:r>
            <a:pPr indent="0" marL="0">
              <a:buNone/>
            </a:pPr>
            <a:r>
              <a:rPr lang="en-US" sz="1800" dirty="0">
                <a:solidFill>
                  <a:srgbClr val="A9A9B4"/>
                </a:solidFill>
                <a:latin typeface="Consolas" pitchFamily="34" charset="0"/>
                <a:ea typeface="Consolas" pitchFamily="34" charset="-122"/>
                <a:cs typeface="Consolas" pitchFamily="34" charset="-120"/>
              </a:rPr>
              <a:t>   print("Hello")</a:t>
            </a:r>
            <a:endParaRPr lang="en-US" sz="2200" dirty="0"/>
          </a:p>
        </p:txBody>
      </p:sp>
      <p:sp>
        <p:nvSpPr>
          <p:cNvPr id="43"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4" name="Shape 42"/>
          <p:cNvSpPr/>
          <p:nvPr/>
        </p:nvSpPr>
        <p:spPr>
          <a:xfrm>
            <a:off x="6464808" y="4224528"/>
            <a:ext cx="384048" cy="384048"/>
          </a:xfrm>
          <a:prstGeom prst="ellipse">
            <a:avLst/>
          </a:prstGeom>
          <a:solidFill>
            <a:srgbClr val="D8A73D"/>
          </a:solidFill>
          <a:ln/>
        </p:spPr>
      </p:sp>
      <p:sp>
        <p:nvSpPr>
          <p:cNvPr id="45" name="Text 43"/>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6" name="Shape 44"/>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7" name="Text 45"/>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48" name="Shape 46"/>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9" name="Text 47"/>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50" name="Text 48"/>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Write exactly what this prints.</a:t>
            </a:r>
            <a:endParaRPr lang="en-US" sz="2000" dirty="0"/>
          </a:p>
        </p:txBody>
      </p:sp>
      <p:sp>
        <p:nvSpPr>
          <p:cNvPr id="51" name="Shape 49"/>
          <p:cNvSpPr/>
          <p:nvPr/>
        </p:nvSpPr>
        <p:spPr>
          <a:xfrm>
            <a:off x="6464808" y="5074920"/>
            <a:ext cx="4956048" cy="786384"/>
          </a:xfrm>
          <a:prstGeom prst="roundRect">
            <a:avLst>
              <a:gd name="adj" fmla="val 6977"/>
            </a:avLst>
          </a:prstGeom>
          <a:solidFill>
            <a:srgbClr val="111115"/>
          </a:solidFill>
          <a:ln/>
        </p:spPr>
      </p:sp>
      <p:sp>
        <p:nvSpPr>
          <p:cNvPr id="52" name="Text 50"/>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3" name="Text 51"/>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4" name="Text 52"/>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Hi Sam</a:t>
            </a:r>
            <a:pPr indent="0" marL="0">
              <a:buNone/>
            </a:pPr>
            <a:r>
              <a:rPr lang="en-US" sz="1800" dirty="0">
                <a:solidFill>
                  <a:srgbClr val="A9A9B4"/>
                </a:solidFill>
                <a:latin typeface="Calibri" pitchFamily="34" charset="0"/>
                <a:ea typeface="Calibri" pitchFamily="34" charset="-122"/>
                <a:cs typeface="Calibri" pitchFamily="34" charset="-120"/>
              </a:rPr>
              <a:t>   the space is inside the quotes</a:t>
            </a:r>
            <a:endParaRPr lang="en-US" sz="2200" dirty="0"/>
          </a:p>
        </p:txBody>
      </p:sp>
      <p:pic>
        <p:nvPicPr>
          <p:cNvPr id="5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auto · 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5"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6"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7"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8"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9"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10"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11"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2"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POD 2 .......... </a:t>
            </a:r>
            <a:pPr indent="0" marL="0">
              <a:buNone/>
            </a:pPr>
            <a:r>
              <a:rPr lang="en-US" sz="2000" b="1" dirty="0">
                <a:solidFill>
                  <a:srgbClr val="D8A73D"/>
                </a:solidFill>
                <a:latin typeface="Consolas" pitchFamily="34" charset="0"/>
                <a:ea typeface="Consolas" pitchFamily="34" charset="-122"/>
                <a:cs typeface="Consolas" pitchFamily="34" charset="-120"/>
              </a:rPr>
              <a:t>OPEN</a:t>
            </a:r>
            <a:endParaRPr lang="en-US" sz="2000" dirty="0"/>
          </a:p>
        </p:txBody>
      </p:sp>
      <p:sp>
        <p:nvSpPr>
          <p:cNvPr id="13" name="Text 10"/>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5"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6"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7"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8"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9"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10"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3600" dirty="0"/>
          </a:p>
        </p:txBody>
      </p:sp>
      <p:pic>
        <p:nvPicPr>
          <p:cNvPr id="11" name="Image 1" descr="Clarity of learning intentions">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A variable is a named box in memory</a:t>
            </a:r>
            <a:endParaRPr lang="en-US" sz="3600" dirty="0"/>
          </a:p>
        </p:txBody>
      </p:sp>
      <p:sp>
        <p:nvSpPr>
          <p:cNvPr id="5"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6"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7"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8"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9" name="click1"/>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10" name="click1"/>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69F00"/>
                </a:solidFill>
                <a:latin typeface="Consolas" pitchFamily="34" charset="0"/>
                <a:ea typeface="Consolas" pitchFamily="34" charset="-122"/>
                <a:cs typeface="Consolas" pitchFamily="34" charset="-120"/>
              </a:rPr>
              <a:t>"Riley"</a:t>
            </a:r>
            <a:endParaRPr lang="en-US" sz="2600" dirty="0"/>
          </a:p>
        </p:txBody>
      </p:sp>
      <p:sp>
        <p:nvSpPr>
          <p:cNvPr id="11"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"Riley" in a box called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Here = means store, not equals</a:t>
            </a:r>
            <a:endParaRPr lang="en-US" sz="2000" dirty="0"/>
          </a:p>
        </p:txBody>
      </p:sp>
      <p:sp>
        <p:nvSpPr>
          <p:cNvPr id="12"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3"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Nothing on screen: storing is silent</a:t>
            </a:r>
            <a:endParaRPr lang="en-US" sz="1400" dirty="0"/>
          </a:p>
        </p:txBody>
      </p:sp>
      <p:sp>
        <p:nvSpPr>
          <p:cNvPr id="14"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5" name="click3"/>
          <p:cNvSpPr/>
          <p:nvPr/>
        </p:nvSpPr>
        <p:spPr>
          <a:xfrm>
            <a:off x="9738360" y="1965960"/>
            <a:ext cx="1481328" cy="347472"/>
          </a:xfrm>
          <a:prstGeom prst="roundRect">
            <a:avLst>
              <a:gd name="adj" fmla="val 13158"/>
            </a:avLst>
          </a:prstGeom>
          <a:solidFill>
            <a:srgbClr val="E69F00"/>
          </a:solidFill>
          <a:ln/>
        </p:spPr>
      </p:sp>
      <p:sp>
        <p:nvSpPr>
          <p:cNvPr id="16"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7"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8" name="click4"/>
          <p:cNvSpPr/>
          <p:nvPr/>
        </p:nvSpPr>
        <p:spPr>
          <a:xfrm>
            <a:off x="548640" y="3977640"/>
            <a:ext cx="11091672" cy="0"/>
          </a:xfrm>
          <a:prstGeom prst="line">
            <a:avLst/>
          </a:prstGeom>
          <a:noFill/>
          <a:ln w="12700">
            <a:solidFill>
              <a:srgbClr val="3A3A44"/>
            </a:solidFill>
            <a:prstDash val="solid"/>
          </a:ln>
        </p:spPr>
      </p:sp>
      <p:sp>
        <p:nvSpPr>
          <p:cNvPr id="19"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0" name="click4"/>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1" name="click4"/>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2"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Looks</a:t>
            </a:r>
            <a:pPr indent="0" marL="0">
              <a:buNone/>
            </a:pPr>
            <a:r>
              <a:rPr lang="en-US" sz="2000" dirty="0">
                <a:solidFill>
                  <a:srgbClr val="F5F5F3"/>
                </a:solidFill>
                <a:latin typeface="Calibri" pitchFamily="34" charset="0"/>
                <a:ea typeface="Calibri" pitchFamily="34" charset="-122"/>
                <a:cs typeface="Calibri" pitchFamily="34" charset="-120"/>
              </a:rPr>
              <a:t> in the box called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and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what’s inside</a:t>
            </a:r>
            <a:endParaRPr lang="en-US" sz="2000" dirty="0"/>
          </a:p>
        </p:txBody>
      </p:sp>
      <p:sp>
        <p:nvSpPr>
          <p:cNvPr id="23"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4"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Riley</a:t>
            </a:r>
            <a:endParaRPr lang="en-US" sz="2200" dirty="0"/>
          </a:p>
        </p:txBody>
      </p:sp>
      <p:sp>
        <p:nvSpPr>
          <p:cNvPr id="25" name="click6"/>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6" name="click6"/>
          <p:cNvSpPr/>
          <p:nvPr/>
        </p:nvSpPr>
        <p:spPr>
          <a:xfrm>
            <a:off x="9738360" y="4160520"/>
            <a:ext cx="1481328" cy="347472"/>
          </a:xfrm>
          <a:prstGeom prst="roundRect">
            <a:avLst>
              <a:gd name="adj" fmla="val 13158"/>
            </a:avLst>
          </a:prstGeom>
          <a:solidFill>
            <a:srgbClr val="E69F00"/>
          </a:solidFill>
          <a:ln/>
        </p:spPr>
      </p:sp>
      <p:sp>
        <p:nvSpPr>
          <p:cNvPr id="27"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28"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9"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0"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1"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par>
                                <p:cTn id="30" presetID="10" presetClass="entr" presetSubtype="0" fill="hold"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nodeType="with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fade">
                                      <p:cBhvr>
                                        <p:cTn id="60" dur="500"/>
                                        <p:tgtEl>
                                          <p:spTgt spid="23"/>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500"/>
                                        <p:tgtEl>
                                          <p:spTgt spid="24"/>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500"/>
                                        <p:tgtEl>
                                          <p:spTgt spid="25"/>
                                        </p:tgtEl>
                                      </p:cBhvr>
                                    </p:animEffect>
                                  </p:childTnLst>
                                </p:cTn>
                              </p:par>
                              <p:par>
                                <p:cTn id="69" presetID="10" presetClass="entr" presetSubtype="0" fill="hold" nodeType="with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500"/>
                                        <p:tgtEl>
                                          <p:spTgt spid="2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500"/>
                                        <p:tgtEl>
                                          <p:spTgt spid="2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6" grpId="0" animBg="1"/>
      <p:bldP spid="17" grpId="0" animBg="1"/>
      <p:bldP spid="20" grpId="0" animBg="1"/>
      <p:bldP spid="21" grpId="0" animBg="1"/>
      <p:bldP spid="22" grpId="0" animBg="1"/>
      <p:bldP spid="24" grpId="0" animBg="1"/>
      <p:bldP spid="27" grpId="0" animBg="1"/>
      <p:bldP spid="28" grpId="0" animBg="1"/>
      <p:bldP spid="2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input(): the user fills the box</a:t>
            </a:r>
            <a:endParaRPr lang="en-US" sz="3600" dirty="0"/>
          </a:p>
        </p:txBody>
      </p:sp>
      <p:sp>
        <p:nvSpPr>
          <p:cNvPr id="5"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6"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7"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8"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9" name="click1"/>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10" name="click1"/>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11"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2"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3"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4"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5"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6" name="click3"/>
          <p:cNvSpPr/>
          <p:nvPr/>
        </p:nvSpPr>
        <p:spPr>
          <a:xfrm>
            <a:off x="9738360" y="1965960"/>
            <a:ext cx="1481328" cy="347472"/>
          </a:xfrm>
          <a:prstGeom prst="roundRect">
            <a:avLst>
              <a:gd name="adj" fmla="val 13158"/>
            </a:avLst>
          </a:prstGeom>
          <a:solidFill>
            <a:srgbClr val="E69F00"/>
          </a:solidFill>
          <a:ln/>
        </p:spPr>
      </p:sp>
      <p:sp>
        <p:nvSpPr>
          <p:cNvPr id="17"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8"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9" name="click4"/>
          <p:cNvSpPr/>
          <p:nvPr/>
        </p:nvSpPr>
        <p:spPr>
          <a:xfrm>
            <a:off x="548640" y="3977640"/>
            <a:ext cx="11091672" cy="0"/>
          </a:xfrm>
          <a:prstGeom prst="line">
            <a:avLst/>
          </a:prstGeom>
          <a:noFill/>
          <a:ln w="12700">
            <a:solidFill>
              <a:srgbClr val="3A3A44"/>
            </a:solidFill>
            <a:prstDash val="solid"/>
          </a:ln>
        </p:spPr>
      </p:sp>
      <p:sp>
        <p:nvSpPr>
          <p:cNvPr id="20"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1" name="click4"/>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2" name="click4"/>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3"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4"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5"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6" name="click5"/>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7" name="click6"/>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8" name="click6"/>
          <p:cNvSpPr/>
          <p:nvPr/>
        </p:nvSpPr>
        <p:spPr>
          <a:xfrm>
            <a:off x="9738360" y="4160520"/>
            <a:ext cx="1481328" cy="347472"/>
          </a:xfrm>
          <a:prstGeom prst="roundRect">
            <a:avLst>
              <a:gd name="adj" fmla="val 13158"/>
            </a:avLst>
          </a:prstGeom>
          <a:solidFill>
            <a:srgbClr val="E69F00"/>
          </a:solidFill>
          <a:ln/>
        </p:spPr>
      </p:sp>
      <p:sp>
        <p:nvSpPr>
          <p:cNvPr id="29"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30"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31"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2"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par>
                                <p:cTn id="33" presetID="10"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childTnLst>
                                </p:cTn>
                              </p:par>
                              <p:par>
                                <p:cTn id="47" presetID="10" presetClass="entr" presetSubtype="0" fill="hold"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500"/>
                                        <p:tgtEl>
                                          <p:spTgt spid="2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500"/>
                                        <p:tgtEl>
                                          <p:spTgt spid="24"/>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fade">
                                      <p:cBhvr>
                                        <p:cTn id="66" dur="500"/>
                                        <p:tgtEl>
                                          <p:spTgt spid="2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fade">
                                      <p:cBhvr>
                                        <p:cTn id="69" dur="500"/>
                                        <p:tgtEl>
                                          <p:spTgt spid="26"/>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500"/>
                                        <p:tgtEl>
                                          <p:spTgt spid="27"/>
                                        </p:tgtEl>
                                      </p:cBhvr>
                                    </p:animEffect>
                                  </p:childTnLst>
                                </p:cTn>
                              </p:par>
                              <p:par>
                                <p:cTn id="75" presetID="10" presetClass="entr" presetSubtype="0" fill="hold" nodeType="with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500"/>
                                        <p:tgtEl>
                                          <p:spTgt spid="2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500"/>
                                        <p:tgtEl>
                                          <p:spTgt spid="30"/>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7" grpId="0" animBg="1"/>
      <p:bldP spid="18" grpId="0" animBg="1"/>
      <p:bldP spid="21" grpId="0" animBg="1"/>
      <p:bldP spid="22" grpId="0" animBg="1"/>
      <p:bldP spid="23" grpId="0" animBg="1"/>
      <p:bldP spid="25" grpId="0" animBg="1"/>
      <p:bldP spid="26" grpId="0" animBg="1"/>
      <p:bldP spid="29" grpId="0" animBg="1"/>
      <p:bldP spid="30" grpId="0" animBg="1"/>
      <p:bldP spid="3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5" name="Text 2"/>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Shape 3"/>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7" name="Shape 4"/>
          <p:cNvSpPr/>
          <p:nvPr/>
        </p:nvSpPr>
        <p:spPr>
          <a:xfrm>
            <a:off x="685800" y="1965960"/>
            <a:ext cx="1481328" cy="347472"/>
          </a:xfrm>
          <a:prstGeom prst="roundRect">
            <a:avLst>
              <a:gd name="adj" fmla="val 13158"/>
            </a:avLst>
          </a:prstGeom>
          <a:solidFill>
            <a:srgbClr val="E69F00"/>
          </a:solidFill>
          <a:ln/>
        </p:spPr>
      </p:sp>
      <p:sp>
        <p:nvSpPr>
          <p:cNvPr id="8" name="Text 5"/>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9" name="Text 6"/>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0"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11" name="Text 8"/>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Shape 9"/>
          <p:cNvSpPr/>
          <p:nvPr/>
        </p:nvSpPr>
        <p:spPr>
          <a:xfrm>
            <a:off x="4251960" y="3858768"/>
            <a:ext cx="640080" cy="0"/>
          </a:xfrm>
          <a:prstGeom prst="line">
            <a:avLst/>
          </a:prstGeom>
          <a:noFill/>
          <a:ln w="28575">
            <a:solidFill>
              <a:srgbClr val="A9A9B4"/>
            </a:solidFill>
            <a:prstDash val="solid"/>
            <a:tailEnd type="triangle"/>
          </a:ln>
        </p:spPr>
      </p:sp>
      <p:sp>
        <p:nvSpPr>
          <p:cNvPr id="13"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4" name="Text 11"/>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5" name="Text 12"/>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6"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7" name="Text 14"/>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Shape 15"/>
          <p:cNvSpPr/>
          <p:nvPr/>
        </p:nvSpPr>
        <p:spPr>
          <a:xfrm>
            <a:off x="4251960" y="5093208"/>
            <a:ext cx="640080" cy="0"/>
          </a:xfrm>
          <a:prstGeom prst="line">
            <a:avLst/>
          </a:prstGeom>
          <a:noFill/>
          <a:ln w="28575">
            <a:solidFill>
              <a:srgbClr val="A9A9B4"/>
            </a:solidFill>
            <a:prstDash val="solid"/>
            <a:tailEnd type="triangle"/>
          </a:ln>
        </p:spPr>
      </p:sp>
      <p:sp>
        <p:nvSpPr>
          <p:cNvPr id="19"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20" name="Text 17"/>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1" name="Text 18"/>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2"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txBox="1"/>
          <p:nvPr/>
        </p:nvSpPr>
        <p:spPr>
          <a:xfrm>
            <a:off x="548640" y="548640"/>
            <a:ext cx="73152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THE STORY SO FAR</a:t>
            </a:r>
            <a:endParaRPr lang="en-US" sz="1400" dirty="0"/>
          </a:p>
        </p:txBody>
      </p:sp>
      <p:sp>
        <p:nvSpPr>
          <p:cNvPr id="5" name="Text 2"/>
          <p:cNvSpPr txBox="1"/>
          <p:nvPr/>
        </p:nvSpPr>
        <p:spPr>
          <a:xfrm>
            <a:off x="548640" y="914400"/>
            <a:ext cx="91440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6" name="terminal"/>
          <p:cNvSpPr/>
          <p:nvPr/>
        </p:nvSpPr>
        <p:spPr>
          <a:xfrm>
            <a:off x="548640" y="2148840"/>
            <a:ext cx="11091672" cy="3063240"/>
          </a:xfrm>
          <a:prstGeom prst="roundRect">
            <a:avLst>
              <a:gd name="adj" fmla="val 2388"/>
            </a:avLst>
          </a:prstGeom>
          <a:solidFill>
            <a:srgbClr val="0D1310"/>
          </a:solidFill>
          <a:ln w="15875">
            <a:solidFill>
              <a:srgbClr val="2C4434"/>
            </a:solidFill>
            <a:prstDash val="solid"/>
          </a:ln>
        </p:spPr>
      </p:sp>
      <p:sp>
        <p:nvSpPr>
          <p:cNvPr id="7" name="Text 4"/>
          <p:cNvSpPr txBox="1"/>
          <p:nvPr/>
        </p:nvSpPr>
        <p:spPr>
          <a:xfrm>
            <a:off x="777240" y="2331720"/>
            <a:ext cx="10634472"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8" name="Text 5"/>
          <p:cNvSpPr txBox="1"/>
          <p:nvPr/>
        </p:nvSpPr>
        <p:spPr>
          <a:xfrm>
            <a:off x="777240" y="26974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A solar storm has wiped the station’s software.</a:t>
            </a:r>
            <a:endParaRPr lang="en-US" sz="2600" dirty="0"/>
          </a:p>
        </p:txBody>
      </p:sp>
      <p:sp>
        <p:nvSpPr>
          <p:cNvPr id="9" name="Text 6"/>
          <p:cNvSpPr txBox="1"/>
          <p:nvPr/>
        </p:nvSpPr>
        <p:spPr>
          <a:xfrm>
            <a:off x="777240" y="3154680"/>
            <a:ext cx="10634472" cy="457200"/>
          </a:xfrm>
          <a:prstGeom prst="rect">
            <a:avLst/>
          </a:prstGeom>
          <a:noFill/>
          <a:ln/>
        </p:spPr>
        <p:txBody>
          <a:bodyPr wrap="square" lIns="0" tIns="0" rIns="0" bIns="0" rtlCol="0" anchor="ctr"/>
          <a:lstStyle/>
          <a:p>
            <a:pPr indent="0" marL="0">
              <a:buNone/>
            </a:pPr>
            <a:endParaRPr lang="en-US" sz="2600" dirty="0"/>
          </a:p>
        </p:txBody>
      </p:sp>
      <p:sp>
        <p:nvSpPr>
          <p:cNvPr id="10" name="Text 7"/>
          <p:cNvSpPr txBox="1"/>
          <p:nvPr/>
        </p:nvSpPr>
        <p:spPr>
          <a:xfrm>
            <a:off x="777240" y="36118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You woke up alone. The crew are still frozen.</a:t>
            </a:r>
            <a:endParaRPr lang="en-US" sz="2600" dirty="0"/>
          </a:p>
        </p:txBody>
      </p:sp>
      <p:sp>
        <p:nvSpPr>
          <p:cNvPr id="11" name="Text 8"/>
          <p:cNvSpPr txBox="1"/>
          <p:nvPr/>
        </p:nvSpPr>
        <p:spPr>
          <a:xfrm>
            <a:off x="777240" y="4069080"/>
            <a:ext cx="10634472" cy="457200"/>
          </a:xfrm>
          <a:prstGeom prst="rect">
            <a:avLst/>
          </a:prstGeom>
          <a:noFill/>
          <a:ln/>
        </p:spPr>
        <p:txBody>
          <a:bodyPr wrap="square" lIns="0" tIns="0" rIns="0" bIns="0" rtlCol="0" anchor="ctr"/>
          <a:lstStyle/>
          <a:p>
            <a:pPr indent="0" marL="0">
              <a:buNone/>
            </a:pPr>
            <a:endParaRPr lang="en-US" sz="2600" dirty="0"/>
          </a:p>
        </p:txBody>
      </p:sp>
      <p:sp>
        <p:nvSpPr>
          <p:cNvPr id="12" name="Text 9"/>
          <p:cNvSpPr txBox="1"/>
          <p:nvPr/>
        </p:nvSpPr>
        <p:spPr>
          <a:xfrm>
            <a:off x="777240" y="45262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Every door is sealed.</a:t>
            </a:r>
            <a:endParaRPr lang="en-US" sz="2600" dirty="0"/>
          </a:p>
        </p:txBody>
      </p:sp>
      <p:pic>
        <p:nvPicPr>
          <p:cNvPr id="1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5"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6"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7"/>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1" name="Text 8"/>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3"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4" name="Shape 11"/>
          <p:cNvSpPr/>
          <p:nvPr/>
        </p:nvSpPr>
        <p:spPr>
          <a:xfrm>
            <a:off x="7909560" y="1600200"/>
            <a:ext cx="3730752" cy="1947672"/>
          </a:xfrm>
          <a:prstGeom prst="roundRect">
            <a:avLst>
              <a:gd name="adj" fmla="val 3756"/>
            </a:avLst>
          </a:prstGeom>
          <a:solidFill>
            <a:srgbClr val="2A2A32"/>
          </a:solidFill>
          <a:ln/>
        </p:spPr>
      </p:sp>
      <p:sp>
        <p:nvSpPr>
          <p:cNvPr id="15" name="Text 12"/>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6" name="Text 13"/>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7" name="Text 14"/>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8" name="Shape 15"/>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19" name="Text 16"/>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20" name="Shape 1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21" name="Text 1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2"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what it prints</a:t>
            </a:r>
            <a:endParaRPr lang="en-US" sz="3600" dirty="0"/>
          </a:p>
        </p:txBody>
      </p:sp>
      <p:sp>
        <p:nvSpPr>
          <p:cNvPr id="5"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6"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7"/>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1" name="Text 8"/>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Shape 9"/>
          <p:cNvSpPr/>
          <p:nvPr/>
        </p:nvSpPr>
        <p:spPr>
          <a:xfrm>
            <a:off x="603504" y="3184398"/>
            <a:ext cx="6931152" cy="461010"/>
          </a:xfrm>
          <a:prstGeom prst="rect">
            <a:avLst/>
          </a:prstGeom>
          <a:solidFill>
            <a:srgbClr val="2B2618"/>
          </a:solidFill>
          <a:ln/>
        </p:spPr>
      </p:sp>
      <p:sp>
        <p:nvSpPr>
          <p:cNvPr id="13" name="Text 10"/>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4" name="Text 11"/>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terminal"/>
          <p:cNvSpPr/>
          <p:nvPr/>
        </p:nvSpPr>
        <p:spPr>
          <a:xfrm>
            <a:off x="7909560" y="1600200"/>
            <a:ext cx="3730752" cy="2402840"/>
          </a:xfrm>
          <a:prstGeom prst="roundRect">
            <a:avLst>
              <a:gd name="adj" fmla="val 3044"/>
            </a:avLst>
          </a:prstGeom>
          <a:solidFill>
            <a:srgbClr val="0A0A0D"/>
          </a:solidFill>
          <a:ln w="15875">
            <a:solidFill>
              <a:srgbClr val="3A3A44"/>
            </a:solidFill>
            <a:prstDash val="solid"/>
          </a:ln>
        </p:spPr>
      </p:sp>
      <p:sp>
        <p:nvSpPr>
          <p:cNvPr id="16" name="Text 13"/>
          <p:cNvSpPr txBox="1"/>
          <p:nvPr/>
        </p:nvSpPr>
        <p:spPr>
          <a:xfrm>
            <a:off x="8138160" y="1783080"/>
            <a:ext cx="327355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OUTPUT</a:t>
            </a:r>
            <a:endParaRPr lang="en-US" sz="1200" dirty="0"/>
          </a:p>
        </p:txBody>
      </p:sp>
      <p:sp>
        <p:nvSpPr>
          <p:cNvPr id="17" name="Text 14"/>
          <p:cNvSpPr txBox="1"/>
          <p:nvPr/>
        </p:nvSpPr>
        <p:spPr>
          <a:xfrm>
            <a:off x="8138160" y="21488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room? </a:t>
            </a:r>
            <a:pPr indent="0" marL="0">
              <a:buNone/>
            </a:pPr>
            <a:r>
              <a:rPr lang="en-US" sz="2000" dirty="0">
                <a:solidFill>
                  <a:srgbClr val="E69F00"/>
                </a:solidFill>
                <a:latin typeface="Consolas" pitchFamily="34" charset="0"/>
                <a:ea typeface="Consolas" pitchFamily="34" charset="-122"/>
                <a:cs typeface="Consolas" pitchFamily="34" charset="-120"/>
              </a:rPr>
              <a:t>Medbay</a:t>
            </a:r>
            <a:endParaRPr lang="en-US" sz="2000" dirty="0"/>
          </a:p>
        </p:txBody>
      </p:sp>
      <p:sp>
        <p:nvSpPr>
          <p:cNvPr id="18" name="Text 15"/>
          <p:cNvSpPr txBox="1"/>
          <p:nvPr/>
        </p:nvSpPr>
        <p:spPr>
          <a:xfrm>
            <a:off x="8138160" y="25552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level? </a:t>
            </a:r>
            <a:pPr indent="0" marL="0">
              <a:buNone/>
            </a:pPr>
            <a:r>
              <a:rPr lang="en-US" sz="2000" dirty="0">
                <a:solidFill>
                  <a:srgbClr val="E69F00"/>
                </a:solidFill>
                <a:latin typeface="Consolas" pitchFamily="34" charset="0"/>
                <a:ea typeface="Consolas" pitchFamily="34" charset="-122"/>
                <a:cs typeface="Consolas" pitchFamily="34" charset="-120"/>
              </a:rPr>
              <a:t>3</a:t>
            </a:r>
            <a:endParaRPr lang="en-US" sz="2000" dirty="0"/>
          </a:p>
        </p:txBody>
      </p:sp>
      <p:sp>
        <p:nvSpPr>
          <p:cNvPr id="19" name="Text 16"/>
          <p:cNvSpPr txBox="1"/>
          <p:nvPr/>
        </p:nvSpPr>
        <p:spPr>
          <a:xfrm>
            <a:off x="8138160" y="29616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Scanning...</a:t>
            </a:r>
            <a:endParaRPr lang="en-US" sz="2000" dirty="0"/>
          </a:p>
        </p:txBody>
      </p:sp>
      <p:sp>
        <p:nvSpPr>
          <p:cNvPr id="20" name="Text 17"/>
          <p:cNvSpPr txBox="1"/>
          <p:nvPr/>
        </p:nvSpPr>
        <p:spPr>
          <a:xfrm>
            <a:off x="8138160" y="3368040"/>
            <a:ext cx="3273552" cy="406400"/>
          </a:xfrm>
          <a:prstGeom prst="rect">
            <a:avLst/>
          </a:prstGeom>
          <a:noFill/>
          <a:ln/>
        </p:spPr>
        <p:txBody>
          <a:bodyPr wrap="square" lIns="0" tIns="0" rIns="0" bIns="0" rtlCol="0" anchor="ctr"/>
          <a:lstStyle/>
          <a:p>
            <a:pPr indent="0" marL="0">
              <a:buNone/>
            </a:pPr>
            <a:r>
              <a:rPr lang="en-US" sz="2000" b="1" dirty="0">
                <a:solidFill>
                  <a:srgbClr val="D8A73D"/>
                </a:solidFill>
                <a:latin typeface="Consolas" pitchFamily="34" charset="0"/>
                <a:ea typeface="Consolas" pitchFamily="34" charset="-122"/>
                <a:cs typeface="Consolas" pitchFamily="34" charset="-120"/>
              </a:rPr>
              <a:t>Medbay on level 3</a:t>
            </a:r>
            <a:endParaRPr lang="en-US" sz="2000" dirty="0"/>
          </a:p>
        </p:txBody>
      </p:sp>
      <p:sp>
        <p:nvSpPr>
          <p:cNvPr id="21" name="Shape 18"/>
          <p:cNvSpPr/>
          <p:nvPr/>
        </p:nvSpPr>
        <p:spPr>
          <a:xfrm>
            <a:off x="548640" y="4206240"/>
            <a:ext cx="5394960" cy="1508760"/>
          </a:xfrm>
          <a:prstGeom prst="roundRect">
            <a:avLst>
              <a:gd name="adj" fmla="val 4848"/>
            </a:avLst>
          </a:prstGeom>
          <a:solidFill>
            <a:srgbClr val="2A2A32"/>
          </a:solidFill>
          <a:ln/>
        </p:spPr>
      </p:sp>
      <p:sp>
        <p:nvSpPr>
          <p:cNvPr id="22" name="Text 19"/>
          <p:cNvSpPr txBox="1"/>
          <p:nvPr/>
        </p:nvSpPr>
        <p:spPr>
          <a:xfrm>
            <a:off x="822960"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FF6B6B"/>
                </a:solidFill>
                <a:latin typeface="Consolas" pitchFamily="34" charset="0"/>
                <a:ea typeface="Consolas" pitchFamily="34" charset="-122"/>
                <a:cs typeface="Consolas" pitchFamily="34" charset="-120"/>
              </a:rPr>
              <a:t>✗  room on level level</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No quotes → Python prints what’s stored, not the name</a:t>
            </a:r>
            <a:endParaRPr lang="en-US" sz="2000" dirty="0"/>
          </a:p>
        </p:txBody>
      </p:sp>
      <p:sp>
        <p:nvSpPr>
          <p:cNvPr id="23" name="Shape 20"/>
          <p:cNvSpPr/>
          <p:nvPr/>
        </p:nvSpPr>
        <p:spPr>
          <a:xfrm>
            <a:off x="6245352" y="4206240"/>
            <a:ext cx="5394960" cy="1508760"/>
          </a:xfrm>
          <a:prstGeom prst="roundRect">
            <a:avLst>
              <a:gd name="adj" fmla="val 4848"/>
            </a:avLst>
          </a:prstGeom>
          <a:solidFill>
            <a:srgbClr val="2A2A32"/>
          </a:solidFill>
          <a:ln/>
        </p:spPr>
      </p:sp>
      <p:sp>
        <p:nvSpPr>
          <p:cNvPr id="24" name="Text 21"/>
          <p:cNvSpPr txBox="1"/>
          <p:nvPr/>
        </p:nvSpPr>
        <p:spPr>
          <a:xfrm>
            <a:off x="6519672"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E69F00"/>
                </a:solidFill>
                <a:latin typeface="Consolas" pitchFamily="34" charset="0"/>
                <a:ea typeface="Consolas" pitchFamily="34" charset="-122"/>
                <a:cs typeface="Consolas" pitchFamily="34" charset="-120"/>
              </a:rPr>
              <a:t>" on level "</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The spaces come from inside the quotes</a:t>
            </a:r>
            <a:endParaRPr lang="en-US" sz="2000" dirty="0"/>
          </a:p>
        </p:txBody>
      </p:sp>
      <p:pic>
        <p:nvPicPr>
          <p:cNvPr id="25"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2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Debugging recipe</a:t>
            </a:r>
            <a:endParaRPr lang="en-US" sz="3600" dirty="0"/>
          </a:p>
        </p:txBody>
      </p:sp>
      <p:sp>
        <p:nvSpPr>
          <p:cNvPr id="5" name="terminal"/>
          <p:cNvSpPr/>
          <p:nvPr/>
        </p:nvSpPr>
        <p:spPr>
          <a:xfrm>
            <a:off x="548640" y="1554480"/>
            <a:ext cx="8503920" cy="2402840"/>
          </a:xfrm>
          <a:prstGeom prst="roundRect">
            <a:avLst>
              <a:gd name="adj" fmla="val 3044"/>
            </a:avLst>
          </a:prstGeom>
          <a:solidFill>
            <a:srgbClr val="0A0A0D"/>
          </a:solidFill>
          <a:ln w="15875">
            <a:solidFill>
              <a:srgbClr val="3A3A44"/>
            </a:solidFill>
            <a:prstDash val="solid"/>
          </a:ln>
        </p:spPr>
      </p:sp>
      <p:sp>
        <p:nvSpPr>
          <p:cNvPr id="6" name="Text 3"/>
          <p:cNvSpPr txBox="1"/>
          <p:nvPr/>
        </p:nvSpPr>
        <p:spPr>
          <a:xfrm>
            <a:off x="777240" y="1737360"/>
            <a:ext cx="8046720"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MESSAGE</a:t>
            </a:r>
            <a:endParaRPr lang="en-US" sz="1200" dirty="0"/>
          </a:p>
        </p:txBody>
      </p:sp>
      <p:sp>
        <p:nvSpPr>
          <p:cNvPr id="7" name="Text 4"/>
          <p:cNvSpPr txBox="1"/>
          <p:nvPr/>
        </p:nvSpPr>
        <p:spPr>
          <a:xfrm>
            <a:off x="777240" y="21031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File "main.py", line 3</a:t>
            </a:r>
            <a:endParaRPr lang="en-US" sz="2000" dirty="0"/>
          </a:p>
        </p:txBody>
      </p:sp>
      <p:sp>
        <p:nvSpPr>
          <p:cNvPr id="8" name="Text 5"/>
          <p:cNvSpPr txBox="1"/>
          <p:nvPr/>
        </p:nvSpPr>
        <p:spPr>
          <a:xfrm>
            <a:off x="777240" y="25095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print("Scanning...)</a:t>
            </a:r>
            <a:endParaRPr lang="en-US" sz="2000" dirty="0"/>
          </a:p>
        </p:txBody>
      </p:sp>
      <p:sp>
        <p:nvSpPr>
          <p:cNvPr id="9" name="Text 6"/>
          <p:cNvSpPr txBox="1"/>
          <p:nvPr/>
        </p:nvSpPr>
        <p:spPr>
          <a:xfrm>
            <a:off x="777240" y="29159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endParaRPr lang="en-US" sz="2000" dirty="0"/>
          </a:p>
        </p:txBody>
      </p:sp>
      <p:sp>
        <p:nvSpPr>
          <p:cNvPr id="10" name="Text 7"/>
          <p:cNvSpPr txBox="1"/>
          <p:nvPr/>
        </p:nvSpPr>
        <p:spPr>
          <a:xfrm>
            <a:off x="777240" y="3322320"/>
            <a:ext cx="8046720" cy="406400"/>
          </a:xfrm>
          <a:prstGeom prst="rect">
            <a:avLst/>
          </a:prstGeom>
          <a:noFill/>
          <a:ln/>
        </p:spPr>
        <p:txBody>
          <a:bodyPr wrap="square" lIns="0" tIns="0" rIns="0" bIns="0" rtlCol="0" anchor="ctr"/>
          <a:lstStyle/>
          <a:p>
            <a:pPr indent="0" marL="0">
              <a:buNone/>
            </a:pPr>
            <a:r>
              <a:rPr lang="en-US" sz="2000" b="1" dirty="0">
                <a:solidFill>
                  <a:srgbClr val="FF6B6B"/>
                </a:solidFill>
                <a:latin typeface="Consolas" pitchFamily="34" charset="0"/>
                <a:ea typeface="Consolas" pitchFamily="34" charset="-122"/>
                <a:cs typeface="Consolas" pitchFamily="34" charset="-120"/>
              </a:rPr>
              <a:t>SyntaxError: </a:t>
            </a:r>
            <a:pPr indent="0" marL="0">
              <a:buNone/>
            </a:pPr>
            <a:r>
              <a:rPr lang="en-US" sz="2000" dirty="0">
                <a:solidFill>
                  <a:srgbClr val="FF6B6B"/>
                </a:solidFill>
                <a:latin typeface="Consolas" pitchFamily="34" charset="0"/>
                <a:ea typeface="Consolas" pitchFamily="34" charset="-122"/>
                <a:cs typeface="Consolas" pitchFamily="34" charset="-120"/>
              </a:rPr>
              <a:t>unterminated string literal</a:t>
            </a:r>
            <a:endParaRPr lang="en-US" sz="2000" dirty="0"/>
          </a:p>
        </p:txBody>
      </p:sp>
      <p:sp>
        <p:nvSpPr>
          <p:cNvPr id="11" name="Shape 8"/>
          <p:cNvSpPr/>
          <p:nvPr/>
        </p:nvSpPr>
        <p:spPr>
          <a:xfrm>
            <a:off x="6733540" y="3306064"/>
            <a:ext cx="438912" cy="438912"/>
          </a:xfrm>
          <a:prstGeom prst="ellipse">
            <a:avLst/>
          </a:prstGeom>
          <a:solidFill>
            <a:srgbClr val="D8A73D"/>
          </a:solidFill>
          <a:ln/>
        </p:spPr>
      </p:sp>
      <p:sp>
        <p:nvSpPr>
          <p:cNvPr id="12" name="Text 9"/>
          <p:cNvSpPr txBox="1"/>
          <p:nvPr/>
        </p:nvSpPr>
        <p:spPr>
          <a:xfrm>
            <a:off x="6733540" y="33060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3" name="Shape 10"/>
          <p:cNvSpPr/>
          <p:nvPr/>
        </p:nvSpPr>
        <p:spPr>
          <a:xfrm>
            <a:off x="4358640" y="2086864"/>
            <a:ext cx="438912" cy="438912"/>
          </a:xfrm>
          <a:prstGeom prst="ellipse">
            <a:avLst/>
          </a:prstGeom>
          <a:solidFill>
            <a:srgbClr val="D8A73D"/>
          </a:solidFill>
          <a:ln/>
        </p:spPr>
      </p:sp>
      <p:sp>
        <p:nvSpPr>
          <p:cNvPr id="14" name="Text 11"/>
          <p:cNvSpPr txBox="1"/>
          <p:nvPr/>
        </p:nvSpPr>
        <p:spPr>
          <a:xfrm>
            <a:off x="4358640" y="20868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5" name="Shape 12"/>
          <p:cNvSpPr/>
          <p:nvPr/>
        </p:nvSpPr>
        <p:spPr>
          <a:xfrm>
            <a:off x="4218940" y="2493264"/>
            <a:ext cx="438912" cy="438912"/>
          </a:xfrm>
          <a:prstGeom prst="ellipse">
            <a:avLst/>
          </a:prstGeom>
          <a:solidFill>
            <a:srgbClr val="D8A73D"/>
          </a:solidFill>
          <a:ln/>
        </p:spPr>
      </p:sp>
      <p:sp>
        <p:nvSpPr>
          <p:cNvPr id="16" name="Text 13"/>
          <p:cNvSpPr txBox="1"/>
          <p:nvPr/>
        </p:nvSpPr>
        <p:spPr>
          <a:xfrm>
            <a:off x="4218940" y="24932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7" name="Shape 14"/>
          <p:cNvSpPr/>
          <p:nvPr/>
        </p:nvSpPr>
        <p:spPr>
          <a:xfrm>
            <a:off x="548640" y="3977640"/>
            <a:ext cx="2633472" cy="2011680"/>
          </a:xfrm>
          <a:prstGeom prst="roundRect">
            <a:avLst>
              <a:gd name="adj" fmla="val 3636"/>
            </a:avLst>
          </a:prstGeom>
          <a:solidFill>
            <a:srgbClr val="2A2A32"/>
          </a:solidFill>
          <a:ln/>
        </p:spPr>
      </p:sp>
      <p:sp>
        <p:nvSpPr>
          <p:cNvPr id="18" name="Shape 15"/>
          <p:cNvSpPr/>
          <p:nvPr/>
        </p:nvSpPr>
        <p:spPr>
          <a:xfrm>
            <a:off x="749808" y="4206240"/>
            <a:ext cx="438912" cy="438912"/>
          </a:xfrm>
          <a:prstGeom prst="ellipse">
            <a:avLst/>
          </a:prstGeom>
          <a:solidFill>
            <a:srgbClr val="D8A73D"/>
          </a:solidFill>
          <a:ln/>
        </p:spPr>
      </p:sp>
      <p:sp>
        <p:nvSpPr>
          <p:cNvPr id="19" name="Text 16"/>
          <p:cNvSpPr txBox="1"/>
          <p:nvPr/>
        </p:nvSpPr>
        <p:spPr>
          <a:xfrm>
            <a:off x="749808"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20" name="Text 17"/>
          <p:cNvSpPr txBox="1"/>
          <p:nvPr/>
        </p:nvSpPr>
        <p:spPr>
          <a:xfrm>
            <a:off x="749808"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the last line</a:t>
            </a:r>
            <a:endParaRPr lang="en-US" sz="2000" dirty="0"/>
          </a:p>
        </p:txBody>
      </p:sp>
      <p:sp>
        <p:nvSpPr>
          <p:cNvPr id="21" name="Text 18"/>
          <p:cNvSpPr txBox="1"/>
          <p:nvPr/>
        </p:nvSpPr>
        <p:spPr>
          <a:xfrm>
            <a:off x="749808"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What kind of error?</a:t>
            </a:r>
            <a:endParaRPr lang="en-US" sz="1800" dirty="0"/>
          </a:p>
        </p:txBody>
      </p:sp>
      <p:sp>
        <p:nvSpPr>
          <p:cNvPr id="22" name="Shape 19"/>
          <p:cNvSpPr/>
          <p:nvPr/>
        </p:nvSpPr>
        <p:spPr>
          <a:xfrm>
            <a:off x="3364992" y="3977640"/>
            <a:ext cx="2633472" cy="2011680"/>
          </a:xfrm>
          <a:prstGeom prst="roundRect">
            <a:avLst>
              <a:gd name="adj" fmla="val 3636"/>
            </a:avLst>
          </a:prstGeom>
          <a:solidFill>
            <a:srgbClr val="2A2A32"/>
          </a:solidFill>
          <a:ln/>
        </p:spPr>
      </p:sp>
      <p:sp>
        <p:nvSpPr>
          <p:cNvPr id="23" name="Shape 20"/>
          <p:cNvSpPr/>
          <p:nvPr/>
        </p:nvSpPr>
        <p:spPr>
          <a:xfrm>
            <a:off x="3566160" y="4206240"/>
            <a:ext cx="438912" cy="438912"/>
          </a:xfrm>
          <a:prstGeom prst="ellipse">
            <a:avLst/>
          </a:prstGeom>
          <a:solidFill>
            <a:srgbClr val="D8A73D"/>
          </a:solidFill>
          <a:ln/>
        </p:spPr>
      </p:sp>
      <p:sp>
        <p:nvSpPr>
          <p:cNvPr id="24" name="Text 21"/>
          <p:cNvSpPr txBox="1"/>
          <p:nvPr/>
        </p:nvSpPr>
        <p:spPr>
          <a:xfrm>
            <a:off x="3566160"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25" name="Text 22"/>
          <p:cNvSpPr txBox="1"/>
          <p:nvPr/>
        </p:nvSpPr>
        <p:spPr>
          <a:xfrm>
            <a:off x="3566160"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Find the line number</a:t>
            </a:r>
            <a:endParaRPr lang="en-US" sz="2000" dirty="0"/>
          </a:p>
        </p:txBody>
      </p:sp>
      <p:sp>
        <p:nvSpPr>
          <p:cNvPr id="26" name="Text 23"/>
          <p:cNvSpPr txBox="1"/>
          <p:nvPr/>
        </p:nvSpPr>
        <p:spPr>
          <a:xfrm>
            <a:off x="3566160"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Where is it?</a:t>
            </a:r>
            <a:endParaRPr lang="en-US" sz="1800" dirty="0"/>
          </a:p>
        </p:txBody>
      </p:sp>
      <p:sp>
        <p:nvSpPr>
          <p:cNvPr id="27" name="Shape 24"/>
          <p:cNvSpPr/>
          <p:nvPr/>
        </p:nvSpPr>
        <p:spPr>
          <a:xfrm>
            <a:off x="6181344" y="3977640"/>
            <a:ext cx="2633472" cy="2011680"/>
          </a:xfrm>
          <a:prstGeom prst="roundRect">
            <a:avLst>
              <a:gd name="adj" fmla="val 3636"/>
            </a:avLst>
          </a:prstGeom>
          <a:solidFill>
            <a:srgbClr val="2A2A32"/>
          </a:solidFill>
          <a:ln/>
        </p:spPr>
      </p:sp>
      <p:sp>
        <p:nvSpPr>
          <p:cNvPr id="28" name="Shape 25"/>
          <p:cNvSpPr/>
          <p:nvPr/>
        </p:nvSpPr>
        <p:spPr>
          <a:xfrm>
            <a:off x="6382512" y="4206240"/>
            <a:ext cx="438912" cy="438912"/>
          </a:xfrm>
          <a:prstGeom prst="ellipse">
            <a:avLst/>
          </a:prstGeom>
          <a:solidFill>
            <a:srgbClr val="D8A73D"/>
          </a:solidFill>
          <a:ln/>
        </p:spPr>
      </p:sp>
      <p:sp>
        <p:nvSpPr>
          <p:cNvPr id="29" name="Text 26"/>
          <p:cNvSpPr txBox="1"/>
          <p:nvPr/>
        </p:nvSpPr>
        <p:spPr>
          <a:xfrm>
            <a:off x="6382512"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30" name="Text 27"/>
          <p:cNvSpPr txBox="1"/>
          <p:nvPr/>
        </p:nvSpPr>
        <p:spPr>
          <a:xfrm>
            <a:off x="6382512"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that line aloud</a:t>
            </a:r>
            <a:endParaRPr lang="en-US" sz="2000" dirty="0"/>
          </a:p>
        </p:txBody>
      </p:sp>
      <p:sp>
        <p:nvSpPr>
          <p:cNvPr id="31" name="Text 28"/>
          <p:cNvSpPr txBox="1"/>
          <p:nvPr/>
        </p:nvSpPr>
        <p:spPr>
          <a:xfrm>
            <a:off x="6382512"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Quote by quote</a:t>
            </a:r>
            <a:endParaRPr lang="en-US" sz="1800" dirty="0"/>
          </a:p>
        </p:txBody>
      </p:sp>
      <p:sp>
        <p:nvSpPr>
          <p:cNvPr id="32" name="Shape 29"/>
          <p:cNvSpPr/>
          <p:nvPr/>
        </p:nvSpPr>
        <p:spPr>
          <a:xfrm>
            <a:off x="8997696" y="3977640"/>
            <a:ext cx="2633472" cy="2011680"/>
          </a:xfrm>
          <a:prstGeom prst="roundRect">
            <a:avLst>
              <a:gd name="adj" fmla="val 3636"/>
            </a:avLst>
          </a:prstGeom>
          <a:solidFill>
            <a:srgbClr val="2A2A32"/>
          </a:solidFill>
          <a:ln/>
        </p:spPr>
      </p:sp>
      <p:sp>
        <p:nvSpPr>
          <p:cNvPr id="33" name="Shape 30"/>
          <p:cNvSpPr/>
          <p:nvPr/>
        </p:nvSpPr>
        <p:spPr>
          <a:xfrm>
            <a:off x="9198864" y="4206240"/>
            <a:ext cx="438912" cy="438912"/>
          </a:xfrm>
          <a:prstGeom prst="ellipse">
            <a:avLst/>
          </a:prstGeom>
          <a:solidFill>
            <a:srgbClr val="D8A73D"/>
          </a:solidFill>
          <a:ln/>
        </p:spPr>
      </p:sp>
      <p:sp>
        <p:nvSpPr>
          <p:cNvPr id="34" name="Text 31"/>
          <p:cNvSpPr txBox="1"/>
          <p:nvPr/>
        </p:nvSpPr>
        <p:spPr>
          <a:xfrm>
            <a:off x="9198864"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4</a:t>
            </a:r>
            <a:endParaRPr lang="en-US" sz="2000" dirty="0"/>
          </a:p>
        </p:txBody>
      </p:sp>
      <p:sp>
        <p:nvSpPr>
          <p:cNvPr id="35" name="Text 32"/>
          <p:cNvSpPr txBox="1"/>
          <p:nvPr/>
        </p:nvSpPr>
        <p:spPr>
          <a:xfrm>
            <a:off x="9198864"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Compare to what you meant</a:t>
            </a:r>
            <a:endParaRPr lang="en-US" sz="2000" dirty="0"/>
          </a:p>
        </p:txBody>
      </p:sp>
      <p:sp>
        <p:nvSpPr>
          <p:cNvPr id="36" name="Text 33"/>
          <p:cNvSpPr txBox="1"/>
          <p:nvPr/>
        </p:nvSpPr>
        <p:spPr>
          <a:xfrm>
            <a:off x="9198864" y="5486400"/>
            <a:ext cx="2267712" cy="365760"/>
          </a:xfrm>
          <a:prstGeom prst="rect">
            <a:avLst/>
          </a:prstGeom>
          <a:noFill/>
          <a:ln/>
        </p:spPr>
        <p:txBody>
          <a:bodyPr wrap="square" lIns="0" tIns="0" rIns="0" bIns="0" rtlCol="0" anchor="t"/>
          <a:lstStyle/>
          <a:p>
            <a:pPr indent="0" marL="0">
              <a:buNone/>
            </a:pPr>
            <a:r>
              <a:rPr lang="en-US" sz="1600" dirty="0">
                <a:solidFill>
                  <a:srgbClr val="E8C878"/>
                </a:solidFill>
                <a:latin typeface="Consolas" pitchFamily="34" charset="0"/>
                <a:ea typeface="Consolas" pitchFamily="34" charset="-122"/>
                <a:cs typeface="Consolas" pitchFamily="34" charset="-120"/>
              </a:rPr>
              <a:t>print</a:t>
            </a:r>
            <a:pPr indent="0" marL="0">
              <a:buNone/>
            </a:pPr>
            <a:r>
              <a:rPr lang="en-US" sz="1600" dirty="0">
                <a:solidFill>
                  <a:srgbClr val="A9A9B4"/>
                </a:solidFill>
                <a:latin typeface="Consolas" pitchFamily="34" charset="0"/>
                <a:ea typeface="Consolas" pitchFamily="34" charset="-122"/>
                <a:cs typeface="Consolas" pitchFamily="34" charset="-120"/>
              </a:rPr>
              <a:t>(</a:t>
            </a:r>
            <a:pPr indent="0" marL="0">
              <a:buNone/>
            </a:pPr>
            <a:r>
              <a:rPr lang="en-US" sz="1600" dirty="0">
                <a:solidFill>
                  <a:srgbClr val="E69F00"/>
                </a:solidFill>
                <a:latin typeface="Consolas" pitchFamily="34" charset="0"/>
                <a:ea typeface="Consolas" pitchFamily="34" charset="-122"/>
                <a:cs typeface="Consolas" pitchFamily="34" charset="-120"/>
              </a:rPr>
              <a:t>"Scanning..."</a:t>
            </a:r>
            <a:pPr indent="0" marL="0">
              <a:buNone/>
            </a:pPr>
            <a:r>
              <a:rPr lang="en-US" sz="1600" dirty="0">
                <a:solidFill>
                  <a:srgbClr val="A9A9B4"/>
                </a:solidFill>
                <a:latin typeface="Consolas" pitchFamily="34" charset="0"/>
                <a:ea typeface="Consolas" pitchFamily="34" charset="-122"/>
                <a:cs typeface="Consolas" pitchFamily="34" charset="-120"/>
              </a:rPr>
              <a:t>)</a:t>
            </a:r>
            <a:endParaRPr lang="en-US" sz="1800" dirty="0"/>
          </a:p>
        </p:txBody>
      </p:sp>
      <p:pic>
        <p:nvPicPr>
          <p:cNvPr id="37"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1</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Every pod is frosted</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over — except Pod 2.</a:t>
            </a: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Open. Empty.</a:t>
            </a:r>
            <a:endParaRPr lang="en-US" sz="2000" dirty="0"/>
          </a:p>
        </p:txBody>
      </p:sp>
      <p:sp>
        <p:nvSpPr>
          <p:cNvPr id="12" name="Text 9"/>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Cracked from the inside.</a:t>
            </a:r>
            <a:endParaRPr lang="en-US" sz="2000" dirty="0"/>
          </a:p>
        </p:txBody>
      </p:sp>
      <p:sp>
        <p:nvSpPr>
          <p:cNvPr id="13" name="Shape 10"/>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11"/>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2"/>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Wake Up</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3"/>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4"/>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5"/>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6"/>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7"/>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8"/>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9"/>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20"/>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21"/>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2"/>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3"/>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4"/>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5"/>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6"/>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7"/>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8"/>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2" name="Shape 29"/>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30"/>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4"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Capitals matter</a:t>
            </a:r>
            <a:endParaRPr lang="en-US" sz="3600" dirty="0"/>
          </a:p>
        </p:txBody>
      </p:sp>
      <p:sp>
        <p:nvSpPr>
          <p:cNvPr id="5" name="code"/>
          <p:cNvSpPr/>
          <p:nvPr/>
        </p:nvSpPr>
        <p:spPr>
          <a:xfrm>
            <a:off x="548640" y="1600200"/>
            <a:ext cx="7498080" cy="1324356"/>
          </a:xfrm>
          <a:prstGeom prst="roundRect">
            <a:avLst>
              <a:gd name="adj" fmla="val 5524"/>
            </a:avLst>
          </a:prstGeom>
          <a:solidFill>
            <a:srgbClr val="111115"/>
          </a:solidFill>
          <a:ln w="15875">
            <a:solidFill>
              <a:srgbClr val="3A3A44"/>
            </a:solidFill>
            <a:prstDash val="solid"/>
          </a:ln>
        </p:spPr>
      </p:sp>
      <p:sp>
        <p:nvSpPr>
          <p:cNvPr id="6"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"Enter your name: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Shape 5"/>
          <p:cNvSpPr/>
          <p:nvPr/>
        </p:nvSpPr>
        <p:spPr>
          <a:xfrm>
            <a:off x="603504" y="2262378"/>
            <a:ext cx="7388352" cy="461010"/>
          </a:xfrm>
          <a:prstGeom prst="rect">
            <a:avLst/>
          </a:prstGeom>
          <a:solidFill>
            <a:srgbClr val="2B2618"/>
          </a:solidFill>
          <a:ln/>
        </p:spPr>
      </p:sp>
      <p:sp>
        <p:nvSpPr>
          <p:cNvPr id="9" name="Text 6"/>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0" name="Text 7"/>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"Access granted to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1" name="terminal"/>
          <p:cNvSpPr/>
          <p:nvPr/>
        </p:nvSpPr>
        <p:spPr>
          <a:xfrm>
            <a:off x="548640" y="3153156"/>
            <a:ext cx="11091672" cy="1143000"/>
          </a:xfrm>
          <a:prstGeom prst="roundRect">
            <a:avLst>
              <a:gd name="adj" fmla="val 6400"/>
            </a:avLst>
          </a:prstGeom>
          <a:solidFill>
            <a:srgbClr val="0A0A0D"/>
          </a:solidFill>
          <a:ln w="15875">
            <a:solidFill>
              <a:srgbClr val="3A3A44"/>
            </a:solidFill>
            <a:prstDash val="solid"/>
          </a:ln>
        </p:spPr>
      </p:sp>
      <p:sp>
        <p:nvSpPr>
          <p:cNvPr id="12" name="Text 9"/>
          <p:cNvSpPr txBox="1"/>
          <p:nvPr/>
        </p:nvSpPr>
        <p:spPr>
          <a:xfrm>
            <a:off x="777240" y="333603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3" name="Text 10"/>
          <p:cNvSpPr txBox="1"/>
          <p:nvPr/>
        </p:nvSpPr>
        <p:spPr>
          <a:xfrm>
            <a:off x="777240" y="370179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NameError: </a:t>
            </a:r>
            <a:pPr indent="0" marL="0">
              <a:buNone/>
            </a:pPr>
            <a:r>
              <a:rPr lang="en-US" sz="1800" dirty="0">
                <a:solidFill>
                  <a:srgbClr val="FF6B6B"/>
                </a:solidFill>
                <a:latin typeface="Consolas" pitchFamily="34" charset="0"/>
                <a:ea typeface="Consolas" pitchFamily="34" charset="-122"/>
                <a:cs typeface="Consolas" pitchFamily="34" charset="-120"/>
              </a:rPr>
              <a:t>name 'Name' is not defined. Did you mean: 'name'?</a:t>
            </a:r>
            <a:endParaRPr lang="en-US" sz="1800" dirty="0"/>
          </a:p>
        </p:txBody>
      </p:sp>
      <p:sp>
        <p:nvSpPr>
          <p:cNvPr id="14" name="Text 11"/>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5" name="Shape 12"/>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6" name="Shape 13"/>
          <p:cNvSpPr/>
          <p:nvPr/>
        </p:nvSpPr>
        <p:spPr>
          <a:xfrm>
            <a:off x="8549640" y="1920240"/>
            <a:ext cx="1481328" cy="347472"/>
          </a:xfrm>
          <a:prstGeom prst="roundRect">
            <a:avLst>
              <a:gd name="adj" fmla="val 13158"/>
            </a:avLst>
          </a:prstGeom>
          <a:solidFill>
            <a:srgbClr val="E69F00"/>
          </a:solidFill>
          <a:ln/>
        </p:spPr>
      </p:sp>
      <p:sp>
        <p:nvSpPr>
          <p:cNvPr id="17" name="Text 14"/>
          <p:cNvSpPr txBox="1"/>
          <p:nvPr/>
        </p:nvSpPr>
        <p:spPr>
          <a:xfrm>
            <a:off x="8549640" y="192024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8" name="Text 15"/>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9" name="Shape 16"/>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20" name="Text 17"/>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FF6B6B"/>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and  </a:t>
            </a:r>
            <a:pPr indent="0" marL="0">
              <a:buNone/>
            </a:pPr>
            <a:r>
              <a:rPr lang="en-US" sz="2400" b="1" dirty="0">
                <a:solidFill>
                  <a:srgbClr val="7FD99A"/>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are two different names. Python only knows the one you stored.</a:t>
            </a:r>
            <a:endParaRPr lang="en-US" sz="2400" dirty="0"/>
          </a:p>
        </p:txBody>
      </p:sp>
      <p:pic>
        <p:nvPicPr>
          <p:cNvPr id="21"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94%   ·   POWER 31%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5"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6" name="Text 3"/>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7"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8" name="Text 5"/>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9"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10" name="Text 7"/>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11"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2" name="Text 9"/>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3" name="Shape 10"/>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4" name="Text 11"/>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5" name="Shape 12"/>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6" name="Text 13"/>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7"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91%   ·   POWER 31%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 joins text, adds numbers</a:t>
            </a:r>
            <a:endParaRPr lang="en-US" sz="3600" dirty="0"/>
          </a:p>
        </p:txBody>
      </p:sp>
      <p:sp>
        <p:nvSpPr>
          <p:cNvPr id="5" name="Shape 2"/>
          <p:cNvSpPr/>
          <p:nvPr/>
        </p:nvSpPr>
        <p:spPr>
          <a:xfrm>
            <a:off x="548640" y="1783080"/>
            <a:ext cx="1737360" cy="868680"/>
          </a:xfrm>
          <a:prstGeom prst="roundRect">
            <a:avLst>
              <a:gd name="adj" fmla="val 6316"/>
            </a:avLst>
          </a:prstGeom>
          <a:solidFill>
            <a:srgbClr val="111115"/>
          </a:solidFill>
          <a:ln w="25400">
            <a:solidFill>
              <a:srgbClr val="E69F00"/>
            </a:solidFill>
            <a:prstDash val="solid"/>
          </a:ln>
        </p:spPr>
      </p:sp>
      <p:sp>
        <p:nvSpPr>
          <p:cNvPr id="6" name="Shape 3"/>
          <p:cNvSpPr/>
          <p:nvPr/>
        </p:nvSpPr>
        <p:spPr>
          <a:xfrm>
            <a:off x="685800" y="1600200"/>
            <a:ext cx="822960" cy="347472"/>
          </a:xfrm>
          <a:prstGeom prst="roundRect">
            <a:avLst>
              <a:gd name="adj" fmla="val 13158"/>
            </a:avLst>
          </a:prstGeom>
          <a:solidFill>
            <a:srgbClr val="E69F00"/>
          </a:solidFill>
          <a:ln/>
        </p:spPr>
      </p:sp>
      <p:sp>
        <p:nvSpPr>
          <p:cNvPr id="7" name="Text 4"/>
          <p:cNvSpPr txBox="1"/>
          <p:nvPr/>
        </p:nvSpPr>
        <p:spPr>
          <a:xfrm>
            <a:off x="685800" y="160020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str</a:t>
            </a:r>
            <a:endParaRPr lang="en-US" sz="1400" dirty="0"/>
          </a:p>
        </p:txBody>
      </p:sp>
      <p:sp>
        <p:nvSpPr>
          <p:cNvPr id="8" name="Text 5"/>
          <p:cNvSpPr txBox="1"/>
          <p:nvPr/>
        </p:nvSpPr>
        <p:spPr>
          <a:xfrm>
            <a:off x="640080" y="1965960"/>
            <a:ext cx="155448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"5"</a:t>
            </a:r>
            <a:endParaRPr lang="en-US" sz="2600" dirty="0"/>
          </a:p>
        </p:txBody>
      </p:sp>
      <p:sp>
        <p:nvSpPr>
          <p:cNvPr id="9" name="Text 6"/>
          <p:cNvSpPr txBox="1"/>
          <p:nvPr/>
        </p:nvSpPr>
        <p:spPr>
          <a:xfrm>
            <a:off x="2331720" y="1783080"/>
            <a:ext cx="548640" cy="868680"/>
          </a:xfrm>
          <a:prstGeom prst="rect">
            <a:avLst/>
          </a:prstGeom>
          <a:noFill/>
          <a:ln/>
        </p:spPr>
        <p:txBody>
          <a:bodyPr wrap="square" lIns="0" tIns="0" rIns="0" bIns="0" rtlCol="0" anchor="ctr"/>
          <a:lstStyle/>
          <a:p>
            <a:pPr algn="ctr" indent="0" marL="0">
              <a:buNone/>
            </a:pPr>
            <a:r>
              <a:rPr lang="en-US" sz="3600" b="1" dirty="0">
                <a:solidFill>
                  <a:srgbClr val="F5F5F3"/>
                </a:solidFill>
                <a:latin typeface="Consolas" pitchFamily="34" charset="0"/>
                <a:ea typeface="Consolas" pitchFamily="34" charset="-122"/>
                <a:cs typeface="Consolas" pitchFamily="34" charset="-120"/>
              </a:rPr>
              <a:t>+</a:t>
            </a:r>
            <a:endParaRPr lang="en-US" sz="3600" dirty="0"/>
          </a:p>
        </p:txBody>
      </p:sp>
      <p:sp>
        <p:nvSpPr>
          <p:cNvPr id="10" name="Shape 7"/>
          <p:cNvSpPr/>
          <p:nvPr/>
        </p:nvSpPr>
        <p:spPr>
          <a:xfrm>
            <a:off x="2926080" y="1783080"/>
            <a:ext cx="1737360" cy="868680"/>
          </a:xfrm>
          <a:prstGeom prst="roundRect">
            <a:avLst>
              <a:gd name="adj" fmla="val 6316"/>
            </a:avLst>
          </a:prstGeom>
          <a:solidFill>
            <a:srgbClr val="111115"/>
          </a:solidFill>
          <a:ln w="25400">
            <a:solidFill>
              <a:srgbClr val="E69F00"/>
            </a:solidFill>
            <a:prstDash val="solid"/>
          </a:ln>
        </p:spPr>
      </p:sp>
      <p:sp>
        <p:nvSpPr>
          <p:cNvPr id="11" name="Shape 8"/>
          <p:cNvSpPr/>
          <p:nvPr/>
        </p:nvSpPr>
        <p:spPr>
          <a:xfrm>
            <a:off x="3063240" y="1600200"/>
            <a:ext cx="822960" cy="347472"/>
          </a:xfrm>
          <a:prstGeom prst="roundRect">
            <a:avLst>
              <a:gd name="adj" fmla="val 13158"/>
            </a:avLst>
          </a:prstGeom>
          <a:solidFill>
            <a:srgbClr val="E69F00"/>
          </a:solidFill>
          <a:ln/>
        </p:spPr>
      </p:sp>
      <p:sp>
        <p:nvSpPr>
          <p:cNvPr id="12" name="Text 9"/>
          <p:cNvSpPr txBox="1"/>
          <p:nvPr/>
        </p:nvSpPr>
        <p:spPr>
          <a:xfrm>
            <a:off x="3063240" y="160020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str</a:t>
            </a:r>
            <a:endParaRPr lang="en-US" sz="1400" dirty="0"/>
          </a:p>
        </p:txBody>
      </p:sp>
      <p:sp>
        <p:nvSpPr>
          <p:cNvPr id="13" name="Text 10"/>
          <p:cNvSpPr txBox="1"/>
          <p:nvPr/>
        </p:nvSpPr>
        <p:spPr>
          <a:xfrm>
            <a:off x="3017520" y="1965960"/>
            <a:ext cx="155448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"5"</a:t>
            </a:r>
            <a:endParaRPr lang="en-US" sz="2600" dirty="0"/>
          </a:p>
        </p:txBody>
      </p:sp>
      <p:sp>
        <p:nvSpPr>
          <p:cNvPr id="14" name="Shape 11"/>
          <p:cNvSpPr/>
          <p:nvPr/>
        </p:nvSpPr>
        <p:spPr>
          <a:xfrm>
            <a:off x="4800600" y="2212848"/>
            <a:ext cx="822960" cy="0"/>
          </a:xfrm>
          <a:prstGeom prst="line">
            <a:avLst/>
          </a:prstGeom>
          <a:noFill/>
          <a:ln w="28575">
            <a:solidFill>
              <a:srgbClr val="D8A73D"/>
            </a:solidFill>
            <a:prstDash val="solid"/>
            <a:tailEnd type="triangle"/>
          </a:ln>
        </p:spPr>
      </p:sp>
      <p:sp>
        <p:nvSpPr>
          <p:cNvPr id="15" name="Shape 12"/>
          <p:cNvSpPr/>
          <p:nvPr/>
        </p:nvSpPr>
        <p:spPr>
          <a:xfrm>
            <a:off x="5760720" y="1783080"/>
            <a:ext cx="2377440" cy="868680"/>
          </a:xfrm>
          <a:prstGeom prst="roundRect">
            <a:avLst>
              <a:gd name="adj" fmla="val 6316"/>
            </a:avLst>
          </a:prstGeom>
          <a:solidFill>
            <a:srgbClr val="111115"/>
          </a:solidFill>
          <a:ln w="25400">
            <a:solidFill>
              <a:srgbClr val="E69F00"/>
            </a:solidFill>
            <a:prstDash val="solid"/>
          </a:ln>
        </p:spPr>
      </p:sp>
      <p:sp>
        <p:nvSpPr>
          <p:cNvPr id="16" name="Shape 13"/>
          <p:cNvSpPr/>
          <p:nvPr/>
        </p:nvSpPr>
        <p:spPr>
          <a:xfrm>
            <a:off x="5897880" y="1600200"/>
            <a:ext cx="822960" cy="347472"/>
          </a:xfrm>
          <a:prstGeom prst="roundRect">
            <a:avLst>
              <a:gd name="adj" fmla="val 13158"/>
            </a:avLst>
          </a:prstGeom>
          <a:solidFill>
            <a:srgbClr val="E69F00"/>
          </a:solidFill>
          <a:ln/>
        </p:spPr>
      </p:sp>
      <p:sp>
        <p:nvSpPr>
          <p:cNvPr id="17" name="Text 14"/>
          <p:cNvSpPr txBox="1"/>
          <p:nvPr/>
        </p:nvSpPr>
        <p:spPr>
          <a:xfrm>
            <a:off x="5897880" y="160020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str</a:t>
            </a:r>
            <a:endParaRPr lang="en-US" sz="1400" dirty="0"/>
          </a:p>
        </p:txBody>
      </p:sp>
      <p:sp>
        <p:nvSpPr>
          <p:cNvPr id="18" name="Text 15"/>
          <p:cNvSpPr txBox="1"/>
          <p:nvPr/>
        </p:nvSpPr>
        <p:spPr>
          <a:xfrm>
            <a:off x="5852160" y="196596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"55"</a:t>
            </a:r>
            <a:endParaRPr lang="en-US" sz="2600" dirty="0"/>
          </a:p>
        </p:txBody>
      </p:sp>
      <p:sp>
        <p:nvSpPr>
          <p:cNvPr id="19" name="Text 16"/>
          <p:cNvSpPr txBox="1"/>
          <p:nvPr/>
        </p:nvSpPr>
        <p:spPr>
          <a:xfrm>
            <a:off x="8412480" y="1783080"/>
            <a:ext cx="3200400" cy="868680"/>
          </a:xfrm>
          <a:prstGeom prst="rect">
            <a:avLst/>
          </a:prstGeom>
          <a:noFill/>
          <a:ln/>
        </p:spPr>
        <p:txBody>
          <a:bodyPr wrap="square" lIns="0" tIns="0" rIns="0" bIns="0" rtlCol="0" anchor="ctr"/>
          <a:lstStyle/>
          <a:p>
            <a:pPr indent="0" marL="0">
              <a:buNone/>
            </a:pPr>
            <a:r>
              <a:rPr lang="en-US" sz="2600" b="1" dirty="0">
                <a:solidFill>
                  <a:srgbClr val="E69F00"/>
                </a:solidFill>
                <a:latin typeface="Cambria" pitchFamily="34" charset="0"/>
                <a:ea typeface="Cambria" pitchFamily="34" charset="-122"/>
                <a:cs typeface="Cambria" pitchFamily="34" charset="-120"/>
              </a:rPr>
              <a:t>join</a:t>
            </a:r>
            <a:endParaRPr lang="en-US" sz="2600" dirty="0"/>
          </a:p>
        </p:txBody>
      </p:sp>
      <p:sp>
        <p:nvSpPr>
          <p:cNvPr id="20" name="Shape 17"/>
          <p:cNvSpPr/>
          <p:nvPr/>
        </p:nvSpPr>
        <p:spPr>
          <a:xfrm>
            <a:off x="548640" y="3200400"/>
            <a:ext cx="1737360" cy="868680"/>
          </a:xfrm>
          <a:prstGeom prst="roundRect">
            <a:avLst>
              <a:gd name="adj" fmla="val 6316"/>
            </a:avLst>
          </a:prstGeom>
          <a:solidFill>
            <a:srgbClr val="111115"/>
          </a:solidFill>
          <a:ln w="25400">
            <a:solidFill>
              <a:srgbClr val="56B4E9"/>
            </a:solidFill>
            <a:prstDash val="solid"/>
          </a:ln>
        </p:spPr>
      </p:sp>
      <p:sp>
        <p:nvSpPr>
          <p:cNvPr id="21" name="Shape 18"/>
          <p:cNvSpPr/>
          <p:nvPr/>
        </p:nvSpPr>
        <p:spPr>
          <a:xfrm>
            <a:off x="685800" y="3017520"/>
            <a:ext cx="822960" cy="347472"/>
          </a:xfrm>
          <a:prstGeom prst="roundRect">
            <a:avLst>
              <a:gd name="adj" fmla="val 13158"/>
            </a:avLst>
          </a:prstGeom>
          <a:solidFill>
            <a:srgbClr val="56B4E9"/>
          </a:solidFill>
          <a:ln/>
        </p:spPr>
      </p:sp>
      <p:sp>
        <p:nvSpPr>
          <p:cNvPr id="22" name="Text 19"/>
          <p:cNvSpPr txBox="1"/>
          <p:nvPr/>
        </p:nvSpPr>
        <p:spPr>
          <a:xfrm>
            <a:off x="685800" y="301752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int</a:t>
            </a:r>
            <a:endParaRPr lang="en-US" sz="1400" dirty="0"/>
          </a:p>
        </p:txBody>
      </p:sp>
      <p:sp>
        <p:nvSpPr>
          <p:cNvPr id="23" name="Text 20"/>
          <p:cNvSpPr txBox="1"/>
          <p:nvPr/>
        </p:nvSpPr>
        <p:spPr>
          <a:xfrm>
            <a:off x="640080" y="3383280"/>
            <a:ext cx="155448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5</a:t>
            </a:r>
            <a:endParaRPr lang="en-US" sz="2600" dirty="0"/>
          </a:p>
        </p:txBody>
      </p:sp>
      <p:sp>
        <p:nvSpPr>
          <p:cNvPr id="24" name="Text 21"/>
          <p:cNvSpPr txBox="1"/>
          <p:nvPr/>
        </p:nvSpPr>
        <p:spPr>
          <a:xfrm>
            <a:off x="2331720" y="3200400"/>
            <a:ext cx="548640" cy="868680"/>
          </a:xfrm>
          <a:prstGeom prst="rect">
            <a:avLst/>
          </a:prstGeom>
          <a:noFill/>
          <a:ln/>
        </p:spPr>
        <p:txBody>
          <a:bodyPr wrap="square" lIns="0" tIns="0" rIns="0" bIns="0" rtlCol="0" anchor="ctr"/>
          <a:lstStyle/>
          <a:p>
            <a:pPr algn="ctr" indent="0" marL="0">
              <a:buNone/>
            </a:pPr>
            <a:r>
              <a:rPr lang="en-US" sz="3600" b="1" dirty="0">
                <a:solidFill>
                  <a:srgbClr val="F5F5F3"/>
                </a:solidFill>
                <a:latin typeface="Consolas" pitchFamily="34" charset="0"/>
                <a:ea typeface="Consolas" pitchFamily="34" charset="-122"/>
                <a:cs typeface="Consolas" pitchFamily="34" charset="-120"/>
              </a:rPr>
              <a:t>+</a:t>
            </a:r>
            <a:endParaRPr lang="en-US" sz="3600" dirty="0"/>
          </a:p>
        </p:txBody>
      </p:sp>
      <p:sp>
        <p:nvSpPr>
          <p:cNvPr id="25" name="Shape 22"/>
          <p:cNvSpPr/>
          <p:nvPr/>
        </p:nvSpPr>
        <p:spPr>
          <a:xfrm>
            <a:off x="2926080" y="3200400"/>
            <a:ext cx="1737360" cy="868680"/>
          </a:xfrm>
          <a:prstGeom prst="roundRect">
            <a:avLst>
              <a:gd name="adj" fmla="val 6316"/>
            </a:avLst>
          </a:prstGeom>
          <a:solidFill>
            <a:srgbClr val="111115"/>
          </a:solidFill>
          <a:ln w="25400">
            <a:solidFill>
              <a:srgbClr val="56B4E9"/>
            </a:solidFill>
            <a:prstDash val="solid"/>
          </a:ln>
        </p:spPr>
      </p:sp>
      <p:sp>
        <p:nvSpPr>
          <p:cNvPr id="26" name="Shape 23"/>
          <p:cNvSpPr/>
          <p:nvPr/>
        </p:nvSpPr>
        <p:spPr>
          <a:xfrm>
            <a:off x="3063240" y="3017520"/>
            <a:ext cx="822960" cy="347472"/>
          </a:xfrm>
          <a:prstGeom prst="roundRect">
            <a:avLst>
              <a:gd name="adj" fmla="val 13158"/>
            </a:avLst>
          </a:prstGeom>
          <a:solidFill>
            <a:srgbClr val="56B4E9"/>
          </a:solidFill>
          <a:ln/>
        </p:spPr>
      </p:sp>
      <p:sp>
        <p:nvSpPr>
          <p:cNvPr id="27" name="Text 24"/>
          <p:cNvSpPr txBox="1"/>
          <p:nvPr/>
        </p:nvSpPr>
        <p:spPr>
          <a:xfrm>
            <a:off x="3063240" y="301752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int</a:t>
            </a:r>
            <a:endParaRPr lang="en-US" sz="1400" dirty="0"/>
          </a:p>
        </p:txBody>
      </p:sp>
      <p:sp>
        <p:nvSpPr>
          <p:cNvPr id="28" name="Text 25"/>
          <p:cNvSpPr txBox="1"/>
          <p:nvPr/>
        </p:nvSpPr>
        <p:spPr>
          <a:xfrm>
            <a:off x="3017520" y="3383280"/>
            <a:ext cx="155448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5</a:t>
            </a:r>
            <a:endParaRPr lang="en-US" sz="2600" dirty="0"/>
          </a:p>
        </p:txBody>
      </p:sp>
      <p:sp>
        <p:nvSpPr>
          <p:cNvPr id="29" name="Shape 26"/>
          <p:cNvSpPr/>
          <p:nvPr/>
        </p:nvSpPr>
        <p:spPr>
          <a:xfrm>
            <a:off x="4800600" y="3630168"/>
            <a:ext cx="822960" cy="0"/>
          </a:xfrm>
          <a:prstGeom prst="line">
            <a:avLst/>
          </a:prstGeom>
          <a:noFill/>
          <a:ln w="28575">
            <a:solidFill>
              <a:srgbClr val="D8A73D"/>
            </a:solidFill>
            <a:prstDash val="solid"/>
            <a:tailEnd type="triangle"/>
          </a:ln>
        </p:spPr>
      </p:sp>
      <p:sp>
        <p:nvSpPr>
          <p:cNvPr id="30" name="Shape 27"/>
          <p:cNvSpPr/>
          <p:nvPr/>
        </p:nvSpPr>
        <p:spPr>
          <a:xfrm>
            <a:off x="5760720" y="3200400"/>
            <a:ext cx="2377440" cy="868680"/>
          </a:xfrm>
          <a:prstGeom prst="roundRect">
            <a:avLst>
              <a:gd name="adj" fmla="val 6316"/>
            </a:avLst>
          </a:prstGeom>
          <a:solidFill>
            <a:srgbClr val="111115"/>
          </a:solidFill>
          <a:ln w="25400">
            <a:solidFill>
              <a:srgbClr val="56B4E9"/>
            </a:solidFill>
            <a:prstDash val="solid"/>
          </a:ln>
        </p:spPr>
      </p:sp>
      <p:sp>
        <p:nvSpPr>
          <p:cNvPr id="31" name="Shape 28"/>
          <p:cNvSpPr/>
          <p:nvPr/>
        </p:nvSpPr>
        <p:spPr>
          <a:xfrm>
            <a:off x="5897880" y="3017520"/>
            <a:ext cx="822960" cy="347472"/>
          </a:xfrm>
          <a:prstGeom prst="roundRect">
            <a:avLst>
              <a:gd name="adj" fmla="val 13158"/>
            </a:avLst>
          </a:prstGeom>
          <a:solidFill>
            <a:srgbClr val="56B4E9"/>
          </a:solidFill>
          <a:ln/>
        </p:spPr>
      </p:sp>
      <p:sp>
        <p:nvSpPr>
          <p:cNvPr id="32" name="Text 29"/>
          <p:cNvSpPr txBox="1"/>
          <p:nvPr/>
        </p:nvSpPr>
        <p:spPr>
          <a:xfrm>
            <a:off x="5897880" y="301752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int</a:t>
            </a:r>
            <a:endParaRPr lang="en-US" sz="1400" dirty="0"/>
          </a:p>
        </p:txBody>
      </p:sp>
      <p:sp>
        <p:nvSpPr>
          <p:cNvPr id="33" name="Text 30"/>
          <p:cNvSpPr txBox="1"/>
          <p:nvPr/>
        </p:nvSpPr>
        <p:spPr>
          <a:xfrm>
            <a:off x="5852160" y="338328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10</a:t>
            </a:r>
            <a:endParaRPr lang="en-US" sz="2600" dirty="0"/>
          </a:p>
        </p:txBody>
      </p:sp>
      <p:sp>
        <p:nvSpPr>
          <p:cNvPr id="34" name="Text 31"/>
          <p:cNvSpPr txBox="1"/>
          <p:nvPr/>
        </p:nvSpPr>
        <p:spPr>
          <a:xfrm>
            <a:off x="8412480" y="3200400"/>
            <a:ext cx="3200400" cy="868680"/>
          </a:xfrm>
          <a:prstGeom prst="rect">
            <a:avLst/>
          </a:prstGeom>
          <a:noFill/>
          <a:ln/>
        </p:spPr>
        <p:txBody>
          <a:bodyPr wrap="square" lIns="0" tIns="0" rIns="0" bIns="0" rtlCol="0" anchor="ctr"/>
          <a:lstStyle/>
          <a:p>
            <a:pPr indent="0" marL="0">
              <a:buNone/>
            </a:pPr>
            <a:r>
              <a:rPr lang="en-US" sz="2600" b="1" dirty="0">
                <a:solidFill>
                  <a:srgbClr val="56B4E9"/>
                </a:solidFill>
                <a:latin typeface="Cambria" pitchFamily="34" charset="0"/>
                <a:ea typeface="Cambria" pitchFamily="34" charset="-122"/>
                <a:cs typeface="Cambria" pitchFamily="34" charset="-120"/>
              </a:rPr>
              <a:t>add</a:t>
            </a:r>
            <a:endParaRPr lang="en-US" sz="2600" dirty="0"/>
          </a:p>
        </p:txBody>
      </p:sp>
      <p:sp>
        <p:nvSpPr>
          <p:cNvPr id="35" name="Shape 32"/>
          <p:cNvSpPr/>
          <p:nvPr/>
        </p:nvSpPr>
        <p:spPr>
          <a:xfrm>
            <a:off x="548640" y="4617720"/>
            <a:ext cx="1737360" cy="868680"/>
          </a:xfrm>
          <a:prstGeom prst="roundRect">
            <a:avLst>
              <a:gd name="adj" fmla="val 6316"/>
            </a:avLst>
          </a:prstGeom>
          <a:solidFill>
            <a:srgbClr val="111115"/>
          </a:solidFill>
          <a:ln w="25400">
            <a:solidFill>
              <a:srgbClr val="E69F00"/>
            </a:solidFill>
            <a:prstDash val="solid"/>
          </a:ln>
        </p:spPr>
      </p:sp>
      <p:sp>
        <p:nvSpPr>
          <p:cNvPr id="36" name="Shape 33"/>
          <p:cNvSpPr/>
          <p:nvPr/>
        </p:nvSpPr>
        <p:spPr>
          <a:xfrm>
            <a:off x="685800" y="4434840"/>
            <a:ext cx="822960" cy="347472"/>
          </a:xfrm>
          <a:prstGeom prst="roundRect">
            <a:avLst>
              <a:gd name="adj" fmla="val 13158"/>
            </a:avLst>
          </a:prstGeom>
          <a:solidFill>
            <a:srgbClr val="E69F00"/>
          </a:solidFill>
          <a:ln/>
        </p:spPr>
      </p:sp>
      <p:sp>
        <p:nvSpPr>
          <p:cNvPr id="37" name="Text 34"/>
          <p:cNvSpPr txBox="1"/>
          <p:nvPr/>
        </p:nvSpPr>
        <p:spPr>
          <a:xfrm>
            <a:off x="685800" y="443484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str</a:t>
            </a:r>
            <a:endParaRPr lang="en-US" sz="1400" dirty="0"/>
          </a:p>
        </p:txBody>
      </p:sp>
      <p:sp>
        <p:nvSpPr>
          <p:cNvPr id="38" name="Text 35"/>
          <p:cNvSpPr txBox="1"/>
          <p:nvPr/>
        </p:nvSpPr>
        <p:spPr>
          <a:xfrm>
            <a:off x="640080" y="4800600"/>
            <a:ext cx="155448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"5"</a:t>
            </a:r>
            <a:endParaRPr lang="en-US" sz="2600" dirty="0"/>
          </a:p>
        </p:txBody>
      </p:sp>
      <p:sp>
        <p:nvSpPr>
          <p:cNvPr id="39" name="Text 36"/>
          <p:cNvSpPr txBox="1"/>
          <p:nvPr/>
        </p:nvSpPr>
        <p:spPr>
          <a:xfrm>
            <a:off x="2331720" y="4617720"/>
            <a:ext cx="548640" cy="868680"/>
          </a:xfrm>
          <a:prstGeom prst="rect">
            <a:avLst/>
          </a:prstGeom>
          <a:noFill/>
          <a:ln/>
        </p:spPr>
        <p:txBody>
          <a:bodyPr wrap="square" lIns="0" tIns="0" rIns="0" bIns="0" rtlCol="0" anchor="ctr"/>
          <a:lstStyle/>
          <a:p>
            <a:pPr algn="ctr" indent="0" marL="0">
              <a:buNone/>
            </a:pPr>
            <a:r>
              <a:rPr lang="en-US" sz="3600" b="1" dirty="0">
                <a:solidFill>
                  <a:srgbClr val="F5F5F3"/>
                </a:solidFill>
                <a:latin typeface="Consolas" pitchFamily="34" charset="0"/>
                <a:ea typeface="Consolas" pitchFamily="34" charset="-122"/>
                <a:cs typeface="Consolas" pitchFamily="34" charset="-120"/>
              </a:rPr>
              <a:t>+</a:t>
            </a:r>
            <a:endParaRPr lang="en-US" sz="3600" dirty="0"/>
          </a:p>
        </p:txBody>
      </p:sp>
      <p:sp>
        <p:nvSpPr>
          <p:cNvPr id="40" name="Shape 37"/>
          <p:cNvSpPr/>
          <p:nvPr/>
        </p:nvSpPr>
        <p:spPr>
          <a:xfrm>
            <a:off x="2926080" y="4617720"/>
            <a:ext cx="1737360" cy="868680"/>
          </a:xfrm>
          <a:prstGeom prst="roundRect">
            <a:avLst>
              <a:gd name="adj" fmla="val 6316"/>
            </a:avLst>
          </a:prstGeom>
          <a:solidFill>
            <a:srgbClr val="111115"/>
          </a:solidFill>
          <a:ln w="25400">
            <a:solidFill>
              <a:srgbClr val="56B4E9"/>
            </a:solidFill>
            <a:prstDash val="solid"/>
          </a:ln>
        </p:spPr>
      </p:sp>
      <p:sp>
        <p:nvSpPr>
          <p:cNvPr id="41" name="Shape 38"/>
          <p:cNvSpPr/>
          <p:nvPr/>
        </p:nvSpPr>
        <p:spPr>
          <a:xfrm>
            <a:off x="3063240" y="4434840"/>
            <a:ext cx="822960" cy="347472"/>
          </a:xfrm>
          <a:prstGeom prst="roundRect">
            <a:avLst>
              <a:gd name="adj" fmla="val 13158"/>
            </a:avLst>
          </a:prstGeom>
          <a:solidFill>
            <a:srgbClr val="56B4E9"/>
          </a:solidFill>
          <a:ln/>
        </p:spPr>
      </p:sp>
      <p:sp>
        <p:nvSpPr>
          <p:cNvPr id="42" name="Text 39"/>
          <p:cNvSpPr txBox="1"/>
          <p:nvPr/>
        </p:nvSpPr>
        <p:spPr>
          <a:xfrm>
            <a:off x="3063240" y="443484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int</a:t>
            </a:r>
            <a:endParaRPr lang="en-US" sz="1400" dirty="0"/>
          </a:p>
        </p:txBody>
      </p:sp>
      <p:sp>
        <p:nvSpPr>
          <p:cNvPr id="43" name="Text 40"/>
          <p:cNvSpPr txBox="1"/>
          <p:nvPr/>
        </p:nvSpPr>
        <p:spPr>
          <a:xfrm>
            <a:off x="3017520" y="4800600"/>
            <a:ext cx="155448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5</a:t>
            </a:r>
            <a:endParaRPr lang="en-US" sz="2600" dirty="0"/>
          </a:p>
        </p:txBody>
      </p:sp>
      <p:sp>
        <p:nvSpPr>
          <p:cNvPr id="44" name="Shape 41"/>
          <p:cNvSpPr/>
          <p:nvPr/>
        </p:nvSpPr>
        <p:spPr>
          <a:xfrm>
            <a:off x="4800600" y="5047488"/>
            <a:ext cx="822960" cy="0"/>
          </a:xfrm>
          <a:prstGeom prst="line">
            <a:avLst/>
          </a:prstGeom>
          <a:noFill/>
          <a:ln w="28575">
            <a:solidFill>
              <a:srgbClr val="FF6B6B"/>
            </a:solidFill>
            <a:prstDash val="solid"/>
            <a:tailEnd type="triangle"/>
          </a:ln>
        </p:spPr>
      </p:sp>
      <p:sp>
        <p:nvSpPr>
          <p:cNvPr id="45" name="terminal"/>
          <p:cNvSpPr/>
          <p:nvPr/>
        </p:nvSpPr>
        <p:spPr>
          <a:xfrm>
            <a:off x="5760720" y="4617720"/>
            <a:ext cx="2377440" cy="868680"/>
          </a:xfrm>
          <a:prstGeom prst="roundRect">
            <a:avLst>
              <a:gd name="adj" fmla="val 8421"/>
            </a:avLst>
          </a:prstGeom>
          <a:solidFill>
            <a:srgbClr val="0A0A0D"/>
          </a:solidFill>
          <a:ln w="15875">
            <a:solidFill>
              <a:srgbClr val="3A3A44"/>
            </a:solidFill>
            <a:prstDash val="solid"/>
          </a:ln>
        </p:spPr>
      </p:sp>
      <p:sp>
        <p:nvSpPr>
          <p:cNvPr id="46" name="Text 43"/>
          <p:cNvSpPr txBox="1"/>
          <p:nvPr/>
        </p:nvSpPr>
        <p:spPr>
          <a:xfrm>
            <a:off x="5989320" y="4846320"/>
            <a:ext cx="1920240" cy="447040"/>
          </a:xfrm>
          <a:prstGeom prst="rect">
            <a:avLst/>
          </a:prstGeom>
          <a:noFill/>
          <a:ln/>
        </p:spPr>
        <p:txBody>
          <a:bodyPr wrap="square" lIns="0" tIns="0" rIns="0" bIns="0" rtlCol="0" anchor="ctr"/>
          <a:lstStyle/>
          <a:p>
            <a:pPr indent="0" marL="0">
              <a:buNone/>
            </a:pPr>
            <a:r>
              <a:rPr lang="en-US" sz="2200" b="1" dirty="0">
                <a:solidFill>
                  <a:srgbClr val="FF6B6B"/>
                </a:solidFill>
                <a:latin typeface="Consolas" pitchFamily="34" charset="0"/>
                <a:ea typeface="Consolas" pitchFamily="34" charset="-122"/>
                <a:cs typeface="Consolas" pitchFamily="34" charset="-120"/>
              </a:rPr>
              <a:t>TypeError</a:t>
            </a:r>
            <a:endParaRPr lang="en-US" sz="2200" dirty="0"/>
          </a:p>
        </p:txBody>
      </p:sp>
      <p:sp>
        <p:nvSpPr>
          <p:cNvPr id="47" name="Text 44"/>
          <p:cNvSpPr txBox="1"/>
          <p:nvPr/>
        </p:nvSpPr>
        <p:spPr>
          <a:xfrm>
            <a:off x="8412480" y="4617720"/>
            <a:ext cx="3200400" cy="86868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can’t mix text and numbers</a:t>
            </a:r>
            <a:endParaRPr lang="en-US" sz="2200" dirty="0"/>
          </a:p>
        </p:txBody>
      </p:sp>
      <p:pic>
        <p:nvPicPr>
          <p:cNvPr id="48"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49"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88%   ·   POWER 31%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input() gives text — so convert it</a:t>
            </a:r>
            <a:endParaRPr lang="en-US" sz="3600" dirty="0"/>
          </a:p>
        </p:txBody>
      </p:sp>
      <p:sp>
        <p:nvSpPr>
          <p:cNvPr id="5" name="Text 2"/>
          <p:cNvSpPr txBox="1"/>
          <p:nvPr/>
        </p:nvSpPr>
        <p:spPr>
          <a:xfrm>
            <a:off x="548640" y="1508760"/>
            <a:ext cx="36576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TEXT → NUMBER</a:t>
            </a:r>
            <a:endParaRPr lang="en-US" sz="1300" dirty="0"/>
          </a:p>
        </p:txBody>
      </p:sp>
      <p:sp>
        <p:nvSpPr>
          <p:cNvPr id="6" name="terminal"/>
          <p:cNvSpPr/>
          <p:nvPr/>
        </p:nvSpPr>
        <p:spPr>
          <a:xfrm>
            <a:off x="548640" y="2057400"/>
            <a:ext cx="2194560" cy="868680"/>
          </a:xfrm>
          <a:prstGeom prst="roundRect">
            <a:avLst>
              <a:gd name="adj" fmla="val 8421"/>
            </a:avLst>
          </a:prstGeom>
          <a:solidFill>
            <a:srgbClr val="0A0A0D"/>
          </a:solidFill>
          <a:ln w="15875">
            <a:solidFill>
              <a:srgbClr val="3A3A44"/>
            </a:solidFill>
            <a:prstDash val="solid"/>
          </a:ln>
        </p:spPr>
      </p:sp>
      <p:sp>
        <p:nvSpPr>
          <p:cNvPr id="7" name="Text 4"/>
          <p:cNvSpPr txBox="1"/>
          <p:nvPr/>
        </p:nvSpPr>
        <p:spPr>
          <a:xfrm>
            <a:off x="777240" y="2286000"/>
            <a:ext cx="173736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Hours? </a:t>
            </a:r>
            <a:pPr indent="0" marL="0">
              <a:buNone/>
            </a:pPr>
            <a:r>
              <a:rPr lang="en-US" sz="2200" b="1" dirty="0">
                <a:solidFill>
                  <a:srgbClr val="E69F00"/>
                </a:solidFill>
                <a:latin typeface="Consolas" pitchFamily="34" charset="0"/>
                <a:ea typeface="Consolas" pitchFamily="34" charset="-122"/>
                <a:cs typeface="Consolas" pitchFamily="34" charset="-120"/>
              </a:rPr>
              <a:t>6</a:t>
            </a:r>
            <a:endParaRPr lang="en-US" sz="2200" dirty="0"/>
          </a:p>
        </p:txBody>
      </p:sp>
      <p:sp>
        <p:nvSpPr>
          <p:cNvPr id="8" name="Shape 5"/>
          <p:cNvSpPr/>
          <p:nvPr/>
        </p:nvSpPr>
        <p:spPr>
          <a:xfrm>
            <a:off x="2834640" y="2487168"/>
            <a:ext cx="502920" cy="0"/>
          </a:xfrm>
          <a:prstGeom prst="line">
            <a:avLst/>
          </a:prstGeom>
          <a:noFill/>
          <a:ln w="28575">
            <a:solidFill>
              <a:srgbClr val="A9A9B4"/>
            </a:solidFill>
            <a:prstDash val="solid"/>
            <a:tailEnd type="triangle"/>
          </a:ln>
        </p:spPr>
      </p:sp>
      <p:sp>
        <p:nvSpPr>
          <p:cNvPr id="9" name="Shape 6"/>
          <p:cNvSpPr/>
          <p:nvPr/>
        </p:nvSpPr>
        <p:spPr>
          <a:xfrm>
            <a:off x="3429000" y="2057400"/>
            <a:ext cx="1828800" cy="868680"/>
          </a:xfrm>
          <a:prstGeom prst="roundRect">
            <a:avLst>
              <a:gd name="adj" fmla="val 6316"/>
            </a:avLst>
          </a:prstGeom>
          <a:solidFill>
            <a:srgbClr val="111115"/>
          </a:solidFill>
          <a:ln w="25400">
            <a:solidFill>
              <a:srgbClr val="E69F00"/>
            </a:solidFill>
            <a:prstDash val="solid"/>
          </a:ln>
        </p:spPr>
      </p:sp>
      <p:sp>
        <p:nvSpPr>
          <p:cNvPr id="10" name="Shape 7"/>
          <p:cNvSpPr/>
          <p:nvPr/>
        </p:nvSpPr>
        <p:spPr>
          <a:xfrm>
            <a:off x="3566160" y="1874520"/>
            <a:ext cx="822960" cy="347472"/>
          </a:xfrm>
          <a:prstGeom prst="roundRect">
            <a:avLst>
              <a:gd name="adj" fmla="val 13158"/>
            </a:avLst>
          </a:prstGeom>
          <a:solidFill>
            <a:srgbClr val="E69F00"/>
          </a:solidFill>
          <a:ln/>
        </p:spPr>
      </p:sp>
      <p:sp>
        <p:nvSpPr>
          <p:cNvPr id="11" name="Text 8"/>
          <p:cNvSpPr txBox="1"/>
          <p:nvPr/>
        </p:nvSpPr>
        <p:spPr>
          <a:xfrm>
            <a:off x="3566160" y="187452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str</a:t>
            </a:r>
            <a:endParaRPr lang="en-US" sz="1400" dirty="0"/>
          </a:p>
        </p:txBody>
      </p:sp>
      <p:sp>
        <p:nvSpPr>
          <p:cNvPr id="12" name="Text 9"/>
          <p:cNvSpPr txBox="1"/>
          <p:nvPr/>
        </p:nvSpPr>
        <p:spPr>
          <a:xfrm>
            <a:off x="3520440" y="2240280"/>
            <a:ext cx="16459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"6"</a:t>
            </a:r>
            <a:endParaRPr lang="en-US" sz="2600" dirty="0"/>
          </a:p>
        </p:txBody>
      </p:sp>
      <p:sp>
        <p:nvSpPr>
          <p:cNvPr id="13" name="Shape 10"/>
          <p:cNvSpPr/>
          <p:nvPr/>
        </p:nvSpPr>
        <p:spPr>
          <a:xfrm>
            <a:off x="5349240" y="2487168"/>
            <a:ext cx="1371600" cy="0"/>
          </a:xfrm>
          <a:prstGeom prst="line">
            <a:avLst/>
          </a:prstGeom>
          <a:noFill/>
          <a:ln w="28575">
            <a:solidFill>
              <a:srgbClr val="D8A73D"/>
            </a:solidFill>
            <a:prstDash val="solid"/>
            <a:tailEnd type="triangle"/>
          </a:ln>
        </p:spPr>
      </p:sp>
      <p:sp>
        <p:nvSpPr>
          <p:cNvPr id="14" name="Text 11"/>
          <p:cNvSpPr txBox="1"/>
          <p:nvPr/>
        </p:nvSpPr>
        <p:spPr>
          <a:xfrm>
            <a:off x="5349240" y="1645920"/>
            <a:ext cx="1371600" cy="365760"/>
          </a:xfrm>
          <a:prstGeom prst="rect">
            <a:avLst/>
          </a:prstGeom>
          <a:noFill/>
          <a:ln/>
        </p:spPr>
        <p:txBody>
          <a:bodyPr wrap="square" lIns="0" tIns="0" rIns="0" bIns="0" rtlCol="0" anchor="ctr"/>
          <a:lstStyle/>
          <a:p>
            <a:pPr algn="ctr" indent="0" marL="0">
              <a:buNone/>
            </a:pPr>
            <a:r>
              <a:rPr lang="en-US" sz="2200" dirty="0">
                <a:solidFill>
                  <a:srgbClr val="E8C878"/>
                </a:solidFill>
                <a:latin typeface="Consolas" pitchFamily="34" charset="0"/>
                <a:ea typeface="Consolas" pitchFamily="34" charset="-122"/>
                <a:cs typeface="Consolas" pitchFamily="34" charset="-120"/>
              </a:rPr>
              <a:t>int</a:t>
            </a:r>
            <a:pPr algn="ctr" indent="0" marL="0">
              <a:buNone/>
            </a:pPr>
            <a:r>
              <a:rPr lang="en-US" sz="2200" dirty="0">
                <a:solidFill>
                  <a:srgbClr val="A9A9B4"/>
                </a:solidFill>
                <a:latin typeface="Consolas" pitchFamily="34" charset="0"/>
                <a:ea typeface="Consolas" pitchFamily="34" charset="-122"/>
                <a:cs typeface="Consolas" pitchFamily="34" charset="-120"/>
              </a:rPr>
              <a:t>(</a:t>
            </a:r>
            <a:pPr algn="ct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Shape 12"/>
          <p:cNvSpPr/>
          <p:nvPr/>
        </p:nvSpPr>
        <p:spPr>
          <a:xfrm>
            <a:off x="6812280" y="2057400"/>
            <a:ext cx="1828800" cy="868680"/>
          </a:xfrm>
          <a:prstGeom prst="roundRect">
            <a:avLst>
              <a:gd name="adj" fmla="val 6316"/>
            </a:avLst>
          </a:prstGeom>
          <a:solidFill>
            <a:srgbClr val="111115"/>
          </a:solidFill>
          <a:ln w="25400">
            <a:solidFill>
              <a:srgbClr val="56B4E9"/>
            </a:solidFill>
            <a:prstDash val="solid"/>
          </a:ln>
        </p:spPr>
      </p:sp>
      <p:sp>
        <p:nvSpPr>
          <p:cNvPr id="16" name="Shape 13"/>
          <p:cNvSpPr/>
          <p:nvPr/>
        </p:nvSpPr>
        <p:spPr>
          <a:xfrm>
            <a:off x="6949440" y="1874520"/>
            <a:ext cx="822960" cy="347472"/>
          </a:xfrm>
          <a:prstGeom prst="roundRect">
            <a:avLst>
              <a:gd name="adj" fmla="val 13158"/>
            </a:avLst>
          </a:prstGeom>
          <a:solidFill>
            <a:srgbClr val="56B4E9"/>
          </a:solidFill>
          <a:ln/>
        </p:spPr>
      </p:sp>
      <p:sp>
        <p:nvSpPr>
          <p:cNvPr id="17" name="Text 14"/>
          <p:cNvSpPr txBox="1"/>
          <p:nvPr/>
        </p:nvSpPr>
        <p:spPr>
          <a:xfrm>
            <a:off x="6949440" y="187452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int</a:t>
            </a:r>
            <a:endParaRPr lang="en-US" sz="1400" dirty="0"/>
          </a:p>
        </p:txBody>
      </p:sp>
      <p:sp>
        <p:nvSpPr>
          <p:cNvPr id="18" name="Text 15"/>
          <p:cNvSpPr txBox="1"/>
          <p:nvPr/>
        </p:nvSpPr>
        <p:spPr>
          <a:xfrm>
            <a:off x="6903720" y="2240280"/>
            <a:ext cx="16459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6</a:t>
            </a:r>
            <a:endParaRPr lang="en-US" sz="2600" dirty="0"/>
          </a:p>
        </p:txBody>
      </p:sp>
      <p:sp>
        <p:nvSpPr>
          <p:cNvPr id="19" name="Text 16"/>
          <p:cNvSpPr txBox="1"/>
          <p:nvPr/>
        </p:nvSpPr>
        <p:spPr>
          <a:xfrm>
            <a:off x="8869680" y="2057400"/>
            <a:ext cx="2743200" cy="86868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now you can do maths</a:t>
            </a:r>
            <a:endParaRPr lang="en-US" sz="2200" dirty="0"/>
          </a:p>
        </p:txBody>
      </p:sp>
      <p:sp>
        <p:nvSpPr>
          <p:cNvPr id="20" name="Text 17"/>
          <p:cNvSpPr txBox="1"/>
          <p:nvPr/>
        </p:nvSpPr>
        <p:spPr>
          <a:xfrm>
            <a:off x="548640" y="3794760"/>
            <a:ext cx="36576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NUMBER → TEXT</a:t>
            </a:r>
            <a:endParaRPr lang="en-US" sz="1300" dirty="0"/>
          </a:p>
        </p:txBody>
      </p:sp>
      <p:sp>
        <p:nvSpPr>
          <p:cNvPr id="21" name="Shape 18"/>
          <p:cNvSpPr/>
          <p:nvPr/>
        </p:nvSpPr>
        <p:spPr>
          <a:xfrm>
            <a:off x="3429000" y="4343400"/>
            <a:ext cx="1828800" cy="868680"/>
          </a:xfrm>
          <a:prstGeom prst="roundRect">
            <a:avLst>
              <a:gd name="adj" fmla="val 6316"/>
            </a:avLst>
          </a:prstGeom>
          <a:solidFill>
            <a:srgbClr val="111115"/>
          </a:solidFill>
          <a:ln w="25400">
            <a:solidFill>
              <a:srgbClr val="56B4E9"/>
            </a:solidFill>
            <a:prstDash val="solid"/>
          </a:ln>
        </p:spPr>
      </p:sp>
      <p:sp>
        <p:nvSpPr>
          <p:cNvPr id="22" name="Shape 19"/>
          <p:cNvSpPr/>
          <p:nvPr/>
        </p:nvSpPr>
        <p:spPr>
          <a:xfrm>
            <a:off x="3566160" y="4160520"/>
            <a:ext cx="822960" cy="347472"/>
          </a:xfrm>
          <a:prstGeom prst="roundRect">
            <a:avLst>
              <a:gd name="adj" fmla="val 13158"/>
            </a:avLst>
          </a:prstGeom>
          <a:solidFill>
            <a:srgbClr val="56B4E9"/>
          </a:solidFill>
          <a:ln/>
        </p:spPr>
      </p:sp>
      <p:sp>
        <p:nvSpPr>
          <p:cNvPr id="23" name="Text 20"/>
          <p:cNvSpPr txBox="1"/>
          <p:nvPr/>
        </p:nvSpPr>
        <p:spPr>
          <a:xfrm>
            <a:off x="3566160" y="416052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int</a:t>
            </a:r>
            <a:endParaRPr lang="en-US" sz="1400" dirty="0"/>
          </a:p>
        </p:txBody>
      </p:sp>
      <p:sp>
        <p:nvSpPr>
          <p:cNvPr id="24" name="Text 21"/>
          <p:cNvSpPr txBox="1"/>
          <p:nvPr/>
        </p:nvSpPr>
        <p:spPr>
          <a:xfrm>
            <a:off x="3520440" y="4526280"/>
            <a:ext cx="16459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300</a:t>
            </a:r>
            <a:endParaRPr lang="en-US" sz="2600" dirty="0"/>
          </a:p>
        </p:txBody>
      </p:sp>
      <p:sp>
        <p:nvSpPr>
          <p:cNvPr id="25" name="Shape 22"/>
          <p:cNvSpPr/>
          <p:nvPr/>
        </p:nvSpPr>
        <p:spPr>
          <a:xfrm>
            <a:off x="5349240" y="4773168"/>
            <a:ext cx="1371600" cy="0"/>
          </a:xfrm>
          <a:prstGeom prst="line">
            <a:avLst/>
          </a:prstGeom>
          <a:noFill/>
          <a:ln w="28575">
            <a:solidFill>
              <a:srgbClr val="D8A73D"/>
            </a:solidFill>
            <a:prstDash val="solid"/>
            <a:tailEnd type="triangle"/>
          </a:ln>
        </p:spPr>
      </p:sp>
      <p:sp>
        <p:nvSpPr>
          <p:cNvPr id="26" name="Text 23"/>
          <p:cNvSpPr txBox="1"/>
          <p:nvPr/>
        </p:nvSpPr>
        <p:spPr>
          <a:xfrm>
            <a:off x="5349240" y="3931920"/>
            <a:ext cx="1371600" cy="365760"/>
          </a:xfrm>
          <a:prstGeom prst="rect">
            <a:avLst/>
          </a:prstGeom>
          <a:noFill/>
          <a:ln/>
        </p:spPr>
        <p:txBody>
          <a:bodyPr wrap="square" lIns="0" tIns="0" rIns="0" bIns="0" rtlCol="0" anchor="ctr"/>
          <a:lstStyle/>
          <a:p>
            <a:pPr algn="ctr" indent="0" marL="0">
              <a:buNone/>
            </a:pPr>
            <a:r>
              <a:rPr lang="en-US" sz="2200" dirty="0">
                <a:solidFill>
                  <a:srgbClr val="E8C878"/>
                </a:solidFill>
                <a:latin typeface="Consolas" pitchFamily="34" charset="0"/>
                <a:ea typeface="Consolas" pitchFamily="34" charset="-122"/>
                <a:cs typeface="Consolas" pitchFamily="34" charset="-120"/>
              </a:rPr>
              <a:t>str</a:t>
            </a:r>
            <a:pPr algn="ctr" indent="0" marL="0">
              <a:buNone/>
            </a:pPr>
            <a:r>
              <a:rPr lang="en-US" sz="2200" dirty="0">
                <a:solidFill>
                  <a:srgbClr val="A9A9B4"/>
                </a:solidFill>
                <a:latin typeface="Consolas" pitchFamily="34" charset="0"/>
                <a:ea typeface="Consolas" pitchFamily="34" charset="-122"/>
                <a:cs typeface="Consolas" pitchFamily="34" charset="-120"/>
              </a:rPr>
              <a:t>(</a:t>
            </a:r>
            <a:pPr algn="ct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27" name="Shape 24"/>
          <p:cNvSpPr/>
          <p:nvPr/>
        </p:nvSpPr>
        <p:spPr>
          <a:xfrm>
            <a:off x="6812280" y="4343400"/>
            <a:ext cx="1828800" cy="868680"/>
          </a:xfrm>
          <a:prstGeom prst="roundRect">
            <a:avLst>
              <a:gd name="adj" fmla="val 6316"/>
            </a:avLst>
          </a:prstGeom>
          <a:solidFill>
            <a:srgbClr val="111115"/>
          </a:solidFill>
          <a:ln w="25400">
            <a:solidFill>
              <a:srgbClr val="E69F00"/>
            </a:solidFill>
            <a:prstDash val="solid"/>
          </a:ln>
        </p:spPr>
      </p:sp>
      <p:sp>
        <p:nvSpPr>
          <p:cNvPr id="28" name="Shape 25"/>
          <p:cNvSpPr/>
          <p:nvPr/>
        </p:nvSpPr>
        <p:spPr>
          <a:xfrm>
            <a:off x="6949440" y="4160520"/>
            <a:ext cx="822960" cy="347472"/>
          </a:xfrm>
          <a:prstGeom prst="roundRect">
            <a:avLst>
              <a:gd name="adj" fmla="val 13158"/>
            </a:avLst>
          </a:prstGeom>
          <a:solidFill>
            <a:srgbClr val="E69F00"/>
          </a:solidFill>
          <a:ln/>
        </p:spPr>
      </p:sp>
      <p:sp>
        <p:nvSpPr>
          <p:cNvPr id="29" name="Text 26"/>
          <p:cNvSpPr txBox="1"/>
          <p:nvPr/>
        </p:nvSpPr>
        <p:spPr>
          <a:xfrm>
            <a:off x="6949440" y="4160520"/>
            <a:ext cx="822960"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str</a:t>
            </a:r>
            <a:endParaRPr lang="en-US" sz="1400" dirty="0"/>
          </a:p>
        </p:txBody>
      </p:sp>
      <p:sp>
        <p:nvSpPr>
          <p:cNvPr id="30" name="Text 27"/>
          <p:cNvSpPr txBox="1"/>
          <p:nvPr/>
        </p:nvSpPr>
        <p:spPr>
          <a:xfrm>
            <a:off x="6903720" y="4526280"/>
            <a:ext cx="16459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"300"</a:t>
            </a:r>
            <a:endParaRPr lang="en-US" sz="2600" dirty="0"/>
          </a:p>
        </p:txBody>
      </p:sp>
      <p:sp>
        <p:nvSpPr>
          <p:cNvPr id="31" name="Text 28"/>
          <p:cNvSpPr txBox="1"/>
          <p:nvPr/>
        </p:nvSpPr>
        <p:spPr>
          <a:xfrm>
            <a:off x="8869680" y="4343400"/>
            <a:ext cx="2743200" cy="86868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now + can join it</a:t>
            </a:r>
            <a:endParaRPr lang="en-US" sz="2200" dirty="0"/>
          </a:p>
        </p:txBody>
      </p:sp>
      <p:pic>
        <p:nvPicPr>
          <p:cNvPr id="32"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3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85%   ·   POWER 31%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whole recipe</a:t>
            </a:r>
            <a:endParaRPr lang="en-US" sz="3600" dirty="0"/>
          </a:p>
        </p:txBody>
      </p:sp>
      <p:sp>
        <p:nvSpPr>
          <p:cNvPr id="5" name="code"/>
          <p:cNvSpPr/>
          <p:nvPr/>
        </p:nvSpPr>
        <p:spPr>
          <a:xfrm>
            <a:off x="548640" y="1600200"/>
            <a:ext cx="7223760" cy="3008376"/>
          </a:xfrm>
          <a:prstGeom prst="roundRect">
            <a:avLst>
              <a:gd name="adj" fmla="val 2432"/>
            </a:avLst>
          </a:prstGeom>
          <a:solidFill>
            <a:srgbClr val="111115"/>
          </a:solidFill>
          <a:ln w="15875">
            <a:solidFill>
              <a:srgbClr val="3A3A44"/>
            </a:solidFill>
            <a:prstDash val="solid"/>
          </a:ln>
        </p:spPr>
      </p:sp>
      <p:sp>
        <p:nvSpPr>
          <p:cNvPr id="6" name="Text 3"/>
          <p:cNvSpPr txBox="1"/>
          <p:nvPr/>
        </p:nvSpPr>
        <p:spPr>
          <a:xfrm>
            <a:off x="658368" y="1801368"/>
            <a:ext cx="274320" cy="86868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801368"/>
            <a:ext cx="6492240" cy="86868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hours</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"Hours until rescue: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5"/>
          <p:cNvSpPr txBox="1"/>
          <p:nvPr/>
        </p:nvSpPr>
        <p:spPr>
          <a:xfrm>
            <a:off x="658368" y="2670048"/>
            <a:ext cx="274320" cy="86868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670048"/>
            <a:ext cx="6492240" cy="86868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oxygen</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hours</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10" name="Text 7"/>
          <p:cNvSpPr txBox="1"/>
          <p:nvPr/>
        </p:nvSpPr>
        <p:spPr>
          <a:xfrm>
            <a:off x="658368" y="3538728"/>
            <a:ext cx="274320" cy="86868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1" name="Text 8"/>
          <p:cNvSpPr txBox="1"/>
          <p:nvPr/>
        </p:nvSpPr>
        <p:spPr>
          <a:xfrm>
            <a:off x="1188720" y="3538728"/>
            <a:ext cx="6492240" cy="86868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"Oxygen: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str</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oxygen</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Shape 9"/>
          <p:cNvSpPr/>
          <p:nvPr/>
        </p:nvSpPr>
        <p:spPr>
          <a:xfrm>
            <a:off x="7863840" y="2235708"/>
            <a:ext cx="502920" cy="0"/>
          </a:xfrm>
          <a:prstGeom prst="line">
            <a:avLst/>
          </a:prstGeom>
          <a:noFill/>
          <a:ln w="28575">
            <a:solidFill>
              <a:srgbClr val="6E6E7A"/>
            </a:solidFill>
            <a:prstDash val="solid"/>
            <a:tailEnd type="triangle"/>
          </a:ln>
        </p:spPr>
      </p:sp>
      <p:sp>
        <p:nvSpPr>
          <p:cNvPr id="13" name="Text 10"/>
          <p:cNvSpPr txBox="1"/>
          <p:nvPr/>
        </p:nvSpPr>
        <p:spPr>
          <a:xfrm>
            <a:off x="8503920" y="1869948"/>
            <a:ext cx="3154680" cy="731520"/>
          </a:xfrm>
          <a:prstGeom prst="rect">
            <a:avLst/>
          </a:prstGeom>
          <a:noFill/>
          <a:ln/>
        </p:spPr>
        <p:txBody>
          <a:bodyPr wrap="square" lIns="0" tIns="0" rIns="0" bIns="0" rtlCol="0" anchor="ctr"/>
          <a:lstStyle/>
          <a:p>
            <a:pPr indent="0" marL="0">
              <a:buNone/>
            </a:pPr>
            <a:r>
              <a:rPr lang="en-US" sz="2200" b="1" dirty="0">
                <a:solidFill>
                  <a:srgbClr val="D8A73D"/>
                </a:solidFill>
                <a:latin typeface="Cambria" pitchFamily="34" charset="0"/>
                <a:ea typeface="Cambria" pitchFamily="34" charset="-122"/>
                <a:cs typeface="Cambria" pitchFamily="34" charset="-120"/>
              </a:rPr>
              <a:t>Ask</a:t>
            </a:r>
            <a:pPr indent="0" marL="0">
              <a:buNone/>
            </a:pPr>
            <a:r>
              <a:rPr lang="en-US" sz="2200" dirty="0">
                <a:solidFill>
                  <a:srgbClr val="6E6E7A"/>
                </a:solidFill>
                <a:latin typeface="Cambria" pitchFamily="34" charset="0"/>
                <a:ea typeface="Cambria" pitchFamily="34" charset="-122"/>
                <a:cs typeface="Cambria" pitchFamily="34" charset="-120"/>
              </a:rPr>
              <a:t>  ·  </a:t>
            </a:r>
            <a:pPr indent="0" marL="0">
              <a:buNone/>
            </a:pPr>
            <a:r>
              <a:rPr lang="en-US" sz="2200" b="1" dirty="0">
                <a:solidFill>
                  <a:srgbClr val="D8A73D"/>
                </a:solidFill>
                <a:latin typeface="Cambria" pitchFamily="34" charset="0"/>
                <a:ea typeface="Cambria" pitchFamily="34" charset="-122"/>
                <a:cs typeface="Cambria" pitchFamily="34" charset="-120"/>
              </a:rPr>
              <a:t>Convert</a:t>
            </a:r>
            <a:pPr indent="0" marL="0">
              <a:buNone/>
            </a:pPr>
            <a:r>
              <a:rPr lang="en-US" sz="2200" dirty="0">
                <a:solidFill>
                  <a:srgbClr val="6E6E7A"/>
                </a:solidFill>
                <a:latin typeface="Cambria" pitchFamily="34" charset="0"/>
                <a:ea typeface="Cambria" pitchFamily="34" charset="-122"/>
                <a:cs typeface="Cambria" pitchFamily="34" charset="-120"/>
              </a:rPr>
              <a:t>  ·  </a:t>
            </a:r>
            <a:pPr indent="0" marL="0">
              <a:buNone/>
            </a:pPr>
            <a:r>
              <a:rPr lang="en-US" sz="2200" b="1" dirty="0">
                <a:solidFill>
                  <a:srgbClr val="D8A73D"/>
                </a:solidFill>
                <a:latin typeface="Cambria" pitchFamily="34" charset="0"/>
                <a:ea typeface="Cambria" pitchFamily="34" charset="-122"/>
                <a:cs typeface="Cambria" pitchFamily="34" charset="-120"/>
              </a:rPr>
              <a:t>Store</a:t>
            </a:r>
            <a:endParaRPr lang="en-US" sz="2200" dirty="0"/>
          </a:p>
        </p:txBody>
      </p:sp>
      <p:sp>
        <p:nvSpPr>
          <p:cNvPr id="14" name="Shape 11"/>
          <p:cNvSpPr/>
          <p:nvPr/>
        </p:nvSpPr>
        <p:spPr>
          <a:xfrm>
            <a:off x="7863840" y="3104388"/>
            <a:ext cx="502920" cy="0"/>
          </a:xfrm>
          <a:prstGeom prst="line">
            <a:avLst/>
          </a:prstGeom>
          <a:noFill/>
          <a:ln w="28575">
            <a:solidFill>
              <a:srgbClr val="6E6E7A"/>
            </a:solidFill>
            <a:prstDash val="solid"/>
            <a:tailEnd type="triangle"/>
          </a:ln>
        </p:spPr>
      </p:sp>
      <p:sp>
        <p:nvSpPr>
          <p:cNvPr id="15" name="Text 12"/>
          <p:cNvSpPr txBox="1"/>
          <p:nvPr/>
        </p:nvSpPr>
        <p:spPr>
          <a:xfrm>
            <a:off x="8503920" y="2738628"/>
            <a:ext cx="3154680" cy="731520"/>
          </a:xfrm>
          <a:prstGeom prst="rect">
            <a:avLst/>
          </a:prstGeom>
          <a:noFill/>
          <a:ln/>
        </p:spPr>
        <p:txBody>
          <a:bodyPr wrap="square" lIns="0" tIns="0" rIns="0" bIns="0" rtlCol="0" anchor="ctr"/>
          <a:lstStyle/>
          <a:p>
            <a:pPr indent="0" marL="0">
              <a:buNone/>
            </a:pPr>
            <a:r>
              <a:rPr lang="en-US" sz="2200" b="1" dirty="0">
                <a:solidFill>
                  <a:srgbClr val="D8A73D"/>
                </a:solidFill>
                <a:latin typeface="Cambria" pitchFamily="34" charset="0"/>
                <a:ea typeface="Cambria" pitchFamily="34" charset="-122"/>
                <a:cs typeface="Cambria" pitchFamily="34" charset="-120"/>
              </a:rPr>
              <a:t>Calculate</a:t>
            </a:r>
            <a:endParaRPr lang="en-US" sz="2200" dirty="0"/>
          </a:p>
        </p:txBody>
      </p:sp>
      <p:sp>
        <p:nvSpPr>
          <p:cNvPr id="16" name="Shape 13"/>
          <p:cNvSpPr/>
          <p:nvPr/>
        </p:nvSpPr>
        <p:spPr>
          <a:xfrm>
            <a:off x="7863840" y="3973068"/>
            <a:ext cx="502920" cy="0"/>
          </a:xfrm>
          <a:prstGeom prst="line">
            <a:avLst/>
          </a:prstGeom>
          <a:noFill/>
          <a:ln w="28575">
            <a:solidFill>
              <a:srgbClr val="6E6E7A"/>
            </a:solidFill>
            <a:prstDash val="solid"/>
            <a:tailEnd type="triangle"/>
          </a:ln>
        </p:spPr>
      </p:sp>
      <p:sp>
        <p:nvSpPr>
          <p:cNvPr id="17" name="Text 14"/>
          <p:cNvSpPr txBox="1"/>
          <p:nvPr/>
        </p:nvSpPr>
        <p:spPr>
          <a:xfrm>
            <a:off x="8503920" y="3607308"/>
            <a:ext cx="3154680" cy="731520"/>
          </a:xfrm>
          <a:prstGeom prst="rect">
            <a:avLst/>
          </a:prstGeom>
          <a:noFill/>
          <a:ln/>
        </p:spPr>
        <p:txBody>
          <a:bodyPr wrap="square" lIns="0" tIns="0" rIns="0" bIns="0" rtlCol="0" anchor="ctr"/>
          <a:lstStyle/>
          <a:p>
            <a:pPr indent="0" marL="0">
              <a:buNone/>
            </a:pPr>
            <a:r>
              <a:rPr lang="en-US" sz="2200" b="1" dirty="0">
                <a:solidFill>
                  <a:srgbClr val="D8A73D"/>
                </a:solidFill>
                <a:latin typeface="Cambria" pitchFamily="34" charset="0"/>
                <a:ea typeface="Cambria" pitchFamily="34" charset="-122"/>
                <a:cs typeface="Cambria" pitchFamily="34" charset="-120"/>
              </a:rPr>
              <a:t>Output</a:t>
            </a:r>
            <a:pPr indent="0" marL="0">
              <a:buNone/>
            </a:pPr>
            <a:r>
              <a:rPr lang="en-US" sz="2200" dirty="0">
                <a:solidFill>
                  <a:srgbClr val="A9A9B4"/>
                </a:solidFill>
                <a:latin typeface="Cambria" pitchFamily="34" charset="0"/>
                <a:ea typeface="Cambria" pitchFamily="34" charset="-122"/>
                <a:cs typeface="Cambria" pitchFamily="34" charset="-120"/>
              </a:rPr>
              <a:t>  —  str() to join</a:t>
            </a:r>
            <a:endParaRPr lang="en-US" sz="2200" dirty="0"/>
          </a:p>
        </p:txBody>
      </p:sp>
      <p:sp>
        <p:nvSpPr>
          <p:cNvPr id="18" name="Shape 15"/>
          <p:cNvSpPr/>
          <p:nvPr/>
        </p:nvSpPr>
        <p:spPr>
          <a:xfrm>
            <a:off x="548640" y="4800600"/>
            <a:ext cx="11091672" cy="1005840"/>
          </a:xfrm>
          <a:prstGeom prst="roundRect">
            <a:avLst>
              <a:gd name="adj" fmla="val 7273"/>
            </a:avLst>
          </a:prstGeom>
          <a:solidFill>
            <a:srgbClr val="2A2A32"/>
          </a:solidFill>
          <a:ln/>
        </p:spPr>
      </p:sp>
      <p:sp>
        <p:nvSpPr>
          <p:cNvPr id="19" name="Text 16"/>
          <p:cNvSpPr txBox="1"/>
          <p:nvPr/>
        </p:nvSpPr>
        <p:spPr>
          <a:xfrm>
            <a:off x="914400" y="4800600"/>
            <a:ext cx="10332720" cy="100584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Line 1 runs inside-out: </a:t>
            </a:r>
            <a:pPr indent="0" marL="0">
              <a:buNone/>
            </a:pPr>
            <a:r>
              <a:rPr lang="en-US" sz="2200" dirty="0">
                <a:solidFill>
                  <a:srgbClr val="F5F5F3"/>
                </a:solidFill>
                <a:latin typeface="Calibri" pitchFamily="34" charset="0"/>
                <a:ea typeface="Calibri" pitchFamily="34" charset="-122"/>
                <a:cs typeface="Calibri" pitchFamily="34" charset="-120"/>
              </a:rPr>
              <a:t>input() first, then int(), then = stores it.</a:t>
            </a:r>
            <a:endParaRPr lang="en-US" sz="2200" dirty="0"/>
          </a:p>
        </p:txBody>
      </p:sp>
      <p:pic>
        <p:nvPicPr>
          <p:cNvPr id="20"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82%   ·   POWER 31%   ·   CREW AWAKE 1/5</a:t>
            </a:r>
            <a:endParaRPr lang="en-US" sz="1100" dirty="0"/>
          </a:p>
        </p:txBody>
      </p:sp>
      <p:sp>
        <p:nvSpPr>
          <p:cNvPr id="4" name="Text 1"/>
          <p:cNvSpPr txBox="1"/>
          <p:nvPr/>
        </p:nvSpPr>
        <p:spPr>
          <a:xfrm>
            <a:off x="548640" y="548640"/>
            <a:ext cx="73152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THE STORY SO FAR</a:t>
            </a:r>
            <a:endParaRPr lang="en-US" sz="1400" dirty="0"/>
          </a:p>
        </p:txBody>
      </p:sp>
      <p:sp>
        <p:nvSpPr>
          <p:cNvPr id="5" name="Text 2"/>
          <p:cNvSpPr txBox="1"/>
          <p:nvPr/>
        </p:nvSpPr>
        <p:spPr>
          <a:xfrm>
            <a:off x="548640" y="914400"/>
            <a:ext cx="91440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Life Support</a:t>
            </a:r>
            <a:endParaRPr lang="en-US" sz="4800" dirty="0"/>
          </a:p>
        </p:txBody>
      </p:sp>
      <p:sp>
        <p:nvSpPr>
          <p:cNvPr id="6" name="terminal"/>
          <p:cNvSpPr/>
          <p:nvPr/>
        </p:nvSpPr>
        <p:spPr>
          <a:xfrm>
            <a:off x="548640" y="2148840"/>
            <a:ext cx="11091672" cy="3063240"/>
          </a:xfrm>
          <a:prstGeom prst="roundRect">
            <a:avLst>
              <a:gd name="adj" fmla="val 2388"/>
            </a:avLst>
          </a:prstGeom>
          <a:solidFill>
            <a:srgbClr val="0D1310"/>
          </a:solidFill>
          <a:ln w="15875">
            <a:solidFill>
              <a:srgbClr val="2C4434"/>
            </a:solidFill>
            <a:prstDash val="solid"/>
          </a:ln>
        </p:spPr>
      </p:sp>
      <p:sp>
        <p:nvSpPr>
          <p:cNvPr id="7" name="Text 4"/>
          <p:cNvSpPr txBox="1"/>
          <p:nvPr/>
        </p:nvSpPr>
        <p:spPr>
          <a:xfrm>
            <a:off x="777240" y="2331720"/>
            <a:ext cx="10634472"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CREW LOCATOR</a:t>
            </a:r>
            <a:endParaRPr lang="en-US" sz="1200" dirty="0"/>
          </a:p>
        </p:txBody>
      </p:sp>
      <p:sp>
        <p:nvSpPr>
          <p:cNvPr id="8" name="Text 5"/>
          <p:cNvSpPr txBox="1"/>
          <p:nvPr/>
        </p:nvSpPr>
        <p:spPr>
          <a:xfrm>
            <a:off x="777240" y="26974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Engineer Hale died three days ago.</a:t>
            </a:r>
            <a:endParaRPr lang="en-US" sz="2600" dirty="0"/>
          </a:p>
        </p:txBody>
      </p:sp>
      <p:sp>
        <p:nvSpPr>
          <p:cNvPr id="9" name="Text 6"/>
          <p:cNvSpPr txBox="1"/>
          <p:nvPr/>
        </p:nvSpPr>
        <p:spPr>
          <a:xfrm>
            <a:off x="777240" y="3154680"/>
            <a:ext cx="10634472" cy="457200"/>
          </a:xfrm>
          <a:prstGeom prst="rect">
            <a:avLst/>
          </a:prstGeom>
          <a:noFill/>
          <a:ln/>
        </p:spPr>
        <p:txBody>
          <a:bodyPr wrap="square" lIns="0" tIns="0" rIns="0" bIns="0" rtlCol="0" anchor="ctr"/>
          <a:lstStyle/>
          <a:p>
            <a:pPr indent="0" marL="0">
              <a:buNone/>
            </a:pPr>
            <a:endParaRPr lang="en-US" sz="2600" dirty="0"/>
          </a:p>
        </p:txBody>
      </p:sp>
      <p:sp>
        <p:nvSpPr>
          <p:cNvPr id="10" name="Text 7"/>
          <p:cNvSpPr txBox="1"/>
          <p:nvPr/>
        </p:nvSpPr>
        <p:spPr>
          <a:xfrm>
            <a:off x="777240" y="36118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Now his tag is walking the station: not human.</a:t>
            </a:r>
            <a:endParaRPr lang="en-US" sz="2600" dirty="0"/>
          </a:p>
        </p:txBody>
      </p:sp>
      <p:sp>
        <p:nvSpPr>
          <p:cNvPr id="11" name="Text 8"/>
          <p:cNvSpPr txBox="1"/>
          <p:nvPr/>
        </p:nvSpPr>
        <p:spPr>
          <a:xfrm>
            <a:off x="777240" y="4069080"/>
            <a:ext cx="10634472" cy="457200"/>
          </a:xfrm>
          <a:prstGeom prst="rect">
            <a:avLst/>
          </a:prstGeom>
          <a:noFill/>
          <a:ln/>
        </p:spPr>
        <p:txBody>
          <a:bodyPr wrap="square" lIns="0" tIns="0" rIns="0" bIns="0" rtlCol="0" anchor="ctr"/>
          <a:lstStyle/>
          <a:p>
            <a:pPr indent="0" marL="0">
              <a:buNone/>
            </a:pPr>
            <a:endParaRPr lang="en-US" sz="2600" dirty="0"/>
          </a:p>
        </p:txBody>
      </p:sp>
      <p:sp>
        <p:nvSpPr>
          <p:cNvPr id="12" name="Text 9"/>
          <p:cNvSpPr txBox="1"/>
          <p:nvPr/>
        </p:nvSpPr>
        <p:spPr>
          <a:xfrm>
            <a:off x="777240" y="45262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And the air is running out.</a:t>
            </a:r>
            <a:endParaRPr lang="en-US" sz="2600" dirty="0"/>
          </a:p>
        </p:txBody>
      </p:sp>
      <p:pic>
        <p:nvPicPr>
          <p:cNvPr id="1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79%   ·   POWER 31%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trace it</a:t>
            </a:r>
            <a:endParaRPr lang="en-US" sz="3600" dirty="0"/>
          </a:p>
        </p:txBody>
      </p:sp>
      <p:sp>
        <p:nvSpPr>
          <p:cNvPr id="5" name="code"/>
          <p:cNvSpPr/>
          <p:nvPr/>
        </p:nvSpPr>
        <p:spPr>
          <a:xfrm>
            <a:off x="548640" y="1508760"/>
            <a:ext cx="8046720" cy="1785366"/>
          </a:xfrm>
          <a:prstGeom prst="roundRect">
            <a:avLst>
              <a:gd name="adj" fmla="val 4097"/>
            </a:avLst>
          </a:prstGeom>
          <a:solidFill>
            <a:srgbClr val="111115"/>
          </a:solidFill>
          <a:ln w="15875">
            <a:solidFill>
              <a:srgbClr val="3A3A44"/>
            </a:solidFill>
            <a:prstDash val="solid"/>
          </a:ln>
        </p:spPr>
      </p:sp>
      <p:sp>
        <p:nvSpPr>
          <p:cNvPr id="6" name="Text 3"/>
          <p:cNvSpPr txBox="1"/>
          <p:nvPr/>
        </p:nvSpPr>
        <p:spPr>
          <a:xfrm>
            <a:off x="658368" y="170992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70992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"Battery %: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5"/>
          <p:cNvSpPr txBox="1"/>
          <p:nvPr/>
        </p:nvSpPr>
        <p:spPr>
          <a:xfrm>
            <a:off x="658368" y="217093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17093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15</a:t>
            </a:r>
            <a:endParaRPr lang="en-US" sz="2200" dirty="0"/>
          </a:p>
        </p:txBody>
      </p:sp>
      <p:sp>
        <p:nvSpPr>
          <p:cNvPr id="10" name="Text 7"/>
          <p:cNvSpPr txBox="1"/>
          <p:nvPr/>
        </p:nvSpPr>
        <p:spPr>
          <a:xfrm>
            <a:off x="658368" y="263194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1" name="Text 8"/>
          <p:cNvSpPr txBox="1"/>
          <p:nvPr/>
        </p:nvSpPr>
        <p:spPr>
          <a:xfrm>
            <a:off x="1188720" y="2631948"/>
            <a:ext cx="731520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"Power left: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str</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Shape 9"/>
          <p:cNvSpPr/>
          <p:nvPr/>
        </p:nvSpPr>
        <p:spPr>
          <a:xfrm>
            <a:off x="8823960" y="1508760"/>
            <a:ext cx="2816352" cy="1719072"/>
          </a:xfrm>
          <a:prstGeom prst="roundRect">
            <a:avLst>
              <a:gd name="adj" fmla="val 4255"/>
            </a:avLst>
          </a:prstGeom>
          <a:solidFill>
            <a:srgbClr val="2A2A32"/>
          </a:solidFill>
          <a:ln/>
        </p:spPr>
      </p:sp>
      <p:sp>
        <p:nvSpPr>
          <p:cNvPr id="13" name="Text 10"/>
          <p:cNvSpPr txBox="1"/>
          <p:nvPr/>
        </p:nvSpPr>
        <p:spPr>
          <a:xfrm>
            <a:off x="9052560" y="1691640"/>
            <a:ext cx="246888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4" name="Text 11"/>
          <p:cNvSpPr txBox="1"/>
          <p:nvPr/>
        </p:nvSpPr>
        <p:spPr>
          <a:xfrm>
            <a:off x="9052560" y="2057400"/>
            <a:ext cx="2377440" cy="914400"/>
          </a:xfrm>
          <a:prstGeom prst="rect">
            <a:avLst/>
          </a:prstGeom>
          <a:noFill/>
          <a:ln/>
        </p:spPr>
        <p:txBody>
          <a:bodyPr wrap="square" lIns="0" tIns="0" rIns="0" bIns="0" rtlCol="0" anchor="ctr"/>
          <a:lstStyle/>
          <a:p>
            <a:pPr indent="0" marL="0">
              <a:buNone/>
            </a:pPr>
            <a:r>
              <a:rPr lang="en-US" sz="4000" b="1" dirty="0">
                <a:solidFill>
                  <a:srgbClr val="E69F00"/>
                </a:solidFill>
                <a:latin typeface="Consolas" pitchFamily="34" charset="0"/>
                <a:ea typeface="Consolas" pitchFamily="34" charset="-122"/>
                <a:cs typeface="Consolas" pitchFamily="34" charset="-120"/>
              </a:rPr>
              <a:t>80</a:t>
            </a:r>
            <a:endParaRPr lang="en-US" sz="4000" dirty="0"/>
          </a:p>
        </p:txBody>
      </p:sp>
      <p:sp>
        <p:nvSpPr>
          <p:cNvPr id="15" name="Shape 12"/>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6" name="Text 13"/>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 MIN</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1672" cy="914400"/>
        </p:xfrm>
        <a:graphic>
          <a:graphicData uri="http://schemas.openxmlformats.org/drawingml/2006/table">
            <a:tbl>
              <a:tblPr/>
              <a:tblGrid>
                <a:gridCol w="1280160"/>
                <a:gridCol w="2377440"/>
                <a:gridCol w="7434072"/>
              </a:tblGrid>
              <a:tr h="475488">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Line</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56B4E9"/>
                          </a:solidFill>
                          <a:latin typeface="Consolas" pitchFamily="34" charset="0"/>
                          <a:ea typeface="Consolas" pitchFamily="34" charset="-122"/>
                          <a:cs typeface="Consolas" pitchFamily="34" charset="-120"/>
                        </a:rPr>
                        <a:t>battery</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Output</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pic>
        <p:nvPicPr>
          <p:cNvPr id="18"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76%   ·   POWER 31%   ·   CREW AWAKE 1/5</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Trace — answers</a:t>
            </a:r>
            <a:endParaRPr lang="en-US" sz="3600" dirty="0"/>
          </a:p>
        </p:txBody>
      </p:sp>
      <p:sp>
        <p:nvSpPr>
          <p:cNvPr id="5" name="code"/>
          <p:cNvSpPr/>
          <p:nvPr/>
        </p:nvSpPr>
        <p:spPr>
          <a:xfrm>
            <a:off x="548640" y="1508760"/>
            <a:ext cx="8046720" cy="1785366"/>
          </a:xfrm>
          <a:prstGeom prst="roundRect">
            <a:avLst>
              <a:gd name="adj" fmla="val 4097"/>
            </a:avLst>
          </a:prstGeom>
          <a:solidFill>
            <a:srgbClr val="111115"/>
          </a:solidFill>
          <a:ln w="15875">
            <a:solidFill>
              <a:srgbClr val="3A3A44"/>
            </a:solidFill>
            <a:prstDash val="solid"/>
          </a:ln>
        </p:spPr>
      </p:sp>
      <p:sp>
        <p:nvSpPr>
          <p:cNvPr id="6" name="Text 3"/>
          <p:cNvSpPr txBox="1"/>
          <p:nvPr/>
        </p:nvSpPr>
        <p:spPr>
          <a:xfrm>
            <a:off x="658368" y="170992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7" name="Text 4"/>
          <p:cNvSpPr txBox="1"/>
          <p:nvPr/>
        </p:nvSpPr>
        <p:spPr>
          <a:xfrm>
            <a:off x="1188720" y="170992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"Battery %: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5"/>
          <p:cNvSpPr txBox="1"/>
          <p:nvPr/>
        </p:nvSpPr>
        <p:spPr>
          <a:xfrm>
            <a:off x="658368" y="217093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9" name="Text 6"/>
          <p:cNvSpPr txBox="1"/>
          <p:nvPr/>
        </p:nvSpPr>
        <p:spPr>
          <a:xfrm>
            <a:off x="1188720" y="217093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15</a:t>
            </a:r>
            <a:endParaRPr lang="en-US" sz="2200" dirty="0"/>
          </a:p>
        </p:txBody>
      </p:sp>
      <p:sp>
        <p:nvSpPr>
          <p:cNvPr id="10" name="Shape 7"/>
          <p:cNvSpPr/>
          <p:nvPr/>
        </p:nvSpPr>
        <p:spPr>
          <a:xfrm>
            <a:off x="603504" y="2631948"/>
            <a:ext cx="7936992" cy="461010"/>
          </a:xfrm>
          <a:prstGeom prst="rect">
            <a:avLst/>
          </a:prstGeom>
          <a:solidFill>
            <a:srgbClr val="2B2618"/>
          </a:solidFill>
          <a:ln/>
        </p:spPr>
      </p:sp>
      <p:sp>
        <p:nvSpPr>
          <p:cNvPr id="11" name="Text 8"/>
          <p:cNvSpPr txBox="1"/>
          <p:nvPr/>
        </p:nvSpPr>
        <p:spPr>
          <a:xfrm>
            <a:off x="658368" y="263194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2" name="Text 9"/>
          <p:cNvSpPr txBox="1"/>
          <p:nvPr/>
        </p:nvSpPr>
        <p:spPr>
          <a:xfrm>
            <a:off x="1188720" y="2631948"/>
            <a:ext cx="731520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"Power left: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str</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Shape 10"/>
          <p:cNvSpPr/>
          <p:nvPr/>
        </p:nvSpPr>
        <p:spPr>
          <a:xfrm>
            <a:off x="8823960" y="1508760"/>
            <a:ext cx="2816352" cy="1719072"/>
          </a:xfrm>
          <a:prstGeom prst="roundRect">
            <a:avLst>
              <a:gd name="adj" fmla="val 4255"/>
            </a:avLst>
          </a:prstGeom>
          <a:solidFill>
            <a:srgbClr val="2A2A32"/>
          </a:solidFill>
          <a:ln/>
        </p:spPr>
      </p:sp>
      <p:sp>
        <p:nvSpPr>
          <p:cNvPr id="14" name="Text 11"/>
          <p:cNvSpPr txBox="1"/>
          <p:nvPr/>
        </p:nvSpPr>
        <p:spPr>
          <a:xfrm>
            <a:off x="9052560" y="1600200"/>
            <a:ext cx="2468880" cy="1536192"/>
          </a:xfrm>
          <a:prstGeom prst="rect">
            <a:avLst/>
          </a:prstGeom>
          <a:noFill/>
          <a:ln/>
        </p:spPr>
        <p:txBody>
          <a:bodyPr wrap="square" lIns="0" tIns="0" rIns="0" bIns="0" rtlCol="0" anchor="ctr"/>
          <a:lstStyle/>
          <a:p>
            <a:pPr indent="0" marL="0">
              <a:spcAft>
                <a:spcPts val="600"/>
              </a:spcAft>
              <a:buNone/>
            </a:pPr>
            <a:r>
              <a:rPr lang="en-US" sz="2200" dirty="0">
                <a:solidFill>
                  <a:srgbClr val="F5F5F3"/>
                </a:solidFill>
                <a:latin typeface="Calibri" pitchFamily="34" charset="0"/>
                <a:ea typeface="Calibri" pitchFamily="34" charset="-122"/>
                <a:cs typeface="Calibri" pitchFamily="34" charset="-120"/>
              </a:rPr>
              <a:t>Without </a:t>
            </a:r>
            <a:pPr indent="0" marL="0">
              <a:spcAft>
                <a:spcPts val="600"/>
              </a:spcAft>
              <a:buNone/>
            </a:pPr>
            <a:r>
              <a:rPr lang="en-US" sz="2200" b="1" dirty="0">
                <a:solidFill>
                  <a:srgbClr val="E8C878"/>
                </a:solidFill>
                <a:latin typeface="Consolas" pitchFamily="34" charset="0"/>
                <a:ea typeface="Consolas" pitchFamily="34" charset="-122"/>
                <a:cs typeface="Consolas" pitchFamily="34" charset="-120"/>
              </a:rPr>
              <a:t>str()</a:t>
            </a:r>
            <a:pPr indent="0" marL="0">
              <a:spcAft>
                <a:spcPts val="600"/>
              </a:spcAft>
              <a:buNone/>
            </a:pPr>
            <a:endParaRPr lang="en-US" sz="2200" dirty="0"/>
          </a:p>
          <a:p>
            <a:pPr indent="0" marL="0">
              <a:spcAft>
                <a:spcPts val="600"/>
              </a:spcAft>
              <a:buNone/>
            </a:pPr>
            <a:r>
              <a:rPr lang="en-US" sz="2200" b="1" dirty="0">
                <a:solidFill>
                  <a:srgbClr val="FF6B6B"/>
                </a:solidFill>
                <a:latin typeface="Consolas" pitchFamily="34" charset="0"/>
                <a:ea typeface="Consolas" pitchFamily="34" charset="-122"/>
                <a:cs typeface="Consolas" pitchFamily="34" charset="-120"/>
              </a:rPr>
              <a:t>TypeError</a:t>
            </a:r>
            <a:endParaRPr lang="en-US" sz="2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1672" cy="914400"/>
        </p:xfrm>
        <a:graphic>
          <a:graphicData uri="http://schemas.openxmlformats.org/drawingml/2006/table">
            <a:tbl>
              <a:tblPr/>
              <a:tblGrid>
                <a:gridCol w="1280160"/>
                <a:gridCol w="2377440"/>
                <a:gridCol w="7434072"/>
              </a:tblGrid>
              <a:tr h="475488">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Line</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56B4E9"/>
                          </a:solidFill>
                          <a:latin typeface="Consolas" pitchFamily="34" charset="0"/>
                          <a:ea typeface="Consolas" pitchFamily="34" charset="-122"/>
                          <a:cs typeface="Consolas" pitchFamily="34" charset="-120"/>
                        </a:rPr>
                        <a:t>battery</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Output</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2000" b="1" dirty="0">
                          <a:solidFill>
                            <a:srgbClr val="56B4E9"/>
                          </a:solidFill>
                          <a:latin typeface="Consolas" pitchFamily="34" charset="0"/>
                          <a:ea typeface="Consolas" pitchFamily="34" charset="-122"/>
                          <a:cs typeface="Consolas" pitchFamily="34" charset="-120"/>
                        </a:rPr>
                        <a:t>80</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r>
                        <a:rPr lang="en-US" sz="2000" b="1" dirty="0">
                          <a:solidFill>
                            <a:srgbClr val="56B4E9"/>
                          </a:solidFill>
                          <a:latin typeface="Consolas" pitchFamily="34" charset="0"/>
                          <a:ea typeface="Consolas" pitchFamily="34" charset="-122"/>
                          <a:cs typeface="Consolas" pitchFamily="34" charset="-120"/>
                        </a:rPr>
                        <a:t>65</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r>
                        <a:rPr lang="en-US" sz="2000" dirty="0">
                          <a:solidFill>
                            <a:srgbClr val="D8A73D"/>
                          </a:solidFill>
                          <a:latin typeface="Consolas" pitchFamily="34" charset="0"/>
                          <a:ea typeface="Consolas" pitchFamily="34" charset="-122"/>
                          <a:cs typeface="Consolas" pitchFamily="34" charset="-120"/>
                        </a:rPr>
                        <a:t>Power left: 65%</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pic>
        <p:nvPicPr>
          <p:cNvPr id="16" name="Image 1" descr="Feedback">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73%   ·   POWER 31%   ·   CREW AWAKE 1/5</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2</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Life Support</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CORRIDOR C</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A trail of frost leads</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to Life Support.</a:t>
            </a: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Something that cold</a:t>
            </a:r>
            <a:endParaRPr lang="en-US" sz="2000" dirty="0"/>
          </a:p>
        </p:txBody>
      </p:sp>
      <p:sp>
        <p:nvSpPr>
          <p:cNvPr id="12" name="Text 9"/>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shouldn’t be able to walk.</a:t>
            </a:r>
            <a:endParaRPr lang="en-US" sz="2000" dirty="0"/>
          </a:p>
        </p:txBody>
      </p:sp>
      <p:sp>
        <p:nvSpPr>
          <p:cNvPr id="13" name="Shape 10"/>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11"/>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2"/>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Life Support</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3"/>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4"/>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5"/>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6"/>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7"/>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8"/>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9"/>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20"/>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21"/>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2"/>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3"/>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4"/>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5"/>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6"/>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7"/>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8"/>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again. </a:t>
            </a:r>
            <a:pPr indent="0" marL="0">
              <a:buNone/>
            </a:pPr>
            <a:r>
              <a:rPr lang="en-US" sz="1900" dirty="0">
                <a:solidFill>
                  <a:srgbClr val="F5F5F3"/>
                </a:solidFill>
                <a:latin typeface="Calibri" pitchFamily="34" charset="0"/>
                <a:ea typeface="Calibri" pitchFamily="34" charset="-122"/>
                <a:cs typeface="Calibri" pitchFamily="34" charset="-120"/>
              </a:rPr>
              <a:t>Your choice and your door choice decide what happens to Pod 5.</a:t>
            </a:r>
            <a:endParaRPr lang="en-US" sz="1900" dirty="0"/>
          </a:p>
        </p:txBody>
      </p:sp>
      <p:sp>
        <p:nvSpPr>
          <p:cNvPr id="32" name="Shape 29"/>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30"/>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4"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auto · 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5"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6"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7"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8" name="Shape 5"/>
          <p:cNvSpPr/>
          <p:nvPr/>
        </p:nvSpPr>
        <p:spPr>
          <a:xfrm>
            <a:off x="548640" y="2953512"/>
            <a:ext cx="438912" cy="438912"/>
          </a:xfrm>
          <a:prstGeom prst="ellipse">
            <a:avLst/>
          </a:prstGeom>
          <a:solidFill>
            <a:srgbClr val="D8A73D"/>
          </a:solidFill>
          <a:ln/>
        </p:spPr>
      </p:sp>
      <p:sp>
        <p:nvSpPr>
          <p:cNvPr id="9"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11" name="Shape 8"/>
          <p:cNvSpPr/>
          <p:nvPr/>
        </p:nvSpPr>
        <p:spPr>
          <a:xfrm>
            <a:off x="548640" y="4096512"/>
            <a:ext cx="438912" cy="438912"/>
          </a:xfrm>
          <a:prstGeom prst="ellipse">
            <a:avLst/>
          </a:prstGeom>
          <a:solidFill>
            <a:srgbClr val="D8A73D"/>
          </a:solidFill>
          <a:ln/>
        </p:spPr>
      </p:sp>
      <p:sp>
        <p:nvSpPr>
          <p:cNvPr id="12"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4"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6"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7" name="Image 1" descr="Recap and recall">    </p:cNvPr>
          <p:cNvPicPr>
            <a:picLocks noChangeAspect="1"/>
          </p:cNvPicPr>
          <p:nvPr/>
        </p:nvPicPr>
        <p:blipFill>
          <a:blip r:embed="rId2"/>
          <a:stretch>
            <a:fillRect/>
          </a:stretch>
        </p:blipFill>
        <p:spPr>
          <a:xfrm>
            <a:off x="10972800" y="384048"/>
            <a:ext cx="731520" cy="731520"/>
          </a:xfrm>
          <a:prstGeom prst="rect">
            <a:avLst/>
          </a:prstGeom>
        </p:spPr>
      </p:pic>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Lesson 1: Python Refresh</dc:title>
  <dc:subject>PptxGenJS Presentation</dc:subject>
  <dc:creator>Nicholas Houlton</dc:creator>
  <cp:lastModifiedBy>Nicholas Houlton</cp:lastModifiedBy>
  <cp:revision>1</cp:revision>
  <dcterms:created xsi:type="dcterms:W3CDTF">2026-10-15T10:26:43Z</dcterms:created>
  <dcterms:modified xsi:type="dcterms:W3CDTF">2026-10-15T10:26:43Z</dcterms:modified>
</cp:coreProperties>
</file>