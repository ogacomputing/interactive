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 &amp; Recall" id="{8e92a73d-bfbf-a692-7da3-b2ddde04013b}">
          <p14:sldIdLst>
            <p14:sldId id="256"/>
            <p14:sldId id="257"/>
          </p14:sldIdLst>
        </p14:section>
        <p14:section name="Title" id="{16ad0e26-c3e3-2d24-d131-0249a91e9322}">
          <p14:sldIdLst>
            <p14:sldId id="258"/>
            <p14:sldId id="259"/>
          </p14:sldIdLst>
        </p14:section>
        <p14:section name="Part 1 — Wake Up" id="{12fd24a7-f1d7-222e-84e7-292645eeea92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2 — Life Support" id="{38d3f510-6395-f9a8-de88-53e84f700f3a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lenary" id="{79aba51d-c669-d7d0-f87b-20811ca3e18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5 minutes, silent, no notes. Mini-whiteboards or books.
It's a year since they last wrote Python. Most of it is stored but hard to recall, so they retrieve it before anything is re-taught.
Q1–2 are multiple choice (everyone can commit to an answer). Q3–4 need a written answer: a word for Q3, the exact output for Q4.
Ask for a confidence rating 1–3 next to each answer — confident-but-wrong answers are the ones most worth correcting (hypercorrection).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and self-mark. Hands up for "confident (3) and wrong" on each — spend time on those.
Q3: a missing closing quote is a SyntaxError — we'll see what that error looks like on the debugging slide.
Q4: the space comes from inside the quotes, "Hi ". Without it you'd get HiSam.
Note any question most of the class missed — that's the evidence for whether the unit needs another reactivation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premise — don't put it on screen (redundancy effect):
"You wake from cryosleep on Station Zero, a research station orbiting an uncharted planet. A solar storm has wiped the station's software and every door is locked. The rest of the crew are still frozen in their pods — except Pod 2, Engineer Hale's. It's empty. You're the only engineer awake, and you'll have to rebuild each system in Python to survive."
Keep it to under a minute. Tone it down if the class finds it too intense.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question = the whole unit (selection, loops, functions are coming).
Lesson question = today. Nothing here is brand new — it's everything from Year 8 Unit 1, joined into one program.
We come back to this question in the plenary.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sub-goals — say them every time you live-code today: ASK, STORE, JOIN, OUTPUT.
Point at each column as you talk; don't read the slide.
Key ideas: input() shows the question and gives back what's typed. = stores right into left. + joins two pieces of text. print() shows it.
The orange box is how the activity's memory panel shows a string (str) — same colours they'll see later.
LIVE CODE (optional, 2 min): type the two lines in the IDE and run it with a student's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Discriminating example: the two lines differ by one pair of quotes.
Cover the outputs, ask "what does each print?", then reveal.
This is Predict question 2 territory in the activity (line 3 "only prints").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Silent, 2 minutes, then 3-2-1 show boards.
Look for: "room on level level" (printed the variable names), and missing spaces "Medbayon level3".
Don't reveal yet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4 → the highlighted output. Ask a student who wrote the wrong version to explain the fix.
Two common mistakes: printing the variable NAMES, and losing the 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handy — flip back to it during Investigate in both activities.
Model the recipe out loud on this error (it's Recap question 3):
1. Read the LAST line first — SyntaxError: the string never ends.
2. Find the line number — line 3.
3. Read line 3 aloud, quote by quote — "open quote, Scanning dot dot dot, close bracket"… no closing quote.
4. Compare to what you meant — add the closing quote.
Error messages are information, not a telling-off.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"Wake Up — Input Refresh" from Google Classroom (Y9 › Python › Lesson 1).
It runs the full PRIMM cycle by itself: Predict (3 questions) → Run → Investigate (2 steps; Break it plants a NameError) → Modify (4 steps; step 1 is the door choice) → Make (crew locator).
Circulate. During Investigate, point students back to the debugging recipe before they press Get help.
Fast finishers: the Make extension (a third question and one line using all three answers).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Whole-class feedback after Wake Up — this was the planted bug in Investigate.
Ask: "Which line did Python point to? Which word was wrong?" Then: "Why didn't deleting the line count as fixing it?"
The memory box only has a variable called name (lower case).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Attempt before explanation — even a wrong guess makes the next slide stick better.
Take two or three answers. Don't confirm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of the Turn &amp; Talk. The label on each box is its data type: str (text, orange) or int (whole number, blue).
Same + sign, different job — Python decides by the TYPE of the two values.
Mixing them crashes: TypeError. Remember this — it's the planted bug in Life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input() ALWAYS gives back text, even when the user types a number. "6" in quotes, orange.
int() converts text to a whole number so you can calculate. str() converts a number back to text so + can join it into a sentence.
str() is the new one for some — Year 8 only used int().
Ask: what would int("six") do? (ValueError — they'll try it in Investigate.)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Recipe: ASK → STORE → CONVERT → CALCULATE → OUTPUT. These are the Life Support starter lines, near enough.
Line 1 does three jobs. Trace it inside-out with your finger: input() asks, int() converts, = stores.
LIVE CODE (optional): type it, run with 6, then delete int( ) and run again — the output shows 6 repeated 50 times. Ask why. (They'll meet this in Investigate step 1, so you can leave it as a teaser instead.)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the table onto whiteboards. Fill it in line by line: what is in battery after each line, and what's printed.
Line 2 overwrites battery — the old value is gone (like Recap Q2).
Watch for: battery = "80" (forgot int() converts), and 80 in the last row (forgot the overwrite).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 against the table.
Line 1: "80" becomes the number 80. Line 2: 80 − 15 = 65 replaces 80. Line 3 prints Power left: 65%.
Ask: what if we took str() out of line 3? → TypeError, because + can't join text and a number. That's exactly the bug they fix in Life Support's Investigate.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"Life Support — Casting" from Google Classroom.
Predict (3 questions) → Run → Investigate (3 steps: delete int(); type "six" → ValueError; Break it plants the TypeError, fixed with str()) → Modify (4 steps; step 1 is the oxygen-rate choice) → Make (survival supply manifest).
Hale's last log appears after Investigate — let it land.
Anyone who didn't finish Wake Up: finish it first; their choices carry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task on whiteboards or a sticky note.
1. crew = int(input("How many crew are awake? ")) — any prompt is fine; int() and the variable name crew are the point.
2. print("Crew awake: " + str(crew)) — crew is a number, and + can't join text and a number, so it's a TypeError.
Close the story: "Motion in Sensor Ops. The tag says HALE. Next lesson, we find out what's moving." (Hale is dead — leave it hanging.)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DARK">
    <p:bg>
      <p:bgPr>
        <a:solidFill>
          <a:srgbClr val="1E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LIGHT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COVER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notes. Answer every question — a guess beats a blank. Then rate your confidence: 1, 2 or 3.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0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5F5F3"/>
          </a:solidFill>
          <a:ln w="15875">
            <a:solidFill>
              <a:srgbClr val="1E1E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400" dirty="0"/>
          </a:p>
        </p:txBody>
      </p:sp>
      <p:pic>
        <p:nvPicPr>
          <p:cNvPr id="53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 — answers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own. Confident but wrong? Those are the ones to fix.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651760"/>
            <a:ext cx="1892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input() is the one that asks the user</a:t>
            </a:r>
            <a:endParaRPr lang="en-US" sz="1800" dirty="0"/>
          </a:p>
        </p:txBody>
      </p:sp>
      <p:sp>
        <p:nvSpPr>
          <p:cNvPr id="16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56648" y="2651760"/>
            <a:ext cx="1709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value replaces the old one</a:t>
            </a:r>
            <a:endParaRPr lang="en-US" sz="1800" dirty="0"/>
          </a:p>
        </p:txBody>
      </p:sp>
      <p:sp>
        <p:nvSpPr>
          <p:cNvPr id="32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63270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quote mark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print("Hello")</a:t>
            </a:r>
            <a:endParaRPr lang="en-US" sz="2200" dirty="0"/>
          </a:p>
        </p:txBody>
      </p:sp>
      <p:sp>
        <p:nvSpPr>
          <p:cNvPr id="43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64808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Sam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space is inside the quotes</a:t>
            </a:r>
            <a:endParaRPr lang="en-US" sz="2200" dirty="0"/>
          </a:p>
        </p:txBody>
      </p:sp>
      <p:pic>
        <p:nvPicPr>
          <p:cNvPr id="5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1  ·  PYTHON REFRESH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Zero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1 — Wake Up</a:t>
            </a:r>
            <a:endParaRPr lang="en-US" sz="2800" dirty="0"/>
          </a:p>
        </p:txBody>
      </p:sp>
      <p:sp>
        <p:nvSpPr>
          <p:cNvPr id="5" name="terminal"/>
          <p:cNvSpPr/>
          <p:nvPr/>
        </p:nvSpPr>
        <p:spPr>
          <a:xfrm>
            <a:off x="6903720" y="1600200"/>
            <a:ext cx="4663440" cy="2809240"/>
          </a:xfrm>
          <a:prstGeom prst="roundRect">
            <a:avLst>
              <a:gd name="adj" fmla="val 260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STATUS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....... WIPED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 .......... SEALED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 AWAKE ..... 1 OF 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2 ..........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7744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learning?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write programs that make decisions, repeat and reuse code?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2A2A32"/>
          </a:solidFill>
          <a:ln w="31750">
            <a:solidFill>
              <a:srgbClr val="D8A7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86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3600" dirty="0"/>
          </a:p>
        </p:txBody>
      </p:sp>
      <p:pic>
        <p:nvPicPr>
          <p:cNvPr id="9" name="Image 0" descr="Clarity of learning inten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→ store → join → output</a:t>
            </a:r>
            <a:endParaRPr lang="en-US" sz="3600" dirty="0"/>
          </a:p>
        </p:txBody>
      </p:sp>
      <p:sp>
        <p:nvSpPr>
          <p:cNvPr id="3" name="step1"/>
          <p:cNvSpPr/>
          <p:nvPr/>
        </p:nvSpPr>
        <p:spPr>
          <a:xfrm>
            <a:off x="548640" y="1783080"/>
            <a:ext cx="2514600" cy="4160520"/>
          </a:xfrm>
          <a:prstGeom prst="roundRect">
            <a:avLst>
              <a:gd name="adj" fmla="val 2909"/>
            </a:avLst>
          </a:prstGeom>
          <a:solidFill>
            <a:srgbClr val="2A2A32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201168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842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099816" y="4160520"/>
            <a:ext cx="265176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8" name="step2"/>
          <p:cNvSpPr/>
          <p:nvPr/>
        </p:nvSpPr>
        <p:spPr>
          <a:xfrm>
            <a:off x="3401568" y="1783080"/>
            <a:ext cx="2514600" cy="4160520"/>
          </a:xfrm>
          <a:prstGeom prst="roundRect">
            <a:avLst>
              <a:gd name="adj" fmla="val 2909"/>
            </a:avLst>
          </a:prstGeom>
          <a:solidFill>
            <a:srgbClr val="2A2A32"/>
          </a:solidFill>
          <a:ln/>
        </p:spPr>
      </p:sp>
      <p:sp>
        <p:nvSpPr>
          <p:cNvPr id="9" name="Shape 7"/>
          <p:cNvSpPr/>
          <p:nvPr/>
        </p:nvSpPr>
        <p:spPr>
          <a:xfrm>
            <a:off x="3630168" y="201168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3016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178808" y="19842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952744" y="4160520"/>
            <a:ext cx="265176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3" name="step3"/>
          <p:cNvSpPr/>
          <p:nvPr/>
        </p:nvSpPr>
        <p:spPr>
          <a:xfrm>
            <a:off x="6254496" y="1783080"/>
            <a:ext cx="2514600" cy="4160520"/>
          </a:xfrm>
          <a:prstGeom prst="roundRect">
            <a:avLst>
              <a:gd name="adj" fmla="val 2909"/>
            </a:avLst>
          </a:prstGeom>
          <a:solidFill>
            <a:srgbClr val="2A2A32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3096" y="201168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096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31736" y="19842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8805672" y="4160520"/>
            <a:ext cx="265176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8" name="step4"/>
          <p:cNvSpPr/>
          <p:nvPr/>
        </p:nvSpPr>
        <p:spPr>
          <a:xfrm>
            <a:off x="9107424" y="1783080"/>
            <a:ext cx="2514600" cy="4160520"/>
          </a:xfrm>
          <a:prstGeom prst="roundRect">
            <a:avLst>
              <a:gd name="adj" fmla="val 2909"/>
            </a:avLst>
          </a:prstGeom>
          <a:solidFill>
            <a:srgbClr val="2A2A32"/>
          </a:solidFill>
          <a:ln/>
        </p:spPr>
      </p:sp>
      <p:sp>
        <p:nvSpPr>
          <p:cNvPr id="19" name="Shape 17"/>
          <p:cNvSpPr/>
          <p:nvPr/>
        </p:nvSpPr>
        <p:spPr>
          <a:xfrm>
            <a:off x="9336024" y="201168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36024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84664" y="19842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2834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"Name? 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3" name="terminal"/>
          <p:cNvSpPr/>
          <p:nvPr/>
        </p:nvSpPr>
        <p:spPr>
          <a:xfrm>
            <a:off x="731520" y="3703320"/>
            <a:ext cx="2148840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3931920"/>
            <a:ext cx="16916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Name? </a:t>
            </a:r>
            <a:pPr indent="0" marL="0">
              <a:buNone/>
            </a:pPr>
            <a:r>
              <a:rPr lang="en-US" sz="2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663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584448" y="2834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675888" y="379476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13048" y="361188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13048" y="361188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767328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2834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28816" y="379476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65976" y="361188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65976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620256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Riley"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9290304" y="2834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7" name="terminal"/>
          <p:cNvSpPr/>
          <p:nvPr/>
        </p:nvSpPr>
        <p:spPr>
          <a:xfrm>
            <a:off x="9290304" y="3703320"/>
            <a:ext cx="2148840" cy="904240"/>
          </a:xfrm>
          <a:prstGeom prst="roundRect">
            <a:avLst>
              <a:gd name="adj" fmla="val 809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518904" y="3931920"/>
            <a:ext cx="169164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Riley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9290304" y="4663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800" dirty="0"/>
          </a:p>
        </p:txBody>
      </p:sp>
      <p:pic>
        <p:nvPicPr>
          <p:cNvPr id="40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Quotes: the word, or what’s stored?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659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8" name="code"/>
          <p:cNvSpPr/>
          <p:nvPr/>
        </p:nvSpPr>
        <p:spPr>
          <a:xfrm>
            <a:off x="548640" y="34290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6301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51960" y="385876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1" name="terminal"/>
          <p:cNvSpPr/>
          <p:nvPr/>
        </p:nvSpPr>
        <p:spPr>
          <a:xfrm>
            <a:off x="5029200" y="34290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65760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printed exactly as written</a:t>
            </a:r>
            <a:endParaRPr lang="en-US" sz="2200" dirty="0"/>
          </a:p>
        </p:txBody>
      </p:sp>
      <p:sp>
        <p:nvSpPr>
          <p:cNvPr id="14" name="code"/>
          <p:cNvSpPr/>
          <p:nvPr/>
        </p:nvSpPr>
        <p:spPr>
          <a:xfrm>
            <a:off x="548640" y="46634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8646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251960" y="509320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7" name="terminal"/>
          <p:cNvSpPr/>
          <p:nvPr/>
        </p:nvSpPr>
        <p:spPr>
          <a:xfrm>
            <a:off x="5029200" y="466344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89204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4663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prints what’s stored inside</a:t>
            </a:r>
            <a:endParaRPr lang="en-US" sz="2200" dirty="0"/>
          </a:p>
        </p:txBody>
      </p:sp>
      <p:pic>
        <p:nvPicPr>
          <p:cNvPr id="20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09560" y="1600200"/>
            <a:ext cx="3730752" cy="1947672"/>
          </a:xfrm>
          <a:prstGeom prst="roundRect">
            <a:avLst>
              <a:gd name="adj" fmla="val 3756"/>
            </a:avLst>
          </a:prstGeom>
          <a:solidFill>
            <a:srgbClr val="2A2A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8388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148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697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whiteboard: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exact last line this program prints.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2 MIN</a:t>
            </a:r>
            <a:endParaRPr lang="en-US" sz="1400" dirty="0"/>
          </a:p>
        </p:txBody>
      </p:sp>
      <p:pic>
        <p:nvPicPr>
          <p:cNvPr id="20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what it prints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3504" y="3184398"/>
            <a:ext cx="69311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terminal"/>
          <p:cNvSpPr/>
          <p:nvPr/>
        </p:nvSpPr>
        <p:spPr>
          <a:xfrm>
            <a:off x="7909560" y="1600200"/>
            <a:ext cx="3730752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7830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1488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room?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552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level?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9616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Scanning...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33680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 on level 3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room on level level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 → Python prints what’s stored, not the name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45352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spaces come from inside the quotes</a:t>
            </a:r>
            <a:endParaRPr lang="en-US" sz="2000" dirty="0"/>
          </a:p>
        </p:txBody>
      </p:sp>
      <p:pic>
        <p:nvPicPr>
          <p:cNvPr id="23" name="Image 0" descr="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 recipe</a:t>
            </a:r>
            <a:endParaRPr lang="en-US" sz="3600" dirty="0"/>
          </a:p>
        </p:txBody>
      </p:sp>
      <p:sp>
        <p:nvSpPr>
          <p:cNvPr id="3" name="terminal"/>
          <p:cNvSpPr/>
          <p:nvPr/>
        </p:nvSpPr>
        <p:spPr>
          <a:xfrm>
            <a:off x="548640" y="1554480"/>
            <a:ext cx="8503920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"main.py", line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095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print("Scanning...)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159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^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223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</a:t>
            </a:r>
            <a:pPr indent="0" marL="0">
              <a:buNone/>
            </a:pPr>
            <a:r>
              <a:rPr lang="en-US" sz="20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 literal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33540" y="33060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3540" y="3306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58640" y="20868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58640" y="2086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218940" y="24932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18940" y="2493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error?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364992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66160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number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181344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82512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that line aloud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by quote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997696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31" name="Shape 29"/>
          <p:cNvSpPr/>
          <p:nvPr/>
        </p:nvSpPr>
        <p:spPr>
          <a:xfrm>
            <a:off x="9198864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98864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198864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what you meant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pic>
        <p:nvPicPr>
          <p:cNvPr id="35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Wake Up</a:t>
            </a:r>
            <a:endParaRPr lang="en-US" sz="4800" dirty="0"/>
          </a:p>
        </p:txBody>
      </p:sp>
      <p:sp>
        <p:nvSpPr>
          <p:cNvPr id="4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 BAY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pod is frosted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 — except Pod 2.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Open. Empty.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Cracked from the inside.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Up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1 is your call.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the story, not your score.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≈20 MIN</a:t>
            </a:r>
            <a:endParaRPr lang="en-US" sz="1400" dirty="0"/>
          </a:p>
        </p:txBody>
      </p:sp>
      <p:pic>
        <p:nvPicPr>
          <p:cNvPr id="32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Capitals matter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498080" cy="1324356"/>
          </a:xfrm>
          <a:prstGeom prst="roundRect">
            <a:avLst>
              <a:gd name="adj" fmla="val 552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your name: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3504" y="2262378"/>
            <a:ext cx="73883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6237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"Access granted to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9" name="terminal"/>
          <p:cNvSpPr/>
          <p:nvPr/>
        </p:nvSpPr>
        <p:spPr>
          <a:xfrm>
            <a:off x="548640" y="3153156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36036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— LAST LINE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0179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NameError: </a:t>
            </a:r>
            <a:pPr indent="0" marL="0">
              <a:buNone/>
            </a:pPr>
            <a:r>
              <a:rPr lang="en-US" sz="18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'Name' is not defined. Did you mean: 'name'?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0" y="21031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192024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49640" y="1920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2286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pPr indent="0" marL="0">
              <a:buNone/>
            </a:pPr>
            <a:r>
              <a:rPr lang="en-US" sz="24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are two different names. Python only knows the one you stored.</a:t>
            </a:r>
            <a:endParaRPr lang="en-US" sz="2400" dirty="0"/>
          </a:p>
        </p:txBody>
      </p:sp>
      <p:pic>
        <p:nvPicPr>
          <p:cNvPr id="19" name="Image 0" descr="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or add?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5" name="terminal"/>
          <p:cNvSpPr/>
          <p:nvPr/>
        </p:nvSpPr>
        <p:spPr>
          <a:xfrm>
            <a:off x="548640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7" name="code"/>
          <p:cNvSpPr/>
          <p:nvPr/>
        </p:nvSpPr>
        <p:spPr>
          <a:xfrm>
            <a:off x="6245352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28232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9" name="terminal"/>
          <p:cNvSpPr/>
          <p:nvPr/>
        </p:nvSpPr>
        <p:spPr>
          <a:xfrm>
            <a:off x="6245352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5262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&amp; Talk: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each one print — and why are they different?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1 MIN</a:t>
            </a:r>
            <a:endParaRPr lang="en-US" sz="1400" dirty="0"/>
          </a:p>
        </p:txBody>
      </p:sp>
      <p:pic>
        <p:nvPicPr>
          <p:cNvPr id="15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joins text, adds numbers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7830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926080" y="178308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6324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6324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800600" y="2212848"/>
            <a:ext cx="82296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60720" y="178308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160020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6002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"55"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1783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32004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383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32004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2926080" y="320040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6324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06324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383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4800600" y="3630168"/>
            <a:ext cx="82296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760720" y="320040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97880" y="3017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0" y="3017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32004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548640" y="46177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43484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" y="4434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800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2331720" y="461772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3600" dirty="0"/>
          </a:p>
        </p:txBody>
      </p:sp>
      <p:sp>
        <p:nvSpPr>
          <p:cNvPr id="38" name="Shape 36"/>
          <p:cNvSpPr/>
          <p:nvPr/>
        </p:nvSpPr>
        <p:spPr>
          <a:xfrm>
            <a:off x="2926080" y="46177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63240" y="443484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063240" y="4434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3017520" y="4800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42" name="Shape 40"/>
          <p:cNvSpPr/>
          <p:nvPr/>
        </p:nvSpPr>
        <p:spPr>
          <a:xfrm>
            <a:off x="4800600" y="5047488"/>
            <a:ext cx="822960" cy="0"/>
          </a:xfrm>
          <a:prstGeom prst="line">
            <a:avLst/>
          </a:prstGeom>
          <a:noFill/>
          <a:ln w="28575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43" name="terminal"/>
          <p:cNvSpPr/>
          <p:nvPr/>
        </p:nvSpPr>
        <p:spPr>
          <a:xfrm>
            <a:off x="5760720" y="46177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989320" y="4846320"/>
            <a:ext cx="192024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8412480" y="4617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mix text and numbers</a:t>
            </a:r>
            <a:endParaRPr lang="en-US" sz="2200" dirty="0"/>
          </a:p>
        </p:txBody>
      </p:sp>
      <p:pic>
        <p:nvPicPr>
          <p:cNvPr id="46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 gives text — so convert 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NUMBER</a:t>
            </a:r>
            <a:endParaRPr lang="en-US" sz="1300" dirty="0"/>
          </a:p>
        </p:txBody>
      </p:sp>
      <p:sp>
        <p:nvSpPr>
          <p:cNvPr id="4" name="terminal"/>
          <p:cNvSpPr/>
          <p:nvPr/>
        </p:nvSpPr>
        <p:spPr>
          <a:xfrm>
            <a:off x="548640" y="20574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173736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Hours? </a:t>
            </a:r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834640" y="2487168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29000" y="2057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0" y="1874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874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"6"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5349240" y="2487168"/>
            <a:ext cx="137160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34924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12280" y="2057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874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49440" y="1874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can do maths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→ TEXT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29000" y="4343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6160" y="4160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6616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526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5349240" y="4773168"/>
            <a:ext cx="1371600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349240" y="3931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812280" y="434340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0" y="416052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94944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4526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"300"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8869680" y="4343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+ can join it</a:t>
            </a:r>
            <a:endParaRPr lang="en-US" sz="2200" dirty="0"/>
          </a:p>
        </p:txBody>
      </p:sp>
      <p:pic>
        <p:nvPicPr>
          <p:cNvPr id="30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recipe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223760" cy="3008376"/>
          </a:xfrm>
          <a:prstGeom prst="roundRect">
            <a:avLst>
              <a:gd name="adj" fmla="val 2432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"Hours until rescue: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67004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6700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5387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3872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"Oxygen: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863840" y="223570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503920" y="18699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pPr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</a:t>
            </a:r>
            <a:pPr indent="0" marL="0">
              <a:buNone/>
            </a:pPr>
            <a:r>
              <a:rPr lang="en-US" sz="2200" dirty="0">
                <a:solidFill>
                  <a:srgbClr val="6E6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63840" y="310438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503920" y="273862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863840" y="3973068"/>
            <a:ext cx="50292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503920" y="360730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—  str() to join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2A2A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1 runs inside-out: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input() first, then int(), then = stores it.</a:t>
            </a:r>
            <a:endParaRPr lang="en-US" sz="2200" dirty="0"/>
          </a:p>
        </p:txBody>
      </p:sp>
      <p:pic>
        <p:nvPicPr>
          <p:cNvPr id="18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trace it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508760"/>
            <a:ext cx="8046720" cy="1785366"/>
          </a:xfrm>
          <a:prstGeom prst="roundRect">
            <a:avLst>
              <a:gd name="adj" fmla="val 40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70992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70992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"Battery %: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093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17093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3194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3194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"Power left: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823960" y="1508760"/>
            <a:ext cx="2816352" cy="1719072"/>
          </a:xfrm>
          <a:prstGeom prst="roundRect">
            <a:avLst>
              <a:gd name="adj" fmla="val 4255"/>
            </a:avLst>
          </a:prstGeom>
          <a:solidFill>
            <a:srgbClr val="2A2A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5256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4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434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battery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3 MIN</a:t>
            </a:r>
            <a:endParaRPr lang="en-US" sz="1400" dirty="0"/>
          </a:p>
        </p:txBody>
      </p:sp>
      <p:pic>
        <p:nvPicPr>
          <p:cNvPr id="16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— answers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508760"/>
            <a:ext cx="8046720" cy="1785366"/>
          </a:xfrm>
          <a:prstGeom prst="roundRect">
            <a:avLst>
              <a:gd name="adj" fmla="val 40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70992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70992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"Battery %: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093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17093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03504" y="2631948"/>
            <a:ext cx="793699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3194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3194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"Power left: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823960" y="1508760"/>
            <a:ext cx="2816352" cy="1719072"/>
          </a:xfrm>
          <a:prstGeom prst="roundRect">
            <a:avLst>
              <a:gd name="adj" fmla="val 4255"/>
            </a:avLst>
          </a:prstGeom>
          <a:solidFill>
            <a:srgbClr val="2A2A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52560" y="1600200"/>
            <a:ext cx="24688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</a:t>
            </a:r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str()</a:t>
            </a:r>
            <a:pPr indent="0" marL="0">
              <a:spcAft>
                <a:spcPts val="600"/>
              </a:spcAft>
              <a:buNone/>
            </a:pP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434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battery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D8A7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Power left: 65%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</a:tbl>
          </a:graphicData>
        </a:graphic>
      </p:graphicFrame>
      <p:pic>
        <p:nvPicPr>
          <p:cNvPr id="14" name="Image 0" descr="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PART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Support</a:t>
            </a:r>
            <a:endParaRPr lang="en-US" sz="4800" dirty="0"/>
          </a:p>
        </p:txBody>
      </p:sp>
      <p:sp>
        <p:nvSpPr>
          <p:cNvPr id="4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 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trail of frost leads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Life Support.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Something that cold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shouldn’t be able to walk.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Support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1 is your call again.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and your door choice decide what happens to Pod 5.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≈20 MIN</a:t>
            </a:r>
            <a:endParaRPr lang="en-US" sz="1400" dirty="0"/>
          </a:p>
        </p:txBody>
      </p:sp>
      <p:pic>
        <p:nvPicPr>
          <p:cNvPr id="32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2A2A32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01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953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953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880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that asks how many crew are awake and stores it as a whole number in crew.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023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this line, and say why it crashed: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572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 awake: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terminal"/>
          <p:cNvSpPr/>
          <p:nvPr/>
        </p:nvSpPr>
        <p:spPr>
          <a:xfrm>
            <a:off x="1188720" y="5303520"/>
            <a:ext cx="7589520" cy="685800"/>
          </a:xfrm>
          <a:prstGeom prst="roundRect">
            <a:avLst>
              <a:gd name="adj" fmla="val 10667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5532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MOTION DETECTED · SENSOR OPS · TAG: </a:t>
            </a:r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HALE</a:t>
            </a:r>
            <a:endParaRPr lang="en-US" sz="1800" dirty="0"/>
          </a:p>
        </p:txBody>
      </p:sp>
      <p:pic>
        <p:nvPicPr>
          <p:cNvPr id="1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Station Zero — Y9 Python Lesson 1: Python Refresh</dc:title>
  <dc:subject>PptxGenJS Presentation</dc:subject>
  <dc:creator>Nicholas Houlton</dc:creator>
  <cp:lastModifiedBy>Nicholas Houlton</cp:lastModifiedBy>
  <cp:revision>1</cp:revision>
  <dcterms:created xsi:type="dcterms:W3CDTF">2026-10-08T11:33:04Z</dcterms:created>
  <dcterms:modified xsi:type="dcterms:W3CDTF">2026-10-08T11:33:04Z</dcterms:modified>
</cp:coreProperties>
</file>