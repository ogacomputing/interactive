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138d25601e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138d25601e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38d25601ee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138d25601ee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38d25601e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138d25601e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138d25601ee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138d25601ee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38d25601ee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38d25601ee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38d25601ee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38d25601ee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38d25601ee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38d25601ee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38d25601ee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38d25601ee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38d25601ee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138d25601ee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38d25601ee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38d25601ee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24.png"/><Relationship Id="rId5" Type="http://schemas.openxmlformats.org/officeDocument/2006/relationships/image" Target="../media/image5.png"/><Relationship Id="rId6" Type="http://schemas.openxmlformats.org/officeDocument/2006/relationships/image" Target="../media/image3.png"/><Relationship Id="rId7"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9.png"/><Relationship Id="rId4" Type="http://schemas.openxmlformats.org/officeDocument/2006/relationships/image" Target="../media/image15.png"/><Relationship Id="rId5" Type="http://schemas.openxmlformats.org/officeDocument/2006/relationships/image" Target="../media/image18.png"/><Relationship Id="rId6" Type="http://schemas.openxmlformats.org/officeDocument/2006/relationships/image" Target="../media/image12.png"/><Relationship Id="rId7"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21.pn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27.png"/><Relationship Id="rId8"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0725" y="4127700"/>
            <a:ext cx="4497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Courier New"/>
                <a:ea typeface="Courier New"/>
                <a:cs typeface="Courier New"/>
                <a:sym typeface="Courier New"/>
              </a:rPr>
              <a:t>Opening Paragraph:</a:t>
            </a:r>
            <a:endParaRPr>
              <a:latin typeface="Courier New"/>
              <a:ea typeface="Courier New"/>
              <a:cs typeface="Courier New"/>
              <a:sym typeface="Courier New"/>
            </a:endParaRPr>
          </a:p>
          <a:p>
            <a:pPr indent="0" lvl="0" marL="0" rtl="0" algn="l">
              <a:spcBef>
                <a:spcPts val="0"/>
              </a:spcBef>
              <a:spcAft>
                <a:spcPts val="0"/>
              </a:spcAft>
              <a:buNone/>
            </a:pPr>
            <a:r>
              <a:rPr lang="en-GB" sz="1000">
                <a:latin typeface="Courier New"/>
                <a:ea typeface="Courier New"/>
                <a:cs typeface="Courier New"/>
                <a:sym typeface="Courier New"/>
              </a:rPr>
              <a:t>Describe what happened to the victim. Give the date and time that she went missing, along with when and where she was found.</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p:txBody>
      </p:sp>
      <p:pic>
        <p:nvPicPr>
          <p:cNvPr id="55" name="Google Shape;55;p13"/>
          <p:cNvPicPr preferRelativeResize="0"/>
          <p:nvPr/>
        </p:nvPicPr>
        <p:blipFill>
          <a:blip r:embed="rId3">
            <a:alphaModFix/>
          </a:blip>
          <a:stretch>
            <a:fillRect/>
          </a:stretch>
        </p:blipFill>
        <p:spPr>
          <a:xfrm>
            <a:off x="4816075" y="279350"/>
            <a:ext cx="4267200" cy="2278281"/>
          </a:xfrm>
          <a:prstGeom prst="rect">
            <a:avLst/>
          </a:prstGeom>
          <a:noFill/>
          <a:ln>
            <a:noFill/>
          </a:ln>
        </p:spPr>
      </p:pic>
      <p:pic>
        <p:nvPicPr>
          <p:cNvPr id="56" name="Google Shape;56;p13"/>
          <p:cNvPicPr preferRelativeResize="0"/>
          <p:nvPr/>
        </p:nvPicPr>
        <p:blipFill>
          <a:blip r:embed="rId4">
            <a:alphaModFix/>
          </a:blip>
          <a:stretch>
            <a:fillRect/>
          </a:stretch>
        </p:blipFill>
        <p:spPr>
          <a:xfrm>
            <a:off x="4797639" y="2755223"/>
            <a:ext cx="4285636" cy="2278275"/>
          </a:xfrm>
          <a:prstGeom prst="rect">
            <a:avLst/>
          </a:prstGeom>
          <a:noFill/>
          <a:ln>
            <a:noFill/>
          </a:ln>
        </p:spPr>
      </p:pic>
      <p:sp>
        <p:nvSpPr>
          <p:cNvPr id="57" name="Google Shape;57;p13"/>
          <p:cNvSpPr txBox="1"/>
          <p:nvPr>
            <p:ph idx="4294967295" type="body"/>
          </p:nvPr>
        </p:nvSpPr>
        <p:spPr>
          <a:xfrm>
            <a:off x="127950" y="119425"/>
            <a:ext cx="4593300" cy="39153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GB" sz="1000">
                <a:solidFill>
                  <a:schemeClr val="dk1"/>
                </a:solidFill>
                <a:latin typeface="Courier New"/>
                <a:ea typeface="Courier New"/>
                <a:cs typeface="Courier New"/>
                <a:sym typeface="Courier New"/>
              </a:rPr>
              <a:t>Day of missing report Oct 13</a:t>
            </a:r>
            <a:endParaRPr sz="1000">
              <a:solidFill>
                <a:schemeClr val="dk1"/>
              </a:solidFill>
              <a:latin typeface="Courier New"/>
              <a:ea typeface="Courier New"/>
              <a:cs typeface="Courier New"/>
              <a:sym typeface="Courier New"/>
            </a:endParaRPr>
          </a:p>
          <a:p>
            <a:pPr indent="0" lvl="0" marL="0" rtl="0" algn="l">
              <a:spcBef>
                <a:spcPts val="1200"/>
              </a:spcBef>
              <a:spcAft>
                <a:spcPts val="0"/>
              </a:spcAft>
              <a:buNone/>
            </a:pPr>
            <a:r>
              <a:rPr lang="en-GB" sz="1000">
                <a:solidFill>
                  <a:schemeClr val="dk1"/>
                </a:solidFill>
                <a:latin typeface="Courier New"/>
                <a:ea typeface="Courier New"/>
                <a:cs typeface="Courier New"/>
                <a:sym typeface="Courier New"/>
              </a:rPr>
              <a:t>Missing person Maria Female 14 years of age </a:t>
            </a:r>
            <a:endParaRPr sz="1000">
              <a:solidFill>
                <a:schemeClr val="dk1"/>
              </a:solidFill>
              <a:latin typeface="Courier New"/>
              <a:ea typeface="Courier New"/>
              <a:cs typeface="Courier New"/>
              <a:sym typeface="Courier New"/>
            </a:endParaRPr>
          </a:p>
          <a:p>
            <a:pPr indent="0" lvl="0" marL="0" rtl="0" algn="l">
              <a:spcBef>
                <a:spcPts val="1200"/>
              </a:spcBef>
              <a:spcAft>
                <a:spcPts val="0"/>
              </a:spcAft>
              <a:buNone/>
            </a:pPr>
            <a:r>
              <a:rPr lang="en-GB" sz="1000">
                <a:solidFill>
                  <a:schemeClr val="dk1"/>
                </a:solidFill>
                <a:latin typeface="Courier New"/>
                <a:ea typeface="Courier New"/>
                <a:cs typeface="Courier New"/>
                <a:sym typeface="Courier New"/>
              </a:rPr>
              <a:t>She left her home supposedly to go to her friend Jess’s  house at 5:30pm on Oct 12 </a:t>
            </a:r>
            <a:endParaRPr sz="1000">
              <a:solidFill>
                <a:schemeClr val="dk1"/>
              </a:solidFill>
              <a:latin typeface="Courier New"/>
              <a:ea typeface="Courier New"/>
              <a:cs typeface="Courier New"/>
              <a:sym typeface="Courier New"/>
            </a:endParaRPr>
          </a:p>
          <a:p>
            <a:pPr indent="0" lvl="0" marL="0" rtl="0" algn="l">
              <a:spcBef>
                <a:spcPts val="1200"/>
              </a:spcBef>
              <a:spcAft>
                <a:spcPts val="0"/>
              </a:spcAft>
              <a:buNone/>
            </a:pPr>
            <a:r>
              <a:rPr lang="en-GB" sz="1000">
                <a:solidFill>
                  <a:schemeClr val="dk1"/>
                </a:solidFill>
                <a:latin typeface="Courier New"/>
                <a:ea typeface="Courier New"/>
                <a:cs typeface="Courier New"/>
                <a:sym typeface="Courier New"/>
              </a:rPr>
              <a:t>Jess says she never showed up or </a:t>
            </a:r>
            <a:r>
              <a:rPr lang="en-GB" sz="1000">
                <a:solidFill>
                  <a:schemeClr val="dk1"/>
                </a:solidFill>
                <a:latin typeface="Courier New"/>
                <a:ea typeface="Courier New"/>
                <a:cs typeface="Courier New"/>
                <a:sym typeface="Courier New"/>
              </a:rPr>
              <a:t>discussed</a:t>
            </a:r>
            <a:r>
              <a:rPr lang="en-GB" sz="1000">
                <a:solidFill>
                  <a:schemeClr val="dk1"/>
                </a:solidFill>
                <a:latin typeface="Courier New"/>
                <a:ea typeface="Courier New"/>
                <a:cs typeface="Courier New"/>
                <a:sym typeface="Courier New"/>
              </a:rPr>
              <a:t> this with </a:t>
            </a:r>
            <a:r>
              <a:rPr lang="en-GB" sz="1000">
                <a:solidFill>
                  <a:schemeClr val="dk1"/>
                </a:solidFill>
                <a:latin typeface="Courier New"/>
                <a:ea typeface="Courier New"/>
                <a:cs typeface="Courier New"/>
                <a:sym typeface="Courier New"/>
              </a:rPr>
              <a:t>Maria once her mother was informed of this she filed a missing person report to the police the next day </a:t>
            </a:r>
            <a:endParaRPr sz="1000">
              <a:solidFill>
                <a:schemeClr val="dk1"/>
              </a:solidFill>
              <a:latin typeface="Courier New"/>
              <a:ea typeface="Courier New"/>
              <a:cs typeface="Courier New"/>
              <a:sym typeface="Courier New"/>
            </a:endParaRPr>
          </a:p>
          <a:p>
            <a:pPr indent="0" lvl="0" marL="0" rtl="0" algn="l">
              <a:spcBef>
                <a:spcPts val="1200"/>
              </a:spcBef>
              <a:spcAft>
                <a:spcPts val="1200"/>
              </a:spcAft>
              <a:buNone/>
            </a:pPr>
            <a:r>
              <a:rPr lang="en-GB" sz="1000">
                <a:solidFill>
                  <a:schemeClr val="dk1"/>
                </a:solidFill>
                <a:latin typeface="Courier New"/>
                <a:ea typeface="Courier New"/>
                <a:cs typeface="Courier New"/>
                <a:sym typeface="Courier New"/>
              </a:rPr>
              <a:t>Police investigated this for days on end they checked her social media and they found that one of her photos was taken on a different phone a Samsung Galaxy Maria owns an iphone this suggested someone has logged into her account because maria also left her phone at home later police checked her messages and someone called ashley who was unknown at the time had been texting her a few days before she went missing.Police used this info to track this guy down and they were successful he was a 17 year old man who was grooming and talking to Maria on social media in attempts to gain her trust.They found maria in tears locked in a bedroom on the second floor. </a:t>
            </a:r>
            <a:endParaRPr sz="1000">
              <a:solidFill>
                <a:schemeClr val="dk1"/>
              </a:solidFill>
              <a:latin typeface="Courier New"/>
              <a:ea typeface="Courier New"/>
              <a:cs typeface="Courier New"/>
              <a:sym typeface="Courier New"/>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idx="1" type="body"/>
          </p:nvPr>
        </p:nvSpPr>
        <p:spPr>
          <a:xfrm>
            <a:off x="127950" y="119425"/>
            <a:ext cx="2028000" cy="4983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000" u="sng">
                <a:solidFill>
                  <a:schemeClr val="dk1"/>
                </a:solidFill>
                <a:latin typeface="Courier New"/>
                <a:ea typeface="Courier New"/>
                <a:cs typeface="Courier New"/>
                <a:sym typeface="Courier New"/>
              </a:rPr>
              <a:t>Witness Mia Matthews</a:t>
            </a:r>
            <a:r>
              <a:rPr lang="en-GB"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indent="0" lvl="0" marL="0" rtl="0" algn="l">
              <a:spcBef>
                <a:spcPts val="1200"/>
              </a:spcBef>
              <a:spcAft>
                <a:spcPts val="0"/>
              </a:spcAft>
              <a:buNone/>
            </a:pPr>
            <a:r>
              <a:rPr lang="en-GB" sz="1000">
                <a:solidFill>
                  <a:schemeClr val="dk1"/>
                </a:solidFill>
                <a:latin typeface="Courier New"/>
                <a:ea typeface="Courier New"/>
                <a:cs typeface="Courier New"/>
                <a:sym typeface="Courier New"/>
              </a:rPr>
              <a:t>She stated that she had called everyone she knows to trie located Maria or get something about her </a:t>
            </a:r>
            <a:r>
              <a:rPr lang="en-GB" sz="1000">
                <a:solidFill>
                  <a:schemeClr val="dk1"/>
                </a:solidFill>
                <a:latin typeface="Courier New"/>
                <a:ea typeface="Courier New"/>
                <a:cs typeface="Courier New"/>
                <a:sym typeface="Courier New"/>
              </a:rPr>
              <a:t>whereabouts.She also mentions how she was really annoyed and upset about her split up with her ex Connor.</a:t>
            </a:r>
            <a:endParaRPr sz="1000">
              <a:solidFill>
                <a:schemeClr val="dk1"/>
              </a:solidFill>
              <a:latin typeface="Courier New"/>
              <a:ea typeface="Courier New"/>
              <a:cs typeface="Courier New"/>
              <a:sym typeface="Courier New"/>
            </a:endParaRPr>
          </a:p>
          <a:p>
            <a:pPr indent="0" lvl="0" marL="0" rtl="0" algn="l">
              <a:spcBef>
                <a:spcPts val="1200"/>
              </a:spcBef>
              <a:spcAft>
                <a:spcPts val="0"/>
              </a:spcAft>
              <a:buNone/>
            </a:pPr>
            <a:r>
              <a:rPr lang="en-GB" sz="1000">
                <a:solidFill>
                  <a:schemeClr val="dk1"/>
                </a:solidFill>
                <a:latin typeface="Courier New"/>
                <a:ea typeface="Courier New"/>
                <a:cs typeface="Courier New"/>
                <a:sym typeface="Courier New"/>
              </a:rPr>
              <a:t> </a:t>
            </a:r>
            <a:r>
              <a:rPr lang="en-GB" sz="1000" u="sng">
                <a:solidFill>
                  <a:schemeClr val="dk1"/>
                </a:solidFill>
                <a:latin typeface="Courier New"/>
                <a:ea typeface="Courier New"/>
                <a:cs typeface="Courier New"/>
                <a:sym typeface="Courier New"/>
              </a:rPr>
              <a:t>Witness Megan Turner</a:t>
            </a:r>
            <a:endParaRPr sz="1000" u="sng">
              <a:solidFill>
                <a:schemeClr val="dk1"/>
              </a:solidFill>
              <a:latin typeface="Courier New"/>
              <a:ea typeface="Courier New"/>
              <a:cs typeface="Courier New"/>
              <a:sym typeface="Courier New"/>
            </a:endParaRPr>
          </a:p>
          <a:p>
            <a:pPr indent="0" lvl="0" marL="0" rtl="0" algn="l">
              <a:spcBef>
                <a:spcPts val="1200"/>
              </a:spcBef>
              <a:spcAft>
                <a:spcPts val="1200"/>
              </a:spcAft>
              <a:buNone/>
            </a:pPr>
            <a:r>
              <a:rPr lang="en-GB" sz="1000">
                <a:solidFill>
                  <a:schemeClr val="dk1"/>
                </a:solidFill>
                <a:latin typeface="Courier New"/>
                <a:ea typeface="Courier New"/>
                <a:cs typeface="Courier New"/>
                <a:sym typeface="Courier New"/>
              </a:rPr>
              <a:t>She stated that thing between Jess and Maria had been really awkward recently because Jess </a:t>
            </a:r>
            <a:r>
              <a:rPr lang="en-GB" sz="1000">
                <a:solidFill>
                  <a:schemeClr val="dk1"/>
                </a:solidFill>
                <a:latin typeface="Courier New"/>
                <a:ea typeface="Courier New"/>
                <a:cs typeface="Courier New"/>
                <a:sym typeface="Courier New"/>
              </a:rPr>
              <a:t>didn't</a:t>
            </a:r>
            <a:r>
              <a:rPr lang="en-GB" sz="1000">
                <a:solidFill>
                  <a:schemeClr val="dk1"/>
                </a:solidFill>
                <a:latin typeface="Courier New"/>
                <a:ea typeface="Courier New"/>
                <a:cs typeface="Courier New"/>
                <a:sym typeface="Courier New"/>
              </a:rPr>
              <a:t> like the guy Maria was dating at the time (Connor) </a:t>
            </a:r>
            <a:endParaRPr sz="1000">
              <a:solidFill>
                <a:schemeClr val="dk1"/>
              </a:solidFill>
              <a:latin typeface="Courier New"/>
              <a:ea typeface="Courier New"/>
              <a:cs typeface="Courier New"/>
              <a:sym typeface="Courier New"/>
            </a:endParaRPr>
          </a:p>
        </p:txBody>
      </p:sp>
      <p:sp>
        <p:nvSpPr>
          <p:cNvPr id="63" name="Google Shape;63;p14"/>
          <p:cNvSpPr txBox="1"/>
          <p:nvPr/>
        </p:nvSpPr>
        <p:spPr>
          <a:xfrm>
            <a:off x="2462900" y="119425"/>
            <a:ext cx="3480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latin typeface="Courier New"/>
                <a:ea typeface="Courier New"/>
                <a:cs typeface="Courier New"/>
                <a:sym typeface="Courier New"/>
              </a:rPr>
              <a:t>2nd Paragraph:</a:t>
            </a:r>
            <a:endParaRPr>
              <a:solidFill>
                <a:schemeClr val="dk1"/>
              </a:solidFill>
              <a:latin typeface="Courier New"/>
              <a:ea typeface="Courier New"/>
              <a:cs typeface="Courier New"/>
              <a:sym typeface="Courier New"/>
            </a:endParaRPr>
          </a:p>
          <a:p>
            <a:pPr indent="0" lvl="0" marL="0" rtl="0" algn="l">
              <a:spcBef>
                <a:spcPts val="0"/>
              </a:spcBef>
              <a:spcAft>
                <a:spcPts val="0"/>
              </a:spcAft>
              <a:buNone/>
            </a:pPr>
            <a:r>
              <a:rPr lang="en-GB" sz="1000">
                <a:solidFill>
                  <a:schemeClr val="dk1"/>
                </a:solidFill>
                <a:latin typeface="Courier New"/>
                <a:ea typeface="Courier New"/>
                <a:cs typeface="Courier New"/>
                <a:sym typeface="Courier New"/>
              </a:rPr>
              <a:t>Give details on the witness statements that helped the case. Did any of the witness statements give you any clues as to Maria’s Location.</a:t>
            </a:r>
            <a:endParaRPr sz="1000"/>
          </a:p>
        </p:txBody>
      </p:sp>
      <p:pic>
        <p:nvPicPr>
          <p:cNvPr id="64" name="Google Shape;64;p14"/>
          <p:cNvPicPr preferRelativeResize="0"/>
          <p:nvPr/>
        </p:nvPicPr>
        <p:blipFill>
          <a:blip r:embed="rId3">
            <a:alphaModFix/>
          </a:blip>
          <a:stretch>
            <a:fillRect/>
          </a:stretch>
        </p:blipFill>
        <p:spPr>
          <a:xfrm>
            <a:off x="2285058" y="3351974"/>
            <a:ext cx="3480241" cy="1867725"/>
          </a:xfrm>
          <a:prstGeom prst="rect">
            <a:avLst/>
          </a:prstGeom>
          <a:noFill/>
          <a:ln>
            <a:noFill/>
          </a:ln>
        </p:spPr>
      </p:pic>
      <p:pic>
        <p:nvPicPr>
          <p:cNvPr id="65" name="Google Shape;65;p14"/>
          <p:cNvPicPr preferRelativeResize="0"/>
          <p:nvPr/>
        </p:nvPicPr>
        <p:blipFill>
          <a:blip r:embed="rId4">
            <a:alphaModFix/>
          </a:blip>
          <a:stretch>
            <a:fillRect/>
          </a:stretch>
        </p:blipFill>
        <p:spPr>
          <a:xfrm rot="-12">
            <a:off x="5724000" y="3366982"/>
            <a:ext cx="3386024" cy="1837712"/>
          </a:xfrm>
          <a:prstGeom prst="rect">
            <a:avLst/>
          </a:prstGeom>
          <a:noFill/>
          <a:ln>
            <a:noFill/>
          </a:ln>
        </p:spPr>
      </p:pic>
      <p:pic>
        <p:nvPicPr>
          <p:cNvPr id="66" name="Google Shape;66;p14"/>
          <p:cNvPicPr preferRelativeResize="0"/>
          <p:nvPr/>
        </p:nvPicPr>
        <p:blipFill>
          <a:blip r:embed="rId5">
            <a:alphaModFix/>
          </a:blip>
          <a:stretch>
            <a:fillRect/>
          </a:stretch>
        </p:blipFill>
        <p:spPr>
          <a:xfrm>
            <a:off x="2935900" y="1039325"/>
            <a:ext cx="6174126" cy="3573125"/>
          </a:xfrm>
          <a:prstGeom prst="rect">
            <a:avLst/>
          </a:prstGeom>
          <a:noFill/>
          <a:ln>
            <a:noFill/>
          </a:ln>
        </p:spPr>
      </p:pic>
      <p:pic>
        <p:nvPicPr>
          <p:cNvPr id="67" name="Google Shape;67;p14"/>
          <p:cNvPicPr preferRelativeResize="0"/>
          <p:nvPr/>
        </p:nvPicPr>
        <p:blipFill>
          <a:blip r:embed="rId6">
            <a:alphaModFix/>
          </a:blip>
          <a:stretch>
            <a:fillRect/>
          </a:stretch>
        </p:blipFill>
        <p:spPr>
          <a:xfrm>
            <a:off x="2409625" y="-346550"/>
            <a:ext cx="3386026" cy="1688925"/>
          </a:xfrm>
          <a:prstGeom prst="rect">
            <a:avLst/>
          </a:prstGeom>
          <a:noFill/>
          <a:ln>
            <a:noFill/>
          </a:ln>
        </p:spPr>
      </p:pic>
      <p:pic>
        <p:nvPicPr>
          <p:cNvPr id="68" name="Google Shape;68;p14"/>
          <p:cNvPicPr preferRelativeResize="0"/>
          <p:nvPr/>
        </p:nvPicPr>
        <p:blipFill>
          <a:blip r:embed="rId7">
            <a:alphaModFix/>
          </a:blip>
          <a:stretch>
            <a:fillRect/>
          </a:stretch>
        </p:blipFill>
        <p:spPr>
          <a:xfrm rot="-3">
            <a:off x="6179875" y="1"/>
            <a:ext cx="2930149" cy="156087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nvSpPr>
        <p:spPr>
          <a:xfrm>
            <a:off x="140725" y="3708350"/>
            <a:ext cx="4881300" cy="163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Courier New"/>
                <a:ea typeface="Courier New"/>
                <a:cs typeface="Courier New"/>
                <a:sym typeface="Courier New"/>
              </a:rPr>
              <a:t>Third Paragraph:</a:t>
            </a:r>
            <a:endParaRPr>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GB" sz="1000">
                <a:latin typeface="Courier New"/>
                <a:ea typeface="Courier New"/>
                <a:cs typeface="Courier New"/>
                <a:sym typeface="Courier New"/>
              </a:rPr>
              <a:t>Describe what devices were added into evidence from the search of Maria’s room. Explain why these devices are important to the investigation (what data might they have on them that will help find Maria)</a:t>
            </a:r>
            <a:endParaRPr sz="1000">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GB" sz="1000">
                <a:latin typeface="Courier New"/>
                <a:ea typeface="Courier New"/>
                <a:cs typeface="Courier New"/>
                <a:sym typeface="Courier New"/>
              </a:rPr>
              <a:t>Explain what chain of custody means.</a:t>
            </a:r>
            <a:endParaRPr sz="1000">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GB" sz="1000">
                <a:latin typeface="Courier New"/>
                <a:ea typeface="Courier New"/>
                <a:cs typeface="Courier New"/>
                <a:sym typeface="Courier New"/>
              </a:rPr>
              <a:t>Add a screenshot of your evidence log to this page (you can put it over the top of the blank one to the right)</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p:txBody>
      </p:sp>
      <p:sp>
        <p:nvSpPr>
          <p:cNvPr id="74" name="Google Shape;74;p15"/>
          <p:cNvSpPr txBox="1"/>
          <p:nvPr>
            <p:ph idx="4294967295" type="body"/>
          </p:nvPr>
        </p:nvSpPr>
        <p:spPr>
          <a:xfrm>
            <a:off x="127950" y="119425"/>
            <a:ext cx="4881300" cy="3473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sz="1000">
              <a:solidFill>
                <a:schemeClr val="dk1"/>
              </a:solidFill>
              <a:latin typeface="Courier New"/>
              <a:ea typeface="Courier New"/>
              <a:cs typeface="Courier New"/>
              <a:sym typeface="Courier New"/>
            </a:endParaRPr>
          </a:p>
        </p:txBody>
      </p:sp>
      <p:pic>
        <p:nvPicPr>
          <p:cNvPr id="75" name="Google Shape;75;p15"/>
          <p:cNvPicPr preferRelativeResize="0"/>
          <p:nvPr/>
        </p:nvPicPr>
        <p:blipFill>
          <a:blip r:embed="rId3">
            <a:alphaModFix/>
          </a:blip>
          <a:stretch>
            <a:fillRect/>
          </a:stretch>
        </p:blipFill>
        <p:spPr>
          <a:xfrm rot="-19">
            <a:off x="5467752" y="230576"/>
            <a:ext cx="3556968" cy="2000773"/>
          </a:xfrm>
          <a:prstGeom prst="rect">
            <a:avLst/>
          </a:prstGeom>
          <a:noFill/>
          <a:ln cap="flat" cmpd="sng" w="19050">
            <a:solidFill>
              <a:srgbClr val="595959"/>
            </a:solidFill>
            <a:prstDash val="solid"/>
            <a:round/>
            <a:headEnd len="sm" w="sm" type="none"/>
            <a:tailEnd len="sm" w="sm" type="none"/>
          </a:ln>
        </p:spPr>
      </p:pic>
      <p:pic>
        <p:nvPicPr>
          <p:cNvPr id="76" name="Google Shape;76;p15"/>
          <p:cNvPicPr preferRelativeResize="0"/>
          <p:nvPr/>
        </p:nvPicPr>
        <p:blipFill rotWithShape="1">
          <a:blip r:embed="rId4">
            <a:alphaModFix/>
          </a:blip>
          <a:srcRect b="3592" l="2771" r="2978" t="3341"/>
          <a:stretch/>
        </p:blipFill>
        <p:spPr>
          <a:xfrm rot="-7">
            <a:off x="5130204" y="2387768"/>
            <a:ext cx="4132021" cy="2643762"/>
          </a:xfrm>
          <a:prstGeom prst="rect">
            <a:avLst/>
          </a:prstGeom>
          <a:noFill/>
          <a:ln cap="flat" cmpd="sng" w="9525">
            <a:solidFill>
              <a:srgbClr val="595959"/>
            </a:solidFill>
            <a:prstDash val="solid"/>
            <a:round/>
            <a:headEnd len="sm" w="sm" type="none"/>
            <a:tailEnd len="sm" w="sm" type="none"/>
          </a:ln>
          <a:effectLst>
            <a:outerShdw blurRad="57150" rotWithShape="0" algn="bl" dir="5400000" dist="19050">
              <a:srgbClr val="000000">
                <a:alpha val="50000"/>
              </a:srgbClr>
            </a:outerShdw>
          </a:effectLst>
        </p:spPr>
      </p:pic>
      <p:sp>
        <p:nvSpPr>
          <p:cNvPr id="77" name="Google Shape;77;p15"/>
          <p:cNvSpPr/>
          <p:nvPr/>
        </p:nvSpPr>
        <p:spPr>
          <a:xfrm>
            <a:off x="5808825" y="3535625"/>
            <a:ext cx="3160200" cy="319800"/>
          </a:xfrm>
          <a:prstGeom prst="rect">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sz="1100">
                <a:latin typeface="Courier New"/>
                <a:ea typeface="Courier New"/>
                <a:cs typeface="Courier New"/>
                <a:sym typeface="Courier New"/>
              </a:rPr>
              <a:t>Rep</a:t>
            </a:r>
            <a:r>
              <a:rPr b="1" lang="en-GB" sz="1100">
                <a:latin typeface="Courier New"/>
                <a:ea typeface="Courier New"/>
                <a:cs typeface="Courier New"/>
                <a:sym typeface="Courier New"/>
              </a:rPr>
              <a:t>lace with your own evidence log </a:t>
            </a:r>
            <a:endParaRPr b="1" sz="1100">
              <a:latin typeface="Courier New"/>
              <a:ea typeface="Courier New"/>
              <a:cs typeface="Courier New"/>
              <a:sym typeface="Courier Ne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nvSpPr>
        <p:spPr>
          <a:xfrm>
            <a:off x="140725" y="3977050"/>
            <a:ext cx="4881300" cy="132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Courier New"/>
                <a:ea typeface="Courier New"/>
                <a:cs typeface="Courier New"/>
                <a:sym typeface="Courier New"/>
              </a:rPr>
              <a:t>Fourth</a:t>
            </a:r>
            <a:r>
              <a:rPr lang="en-GB">
                <a:latin typeface="Courier New"/>
                <a:ea typeface="Courier New"/>
                <a:cs typeface="Courier New"/>
                <a:sym typeface="Courier New"/>
              </a:rPr>
              <a:t> Paragraph:</a:t>
            </a:r>
            <a:endParaRPr>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GB" sz="1000">
                <a:latin typeface="Courier New"/>
                <a:ea typeface="Courier New"/>
                <a:cs typeface="Courier New"/>
                <a:sym typeface="Courier New"/>
              </a:rPr>
              <a:t>Explain how the locations found on the Maria’s devices helped the investigation.</a:t>
            </a:r>
            <a:endParaRPr sz="1000">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GB" sz="1000">
                <a:latin typeface="Courier New"/>
                <a:ea typeface="Courier New"/>
                <a:cs typeface="Courier New"/>
                <a:sym typeface="Courier New"/>
              </a:rPr>
              <a:t>Which locations helped the investigation?</a:t>
            </a:r>
            <a:endParaRPr sz="1000">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GB" sz="1000">
                <a:latin typeface="Courier New"/>
                <a:ea typeface="Courier New"/>
                <a:cs typeface="Courier New"/>
                <a:sym typeface="Courier New"/>
              </a:rPr>
              <a:t>Insert a screenshot of your Google Map that plotted all of the locations.</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p:txBody>
      </p:sp>
      <p:sp>
        <p:nvSpPr>
          <p:cNvPr id="83" name="Google Shape;83;p16"/>
          <p:cNvSpPr txBox="1"/>
          <p:nvPr>
            <p:ph idx="4294967295" type="body"/>
          </p:nvPr>
        </p:nvSpPr>
        <p:spPr>
          <a:xfrm>
            <a:off x="127950" y="119425"/>
            <a:ext cx="4593300" cy="3915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sz="1000">
              <a:solidFill>
                <a:schemeClr val="dk1"/>
              </a:solidFill>
              <a:latin typeface="Courier New"/>
              <a:ea typeface="Courier New"/>
              <a:cs typeface="Courier New"/>
              <a:sym typeface="Courier New"/>
            </a:endParaRPr>
          </a:p>
        </p:txBody>
      </p:sp>
      <p:sp>
        <p:nvSpPr>
          <p:cNvPr id="84" name="Google Shape;84;p16"/>
          <p:cNvSpPr txBox="1"/>
          <p:nvPr/>
        </p:nvSpPr>
        <p:spPr>
          <a:xfrm>
            <a:off x="5161225" y="807800"/>
            <a:ext cx="3525000" cy="338700"/>
          </a:xfrm>
          <a:prstGeom prst="rect">
            <a:avLst/>
          </a:prstGeom>
          <a:solidFill>
            <a:srgbClr val="FFFF0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1000">
                <a:latin typeface="Courier New"/>
                <a:ea typeface="Courier New"/>
                <a:cs typeface="Courier New"/>
                <a:sym typeface="Courier New"/>
              </a:rPr>
              <a:t>Screenshot of your Google map to go here</a:t>
            </a:r>
            <a:endParaRPr b="1" sz="1000">
              <a:latin typeface="Courier New"/>
              <a:ea typeface="Courier New"/>
              <a:cs typeface="Courier New"/>
              <a:sym typeface="Courier New"/>
            </a:endParaRPr>
          </a:p>
        </p:txBody>
      </p:sp>
      <p:pic>
        <p:nvPicPr>
          <p:cNvPr id="85" name="Google Shape;85;p16"/>
          <p:cNvPicPr preferRelativeResize="0"/>
          <p:nvPr/>
        </p:nvPicPr>
        <p:blipFill>
          <a:blip r:embed="rId3">
            <a:alphaModFix/>
          </a:blip>
          <a:stretch>
            <a:fillRect/>
          </a:stretch>
        </p:blipFill>
        <p:spPr>
          <a:xfrm>
            <a:off x="4878425" y="2181426"/>
            <a:ext cx="4090599" cy="2714525"/>
          </a:xfrm>
          <a:prstGeom prst="rect">
            <a:avLst/>
          </a:prstGeom>
          <a:noFill/>
          <a:ln cap="flat" cmpd="sng" w="9525">
            <a:solidFill>
              <a:srgbClr val="595959"/>
            </a:solidFill>
            <a:prstDash val="solid"/>
            <a:round/>
            <a:headEnd len="sm" w="sm" type="none"/>
            <a:tailEnd len="sm" w="sm" type="none"/>
          </a:ln>
          <a:effectLst>
            <a:outerShdw blurRad="57150" rotWithShape="0" algn="bl" dir="5400000" dist="19050">
              <a:srgbClr val="000000">
                <a:alpha val="50000"/>
              </a:srgbClr>
            </a:outerShdw>
          </a:effectLst>
        </p:spPr>
      </p:pic>
      <p:sp>
        <p:nvSpPr>
          <p:cNvPr id="86" name="Google Shape;86;p16"/>
          <p:cNvSpPr/>
          <p:nvPr/>
        </p:nvSpPr>
        <p:spPr>
          <a:xfrm>
            <a:off x="5343625" y="3378788"/>
            <a:ext cx="3160200" cy="319800"/>
          </a:xfrm>
          <a:prstGeom prst="rect">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sz="1100">
                <a:latin typeface="Courier New"/>
                <a:ea typeface="Courier New"/>
                <a:cs typeface="Courier New"/>
                <a:sym typeface="Courier New"/>
              </a:rPr>
              <a:t>Replace with your own location log </a:t>
            </a:r>
            <a:endParaRPr b="1" sz="1100">
              <a:latin typeface="Courier New"/>
              <a:ea typeface="Courier New"/>
              <a:cs typeface="Courier New"/>
              <a:sym typeface="Courier New"/>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nvSpPr>
        <p:spPr>
          <a:xfrm>
            <a:off x="140725" y="3977050"/>
            <a:ext cx="4881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Courier New"/>
                <a:ea typeface="Courier New"/>
                <a:cs typeface="Courier New"/>
                <a:sym typeface="Courier New"/>
              </a:rPr>
              <a:t>Fifth Paragraph:</a:t>
            </a:r>
            <a:endParaRPr>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GB" sz="1000">
                <a:latin typeface="Courier New"/>
                <a:ea typeface="Courier New"/>
                <a:cs typeface="Courier New"/>
                <a:sym typeface="Courier New"/>
              </a:rPr>
              <a:t>Explain how the Instagram posts leading up to Maria’s disappearance helped the investigation. What did the posts tell you about Maria’s life?</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p:txBody>
      </p:sp>
      <p:sp>
        <p:nvSpPr>
          <p:cNvPr id="92" name="Google Shape;92;p17"/>
          <p:cNvSpPr txBox="1"/>
          <p:nvPr>
            <p:ph idx="4294967295" type="body"/>
          </p:nvPr>
        </p:nvSpPr>
        <p:spPr>
          <a:xfrm>
            <a:off x="127950" y="119425"/>
            <a:ext cx="4593300" cy="3915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sz="1000">
              <a:solidFill>
                <a:schemeClr val="dk1"/>
              </a:solidFill>
              <a:latin typeface="Courier New"/>
              <a:ea typeface="Courier New"/>
              <a:cs typeface="Courier New"/>
              <a:sym typeface="Courier New"/>
            </a:endParaRPr>
          </a:p>
        </p:txBody>
      </p:sp>
      <p:pic>
        <p:nvPicPr>
          <p:cNvPr id="93" name="Google Shape;93;p17"/>
          <p:cNvPicPr preferRelativeResize="0"/>
          <p:nvPr/>
        </p:nvPicPr>
        <p:blipFill>
          <a:blip r:embed="rId3">
            <a:alphaModFix/>
          </a:blip>
          <a:stretch>
            <a:fillRect/>
          </a:stretch>
        </p:blipFill>
        <p:spPr>
          <a:xfrm rot="-643917">
            <a:off x="5042345" y="37845"/>
            <a:ext cx="3196334" cy="1627740"/>
          </a:xfrm>
          <a:prstGeom prst="rect">
            <a:avLst/>
          </a:prstGeom>
          <a:noFill/>
          <a:ln cap="flat" cmpd="sng" w="19050">
            <a:solidFill>
              <a:srgbClr val="595959"/>
            </a:solidFill>
            <a:prstDash val="solid"/>
            <a:round/>
            <a:headEnd len="sm" w="sm" type="none"/>
            <a:tailEnd len="sm" w="sm" type="none"/>
          </a:ln>
          <a:effectLst>
            <a:outerShdw blurRad="57150" rotWithShape="0" algn="bl" dir="5400000" dist="19050">
              <a:srgbClr val="000000">
                <a:alpha val="50000"/>
              </a:srgbClr>
            </a:outerShdw>
          </a:effectLst>
        </p:spPr>
      </p:pic>
      <p:pic>
        <p:nvPicPr>
          <p:cNvPr id="94" name="Google Shape;94;p17"/>
          <p:cNvPicPr preferRelativeResize="0"/>
          <p:nvPr/>
        </p:nvPicPr>
        <p:blipFill>
          <a:blip r:embed="rId4">
            <a:alphaModFix/>
          </a:blip>
          <a:stretch>
            <a:fillRect/>
          </a:stretch>
        </p:blipFill>
        <p:spPr>
          <a:xfrm rot="623382">
            <a:off x="6358245" y="514279"/>
            <a:ext cx="2770913" cy="1436541"/>
          </a:xfrm>
          <a:prstGeom prst="rect">
            <a:avLst/>
          </a:prstGeom>
          <a:noFill/>
          <a:ln cap="flat" cmpd="sng" w="19050">
            <a:solidFill>
              <a:srgbClr val="595959"/>
            </a:solidFill>
            <a:prstDash val="solid"/>
            <a:round/>
            <a:headEnd len="sm" w="sm" type="none"/>
            <a:tailEnd len="sm" w="sm" type="none"/>
          </a:ln>
          <a:effectLst>
            <a:outerShdw blurRad="57150" rotWithShape="0" algn="bl" dir="5400000" dist="19050">
              <a:srgbClr val="000000">
                <a:alpha val="50000"/>
              </a:srgbClr>
            </a:outerShdw>
          </a:effectLst>
        </p:spPr>
      </p:pic>
      <p:pic>
        <p:nvPicPr>
          <p:cNvPr id="95" name="Google Shape;95;p17"/>
          <p:cNvPicPr preferRelativeResize="0"/>
          <p:nvPr/>
        </p:nvPicPr>
        <p:blipFill>
          <a:blip r:embed="rId5">
            <a:alphaModFix/>
          </a:blip>
          <a:stretch>
            <a:fillRect/>
          </a:stretch>
        </p:blipFill>
        <p:spPr>
          <a:xfrm rot="-1257058">
            <a:off x="6051205" y="1059643"/>
            <a:ext cx="3060366" cy="1462585"/>
          </a:xfrm>
          <a:prstGeom prst="rect">
            <a:avLst/>
          </a:prstGeom>
          <a:noFill/>
          <a:ln cap="flat" cmpd="sng" w="19050">
            <a:solidFill>
              <a:srgbClr val="595959"/>
            </a:solidFill>
            <a:prstDash val="solid"/>
            <a:round/>
            <a:headEnd len="sm" w="sm" type="none"/>
            <a:tailEnd len="sm" w="sm" type="none"/>
          </a:ln>
          <a:effectLst>
            <a:outerShdw blurRad="57150" rotWithShape="0" algn="bl" dir="5400000" dist="19050">
              <a:srgbClr val="000000">
                <a:alpha val="50000"/>
              </a:srgbClr>
            </a:outerShdw>
          </a:effectLst>
        </p:spPr>
      </p:pic>
      <p:pic>
        <p:nvPicPr>
          <p:cNvPr id="96" name="Google Shape;96;p17"/>
          <p:cNvPicPr preferRelativeResize="0"/>
          <p:nvPr/>
        </p:nvPicPr>
        <p:blipFill>
          <a:blip r:embed="rId6">
            <a:alphaModFix/>
          </a:blip>
          <a:stretch>
            <a:fillRect/>
          </a:stretch>
        </p:blipFill>
        <p:spPr>
          <a:xfrm>
            <a:off x="6017100" y="1902050"/>
            <a:ext cx="2915075" cy="1425150"/>
          </a:xfrm>
          <a:prstGeom prst="rect">
            <a:avLst/>
          </a:prstGeom>
          <a:noFill/>
          <a:ln cap="flat" cmpd="sng" w="9525">
            <a:solidFill>
              <a:srgbClr val="595959"/>
            </a:solidFill>
            <a:prstDash val="solid"/>
            <a:round/>
            <a:headEnd len="sm" w="sm" type="none"/>
            <a:tailEnd len="sm" w="sm" type="none"/>
          </a:ln>
          <a:effectLst>
            <a:outerShdw blurRad="57150" rotWithShape="0" algn="bl" dir="5400000" dist="19050">
              <a:srgbClr val="000000">
                <a:alpha val="50000"/>
              </a:srgbClr>
            </a:outerShdw>
          </a:effectLst>
        </p:spPr>
      </p:pic>
      <p:pic>
        <p:nvPicPr>
          <p:cNvPr id="97" name="Google Shape;97;p17"/>
          <p:cNvPicPr preferRelativeResize="0"/>
          <p:nvPr/>
        </p:nvPicPr>
        <p:blipFill rotWithShape="1">
          <a:blip r:embed="rId7">
            <a:alphaModFix/>
          </a:blip>
          <a:srcRect b="0" l="0" r="12057" t="43905"/>
          <a:stretch/>
        </p:blipFill>
        <p:spPr>
          <a:xfrm rot="-5">
            <a:off x="4954849" y="3481178"/>
            <a:ext cx="3933200" cy="1425144"/>
          </a:xfrm>
          <a:prstGeom prst="rect">
            <a:avLst/>
          </a:prstGeom>
          <a:noFill/>
          <a:ln cap="flat" cmpd="sng" w="9525">
            <a:solidFill>
              <a:srgbClr val="595959"/>
            </a:solidFill>
            <a:prstDash val="solid"/>
            <a:round/>
            <a:headEnd len="sm" w="sm" type="none"/>
            <a:tailEnd len="sm" w="sm" type="none"/>
          </a:ln>
          <a:effectLst>
            <a:outerShdw blurRad="57150" rotWithShape="0" algn="bl" dir="5400000" dist="1905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nvSpPr>
        <p:spPr>
          <a:xfrm>
            <a:off x="140725" y="3977050"/>
            <a:ext cx="4881300" cy="132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Courier New"/>
                <a:ea typeface="Courier New"/>
                <a:cs typeface="Courier New"/>
                <a:sym typeface="Courier New"/>
              </a:rPr>
              <a:t>Six</a:t>
            </a:r>
            <a:r>
              <a:rPr lang="en-GB">
                <a:latin typeface="Courier New"/>
                <a:ea typeface="Courier New"/>
                <a:cs typeface="Courier New"/>
                <a:sym typeface="Courier New"/>
              </a:rPr>
              <a:t>th Paragraph:</a:t>
            </a:r>
            <a:endParaRPr>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GB" sz="1000">
                <a:latin typeface="Courier New"/>
                <a:ea typeface="Courier New"/>
                <a:cs typeface="Courier New"/>
                <a:sym typeface="Courier New"/>
              </a:rPr>
              <a:t>Describe what metadata is and how there was metadata on the image from the Instagram post about teddies.</a:t>
            </a:r>
            <a:endParaRPr sz="1000">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GB" sz="1000">
                <a:latin typeface="Courier New"/>
                <a:ea typeface="Courier New"/>
                <a:cs typeface="Courier New"/>
                <a:sym typeface="Courier New"/>
              </a:rPr>
              <a:t>Which piece of information from the metadata was useful to the investigation?</a:t>
            </a:r>
            <a:endParaRPr sz="1000">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GB" sz="1000">
                <a:latin typeface="Courier New"/>
                <a:ea typeface="Courier New"/>
                <a:cs typeface="Courier New"/>
                <a:sym typeface="Courier New"/>
              </a:rPr>
              <a:t>What did these piece of metadata tell you? </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p:txBody>
      </p:sp>
      <p:sp>
        <p:nvSpPr>
          <p:cNvPr id="103" name="Google Shape;103;p18"/>
          <p:cNvSpPr txBox="1"/>
          <p:nvPr>
            <p:ph idx="4294967295" type="body"/>
          </p:nvPr>
        </p:nvSpPr>
        <p:spPr>
          <a:xfrm>
            <a:off x="127950" y="119425"/>
            <a:ext cx="4593300" cy="3915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sz="1000">
              <a:solidFill>
                <a:schemeClr val="dk1"/>
              </a:solidFill>
              <a:latin typeface="Courier New"/>
              <a:ea typeface="Courier New"/>
              <a:cs typeface="Courier New"/>
              <a:sym typeface="Courier New"/>
            </a:endParaRPr>
          </a:p>
        </p:txBody>
      </p:sp>
      <p:pic>
        <p:nvPicPr>
          <p:cNvPr id="104" name="Google Shape;104;p18"/>
          <p:cNvPicPr preferRelativeResize="0"/>
          <p:nvPr/>
        </p:nvPicPr>
        <p:blipFill>
          <a:blip r:embed="rId3">
            <a:alphaModFix/>
          </a:blip>
          <a:stretch>
            <a:fillRect/>
          </a:stretch>
        </p:blipFill>
        <p:spPr>
          <a:xfrm>
            <a:off x="7451800" y="62475"/>
            <a:ext cx="1692200" cy="2438076"/>
          </a:xfrm>
          <a:prstGeom prst="rect">
            <a:avLst/>
          </a:prstGeom>
          <a:noFill/>
          <a:ln>
            <a:noFill/>
          </a:ln>
        </p:spPr>
      </p:pic>
      <p:pic>
        <p:nvPicPr>
          <p:cNvPr id="105" name="Google Shape;105;p18"/>
          <p:cNvPicPr preferRelativeResize="0"/>
          <p:nvPr/>
        </p:nvPicPr>
        <p:blipFill rotWithShape="1">
          <a:blip r:embed="rId4">
            <a:alphaModFix/>
          </a:blip>
          <a:srcRect b="0" l="0" r="56169" t="0"/>
          <a:stretch/>
        </p:blipFill>
        <p:spPr>
          <a:xfrm>
            <a:off x="5035261" y="205574"/>
            <a:ext cx="2102526" cy="3073375"/>
          </a:xfrm>
          <a:prstGeom prst="rect">
            <a:avLst/>
          </a:prstGeom>
          <a:noFill/>
          <a:ln cap="flat" cmpd="sng" w="9525">
            <a:solidFill>
              <a:srgbClr val="595959"/>
            </a:solidFill>
            <a:prstDash val="solid"/>
            <a:round/>
            <a:headEnd len="sm" w="sm" type="none"/>
            <a:tailEnd len="sm" w="sm" type="none"/>
          </a:ln>
          <a:effectLst>
            <a:outerShdw blurRad="57150" rotWithShape="0" algn="bl" dir="5400000" dist="19050">
              <a:srgbClr val="000000">
                <a:alpha val="50000"/>
              </a:srgbClr>
            </a:outerShdw>
          </a:effectLst>
        </p:spPr>
      </p:pic>
      <p:pic>
        <p:nvPicPr>
          <p:cNvPr id="106" name="Google Shape;106;p18"/>
          <p:cNvPicPr preferRelativeResize="0"/>
          <p:nvPr/>
        </p:nvPicPr>
        <p:blipFill rotWithShape="1">
          <a:blip r:embed="rId5">
            <a:alphaModFix/>
          </a:blip>
          <a:srcRect b="52828" l="49411" r="0" t="0"/>
          <a:stretch/>
        </p:blipFill>
        <p:spPr>
          <a:xfrm rot="10">
            <a:off x="6053300" y="3478155"/>
            <a:ext cx="2714101" cy="1424942"/>
          </a:xfrm>
          <a:prstGeom prst="rect">
            <a:avLst/>
          </a:prstGeom>
          <a:noFill/>
          <a:ln cap="flat" cmpd="sng" w="9525">
            <a:solidFill>
              <a:srgbClr val="595959"/>
            </a:solidFill>
            <a:prstDash val="solid"/>
            <a:round/>
            <a:headEnd len="sm" w="sm" type="none"/>
            <a:tailEnd len="sm" w="sm" type="none"/>
          </a:ln>
          <a:effectLst>
            <a:outerShdw blurRad="57150" rotWithShape="0" algn="bl" dir="5400000" dist="19050">
              <a:srgbClr val="000000">
                <a:alpha val="50000"/>
              </a:srgbClr>
            </a:outerShdw>
          </a:effectLst>
        </p:spPr>
      </p:pic>
      <p:sp>
        <p:nvSpPr>
          <p:cNvPr id="107" name="Google Shape;107;p18"/>
          <p:cNvSpPr/>
          <p:nvPr/>
        </p:nvSpPr>
        <p:spPr>
          <a:xfrm>
            <a:off x="5687200" y="4232250"/>
            <a:ext cx="3492900" cy="319800"/>
          </a:xfrm>
          <a:prstGeom prst="rect">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sz="1100">
                <a:latin typeface="Courier New"/>
                <a:ea typeface="Courier New"/>
                <a:cs typeface="Courier New"/>
                <a:sym typeface="Courier New"/>
              </a:rPr>
              <a:t>Replace with your own (metadata lesson)</a:t>
            </a:r>
            <a:endParaRPr b="1" sz="1100">
              <a:latin typeface="Courier New"/>
              <a:ea typeface="Courier New"/>
              <a:cs typeface="Courier New"/>
              <a:sym typeface="Courier New"/>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nvSpPr>
        <p:spPr>
          <a:xfrm>
            <a:off x="140725" y="3977050"/>
            <a:ext cx="4881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Courier New"/>
                <a:ea typeface="Courier New"/>
                <a:cs typeface="Courier New"/>
                <a:sym typeface="Courier New"/>
              </a:rPr>
              <a:t>Seven</a:t>
            </a:r>
            <a:r>
              <a:rPr lang="en-GB">
                <a:latin typeface="Courier New"/>
                <a:ea typeface="Courier New"/>
                <a:cs typeface="Courier New"/>
                <a:sym typeface="Courier New"/>
              </a:rPr>
              <a:t>th Paragraph:</a:t>
            </a:r>
            <a:endParaRPr>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GB" sz="1000">
                <a:latin typeface="Courier New"/>
                <a:ea typeface="Courier New"/>
                <a:cs typeface="Courier New"/>
                <a:sym typeface="Courier New"/>
              </a:rPr>
              <a:t>Describe the content of the messages from AshXxX to Maria’s which were found on Maria’s phone.</a:t>
            </a:r>
            <a:endParaRPr sz="1000">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GB" sz="1000">
                <a:latin typeface="Courier New"/>
                <a:ea typeface="Courier New"/>
                <a:cs typeface="Courier New"/>
                <a:sym typeface="Courier New"/>
              </a:rPr>
              <a:t>What can you infer from these messages? Was this a healthy relationship?</a:t>
            </a:r>
            <a:endParaRPr sz="1000">
              <a:latin typeface="Courier New"/>
              <a:ea typeface="Courier New"/>
              <a:cs typeface="Courier New"/>
              <a:sym typeface="Courier New"/>
            </a:endParaRPr>
          </a:p>
        </p:txBody>
      </p:sp>
      <p:sp>
        <p:nvSpPr>
          <p:cNvPr id="113" name="Google Shape;113;p19"/>
          <p:cNvSpPr txBox="1"/>
          <p:nvPr>
            <p:ph idx="4294967295" type="body"/>
          </p:nvPr>
        </p:nvSpPr>
        <p:spPr>
          <a:xfrm>
            <a:off x="127950" y="119425"/>
            <a:ext cx="4593300" cy="3915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sz="1000">
              <a:solidFill>
                <a:schemeClr val="dk1"/>
              </a:solidFill>
              <a:latin typeface="Courier New"/>
              <a:ea typeface="Courier New"/>
              <a:cs typeface="Courier New"/>
              <a:sym typeface="Courier New"/>
            </a:endParaRPr>
          </a:p>
        </p:txBody>
      </p:sp>
      <p:pic>
        <p:nvPicPr>
          <p:cNvPr id="114" name="Google Shape;114;p19"/>
          <p:cNvPicPr preferRelativeResize="0"/>
          <p:nvPr/>
        </p:nvPicPr>
        <p:blipFill rotWithShape="1">
          <a:blip r:embed="rId3">
            <a:alphaModFix/>
          </a:blip>
          <a:srcRect b="7149" l="12885" r="10233" t="10871"/>
          <a:stretch/>
        </p:blipFill>
        <p:spPr>
          <a:xfrm>
            <a:off x="5837825" y="36674"/>
            <a:ext cx="1727231" cy="4249652"/>
          </a:xfrm>
          <a:prstGeom prst="rect">
            <a:avLst/>
          </a:prstGeom>
          <a:noFill/>
          <a:ln cap="flat" cmpd="sng" w="9525">
            <a:solidFill>
              <a:srgbClr val="595959"/>
            </a:solidFill>
            <a:prstDash val="solid"/>
            <a:round/>
            <a:headEnd len="sm" w="sm" type="none"/>
            <a:tailEnd len="sm" w="sm" type="none"/>
          </a:ln>
          <a:effectLst>
            <a:outerShdw blurRad="57150" rotWithShape="0" algn="bl" dir="5400000" dist="19050">
              <a:srgbClr val="000000">
                <a:alpha val="50000"/>
              </a:srgbClr>
            </a:outerShdw>
          </a:effectLst>
        </p:spPr>
      </p:pic>
      <p:pic>
        <p:nvPicPr>
          <p:cNvPr id="115" name="Google Shape;115;p19"/>
          <p:cNvPicPr preferRelativeResize="0"/>
          <p:nvPr/>
        </p:nvPicPr>
        <p:blipFill>
          <a:blip r:embed="rId4">
            <a:alphaModFix/>
          </a:blip>
          <a:stretch>
            <a:fillRect/>
          </a:stretch>
        </p:blipFill>
        <p:spPr>
          <a:xfrm>
            <a:off x="7555557" y="21375"/>
            <a:ext cx="1582594" cy="4249651"/>
          </a:xfrm>
          <a:prstGeom prst="rect">
            <a:avLst/>
          </a:prstGeom>
          <a:noFill/>
          <a:ln cap="flat" cmpd="sng" w="9525">
            <a:solidFill>
              <a:srgbClr val="595959"/>
            </a:solidFill>
            <a:prstDash val="solid"/>
            <a:round/>
            <a:headEnd len="sm" w="sm" type="none"/>
            <a:tailEnd len="sm" w="sm" type="none"/>
          </a:ln>
          <a:effectLst>
            <a:outerShdw blurRad="57150" rotWithShape="0" algn="bl" dir="5400000" dist="19050">
              <a:srgbClr val="000000">
                <a:alpha val="5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nvSpPr>
        <p:spPr>
          <a:xfrm>
            <a:off x="140725" y="3977050"/>
            <a:ext cx="48813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Courier New"/>
                <a:ea typeface="Courier New"/>
                <a:cs typeface="Courier New"/>
                <a:sym typeface="Courier New"/>
              </a:rPr>
              <a:t>Eigh</a:t>
            </a:r>
            <a:r>
              <a:rPr lang="en-GB">
                <a:latin typeface="Courier New"/>
                <a:ea typeface="Courier New"/>
                <a:cs typeface="Courier New"/>
                <a:sym typeface="Courier New"/>
              </a:rPr>
              <a:t>th Paragraph:</a:t>
            </a:r>
            <a:endParaRPr>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GB" sz="1000">
                <a:latin typeface="Courier New"/>
                <a:ea typeface="Courier New"/>
                <a:cs typeface="Courier New"/>
                <a:sym typeface="Courier New"/>
              </a:rPr>
              <a:t>Why is the number of followers and how long the account has been active, something that is concerning and very suspicious?</a:t>
            </a:r>
            <a:endParaRPr sz="1000">
              <a:latin typeface="Courier New"/>
              <a:ea typeface="Courier New"/>
              <a:cs typeface="Courier New"/>
              <a:sym typeface="Courier New"/>
            </a:endParaRPr>
          </a:p>
        </p:txBody>
      </p:sp>
      <p:sp>
        <p:nvSpPr>
          <p:cNvPr id="121" name="Google Shape;121;p20"/>
          <p:cNvSpPr txBox="1"/>
          <p:nvPr>
            <p:ph idx="4294967295" type="body"/>
          </p:nvPr>
        </p:nvSpPr>
        <p:spPr>
          <a:xfrm>
            <a:off x="127950" y="119425"/>
            <a:ext cx="4593300" cy="3915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sz="1000">
              <a:solidFill>
                <a:schemeClr val="dk1"/>
              </a:solidFill>
              <a:latin typeface="Courier New"/>
              <a:ea typeface="Courier New"/>
              <a:cs typeface="Courier New"/>
              <a:sym typeface="Courier New"/>
            </a:endParaRPr>
          </a:p>
        </p:txBody>
      </p:sp>
      <p:pic>
        <p:nvPicPr>
          <p:cNvPr id="122" name="Google Shape;122;p20"/>
          <p:cNvPicPr preferRelativeResize="0"/>
          <p:nvPr/>
        </p:nvPicPr>
        <p:blipFill>
          <a:blip r:embed="rId3">
            <a:alphaModFix/>
          </a:blip>
          <a:stretch>
            <a:fillRect/>
          </a:stretch>
        </p:blipFill>
        <p:spPr>
          <a:xfrm>
            <a:off x="5296400" y="152400"/>
            <a:ext cx="3695200" cy="2333800"/>
          </a:xfrm>
          <a:prstGeom prst="rect">
            <a:avLst/>
          </a:prstGeom>
          <a:noFill/>
          <a:ln>
            <a:noFill/>
          </a:ln>
        </p:spPr>
      </p:pic>
      <p:pic>
        <p:nvPicPr>
          <p:cNvPr id="123" name="Google Shape;123;p20"/>
          <p:cNvPicPr preferRelativeResize="0"/>
          <p:nvPr/>
        </p:nvPicPr>
        <p:blipFill>
          <a:blip r:embed="rId4">
            <a:alphaModFix/>
          </a:blip>
          <a:stretch>
            <a:fillRect/>
          </a:stretch>
        </p:blipFill>
        <p:spPr>
          <a:xfrm>
            <a:off x="5339722" y="2659050"/>
            <a:ext cx="3651878" cy="2333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1"/>
          <p:cNvSpPr txBox="1"/>
          <p:nvPr/>
        </p:nvSpPr>
        <p:spPr>
          <a:xfrm>
            <a:off x="140725" y="3977050"/>
            <a:ext cx="48813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Courier New"/>
                <a:ea typeface="Courier New"/>
                <a:cs typeface="Courier New"/>
                <a:sym typeface="Courier New"/>
              </a:rPr>
              <a:t>Nin</a:t>
            </a:r>
            <a:r>
              <a:rPr lang="en-GB">
                <a:latin typeface="Courier New"/>
                <a:ea typeface="Courier New"/>
                <a:cs typeface="Courier New"/>
                <a:sym typeface="Courier New"/>
              </a:rPr>
              <a:t>th Paragraph:</a:t>
            </a:r>
            <a:endParaRPr>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GB" sz="1000">
                <a:latin typeface="Courier New"/>
                <a:ea typeface="Courier New"/>
                <a:cs typeface="Courier New"/>
                <a:sym typeface="Courier New"/>
              </a:rPr>
              <a:t>Describe how you searched the Police central record</a:t>
            </a:r>
            <a:endParaRPr sz="1000">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GB" sz="1000">
                <a:latin typeface="Courier New"/>
                <a:ea typeface="Courier New"/>
                <a:cs typeface="Courier New"/>
                <a:sym typeface="Courier New"/>
              </a:rPr>
              <a:t>What information were you able to find from this?</a:t>
            </a:r>
            <a:endParaRPr sz="1000">
              <a:latin typeface="Courier New"/>
              <a:ea typeface="Courier New"/>
              <a:cs typeface="Courier New"/>
              <a:sym typeface="Courier New"/>
            </a:endParaRPr>
          </a:p>
        </p:txBody>
      </p:sp>
      <p:sp>
        <p:nvSpPr>
          <p:cNvPr id="129" name="Google Shape;129;p21"/>
          <p:cNvSpPr txBox="1"/>
          <p:nvPr>
            <p:ph idx="4294967295" type="body"/>
          </p:nvPr>
        </p:nvSpPr>
        <p:spPr>
          <a:xfrm>
            <a:off x="127950" y="119425"/>
            <a:ext cx="4593300" cy="3915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sz="1000">
              <a:solidFill>
                <a:schemeClr val="dk1"/>
              </a:solidFill>
              <a:latin typeface="Courier New"/>
              <a:ea typeface="Courier New"/>
              <a:cs typeface="Courier New"/>
              <a:sym typeface="Courier New"/>
            </a:endParaRPr>
          </a:p>
        </p:txBody>
      </p:sp>
      <p:pic>
        <p:nvPicPr>
          <p:cNvPr id="130" name="Google Shape;130;p21"/>
          <p:cNvPicPr preferRelativeResize="0"/>
          <p:nvPr/>
        </p:nvPicPr>
        <p:blipFill>
          <a:blip r:embed="rId3">
            <a:alphaModFix/>
          </a:blip>
          <a:stretch>
            <a:fillRect/>
          </a:stretch>
        </p:blipFill>
        <p:spPr>
          <a:xfrm rot="-1002403">
            <a:off x="4566581" y="236515"/>
            <a:ext cx="4922464" cy="2505093"/>
          </a:xfrm>
          <a:prstGeom prst="rect">
            <a:avLst/>
          </a:prstGeom>
          <a:noFill/>
          <a:ln cap="flat" cmpd="sng" w="9525">
            <a:solidFill>
              <a:srgbClr val="595959"/>
            </a:solidFill>
            <a:prstDash val="solid"/>
            <a:round/>
            <a:headEnd len="sm" w="sm" type="none"/>
            <a:tailEnd len="sm" w="sm" type="none"/>
          </a:ln>
          <a:effectLst>
            <a:outerShdw blurRad="57150" rotWithShape="0" algn="bl" dir="5400000" dist="19050">
              <a:srgbClr val="000000">
                <a:alpha val="50000"/>
              </a:srgbClr>
            </a:outerShdw>
          </a:effectLst>
        </p:spPr>
      </p:pic>
      <p:pic>
        <p:nvPicPr>
          <p:cNvPr id="131" name="Google Shape;131;p21"/>
          <p:cNvPicPr preferRelativeResize="0"/>
          <p:nvPr/>
        </p:nvPicPr>
        <p:blipFill>
          <a:blip r:embed="rId4">
            <a:alphaModFix/>
          </a:blip>
          <a:stretch>
            <a:fillRect/>
          </a:stretch>
        </p:blipFill>
        <p:spPr>
          <a:xfrm rot="1306952">
            <a:off x="5350000" y="2262721"/>
            <a:ext cx="3497476" cy="2440549"/>
          </a:xfrm>
          <a:prstGeom prst="rect">
            <a:avLst/>
          </a:prstGeom>
          <a:noFill/>
          <a:ln cap="flat" cmpd="sng" w="9525">
            <a:solidFill>
              <a:srgbClr val="595959"/>
            </a:solidFill>
            <a:prstDash val="solid"/>
            <a:round/>
            <a:headEnd len="sm" w="sm" type="none"/>
            <a:tailEnd len="sm" w="sm" type="none"/>
          </a:ln>
          <a:effectLst>
            <a:outerShdw blurRad="57150" rotWithShape="0" algn="bl" dir="5400000" dist="19050">
              <a:srgbClr val="000000">
                <a:alpha val="50000"/>
              </a:srgbClr>
            </a:outerShdw>
          </a:effectLst>
        </p:spPr>
      </p:pic>
      <p:sp>
        <p:nvSpPr>
          <p:cNvPr id="132" name="Google Shape;132;p21"/>
          <p:cNvSpPr/>
          <p:nvPr/>
        </p:nvSpPr>
        <p:spPr>
          <a:xfrm>
            <a:off x="5343625" y="3378800"/>
            <a:ext cx="3549300" cy="319800"/>
          </a:xfrm>
          <a:prstGeom prst="rect">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sz="1100">
                <a:latin typeface="Courier New"/>
                <a:ea typeface="Courier New"/>
                <a:cs typeface="Courier New"/>
                <a:sym typeface="Courier New"/>
              </a:rPr>
              <a:t>Replace with your own suspect profile </a:t>
            </a:r>
            <a:endParaRPr b="1" sz="1100">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2"/>
          <p:cNvSpPr txBox="1"/>
          <p:nvPr/>
        </p:nvSpPr>
        <p:spPr>
          <a:xfrm>
            <a:off x="140725" y="3977050"/>
            <a:ext cx="4881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Courier New"/>
                <a:ea typeface="Courier New"/>
                <a:cs typeface="Courier New"/>
                <a:sym typeface="Courier New"/>
              </a:rPr>
              <a:t>Te</a:t>
            </a:r>
            <a:r>
              <a:rPr lang="en-GB">
                <a:latin typeface="Courier New"/>
                <a:ea typeface="Courier New"/>
                <a:cs typeface="Courier New"/>
                <a:sym typeface="Courier New"/>
              </a:rPr>
              <a:t>nth Paragraph:</a:t>
            </a:r>
            <a:endParaRPr>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GB" sz="1000">
                <a:latin typeface="Courier New"/>
                <a:ea typeface="Courier New"/>
                <a:cs typeface="Courier New"/>
                <a:sym typeface="Courier New"/>
              </a:rPr>
              <a:t>Describe how you searched the suspect’s house.</a:t>
            </a:r>
            <a:endParaRPr sz="1000">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GB" sz="1000">
                <a:latin typeface="Courier New"/>
                <a:ea typeface="Courier New"/>
                <a:cs typeface="Courier New"/>
                <a:sym typeface="Courier New"/>
              </a:rPr>
              <a:t>What evidence did you find in the house and how does this show that the suspect is linked with the disappearance of Maria Burton?</a:t>
            </a:r>
            <a:endParaRPr sz="1000">
              <a:latin typeface="Courier New"/>
              <a:ea typeface="Courier New"/>
              <a:cs typeface="Courier New"/>
              <a:sym typeface="Courier New"/>
            </a:endParaRPr>
          </a:p>
        </p:txBody>
      </p:sp>
      <p:sp>
        <p:nvSpPr>
          <p:cNvPr id="138" name="Google Shape;138;p22"/>
          <p:cNvSpPr txBox="1"/>
          <p:nvPr>
            <p:ph idx="4294967295" type="body"/>
          </p:nvPr>
        </p:nvSpPr>
        <p:spPr>
          <a:xfrm>
            <a:off x="127950" y="119425"/>
            <a:ext cx="4593300" cy="3915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sz="1000">
              <a:solidFill>
                <a:schemeClr val="dk1"/>
              </a:solidFill>
              <a:latin typeface="Courier New"/>
              <a:ea typeface="Courier New"/>
              <a:cs typeface="Courier New"/>
              <a:sym typeface="Courier New"/>
            </a:endParaRPr>
          </a:p>
        </p:txBody>
      </p:sp>
      <p:pic>
        <p:nvPicPr>
          <p:cNvPr id="139" name="Google Shape;139;p22"/>
          <p:cNvPicPr preferRelativeResize="0"/>
          <p:nvPr/>
        </p:nvPicPr>
        <p:blipFill>
          <a:blip r:embed="rId3">
            <a:alphaModFix/>
          </a:blip>
          <a:stretch>
            <a:fillRect/>
          </a:stretch>
        </p:blipFill>
        <p:spPr>
          <a:xfrm rot="-1398017">
            <a:off x="4300388" y="2675"/>
            <a:ext cx="3604200" cy="2019785"/>
          </a:xfrm>
          <a:prstGeom prst="rect">
            <a:avLst/>
          </a:prstGeom>
          <a:noFill/>
          <a:ln cap="flat" cmpd="sng" w="9525">
            <a:solidFill>
              <a:srgbClr val="595959"/>
            </a:solidFill>
            <a:prstDash val="solid"/>
            <a:round/>
            <a:headEnd len="sm" w="sm" type="none"/>
            <a:tailEnd len="sm" w="sm" type="none"/>
          </a:ln>
          <a:effectLst>
            <a:outerShdw blurRad="57150" rotWithShape="0" algn="bl" dir="5400000" dist="19050">
              <a:srgbClr val="000000">
                <a:alpha val="50000"/>
              </a:srgbClr>
            </a:outerShdw>
          </a:effectLst>
        </p:spPr>
      </p:pic>
      <p:pic>
        <p:nvPicPr>
          <p:cNvPr id="140" name="Google Shape;140;p22"/>
          <p:cNvPicPr preferRelativeResize="0"/>
          <p:nvPr/>
        </p:nvPicPr>
        <p:blipFill>
          <a:blip r:embed="rId4">
            <a:alphaModFix/>
          </a:blip>
          <a:stretch>
            <a:fillRect/>
          </a:stretch>
        </p:blipFill>
        <p:spPr>
          <a:xfrm rot="-1422239">
            <a:off x="7181827" y="3741323"/>
            <a:ext cx="2063673" cy="1086056"/>
          </a:xfrm>
          <a:prstGeom prst="rect">
            <a:avLst/>
          </a:prstGeom>
          <a:noFill/>
          <a:ln cap="flat" cmpd="sng" w="9525">
            <a:solidFill>
              <a:srgbClr val="595959"/>
            </a:solidFill>
            <a:prstDash val="solid"/>
            <a:round/>
            <a:headEnd len="sm" w="sm" type="none"/>
            <a:tailEnd len="sm" w="sm" type="none"/>
          </a:ln>
          <a:effectLst>
            <a:outerShdw blurRad="57150" rotWithShape="0" algn="bl" dir="5400000" dist="19050">
              <a:srgbClr val="000000">
                <a:alpha val="50000"/>
              </a:srgbClr>
            </a:outerShdw>
          </a:effectLst>
        </p:spPr>
      </p:pic>
      <p:pic>
        <p:nvPicPr>
          <p:cNvPr id="141" name="Google Shape;141;p22"/>
          <p:cNvPicPr preferRelativeResize="0"/>
          <p:nvPr/>
        </p:nvPicPr>
        <p:blipFill>
          <a:blip r:embed="rId5">
            <a:alphaModFix/>
          </a:blip>
          <a:stretch>
            <a:fillRect/>
          </a:stretch>
        </p:blipFill>
        <p:spPr>
          <a:xfrm>
            <a:off x="4982150" y="3903350"/>
            <a:ext cx="2240676" cy="1297125"/>
          </a:xfrm>
          <a:prstGeom prst="rect">
            <a:avLst/>
          </a:prstGeom>
          <a:noFill/>
          <a:ln cap="flat" cmpd="sng" w="9525">
            <a:solidFill>
              <a:srgbClr val="595959"/>
            </a:solidFill>
            <a:prstDash val="solid"/>
            <a:round/>
            <a:headEnd len="sm" w="sm" type="none"/>
            <a:tailEnd len="sm" w="sm" type="none"/>
          </a:ln>
          <a:effectLst>
            <a:outerShdw blurRad="57150" rotWithShape="0" algn="bl" dir="5400000" dist="19050">
              <a:srgbClr val="000000">
                <a:alpha val="50000"/>
              </a:srgbClr>
            </a:outerShdw>
          </a:effectLst>
        </p:spPr>
      </p:pic>
      <p:pic>
        <p:nvPicPr>
          <p:cNvPr id="142" name="Google Shape;142;p22"/>
          <p:cNvPicPr preferRelativeResize="0"/>
          <p:nvPr/>
        </p:nvPicPr>
        <p:blipFill>
          <a:blip r:embed="rId6">
            <a:alphaModFix/>
          </a:blip>
          <a:stretch>
            <a:fillRect/>
          </a:stretch>
        </p:blipFill>
        <p:spPr>
          <a:xfrm>
            <a:off x="7149575" y="2786000"/>
            <a:ext cx="1948976" cy="984274"/>
          </a:xfrm>
          <a:prstGeom prst="rect">
            <a:avLst/>
          </a:prstGeom>
          <a:noFill/>
          <a:ln cap="flat" cmpd="sng" w="9525">
            <a:solidFill>
              <a:srgbClr val="595959"/>
            </a:solidFill>
            <a:prstDash val="solid"/>
            <a:round/>
            <a:headEnd len="sm" w="sm" type="none"/>
            <a:tailEnd len="sm" w="sm" type="none"/>
          </a:ln>
          <a:effectLst>
            <a:outerShdw blurRad="57150" rotWithShape="0" algn="bl" dir="5400000" dist="19050">
              <a:srgbClr val="000000">
                <a:alpha val="50000"/>
              </a:srgbClr>
            </a:outerShdw>
          </a:effectLst>
        </p:spPr>
      </p:pic>
      <p:pic>
        <p:nvPicPr>
          <p:cNvPr id="143" name="Google Shape;143;p22"/>
          <p:cNvPicPr preferRelativeResize="0"/>
          <p:nvPr/>
        </p:nvPicPr>
        <p:blipFill>
          <a:blip r:embed="rId7">
            <a:alphaModFix/>
          </a:blip>
          <a:stretch>
            <a:fillRect/>
          </a:stretch>
        </p:blipFill>
        <p:spPr>
          <a:xfrm rot="-891208">
            <a:off x="4644387" y="2252309"/>
            <a:ext cx="2832198" cy="1555005"/>
          </a:xfrm>
          <a:prstGeom prst="rect">
            <a:avLst/>
          </a:prstGeom>
          <a:noFill/>
          <a:ln cap="flat" cmpd="sng" w="9525">
            <a:solidFill>
              <a:srgbClr val="595959"/>
            </a:solidFill>
            <a:prstDash val="solid"/>
            <a:round/>
            <a:headEnd len="sm" w="sm" type="none"/>
            <a:tailEnd len="sm" w="sm" type="none"/>
          </a:ln>
          <a:effectLst>
            <a:outerShdw blurRad="57150" rotWithShape="0" algn="bl" dir="5400000" dist="19050">
              <a:srgbClr val="000000">
                <a:alpha val="50000"/>
              </a:srgbClr>
            </a:outerShdw>
          </a:effectLst>
        </p:spPr>
      </p:pic>
      <p:pic>
        <p:nvPicPr>
          <p:cNvPr id="144" name="Google Shape;144;p22"/>
          <p:cNvPicPr preferRelativeResize="0"/>
          <p:nvPr/>
        </p:nvPicPr>
        <p:blipFill>
          <a:blip r:embed="rId8">
            <a:alphaModFix/>
          </a:blip>
          <a:stretch>
            <a:fillRect/>
          </a:stretch>
        </p:blipFill>
        <p:spPr>
          <a:xfrm rot="459964">
            <a:off x="6214575" y="1201349"/>
            <a:ext cx="2903225" cy="1662826"/>
          </a:xfrm>
          <a:prstGeom prst="rect">
            <a:avLst/>
          </a:prstGeom>
          <a:noFill/>
          <a:ln cap="flat" cmpd="sng" w="9525">
            <a:solidFill>
              <a:srgbClr val="595959"/>
            </a:solidFill>
            <a:prstDash val="solid"/>
            <a:round/>
            <a:headEnd len="sm" w="sm" type="none"/>
            <a:tailEnd len="sm" w="sm" type="none"/>
          </a:ln>
          <a:effectLst>
            <a:outerShdw blurRad="57150" rotWithShape="0" algn="bl" dir="5400000" dist="19050">
              <a:srgbClr val="000000">
                <a:alpha val="5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txBox="1"/>
          <p:nvPr/>
        </p:nvSpPr>
        <p:spPr>
          <a:xfrm>
            <a:off x="140725" y="3977050"/>
            <a:ext cx="86520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latin typeface="Courier New"/>
                <a:ea typeface="Courier New"/>
                <a:cs typeface="Courier New"/>
                <a:sym typeface="Courier New"/>
              </a:rPr>
              <a:t>Closing</a:t>
            </a:r>
            <a:r>
              <a:rPr lang="en-GB">
                <a:latin typeface="Courier New"/>
                <a:ea typeface="Courier New"/>
                <a:cs typeface="Courier New"/>
                <a:sym typeface="Courier New"/>
              </a:rPr>
              <a:t> Paragraph:</a:t>
            </a:r>
            <a:endParaRPr>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GB" sz="1000">
                <a:latin typeface="Courier New"/>
                <a:ea typeface="Courier New"/>
                <a:cs typeface="Courier New"/>
                <a:sym typeface="Courier New"/>
              </a:rPr>
              <a:t>Give a final closing speech as to why the evidence strongly suggest that the suspect has committed the offence.</a:t>
            </a:r>
            <a:endParaRPr sz="1000">
              <a:latin typeface="Courier New"/>
              <a:ea typeface="Courier New"/>
              <a:cs typeface="Courier New"/>
              <a:sym typeface="Courier New"/>
            </a:endParaRPr>
          </a:p>
        </p:txBody>
      </p:sp>
      <p:sp>
        <p:nvSpPr>
          <p:cNvPr id="150" name="Google Shape;150;p23"/>
          <p:cNvSpPr txBox="1"/>
          <p:nvPr>
            <p:ph idx="4294967295" type="body"/>
          </p:nvPr>
        </p:nvSpPr>
        <p:spPr>
          <a:xfrm>
            <a:off x="127950" y="119425"/>
            <a:ext cx="7968900" cy="3915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sz="1000">
              <a:solidFill>
                <a:schemeClr val="dk1"/>
              </a:solidFill>
              <a:latin typeface="Courier New"/>
              <a:ea typeface="Courier New"/>
              <a:cs typeface="Courier New"/>
              <a:sym typeface="Courier New"/>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