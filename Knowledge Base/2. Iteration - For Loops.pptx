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  <p:embeddedFont>
      <p:font typeface="Gill Sans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5.xml"/><Relationship Id="rId33" Type="http://schemas.openxmlformats.org/officeDocument/2006/relationships/font" Target="fonts/GillSans-bold.fntdata"/><Relationship Id="rId10" Type="http://schemas.openxmlformats.org/officeDocument/2006/relationships/slide" Target="slides/slide4.xml"/><Relationship Id="rId32" Type="http://schemas.openxmlformats.org/officeDocument/2006/relationships/font" Target="fonts/GillSans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6148bfca9d_0_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6148bfca9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f6e6c209d9_0_3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f6e6c209d9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148bfca9d_0_9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148bfca9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61a74c0f5f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61a74c0f5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Because i a variable that gets declared at the start of the loop and can be used throughout.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61a74c0f5f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61a74c0f5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Because i a variable that gets declared at the start of the loop and can be used throughout.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dbb676c25_2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9dbb676c25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Because i a variable that gets declared at the start of the loop and can be used throughout.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dbb676c25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9dbb676c2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Because i a variable that gets declared at the start of the loop and can be used throughout.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9dbb676c25_1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9dbb676c2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Because i a variable that gets declared at the start of the loop and can be used throughout.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61a74c0f5f_0_1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61a74c0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Because i a variable that gets declared at the start of the loop and can be used throughout.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61a74c0f5f_0_2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61a74c0f5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Because i a variable that gets declared at the start of the loop and can be used throughout.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61a74c0f5f_0_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61a74c0f5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Because i a variable that gets declared at the start of the loop and can be used throughout.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61a74c0f5f_0_5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61a74c0f5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Because i a variable that gets declared at the start of the loop and can be used throughout.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61a74c0f5f_0_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61a74c0f5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Because i a variable that gets declared at the start of the loop and can be used throughout.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840300"/>
            <a:ext cx="6331500" cy="20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4317933"/>
            <a:ext cx="6331500" cy="16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rgbClr val="3C1E68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 txBox="1"/>
          <p:nvPr>
            <p:ph type="ctrTitle"/>
          </p:nvPr>
        </p:nvSpPr>
        <p:spPr>
          <a:xfrm>
            <a:off x="2371725" y="840300"/>
            <a:ext cx="63315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371725" y="1775086"/>
            <a:ext cx="6331500" cy="44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aleway"/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4"/>
          <p:cNvCxnSpPr/>
          <p:nvPr/>
        </p:nvCxnSpPr>
        <p:spPr>
          <a:xfrm>
            <a:off x="425200" y="55420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4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4"/>
          <p:cNvSpPr txBox="1"/>
          <p:nvPr>
            <p:ph type="title"/>
          </p:nvPr>
        </p:nvSpPr>
        <p:spPr>
          <a:xfrm>
            <a:off x="406425" y="2409100"/>
            <a:ext cx="8296800" cy="20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477724" y="55420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6"/>
          <p:cNvCxnSpPr/>
          <p:nvPr/>
        </p:nvCxnSpPr>
        <p:spPr>
          <a:xfrm>
            <a:off x="2477724" y="632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6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6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2400303" y="2136900"/>
            <a:ext cx="30714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5650572" y="2136900"/>
            <a:ext cx="3071400" cy="40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303300" y="548767"/>
            <a:ext cx="8520600" cy="8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8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8"/>
          <p:cNvSpPr txBox="1"/>
          <p:nvPr>
            <p:ph type="title"/>
          </p:nvPr>
        </p:nvSpPr>
        <p:spPr>
          <a:xfrm>
            <a:off x="319500" y="1248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319500" y="2462405"/>
            <a:ext cx="2808000" cy="37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9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9"/>
          <p:cNvSpPr txBox="1"/>
          <p:nvPr>
            <p:ph type="title"/>
          </p:nvPr>
        </p:nvSpPr>
        <p:spPr>
          <a:xfrm>
            <a:off x="283103" y="949521"/>
            <a:ext cx="6244200" cy="51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>
            <a:off x="4572000" y="167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0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type="title"/>
          </p:nvPr>
        </p:nvSpPr>
        <p:spPr>
          <a:xfrm>
            <a:off x="265500" y="1863133"/>
            <a:ext cx="4045200" cy="175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1" type="subTitle"/>
          </p:nvPr>
        </p:nvSpPr>
        <p:spPr>
          <a:xfrm>
            <a:off x="265500" y="3647161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10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63;p11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1"/>
          <p:cNvCxnSpPr/>
          <p:nvPr/>
        </p:nvCxnSpPr>
        <p:spPr>
          <a:xfrm>
            <a:off x="425198" y="55420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328017" y="5634700"/>
            <a:ext cx="83886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6" name="Google Shape;66;p11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2"/>
          <p:cNvCxnSpPr/>
          <p:nvPr/>
        </p:nvCxnSpPr>
        <p:spPr>
          <a:xfrm>
            <a:off x="425200" y="632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2"/>
          <p:cNvCxnSpPr/>
          <p:nvPr/>
        </p:nvCxnSpPr>
        <p:spPr>
          <a:xfrm>
            <a:off x="425200" y="55420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12"/>
          <p:cNvSpPr txBox="1"/>
          <p:nvPr>
            <p:ph hasCustomPrompt="1" type="title"/>
          </p:nvPr>
        </p:nvSpPr>
        <p:spPr>
          <a:xfrm>
            <a:off x="853950" y="1739800"/>
            <a:ext cx="7436100" cy="20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853950" y="3892600"/>
            <a:ext cx="7436100" cy="14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1" name="Google Shape;81;p15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2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8" name="Google Shape;108;p22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2127701"/>
            <a:ext cx="63216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6251679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6217623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mages.pexels.com/photos/3399/cable-rope-loops.jpg?auto=compress&amp;cs=tinysrgb&amp;h=650&amp;w=940" TargetMode="External"/><Relationship Id="rId4" Type="http://schemas.openxmlformats.org/officeDocument/2006/relationships/image" Target="../media/image17.jp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images.pexels.com/photos/3399/cable-rope-loops.jpg?auto=compress&amp;cs=tinysrgb&amp;h=650&amp;w=940" TargetMode="External"/><Relationship Id="rId4" Type="http://schemas.openxmlformats.org/officeDocument/2006/relationships/image" Target="../media/image17.jp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images.pexels.com/photos/3399/cable-rope-loops.jpg?auto=compress&amp;cs=tinysrgb&amp;h=650&amp;w=940" TargetMode="External"/><Relationship Id="rId4" Type="http://schemas.openxmlformats.org/officeDocument/2006/relationships/image" Target="../media/image17.jp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images.pexels.com/photos/3399/cable-rope-loops.jpg?auto=compress&amp;cs=tinysrgb&amp;h=650&amp;w=940" TargetMode="External"/><Relationship Id="rId4" Type="http://schemas.openxmlformats.org/officeDocument/2006/relationships/image" Target="../media/image17.jp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images.pexels.com/photos/106155/germany-duisburg-tiger-turtle-106155.jpeg?auto=compress&amp;cs=tinysrgb&amp;h=650&amp;w=940" TargetMode="External"/><Relationship Id="rId4" Type="http://schemas.openxmlformats.org/officeDocument/2006/relationships/image" Target="../media/image14.jp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images.pexels.com/photos/39868/grape-vine-tendril-climbing-plant-green-39868.jpeg?auto=compress&amp;cs=tinysrgb&amp;h=650&amp;w=940" TargetMode="External"/><Relationship Id="rId4" Type="http://schemas.openxmlformats.org/officeDocument/2006/relationships/image" Target="../media/image15.jp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1E68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type="ctrTitle"/>
          </p:nvPr>
        </p:nvSpPr>
        <p:spPr>
          <a:xfrm>
            <a:off x="311700" y="828875"/>
            <a:ext cx="8520600" cy="52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🕕</a:t>
            </a:r>
            <a:r>
              <a:rPr lang="en-GB"/>
              <a:t> Starter - Algorithm</a:t>
            </a:r>
            <a:br>
              <a:rPr lang="en-GB"/>
            </a:b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Kacper needs a program that can count the number of calories he eats throughout the day.  The program should: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Ask the user to enter a number of calories they have just eaten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If the user has eaten more than 1000 calories, the program should output “nice food!”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If it the user has eaten more than 2000 calories, it should output “watch out!”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Keep asking for the user to enter calories until they enter 0 calories</a:t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After the enters 0 calories, it should finish the program and output the number of calories they have eaten that day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25" name="Google Shape;12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7675" y="0"/>
            <a:ext cx="856800" cy="85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Google Shape;130;p27"/>
          <p:cNvCxnSpPr>
            <a:stCxn id="131" idx="2"/>
          </p:cNvCxnSpPr>
          <p:nvPr/>
        </p:nvCxnSpPr>
        <p:spPr>
          <a:xfrm>
            <a:off x="3253025" y="1315033"/>
            <a:ext cx="0" cy="6417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32" name="Google Shape;132;p27"/>
          <p:cNvSpPr/>
          <p:nvPr/>
        </p:nvSpPr>
        <p:spPr>
          <a:xfrm flipH="1">
            <a:off x="-9892" y="-96455"/>
            <a:ext cx="9144000" cy="6858000"/>
          </a:xfrm>
          <a:prstGeom prst="rect">
            <a:avLst/>
          </a:prstGeom>
          <a:noFill/>
          <a:ln cap="flat" cmpd="sng" w="228600">
            <a:solidFill>
              <a:srgbClr val="5B3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27"/>
          <p:cNvCxnSpPr/>
          <p:nvPr/>
        </p:nvCxnSpPr>
        <p:spPr>
          <a:xfrm rot="10800000">
            <a:off x="2753916" y="5258062"/>
            <a:ext cx="0" cy="8304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cxnSp>
        <p:nvCxnSpPr>
          <p:cNvPr id="134" name="Google Shape;134;p27"/>
          <p:cNvCxnSpPr>
            <a:stCxn id="135" idx="0"/>
          </p:cNvCxnSpPr>
          <p:nvPr/>
        </p:nvCxnSpPr>
        <p:spPr>
          <a:xfrm flipH="1" rot="10800000">
            <a:off x="6533475" y="1855233"/>
            <a:ext cx="13200" cy="5076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36" name="Google Shape;136;p27"/>
          <p:cNvSpPr txBox="1"/>
          <p:nvPr/>
        </p:nvSpPr>
        <p:spPr>
          <a:xfrm flipH="1">
            <a:off x="2088625" y="2752533"/>
            <a:ext cx="17277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How do I use arrays?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37" name="Google Shape;137;p27"/>
          <p:cNvCxnSpPr>
            <a:stCxn id="138" idx="0"/>
          </p:cNvCxnSpPr>
          <p:nvPr/>
        </p:nvCxnSpPr>
        <p:spPr>
          <a:xfrm rot="10800000">
            <a:off x="7884375" y="3604667"/>
            <a:ext cx="12000" cy="4227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cxnSp>
        <p:nvCxnSpPr>
          <p:cNvPr id="139" name="Google Shape;139;p27"/>
          <p:cNvCxnSpPr/>
          <p:nvPr/>
        </p:nvCxnSpPr>
        <p:spPr>
          <a:xfrm>
            <a:off x="2962367" y="3143967"/>
            <a:ext cx="0" cy="5715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40" name="Google Shape;140;p27"/>
          <p:cNvSpPr txBox="1"/>
          <p:nvPr/>
        </p:nvSpPr>
        <p:spPr>
          <a:xfrm flipH="1">
            <a:off x="1596949" y="6077633"/>
            <a:ext cx="24003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When should I use iteration?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27"/>
          <p:cNvCxnSpPr/>
          <p:nvPr/>
        </p:nvCxnSpPr>
        <p:spPr>
          <a:xfrm>
            <a:off x="3997256" y="4984117"/>
            <a:ext cx="0" cy="7539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42" name="Google Shape;142;p27"/>
          <p:cNvSpPr txBox="1"/>
          <p:nvPr/>
        </p:nvSpPr>
        <p:spPr>
          <a:xfrm flipH="1">
            <a:off x="2876479" y="4695050"/>
            <a:ext cx="23490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How do I write an if statement?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 flipH="1">
            <a:off x="892577" y="4238600"/>
            <a:ext cx="20526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What are the different types of iteration?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27"/>
          <p:cNvCxnSpPr/>
          <p:nvPr/>
        </p:nvCxnSpPr>
        <p:spPr>
          <a:xfrm rot="10800000">
            <a:off x="582975" y="4523067"/>
            <a:ext cx="424200" cy="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45" name="Google Shape;145;p27"/>
          <p:cNvSpPr txBox="1"/>
          <p:nvPr/>
        </p:nvSpPr>
        <p:spPr>
          <a:xfrm flipH="1">
            <a:off x="5129016" y="6077133"/>
            <a:ext cx="19035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How do I get input from a user?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27"/>
          <p:cNvCxnSpPr/>
          <p:nvPr/>
        </p:nvCxnSpPr>
        <p:spPr>
          <a:xfrm rot="10800000">
            <a:off x="6106716" y="5258062"/>
            <a:ext cx="0" cy="830400"/>
          </a:xfrm>
          <a:prstGeom prst="straightConnector1">
            <a:avLst/>
          </a:prstGeom>
          <a:noFill/>
          <a:ln cap="flat" cmpd="sng" w="19050">
            <a:solidFill>
              <a:srgbClr val="58308F"/>
            </a:solidFill>
            <a:prstDash val="solid"/>
            <a:miter lim="800000"/>
            <a:headEnd len="sm" w="sm" type="none"/>
            <a:tailEnd len="med" w="med" type="oval"/>
          </a:ln>
        </p:spPr>
      </p:cxnSp>
      <p:sp>
        <p:nvSpPr>
          <p:cNvPr id="147" name="Google Shape;147;p27"/>
          <p:cNvSpPr/>
          <p:nvPr/>
        </p:nvSpPr>
        <p:spPr>
          <a:xfrm flipH="1" rot="-5400000">
            <a:off x="1092388" y="1444108"/>
            <a:ext cx="1146900" cy="741300"/>
          </a:xfrm>
          <a:prstGeom prst="triangle">
            <a:avLst>
              <a:gd fmla="val 50000" name="adj"/>
            </a:avLst>
          </a:prstGeom>
          <a:solidFill>
            <a:srgbClr val="9C88C1"/>
          </a:solidFill>
          <a:ln cap="flat" cmpd="sng" w="12700">
            <a:solidFill>
              <a:srgbClr val="9C8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7"/>
          <p:cNvSpPr/>
          <p:nvPr/>
        </p:nvSpPr>
        <p:spPr>
          <a:xfrm flipH="1">
            <a:off x="1206666" y="5193733"/>
            <a:ext cx="6369600" cy="743700"/>
          </a:xfrm>
          <a:prstGeom prst="rect">
            <a:avLst/>
          </a:prstGeom>
          <a:solidFill>
            <a:srgbClr val="9C88C1"/>
          </a:solidFill>
          <a:ln cap="flat" cmpd="sng" w="12700">
            <a:solidFill>
              <a:srgbClr val="9C8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7"/>
          <p:cNvSpPr/>
          <p:nvPr/>
        </p:nvSpPr>
        <p:spPr>
          <a:xfrm flipH="1">
            <a:off x="1252691" y="3307367"/>
            <a:ext cx="5957700" cy="743700"/>
          </a:xfrm>
          <a:prstGeom prst="rect">
            <a:avLst/>
          </a:prstGeom>
          <a:solidFill>
            <a:srgbClr val="9C88C1"/>
          </a:solidFill>
          <a:ln cap="flat" cmpd="sng" w="12700">
            <a:solidFill>
              <a:srgbClr val="9C8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7"/>
          <p:cNvSpPr/>
          <p:nvPr/>
        </p:nvSpPr>
        <p:spPr>
          <a:xfrm flipH="1">
            <a:off x="2015166" y="1436300"/>
            <a:ext cx="5256300" cy="743700"/>
          </a:xfrm>
          <a:prstGeom prst="rect">
            <a:avLst/>
          </a:prstGeom>
          <a:solidFill>
            <a:srgbClr val="9C88C1"/>
          </a:solidFill>
          <a:ln cap="flat" cmpd="sng" w="12700">
            <a:solidFill>
              <a:srgbClr val="9C8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7"/>
          <p:cNvSpPr/>
          <p:nvPr/>
        </p:nvSpPr>
        <p:spPr>
          <a:xfrm flipH="1" rot="-5400393">
            <a:off x="-10025" y="3539333"/>
            <a:ext cx="2624400" cy="2164200"/>
          </a:xfrm>
          <a:prstGeom prst="blockArc">
            <a:avLst>
              <a:gd fmla="val 10757304" name="adj1"/>
              <a:gd fmla="val 179965" name="adj2"/>
              <a:gd fmla="val 33360" name="adj3"/>
            </a:avLst>
          </a:prstGeom>
          <a:solidFill>
            <a:srgbClr val="9C88C1"/>
          </a:solidFill>
          <a:ln cap="flat" cmpd="sng" w="12700">
            <a:solidFill>
              <a:srgbClr val="9C8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 flipH="1">
            <a:off x="2317250" y="80733"/>
            <a:ext cx="38583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How do I write algorithms by hand?</a:t>
            </a:r>
            <a:endParaRPr b="1"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3" name="Google Shape;153;p27"/>
          <p:cNvPicPr preferRelativeResize="0"/>
          <p:nvPr/>
        </p:nvPicPr>
        <p:blipFill rotWithShape="1">
          <a:blip r:embed="rId3">
            <a:alphaModFix/>
          </a:blip>
          <a:srcRect b="47266" l="31958" r="30497" t="29363"/>
          <a:stretch/>
        </p:blipFill>
        <p:spPr>
          <a:xfrm>
            <a:off x="132867" y="61967"/>
            <a:ext cx="2184299" cy="101923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 txBox="1"/>
          <p:nvPr/>
        </p:nvSpPr>
        <p:spPr>
          <a:xfrm flipH="1">
            <a:off x="6175550" y="80733"/>
            <a:ext cx="28122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GB" sz="2000">
                <a:latin typeface="Gill Sans"/>
                <a:ea typeface="Gill Sans"/>
                <a:cs typeface="Gill Sans"/>
                <a:sym typeface="Gill Sans"/>
              </a:rPr>
              <a:t>Y11 - Algorithms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7"/>
          <p:cNvSpPr/>
          <p:nvPr/>
        </p:nvSpPr>
        <p:spPr>
          <a:xfrm flipH="1">
            <a:off x="7230991" y="4782400"/>
            <a:ext cx="1212000" cy="1581900"/>
          </a:xfrm>
          <a:prstGeom prst="ellipse">
            <a:avLst/>
          </a:prstGeom>
          <a:solidFill>
            <a:srgbClr val="5A3394"/>
          </a:solidFill>
          <a:ln cap="flat" cmpd="sng" w="5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Start</a:t>
            </a:r>
            <a:endParaRPr b="1" i="0" sz="16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6" name="Google Shape;156;p27"/>
          <p:cNvSpPr/>
          <p:nvPr/>
        </p:nvSpPr>
        <p:spPr>
          <a:xfrm>
            <a:off x="179125" y="1017100"/>
            <a:ext cx="1212000" cy="1581900"/>
          </a:xfrm>
          <a:prstGeom prst="ellipse">
            <a:avLst/>
          </a:prstGeom>
          <a:solidFill>
            <a:srgbClr val="5A3394"/>
          </a:solidFill>
          <a:ln cap="flat" cmpd="sng" w="5715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Practice</a:t>
            </a:r>
            <a:endParaRPr b="1" i="0" sz="16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57" name="Google Shape;157;p27"/>
          <p:cNvPicPr preferRelativeResize="0"/>
          <p:nvPr/>
        </p:nvPicPr>
        <p:blipFill rotWithShape="1">
          <a:blip r:embed="rId4">
            <a:alphaModFix/>
          </a:blip>
          <a:srcRect b="19522" l="0" r="70153" t="17259"/>
          <a:stretch/>
        </p:blipFill>
        <p:spPr>
          <a:xfrm flipH="1">
            <a:off x="2087315" y="1427167"/>
            <a:ext cx="269700" cy="76166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7"/>
          <p:cNvSpPr txBox="1"/>
          <p:nvPr/>
        </p:nvSpPr>
        <p:spPr>
          <a:xfrm flipH="1">
            <a:off x="5669625" y="2362833"/>
            <a:ext cx="17277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What are subprograms and how do I use them?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8" name="Google Shape;138;p27"/>
          <p:cNvSpPr txBox="1"/>
          <p:nvPr/>
        </p:nvSpPr>
        <p:spPr>
          <a:xfrm flipH="1">
            <a:off x="7032525" y="4027367"/>
            <a:ext cx="17277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When do I need to manipulate strings?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 flipH="1">
            <a:off x="2389175" y="743533"/>
            <a:ext cx="1727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200">
                <a:latin typeface="Gill Sans"/>
                <a:ea typeface="Gill Sans"/>
                <a:cs typeface="Gill Sans"/>
                <a:sym typeface="Gill Sans"/>
              </a:rPr>
              <a:t>How do I write data to a file?</a:t>
            </a:r>
            <a:endParaRPr i="0" sz="1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8" name="Google Shape;158;p27"/>
          <p:cNvSpPr/>
          <p:nvPr/>
        </p:nvSpPr>
        <p:spPr>
          <a:xfrm flipH="1" rot="5400000">
            <a:off x="5861416" y="1651736"/>
            <a:ext cx="2613900" cy="2184300"/>
          </a:xfrm>
          <a:prstGeom prst="blockArc">
            <a:avLst>
              <a:gd fmla="val 10757304" name="adj1"/>
              <a:gd fmla="val 429388" name="adj2"/>
              <a:gd fmla="val 32345" name="adj3"/>
            </a:avLst>
          </a:prstGeom>
          <a:solidFill>
            <a:srgbClr val="9C88C1"/>
          </a:solidFill>
          <a:ln cap="flat" cmpd="sng" w="12700">
            <a:solidFill>
              <a:srgbClr val="9C88C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200" y="4970233"/>
            <a:ext cx="1342450" cy="13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4550" y="3307362"/>
            <a:ext cx="1342449" cy="1068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25309" y="4998267"/>
            <a:ext cx="1543890" cy="86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27309" y="3574704"/>
            <a:ext cx="1105003" cy="106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17025" y="2211285"/>
            <a:ext cx="2052600" cy="798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97124" y="1402934"/>
            <a:ext cx="511813" cy="57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25475" y="1132917"/>
            <a:ext cx="1033649" cy="102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 Outcomes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871800"/>
            <a:ext cx="8520600" cy="24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rgbClr val="3C1E68"/>
                </a:solidFill>
              </a:rPr>
              <a:t>Topic Question</a:t>
            </a:r>
            <a:r>
              <a:rPr b="1" lang="en-GB" sz="2400">
                <a:solidFill>
                  <a:srgbClr val="3C1E68"/>
                </a:solidFill>
              </a:rPr>
              <a:t>:</a:t>
            </a:r>
            <a:endParaRPr b="1" sz="2400">
              <a:solidFill>
                <a:srgbClr val="3C1E6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3C1E68"/>
                </a:solidFill>
              </a:rPr>
              <a:t>How do I write algorithms by hand?</a:t>
            </a:r>
            <a:endParaRPr sz="2400">
              <a:solidFill>
                <a:srgbClr val="3C1E6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3C1E6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rgbClr val="3C1E68"/>
                </a:solidFill>
              </a:rPr>
              <a:t>Lesson Question</a:t>
            </a:r>
            <a:r>
              <a:rPr b="1" lang="en-GB" sz="2400">
                <a:solidFill>
                  <a:srgbClr val="3C1E68"/>
                </a:solidFill>
              </a:rPr>
              <a:t>:</a:t>
            </a:r>
            <a:endParaRPr b="1" sz="2400">
              <a:solidFill>
                <a:srgbClr val="3C1E6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solidFill>
                  <a:srgbClr val="3C1E68"/>
                </a:solidFill>
              </a:rPr>
              <a:t>What are the different types of iteration?</a:t>
            </a:r>
            <a:endParaRPr sz="2400">
              <a:solidFill>
                <a:srgbClr val="3C1E6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3C1E6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7200" y="0"/>
            <a:ext cx="856800" cy="8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Loops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2128050" y="1725475"/>
            <a:ext cx="6778800" cy="13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will the following program output?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Why do we need “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i =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10“</a:t>
            </a:r>
            <a:r>
              <a:rPr lang="en-GB"/>
              <a:t>, why not just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“0</a:t>
            </a:r>
            <a:r>
              <a:rPr lang="en-GB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 </a:t>
            </a:r>
            <a:r>
              <a:rPr lang="en-GB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10“</a:t>
            </a:r>
            <a:r>
              <a:rPr lang="en-GB"/>
              <a:t>?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 rotWithShape="1">
          <a:blip r:embed="rId3">
            <a:alphaModFix/>
          </a:blip>
          <a:srcRect b="0" l="35740" r="45168" t="0"/>
          <a:stretch/>
        </p:blipFill>
        <p:spPr>
          <a:xfrm>
            <a:off x="0" y="0"/>
            <a:ext cx="1971429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9"/>
          <p:cNvSpPr txBox="1"/>
          <p:nvPr/>
        </p:nvSpPr>
        <p:spPr>
          <a:xfrm>
            <a:off x="2057400" y="3429000"/>
            <a:ext cx="5759400" cy="26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 sz="2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= </a:t>
            </a:r>
            <a:r>
              <a:rPr lang="en-GB" sz="2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2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 </a:t>
            </a:r>
            <a:r>
              <a:rPr lang="en-GB" sz="2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endParaRPr sz="2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2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2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 i * </a:t>
            </a:r>
            <a:r>
              <a:rPr lang="en-GB" sz="22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GB" sz="2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)</a:t>
            </a:r>
            <a:endParaRPr sz="22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n-GB" sz="22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</a:t>
            </a:r>
            <a:endParaRPr sz="2200"/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7200" y="-9"/>
            <a:ext cx="856800" cy="854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Loops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2410100" y="1725475"/>
            <a:ext cx="6321600" cy="4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highlight>
                  <a:srgbClr val="FFFF00"/>
                </a:highlight>
              </a:rPr>
              <a:t>We use for loops when we know how many times the code needs to repeat.</a:t>
            </a:r>
            <a:endParaRPr>
              <a:highlight>
                <a:srgbClr val="FFFF00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highlight>
                  <a:srgbClr val="FFFF00"/>
                </a:highlight>
              </a:rPr>
              <a:t>The code to write a for loop is:</a:t>
            </a:r>
            <a:br>
              <a:rPr lang="en-GB">
                <a:highlight>
                  <a:srgbClr val="FFFF00"/>
                </a:highlight>
              </a:rPr>
            </a:br>
            <a:endParaRPr>
              <a:highlight>
                <a:srgbClr val="FFFF00"/>
              </a:highlight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>
                <a:solidFill>
                  <a:srgbClr val="37474F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 i = </a:t>
            </a:r>
            <a:r>
              <a:rPr lang="en-GB">
                <a:solidFill>
                  <a:srgbClr val="C53929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>
                <a:solidFill>
                  <a:srgbClr val="37474F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 to </a:t>
            </a:r>
            <a:r>
              <a:rPr lang="en-GB">
                <a:solidFill>
                  <a:srgbClr val="C53929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endParaRPr>
              <a:solidFill>
                <a:srgbClr val="37474F"/>
              </a:solidFill>
              <a:highlight>
                <a:srgbClr val="FFFF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7474F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>
                <a:solidFill>
                  <a:srgbClr val="3F51B5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>
                <a:solidFill>
                  <a:srgbClr val="37474F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( i * </a:t>
            </a:r>
            <a:r>
              <a:rPr lang="en-GB">
                <a:solidFill>
                  <a:srgbClr val="C53929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5</a:t>
            </a:r>
            <a:r>
              <a:rPr lang="en-GB">
                <a:solidFill>
                  <a:srgbClr val="37474F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 )</a:t>
            </a:r>
            <a:endParaRPr>
              <a:solidFill>
                <a:srgbClr val="37474F"/>
              </a:solidFill>
              <a:highlight>
                <a:srgbClr val="FFFF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8288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F51B5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n-GB">
                <a:solidFill>
                  <a:srgbClr val="37474F"/>
                </a:solidFill>
                <a:highlight>
                  <a:srgbClr val="FFFF00"/>
                </a:highlight>
                <a:latin typeface="Roboto Mono"/>
                <a:ea typeface="Roboto Mono"/>
                <a:cs typeface="Roboto Mono"/>
                <a:sym typeface="Roboto Mono"/>
              </a:rPr>
              <a:t> i</a:t>
            </a:r>
            <a:endParaRPr>
              <a:solidFill>
                <a:srgbClr val="37474F"/>
              </a:solidFill>
              <a:highlight>
                <a:srgbClr val="FFFF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7200" y="-9"/>
            <a:ext cx="856800" cy="854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 rotWithShape="1">
          <a:blip r:embed="rId4">
            <a:alphaModFix/>
          </a:blip>
          <a:srcRect b="0" l="35740" r="45168" t="0"/>
          <a:stretch/>
        </p:blipFill>
        <p:spPr>
          <a:xfrm>
            <a:off x="0" y="0"/>
            <a:ext cx="1971429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1E68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ctrTitle"/>
          </p:nvPr>
        </p:nvSpPr>
        <p:spPr>
          <a:xfrm>
            <a:off x="2371725" y="840300"/>
            <a:ext cx="63315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Algorithm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5" name="Google Shape;195;p31"/>
          <p:cNvSpPr txBox="1"/>
          <p:nvPr>
            <p:ph idx="1" type="subTitle"/>
          </p:nvPr>
        </p:nvSpPr>
        <p:spPr>
          <a:xfrm>
            <a:off x="2371725" y="1775086"/>
            <a:ext cx="6331500" cy="44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</a:rPr>
              <a:t>Write a program that</a:t>
            </a:r>
            <a:r>
              <a:rPr lang="en-GB" sz="2400"/>
              <a:t> will output “HELLO” five times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Extension: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Each time, it should remove one letter from the word, e.g. “HELLO, ELLO, LLO”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196" name="Google Shape;196;p3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4595" l="51091" r="19712" t="2200"/>
          <a:stretch/>
        </p:blipFill>
        <p:spPr>
          <a:xfrm>
            <a:off x="0" y="0"/>
            <a:ext cx="2135676" cy="681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7200" y="0"/>
            <a:ext cx="856800" cy="854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1E68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ctrTitle"/>
          </p:nvPr>
        </p:nvSpPr>
        <p:spPr>
          <a:xfrm>
            <a:off x="2371725" y="840300"/>
            <a:ext cx="63315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Algorithm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3" name="Google Shape;203;p32"/>
          <p:cNvSpPr txBox="1"/>
          <p:nvPr>
            <p:ph idx="1" type="subTitle"/>
          </p:nvPr>
        </p:nvSpPr>
        <p:spPr>
          <a:xfrm>
            <a:off x="2371725" y="1775086"/>
            <a:ext cx="6331500" cy="44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</a:rPr>
              <a:t>Write a program that can output the numbers </a:t>
            </a:r>
            <a:r>
              <a:rPr lang="en-GB" sz="2400"/>
              <a:t>from 0 </a:t>
            </a:r>
            <a:r>
              <a:rPr lang="en-GB" sz="2400">
                <a:solidFill>
                  <a:schemeClr val="lt1"/>
                </a:solidFill>
              </a:rPr>
              <a:t>to </a:t>
            </a:r>
            <a:r>
              <a:rPr lang="en-GB" sz="2400"/>
              <a:t>1000 </a:t>
            </a:r>
            <a:r>
              <a:rPr lang="en-GB" sz="2400">
                <a:solidFill>
                  <a:schemeClr val="lt1"/>
                </a:solidFill>
              </a:rPr>
              <a:t>in order.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extension: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</a:rPr>
              <a:t> It should print out the </a:t>
            </a:r>
            <a:r>
              <a:rPr lang="en-GB" sz="2400"/>
              <a:t>total of all the numbers at the end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204" name="Google Shape;204;p3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4595" l="51091" r="19712" t="2200"/>
          <a:stretch/>
        </p:blipFill>
        <p:spPr>
          <a:xfrm>
            <a:off x="0" y="0"/>
            <a:ext cx="2135676" cy="681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7200" y="0"/>
            <a:ext cx="856800" cy="854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1E68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ctrTitle"/>
          </p:nvPr>
        </p:nvSpPr>
        <p:spPr>
          <a:xfrm>
            <a:off x="2371725" y="840300"/>
            <a:ext cx="63315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Algorithm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1" name="Google Shape;211;p33"/>
          <p:cNvSpPr txBox="1"/>
          <p:nvPr>
            <p:ph idx="1" type="subTitle"/>
          </p:nvPr>
        </p:nvSpPr>
        <p:spPr>
          <a:xfrm>
            <a:off x="2371725" y="1775086"/>
            <a:ext cx="6331500" cy="44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</a:rPr>
              <a:t>Write a program that can output the </a:t>
            </a:r>
            <a:r>
              <a:rPr lang="en-GB" sz="2400"/>
              <a:t>7 times table from 0 * 7 to 100 * 7 i.e. it should output 0, 7, 14, 21, 28 etc.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extension: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</a:rPr>
              <a:t> It should print out the </a:t>
            </a:r>
            <a:r>
              <a:rPr lang="en-GB" sz="2400"/>
              <a:t>total of all the numbers at the end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212" name="Google Shape;212;p3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4595" l="51091" r="19712" t="2200"/>
          <a:stretch/>
        </p:blipFill>
        <p:spPr>
          <a:xfrm>
            <a:off x="0" y="0"/>
            <a:ext cx="2135676" cy="681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7200" y="0"/>
            <a:ext cx="856800" cy="854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1E68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ctrTitle"/>
          </p:nvPr>
        </p:nvSpPr>
        <p:spPr>
          <a:xfrm>
            <a:off x="2371725" y="840300"/>
            <a:ext cx="63315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Algorithm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" name="Google Shape;219;p34"/>
          <p:cNvSpPr txBox="1"/>
          <p:nvPr>
            <p:ph idx="1" type="subTitle"/>
          </p:nvPr>
        </p:nvSpPr>
        <p:spPr>
          <a:xfrm>
            <a:off x="2371725" y="1775086"/>
            <a:ext cx="6331500" cy="44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lt1"/>
                </a:solidFill>
              </a:rPr>
              <a:t>Write a program that can output the numbers </a:t>
            </a:r>
            <a:r>
              <a:rPr lang="en-GB" sz="2400"/>
              <a:t>from what a user enters </a:t>
            </a:r>
            <a:r>
              <a:rPr lang="en-GB" sz="2400">
                <a:solidFill>
                  <a:schemeClr val="lt1"/>
                </a:solidFill>
              </a:rPr>
              <a:t>to </a:t>
            </a:r>
            <a:r>
              <a:rPr lang="en-GB" sz="2400"/>
              <a:t>1000 </a:t>
            </a:r>
            <a:r>
              <a:rPr lang="en-GB" sz="2400">
                <a:solidFill>
                  <a:schemeClr val="lt1"/>
                </a:solidFill>
              </a:rPr>
              <a:t>in order.  It should print out the </a:t>
            </a:r>
            <a:r>
              <a:rPr lang="en-GB" sz="2400"/>
              <a:t>total of all the numbers at the end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lt1"/>
                </a:solidFill>
              </a:rPr>
              <a:t>Extension: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GB" sz="2400">
                <a:solidFill>
                  <a:schemeClr val="lt1"/>
                </a:solidFill>
              </a:rPr>
              <a:t>Write a program that will output </a:t>
            </a:r>
            <a:r>
              <a:rPr lang="en-GB" sz="2400"/>
              <a:t>all the numbers not shown in reverse order.</a:t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220" name="Google Shape;220;p3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4595" l="51091" r="19712" t="2200"/>
          <a:stretch/>
        </p:blipFill>
        <p:spPr>
          <a:xfrm>
            <a:off x="0" y="0"/>
            <a:ext cx="2135676" cy="681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7200" y="0"/>
            <a:ext cx="856800" cy="854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Variables in </a:t>
            </a:r>
            <a:r>
              <a:rPr lang="en-GB"/>
              <a:t>For Loops</a:t>
            </a:r>
            <a:endParaRPr/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2410100" y="1725475"/>
            <a:ext cx="6321600" cy="4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We can use variables in for loops to control how many times they are run.</a:t>
            </a:r>
            <a:br>
              <a:rPr lang="en-GB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will the following programs do?</a:t>
            </a:r>
            <a:br>
              <a:rPr lang="en-GB"/>
            </a:br>
            <a:r>
              <a:rPr lang="en-GB"/>
              <a:t>			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5"/>
          <p:cNvSpPr txBox="1"/>
          <p:nvPr/>
        </p:nvSpPr>
        <p:spPr>
          <a:xfrm>
            <a:off x="2726775" y="3244200"/>
            <a:ext cx="3198900" cy="14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myNum = </a:t>
            </a:r>
            <a:r>
              <a:rPr lang="en-GB" sz="1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7</a:t>
            </a:r>
            <a:endParaRPr sz="1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= </a:t>
            </a:r>
            <a:r>
              <a:rPr lang="en-GB" sz="1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 myNum</a:t>
            </a:r>
            <a:endParaRPr sz="1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 i * </a:t>
            </a:r>
            <a:r>
              <a:rPr lang="en-GB" sz="19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)</a:t>
            </a:r>
            <a:endParaRPr sz="1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n-GB" sz="19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</a:t>
            </a:r>
            <a:endParaRPr sz="19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9" name="Google Shape;229;p35"/>
          <p:cNvSpPr txBox="1"/>
          <p:nvPr/>
        </p:nvSpPr>
        <p:spPr>
          <a:xfrm>
            <a:off x="2726775" y="4656900"/>
            <a:ext cx="5820600" cy="1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cheese = input(</a:t>
            </a:r>
            <a:r>
              <a:rPr lang="en-GB" sz="21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"Enter a number"</a:t>
            </a:r>
            <a:r>
              <a:rPr lang="en-GB" sz="2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 sz="2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= cheese to </a:t>
            </a:r>
            <a:r>
              <a:rPr lang="en-GB" sz="21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50</a:t>
            </a:r>
            <a:endParaRPr sz="2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21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2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( i )</a:t>
            </a:r>
            <a:endParaRPr sz="2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n-GB" sz="21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</a:t>
            </a:r>
            <a:endParaRPr sz="21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0" name="Google Shape;230;p3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717" r="50368" t="833"/>
          <a:stretch/>
        </p:blipFill>
        <p:spPr>
          <a:xfrm>
            <a:off x="0" y="0"/>
            <a:ext cx="216852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7200" y="-9"/>
            <a:ext cx="856800" cy="854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ctrTitle"/>
          </p:nvPr>
        </p:nvSpPr>
        <p:spPr>
          <a:xfrm>
            <a:off x="2371725" y="840300"/>
            <a:ext cx="63315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</a:t>
            </a:r>
            <a:endParaRPr/>
          </a:p>
        </p:txBody>
      </p:sp>
      <p:sp>
        <p:nvSpPr>
          <p:cNvPr id="237" name="Google Shape;237;p36"/>
          <p:cNvSpPr txBox="1"/>
          <p:nvPr>
            <p:ph idx="1" type="subTitle"/>
          </p:nvPr>
        </p:nvSpPr>
        <p:spPr>
          <a:xfrm>
            <a:off x="2371725" y="1775086"/>
            <a:ext cx="6331500" cy="44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Aisha needs a program that will output the numbers between the number she enters to the number 2000.</a:t>
            </a:r>
            <a:endParaRPr i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Extension: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Change the algorithm so that it keeps a total of all the numbers between the number she enters and the number 2000, and outputs that total at the end.</a:t>
            </a:r>
            <a:endParaRPr sz="2300"/>
          </a:p>
        </p:txBody>
      </p:sp>
      <p:pic>
        <p:nvPicPr>
          <p:cNvPr id="238" name="Google Shape;23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7200" y="0"/>
            <a:ext cx="856800" cy="854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7"/>
          <p:cNvSpPr txBox="1"/>
          <p:nvPr>
            <p:ph type="title"/>
          </p:nvPr>
        </p:nvSpPr>
        <p:spPr>
          <a:xfrm>
            <a:off x="2400250" y="767933"/>
            <a:ext cx="6321600" cy="8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Loops and Arrays</a:t>
            </a:r>
            <a:endParaRPr/>
          </a:p>
        </p:txBody>
      </p:sp>
      <p:sp>
        <p:nvSpPr>
          <p:cNvPr id="244" name="Google Shape;244;p37"/>
          <p:cNvSpPr txBox="1"/>
          <p:nvPr>
            <p:ph idx="1" type="body"/>
          </p:nvPr>
        </p:nvSpPr>
        <p:spPr>
          <a:xfrm>
            <a:off x="2410100" y="1725475"/>
            <a:ext cx="6321600" cy="5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 your MWB: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What will the following code output to the screen</a:t>
            </a:r>
            <a:br>
              <a:rPr lang="en-GB"/>
            </a:br>
            <a:r>
              <a:rPr lang="en-GB"/>
              <a:t>		</a:t>
            </a:r>
            <a:endParaRPr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7"/>
          <p:cNvSpPr txBox="1"/>
          <p:nvPr/>
        </p:nvSpPr>
        <p:spPr>
          <a:xfrm>
            <a:off x="2464800" y="2405825"/>
            <a:ext cx="67338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cheese = [</a:t>
            </a:r>
            <a:r>
              <a:rPr lang="en-GB" sz="17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"Stilton"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7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"Cheddar"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7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"Wensleydale"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 cheese[</a:t>
            </a:r>
            <a:r>
              <a:rPr lang="en-GB" sz="17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 )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2464800" y="3555000"/>
            <a:ext cx="5862900" cy="6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lang="en-GB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What about this code?</a:t>
            </a:r>
            <a:endParaRPr/>
          </a:p>
        </p:txBody>
      </p:sp>
      <p:sp>
        <p:nvSpPr>
          <p:cNvPr id="247" name="Google Shape;247;p37"/>
          <p:cNvSpPr txBox="1"/>
          <p:nvPr/>
        </p:nvSpPr>
        <p:spPr>
          <a:xfrm>
            <a:off x="2464800" y="3997550"/>
            <a:ext cx="66792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cheese = [</a:t>
            </a:r>
            <a:r>
              <a:rPr lang="en-GB" sz="17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"Stilton"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7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"Cheddar"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GB" sz="1700">
                <a:solidFill>
                  <a:srgbClr val="388E3C"/>
                </a:solidFill>
                <a:latin typeface="Roboto Mono"/>
                <a:ea typeface="Roboto Mono"/>
                <a:cs typeface="Roboto Mono"/>
                <a:sym typeface="Roboto Mono"/>
              </a:rPr>
              <a:t>"Wensleydale"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 = </a:t>
            </a:r>
            <a:r>
              <a:rPr lang="en-GB" sz="17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to cheese.length - </a:t>
            </a:r>
            <a:r>
              <a:rPr lang="en-GB" sz="1700">
                <a:solidFill>
                  <a:srgbClr val="C53929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-GB" sz="17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( cheese[i] )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3F51B5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n-GB" sz="1700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 i</a:t>
            </a:r>
            <a:endParaRPr sz="1700">
              <a:solidFill>
                <a:srgbClr val="37474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48" name="Google Shape;248;p3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42625" r="7893" t="0"/>
          <a:stretch/>
        </p:blipFill>
        <p:spPr>
          <a:xfrm>
            <a:off x="-2" y="0"/>
            <a:ext cx="2260625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7200" y="0"/>
            <a:ext cx="856800" cy="854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ctrTitle"/>
          </p:nvPr>
        </p:nvSpPr>
        <p:spPr>
          <a:xfrm>
            <a:off x="2371725" y="840300"/>
            <a:ext cx="63315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Algorithm</a:t>
            </a:r>
            <a:endParaRPr/>
          </a:p>
        </p:txBody>
      </p:sp>
      <p:sp>
        <p:nvSpPr>
          <p:cNvPr id="255" name="Google Shape;255;p38"/>
          <p:cNvSpPr txBox="1"/>
          <p:nvPr>
            <p:ph idx="1" type="subTitle"/>
          </p:nvPr>
        </p:nvSpPr>
        <p:spPr>
          <a:xfrm>
            <a:off x="2371725" y="1775086"/>
            <a:ext cx="6331500" cy="44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array below is provided by a computer program: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myNumbers = [4, 7, 3, 4, 2, 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Write a program that will total up all the numbers in the array using a count controlled loop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Extension: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Your program should work for any length array that is supplied.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Instead of an overall total, it should keep track of how many odd and even numbers there are in the array, and output the totals at the end.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7200" y="0"/>
            <a:ext cx="856800" cy="854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