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mini-whiteboards. Confidence 1–3 next to each. Anyone who writes "I just go Scouts" for Q1 must stand up and apologise to the archery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self-mark. Q4 is the whole lesson in one question: an idle TC is not "a small mistake", it is villagers that never exist, and those villagers would have gathered for the rest of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with total sincerity. This is a real lesson. There will be a plenary.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question: say it out loud and let it hang. Lesson question: this is what the plenary asks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Britons are the textbook archer civ: the range bonus is why their crossbows win fights they have no right to win.
Bohemians are honestly a gunpowder and monk civ. They are on this slide because their economy bonuses fund an archer opening beautifully, and because a hand cannoneer is basically an archer who has had too much coffee.
Bonuses change with patches — check the in-game tech tree before you quote these at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standard straight-archers opener: up at 22 population (21 villagers + scout).
The key difference from a scouts build: gold miners start in the Dark Age. If you arrive in Feudal with 0 gold, your two shiny archery ranges are ornaments.
Barracks: you need it before you can build an archery range, so drop it during the Dark Age, not on arrival.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players arrive, build two ranges, and then spend the next five minutes clicking archers while the TC sits idle and the sheep run out.
Farms are the hidden cost of the Feudal Age. Every farm is 60 wood. Your food villagers need somewhere to go when the berries end, and that is in about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maths through on the board.
1 minute idle = 60 ÷ 25 ≈ 2.4 villagers you will never get back.
Each villager gathers roughly 0.35 resources a second.
If that happens 15 minutes before the end of the game: 2.4 × 0.35 × 900 ≈ 750 resources. That's a castle-age click's worth of food.
Turn &amp; Talk: "Where do you look when you're microing archers?" (Answer: not at your TC. That's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what the Economy Simulator measures. Students get a score for each.
Hotkey tip for the real game: bind "go to Town Centre" and "select all idle villagers" and press them every time an archer volley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tension of the whole lesson. Castle Age costs 800 food and 200 gold, and archers eat 45 gold each.
Every archer you make is gold you can't spend on clicking up. So: keep two ranges going, but keep the miners growing too, and click with ~28–32 villagers.
The moment you arrive: Crossbowman upgrade first. Unupgraded archers in Castle Age are just decorations with bows.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Britons: half-price-wood TCs make a 2–3 TC boom behind crossbows very strong. The +1 range keeps the crossbows safe while the new TCs go up.
Bohemians: the free Mining Camp techs mean your gold line is quietly faster than everyone else's. Use that gold: crossbows, then hand cannoneers arrive in Castle Age (most civs wait for Imperial).
Both: don't stop villager production in ANY TC, ever. A second TC that's idle is just an expensive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Mini-whiteboards: write the timestamp of each mistake.
Answers (reveal on next click or verbally):
6:40 — TC idle (nothing queued for 50 s).
10:10 — Housed at 25/25.
12:00 — Berries gone, only 2 farms: 4 idle villagers.
13:30 — 4th archery range on 24 villagers; gold has 2 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three HTML files in this folder, in order. The Economy Simulator is the main task: let students replay it to beat their own score. Britons are easier in the sim; Bohemians reward a heavier gold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sim's end screen gives a rank and a breakdown. Students pick the worst of their Five Idle Sins and write one sentence on how they would fix it next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"Keep the TC making villagers non-stop, build houses and farms ahead of time, grow the gold line, take the eco upgrades, and only make as many archers as you need to stay safe until Castle Age."
Acceptable shorter answer: "Make villagers. Always.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RECAP &amp; RECALL — DO NOW · 4 MINUTES</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Prove you have played this game before</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RecapAndRecall.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00200"/>
            <a:ext cx="5394960" cy="2148840"/>
          </a:xfrm>
          <a:prstGeom prst="rect">
            <a:avLst/>
          </a:prstGeom>
          <a:solidFill>
            <a:srgbClr val="FFFFFF"/>
          </a:solidFill>
          <a:ln w="12700">
            <a:solidFill>
              <a:srgbClr val="D9D4C7"/>
            </a:solidFill>
            <a:prstDash val="solid"/>
          </a:ln>
        </p:spPr>
      </p:sp>
      <p:sp>
        <p:nvSpPr>
          <p:cNvPr id="8" name="Shape 4"/>
          <p:cNvSpPr/>
          <p:nvPr/>
        </p:nvSpPr>
        <p:spPr>
          <a:xfrm>
            <a:off x="548640" y="1600200"/>
            <a:ext cx="91440" cy="2148840"/>
          </a:xfrm>
          <a:prstGeom prst="rect">
            <a:avLst/>
          </a:prstGeom>
          <a:solidFill>
            <a:srgbClr val="D8A73D"/>
          </a:solidFill>
          <a:ln w="12700">
            <a:solidFill>
              <a:srgbClr val="D8A73D"/>
            </a:solidFill>
            <a:prstDash val="solid"/>
          </a:ln>
        </p:spPr>
      </p:sp>
      <p:sp>
        <p:nvSpPr>
          <p:cNvPr id="9" name="Shape 5"/>
          <p:cNvSpPr/>
          <p:nvPr/>
        </p:nvSpPr>
        <p:spPr>
          <a:xfrm>
            <a:off x="822960" y="1783080"/>
            <a:ext cx="1737360" cy="310896"/>
          </a:xfrm>
          <a:prstGeom prst="roundRect">
            <a:avLst>
              <a:gd name="adj" fmla="val 50000"/>
            </a:avLst>
          </a:prstGeom>
          <a:solidFill>
            <a:srgbClr val="D8A73D"/>
          </a:solidFill>
          <a:ln w="12700">
            <a:solidFill>
              <a:srgbClr val="D8A73D"/>
            </a:solidFill>
            <a:prstDash val="solid"/>
          </a:ln>
        </p:spPr>
      </p:sp>
      <p:sp>
        <p:nvSpPr>
          <p:cNvPr id="10" name="Text 6"/>
          <p:cNvSpPr/>
          <p:nvPr/>
        </p:nvSpPr>
        <p:spPr>
          <a:xfrm>
            <a:off x="822960" y="178308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DARK AGE</a:t>
            </a:r>
            <a:endParaRPr lang="en-US" sz="1200" dirty="0"/>
          </a:p>
        </p:txBody>
      </p:sp>
      <p:sp>
        <p:nvSpPr>
          <p:cNvPr id="11" name="Text 7"/>
          <p:cNvSpPr/>
          <p:nvPr/>
        </p:nvSpPr>
        <p:spPr>
          <a:xfrm>
            <a:off x="822960" y="2148840"/>
            <a:ext cx="4937760" cy="822960"/>
          </a:xfrm>
          <a:prstGeom prst="rect">
            <a:avLst/>
          </a:prstGeom>
          <a:noFill/>
          <a:ln/>
        </p:spPr>
        <p:txBody>
          <a:bodyPr wrap="square" rtlCol="0" anchor="t"/>
          <a:lstStyle/>
          <a:p>
            <a:pPr indent="0" marL="0">
              <a:buNone/>
            </a:pPr>
            <a:r>
              <a:rPr lang="en-US" sz="2000" dirty="0">
                <a:solidFill>
                  <a:srgbClr val="1E1E24"/>
                </a:solidFill>
                <a:latin typeface="Calibri" pitchFamily="34" charset="0"/>
                <a:ea typeface="Calibri" pitchFamily="34" charset="-122"/>
                <a:cs typeface="Calibri" pitchFamily="34" charset="-120"/>
              </a:rPr>
              <a:t>How many villagers go on sheep first?</a:t>
            </a:r>
            <a:endParaRPr lang="en-US" sz="2000" dirty="0"/>
          </a:p>
        </p:txBody>
      </p:sp>
      <p:sp>
        <p:nvSpPr>
          <p:cNvPr id="12" name="Shape 8"/>
          <p:cNvSpPr/>
          <p:nvPr/>
        </p:nvSpPr>
        <p:spPr>
          <a:xfrm>
            <a:off x="6126480" y="1600200"/>
            <a:ext cx="5394960" cy="2148840"/>
          </a:xfrm>
          <a:prstGeom prst="rect">
            <a:avLst/>
          </a:prstGeom>
          <a:solidFill>
            <a:srgbClr val="FFFFFF"/>
          </a:solidFill>
          <a:ln w="12700">
            <a:solidFill>
              <a:srgbClr val="D9D4C7"/>
            </a:solidFill>
            <a:prstDash val="solid"/>
          </a:ln>
        </p:spPr>
      </p:sp>
      <p:sp>
        <p:nvSpPr>
          <p:cNvPr id="13" name="Shape 9"/>
          <p:cNvSpPr/>
          <p:nvPr/>
        </p:nvSpPr>
        <p:spPr>
          <a:xfrm>
            <a:off x="6126480" y="1600200"/>
            <a:ext cx="91440" cy="2148840"/>
          </a:xfrm>
          <a:prstGeom prst="rect">
            <a:avLst/>
          </a:prstGeom>
          <a:solidFill>
            <a:srgbClr val="D8A73D"/>
          </a:solidFill>
          <a:ln w="12700">
            <a:solidFill>
              <a:srgbClr val="D8A73D"/>
            </a:solidFill>
            <a:prstDash val="solid"/>
          </a:ln>
        </p:spPr>
      </p:sp>
      <p:sp>
        <p:nvSpPr>
          <p:cNvPr id="14" name="Shape 10"/>
          <p:cNvSpPr/>
          <p:nvPr/>
        </p:nvSpPr>
        <p:spPr>
          <a:xfrm>
            <a:off x="6400800" y="1783080"/>
            <a:ext cx="1737360" cy="310896"/>
          </a:xfrm>
          <a:prstGeom prst="roundRect">
            <a:avLst>
              <a:gd name="adj" fmla="val 50000"/>
            </a:avLst>
          </a:prstGeom>
          <a:solidFill>
            <a:srgbClr val="D8A73D"/>
          </a:solidFill>
          <a:ln w="12700">
            <a:solidFill>
              <a:srgbClr val="D8A73D"/>
            </a:solidFill>
            <a:prstDash val="solid"/>
          </a:ln>
        </p:spPr>
      </p:sp>
      <p:sp>
        <p:nvSpPr>
          <p:cNvPr id="15" name="Text 11"/>
          <p:cNvSpPr/>
          <p:nvPr/>
        </p:nvSpPr>
        <p:spPr>
          <a:xfrm>
            <a:off x="6400800" y="178308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DARK AGE</a:t>
            </a:r>
            <a:endParaRPr lang="en-US" sz="1200" dirty="0"/>
          </a:p>
        </p:txBody>
      </p:sp>
      <p:sp>
        <p:nvSpPr>
          <p:cNvPr id="16" name="Text 12"/>
          <p:cNvSpPr/>
          <p:nvPr/>
        </p:nvSpPr>
        <p:spPr>
          <a:xfrm>
            <a:off x="6400800" y="2148840"/>
            <a:ext cx="4937760" cy="822960"/>
          </a:xfrm>
          <a:prstGeom prst="rect">
            <a:avLst/>
          </a:prstGeom>
          <a:noFill/>
          <a:ln/>
        </p:spPr>
        <p:txBody>
          <a:bodyPr wrap="square" rtlCol="0" anchor="t"/>
          <a:lstStyle/>
          <a:p>
            <a:pPr indent="0" marL="0">
              <a:buNone/>
            </a:pPr>
            <a:r>
              <a:rPr lang="en-US" sz="2000" dirty="0">
                <a:solidFill>
                  <a:srgbClr val="1E1E24"/>
                </a:solidFill>
                <a:latin typeface="Calibri" pitchFamily="34" charset="0"/>
                <a:ea typeface="Calibri" pitchFamily="34" charset="-122"/>
                <a:cs typeface="Calibri" pitchFamily="34" charset="-120"/>
              </a:rPr>
              <a:t>Which two buildings let you click Feudal?</a:t>
            </a:r>
            <a:endParaRPr lang="en-US" sz="2000" dirty="0"/>
          </a:p>
        </p:txBody>
      </p:sp>
      <p:sp>
        <p:nvSpPr>
          <p:cNvPr id="17" name="Shape 13"/>
          <p:cNvSpPr/>
          <p:nvPr/>
        </p:nvSpPr>
        <p:spPr>
          <a:xfrm>
            <a:off x="548640" y="3931920"/>
            <a:ext cx="5394960" cy="2148840"/>
          </a:xfrm>
          <a:prstGeom prst="rect">
            <a:avLst/>
          </a:prstGeom>
          <a:solidFill>
            <a:srgbClr val="FFFFFF"/>
          </a:solidFill>
          <a:ln w="12700">
            <a:solidFill>
              <a:srgbClr val="D9D4C7"/>
            </a:solidFill>
            <a:prstDash val="solid"/>
          </a:ln>
        </p:spPr>
      </p:sp>
      <p:sp>
        <p:nvSpPr>
          <p:cNvPr id="18" name="Shape 14"/>
          <p:cNvSpPr/>
          <p:nvPr/>
        </p:nvSpPr>
        <p:spPr>
          <a:xfrm>
            <a:off x="548640" y="3931920"/>
            <a:ext cx="91440" cy="2148840"/>
          </a:xfrm>
          <a:prstGeom prst="rect">
            <a:avLst/>
          </a:prstGeom>
          <a:solidFill>
            <a:srgbClr val="D8A73D"/>
          </a:solidFill>
          <a:ln w="12700">
            <a:solidFill>
              <a:srgbClr val="D8A73D"/>
            </a:solidFill>
            <a:prstDash val="solid"/>
          </a:ln>
        </p:spPr>
      </p:sp>
      <p:sp>
        <p:nvSpPr>
          <p:cNvPr id="19" name="Shape 15"/>
          <p:cNvSpPr/>
          <p:nvPr/>
        </p:nvSpPr>
        <p:spPr>
          <a:xfrm>
            <a:off x="822960" y="4114800"/>
            <a:ext cx="1737360" cy="310896"/>
          </a:xfrm>
          <a:prstGeom prst="roundRect">
            <a:avLst>
              <a:gd name="adj" fmla="val 50000"/>
            </a:avLst>
          </a:prstGeom>
          <a:solidFill>
            <a:srgbClr val="D8A73D"/>
          </a:solidFill>
          <a:ln w="12700">
            <a:solidFill>
              <a:srgbClr val="D8A73D"/>
            </a:solidFill>
            <a:prstDash val="solid"/>
          </a:ln>
        </p:spPr>
      </p:sp>
      <p:sp>
        <p:nvSpPr>
          <p:cNvPr id="20" name="Text 16"/>
          <p:cNvSpPr/>
          <p:nvPr/>
        </p:nvSpPr>
        <p:spPr>
          <a:xfrm>
            <a:off x="822960" y="411480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ECONOMY</a:t>
            </a:r>
            <a:endParaRPr lang="en-US" sz="1200" dirty="0"/>
          </a:p>
        </p:txBody>
      </p:sp>
      <p:sp>
        <p:nvSpPr>
          <p:cNvPr id="21" name="Text 17"/>
          <p:cNvSpPr/>
          <p:nvPr/>
        </p:nvSpPr>
        <p:spPr>
          <a:xfrm>
            <a:off x="822960" y="4480560"/>
            <a:ext cx="4937760" cy="822960"/>
          </a:xfrm>
          <a:prstGeom prst="rect">
            <a:avLst/>
          </a:prstGeom>
          <a:noFill/>
          <a:ln/>
        </p:spPr>
        <p:txBody>
          <a:bodyPr wrap="square" rtlCol="0" anchor="t"/>
          <a:lstStyle/>
          <a:p>
            <a:pPr indent="0" marL="0">
              <a:buNone/>
            </a:pPr>
            <a:r>
              <a:rPr lang="en-US" sz="2000" dirty="0">
                <a:solidFill>
                  <a:srgbClr val="1E1E24"/>
                </a:solidFill>
                <a:latin typeface="Calibri" pitchFamily="34" charset="0"/>
                <a:ea typeface="Calibri" pitchFamily="34" charset="-122"/>
                <a:cs typeface="Calibri" pitchFamily="34" charset="-120"/>
              </a:rPr>
              <a:t>A villager costs 50 food. How long does it take?</a:t>
            </a:r>
            <a:endParaRPr lang="en-US" sz="2000" dirty="0"/>
          </a:p>
        </p:txBody>
      </p:sp>
      <p:sp>
        <p:nvSpPr>
          <p:cNvPr id="22" name="Shape 18"/>
          <p:cNvSpPr/>
          <p:nvPr/>
        </p:nvSpPr>
        <p:spPr>
          <a:xfrm>
            <a:off x="6126480" y="3931920"/>
            <a:ext cx="5394960" cy="2148840"/>
          </a:xfrm>
          <a:prstGeom prst="rect">
            <a:avLst/>
          </a:prstGeom>
          <a:solidFill>
            <a:srgbClr val="FFFFFF"/>
          </a:solidFill>
          <a:ln w="12700">
            <a:solidFill>
              <a:srgbClr val="D9D4C7"/>
            </a:solidFill>
            <a:prstDash val="solid"/>
          </a:ln>
        </p:spPr>
      </p:sp>
      <p:sp>
        <p:nvSpPr>
          <p:cNvPr id="23" name="Shape 19"/>
          <p:cNvSpPr/>
          <p:nvPr/>
        </p:nvSpPr>
        <p:spPr>
          <a:xfrm>
            <a:off x="6126480" y="3931920"/>
            <a:ext cx="91440" cy="2148840"/>
          </a:xfrm>
          <a:prstGeom prst="rect">
            <a:avLst/>
          </a:prstGeom>
          <a:solidFill>
            <a:srgbClr val="D8A73D"/>
          </a:solidFill>
          <a:ln w="12700">
            <a:solidFill>
              <a:srgbClr val="D8A73D"/>
            </a:solidFill>
            <a:prstDash val="solid"/>
          </a:ln>
        </p:spPr>
      </p:sp>
      <p:sp>
        <p:nvSpPr>
          <p:cNvPr id="24" name="Shape 20"/>
          <p:cNvSpPr/>
          <p:nvPr/>
        </p:nvSpPr>
        <p:spPr>
          <a:xfrm>
            <a:off x="6400800" y="4114800"/>
            <a:ext cx="1737360" cy="310896"/>
          </a:xfrm>
          <a:prstGeom prst="roundRect">
            <a:avLst>
              <a:gd name="adj" fmla="val 50000"/>
            </a:avLst>
          </a:prstGeom>
          <a:solidFill>
            <a:srgbClr val="D8A73D"/>
          </a:solidFill>
          <a:ln w="12700">
            <a:solidFill>
              <a:srgbClr val="D8A73D"/>
            </a:solidFill>
            <a:prstDash val="solid"/>
          </a:ln>
        </p:spPr>
      </p:sp>
      <p:sp>
        <p:nvSpPr>
          <p:cNvPr id="25" name="Text 21"/>
          <p:cNvSpPr/>
          <p:nvPr/>
        </p:nvSpPr>
        <p:spPr>
          <a:xfrm>
            <a:off x="6400800" y="411480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EMBARRASSING</a:t>
            </a:r>
            <a:endParaRPr lang="en-US" sz="1200" dirty="0"/>
          </a:p>
        </p:txBody>
      </p:sp>
      <p:sp>
        <p:nvSpPr>
          <p:cNvPr id="26" name="Text 22"/>
          <p:cNvSpPr/>
          <p:nvPr/>
        </p:nvSpPr>
        <p:spPr>
          <a:xfrm>
            <a:off x="6400800" y="4480560"/>
            <a:ext cx="4937760" cy="822960"/>
          </a:xfrm>
          <a:prstGeom prst="rect">
            <a:avLst/>
          </a:prstGeom>
          <a:noFill/>
          <a:ln/>
        </p:spPr>
        <p:txBody>
          <a:bodyPr wrap="square" rtlCol="0" anchor="t"/>
          <a:lstStyle/>
          <a:p>
            <a:pPr indent="0" marL="0">
              <a:buNone/>
            </a:pPr>
            <a:r>
              <a:rPr lang="en-US" sz="2000" dirty="0">
                <a:solidFill>
                  <a:srgbClr val="1E1E24"/>
                </a:solidFill>
                <a:latin typeface="Calibri" pitchFamily="34" charset="0"/>
                <a:ea typeface="Calibri" pitchFamily="34" charset="-122"/>
                <a:cs typeface="Calibri" pitchFamily="34" charset="-120"/>
              </a:rPr>
              <a:t>Your TC has been idle for a minute. How many villagers did you lose?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RECAP &amp; RECALL — ANSWERS</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F5F5F3"/>
                </a:solidFill>
                <a:latin typeface="Cambria" pitchFamily="34" charset="0"/>
                <a:ea typeface="Cambria" pitchFamily="34" charset="-122"/>
                <a:cs typeface="Cambria" pitchFamily="34" charset="-120"/>
              </a:rPr>
              <a:t>How did you do?</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RecapAndRecall.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00200"/>
            <a:ext cx="5394960" cy="2148840"/>
          </a:xfrm>
          <a:prstGeom prst="rect">
            <a:avLst/>
          </a:prstGeom>
          <a:solidFill>
            <a:srgbClr val="2A2A33"/>
          </a:solidFill>
          <a:ln w="12700">
            <a:solidFill>
              <a:srgbClr val="3A3A44"/>
            </a:solidFill>
            <a:prstDash val="solid"/>
          </a:ln>
        </p:spPr>
      </p:sp>
      <p:sp>
        <p:nvSpPr>
          <p:cNvPr id="8" name="Shape 4"/>
          <p:cNvSpPr/>
          <p:nvPr/>
        </p:nvSpPr>
        <p:spPr>
          <a:xfrm>
            <a:off x="548640" y="1600200"/>
            <a:ext cx="91440" cy="2148840"/>
          </a:xfrm>
          <a:prstGeom prst="rect">
            <a:avLst/>
          </a:prstGeom>
          <a:solidFill>
            <a:srgbClr val="D8A73D"/>
          </a:solidFill>
          <a:ln w="12700">
            <a:solidFill>
              <a:srgbClr val="D8A73D"/>
            </a:solidFill>
            <a:prstDash val="solid"/>
          </a:ln>
        </p:spPr>
      </p:sp>
      <p:sp>
        <p:nvSpPr>
          <p:cNvPr id="9" name="Shape 5"/>
          <p:cNvSpPr/>
          <p:nvPr/>
        </p:nvSpPr>
        <p:spPr>
          <a:xfrm>
            <a:off x="822960" y="1783080"/>
            <a:ext cx="1737360" cy="310896"/>
          </a:xfrm>
          <a:prstGeom prst="roundRect">
            <a:avLst>
              <a:gd name="adj" fmla="val 50000"/>
            </a:avLst>
          </a:prstGeom>
          <a:solidFill>
            <a:srgbClr val="D8A73D"/>
          </a:solidFill>
          <a:ln w="12700">
            <a:solidFill>
              <a:srgbClr val="D8A73D"/>
            </a:solidFill>
            <a:prstDash val="solid"/>
          </a:ln>
        </p:spPr>
      </p:sp>
      <p:sp>
        <p:nvSpPr>
          <p:cNvPr id="10" name="Text 6"/>
          <p:cNvSpPr/>
          <p:nvPr/>
        </p:nvSpPr>
        <p:spPr>
          <a:xfrm>
            <a:off x="822960" y="178308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DARK AGE</a:t>
            </a:r>
            <a:endParaRPr lang="en-US" sz="1200" dirty="0"/>
          </a:p>
        </p:txBody>
      </p:sp>
      <p:sp>
        <p:nvSpPr>
          <p:cNvPr id="11" name="Text 7"/>
          <p:cNvSpPr/>
          <p:nvPr/>
        </p:nvSpPr>
        <p:spPr>
          <a:xfrm>
            <a:off x="822960" y="2148840"/>
            <a:ext cx="4937760" cy="822960"/>
          </a:xfrm>
          <a:prstGeom prst="rect">
            <a:avLst/>
          </a:prstGeom>
          <a:noFill/>
          <a:ln/>
        </p:spPr>
        <p:txBody>
          <a:bodyPr wrap="square" rtlCol="0" anchor="t"/>
          <a:lstStyle/>
          <a:p>
            <a:pPr indent="0" marL="0">
              <a:buNone/>
            </a:pPr>
            <a:r>
              <a:rPr lang="en-US" sz="2000" dirty="0">
                <a:solidFill>
                  <a:srgbClr val="F5F5F3"/>
                </a:solidFill>
                <a:latin typeface="Calibri" pitchFamily="34" charset="0"/>
                <a:ea typeface="Calibri" pitchFamily="34" charset="-122"/>
                <a:cs typeface="Calibri" pitchFamily="34" charset="-120"/>
              </a:rPr>
              <a:t>How many villagers go on sheep first?</a:t>
            </a:r>
            <a:endParaRPr lang="en-US" sz="2000" dirty="0"/>
          </a:p>
        </p:txBody>
      </p:sp>
      <p:sp>
        <p:nvSpPr>
          <p:cNvPr id="12" name="Text 8"/>
          <p:cNvSpPr/>
          <p:nvPr/>
        </p:nvSpPr>
        <p:spPr>
          <a:xfrm>
            <a:off x="822960" y="2880360"/>
            <a:ext cx="4937760" cy="777240"/>
          </a:xfrm>
          <a:prstGeom prst="rect">
            <a:avLst/>
          </a:prstGeom>
          <a:noFill/>
          <a:ln/>
        </p:spPr>
        <p:txBody>
          <a:bodyPr wrap="square" rtlCol="0" anchor="t"/>
          <a:lstStyle/>
          <a:p>
            <a:pPr indent="0" marL="0">
              <a:buNone/>
            </a:pPr>
            <a:r>
              <a:rPr lang="en-US" sz="2200" b="1" dirty="0">
                <a:solidFill>
                  <a:srgbClr val="D8A73D"/>
                </a:solidFill>
                <a:latin typeface="Calibri" pitchFamily="34" charset="0"/>
                <a:ea typeface="Calibri" pitchFamily="34" charset="-122"/>
                <a:cs typeface="Calibri" pitchFamily="34" charset="-120"/>
              </a:rPr>
              <a:t>6</a:t>
            </a:r>
            <a:endParaRPr lang="en-US" sz="2200" dirty="0"/>
          </a:p>
          <a:p>
            <a:pPr indent="0" marL="0">
              <a:buNone/>
            </a:pPr>
            <a:r>
              <a:rPr lang="en-US" sz="1800" dirty="0">
                <a:solidFill>
                  <a:srgbClr val="C8C8CC"/>
                </a:solidFill>
                <a:latin typeface="Calibri" pitchFamily="34" charset="0"/>
                <a:ea typeface="Calibri" pitchFamily="34" charset="-122"/>
                <a:cs typeface="Calibri" pitchFamily="34" charset="-120"/>
              </a:rPr>
              <a:t>Your first six. Then wood.</a:t>
            </a:r>
            <a:endParaRPr lang="en-US" sz="2200" dirty="0"/>
          </a:p>
        </p:txBody>
      </p:sp>
      <p:sp>
        <p:nvSpPr>
          <p:cNvPr id="13" name="Shape 9"/>
          <p:cNvSpPr/>
          <p:nvPr/>
        </p:nvSpPr>
        <p:spPr>
          <a:xfrm>
            <a:off x="6126480" y="1600200"/>
            <a:ext cx="5394960" cy="2148840"/>
          </a:xfrm>
          <a:prstGeom prst="rect">
            <a:avLst/>
          </a:prstGeom>
          <a:solidFill>
            <a:srgbClr val="2A2A33"/>
          </a:solidFill>
          <a:ln w="12700">
            <a:solidFill>
              <a:srgbClr val="3A3A44"/>
            </a:solidFill>
            <a:prstDash val="solid"/>
          </a:ln>
        </p:spPr>
      </p:sp>
      <p:sp>
        <p:nvSpPr>
          <p:cNvPr id="14" name="Shape 10"/>
          <p:cNvSpPr/>
          <p:nvPr/>
        </p:nvSpPr>
        <p:spPr>
          <a:xfrm>
            <a:off x="6126480" y="1600200"/>
            <a:ext cx="91440" cy="2148840"/>
          </a:xfrm>
          <a:prstGeom prst="rect">
            <a:avLst/>
          </a:prstGeom>
          <a:solidFill>
            <a:srgbClr val="D8A73D"/>
          </a:solidFill>
          <a:ln w="12700">
            <a:solidFill>
              <a:srgbClr val="D8A73D"/>
            </a:solidFill>
            <a:prstDash val="solid"/>
          </a:ln>
        </p:spPr>
      </p:sp>
      <p:sp>
        <p:nvSpPr>
          <p:cNvPr id="15" name="Shape 11"/>
          <p:cNvSpPr/>
          <p:nvPr/>
        </p:nvSpPr>
        <p:spPr>
          <a:xfrm>
            <a:off x="6400800" y="1783080"/>
            <a:ext cx="1737360" cy="310896"/>
          </a:xfrm>
          <a:prstGeom prst="roundRect">
            <a:avLst>
              <a:gd name="adj" fmla="val 50000"/>
            </a:avLst>
          </a:prstGeom>
          <a:solidFill>
            <a:srgbClr val="D8A73D"/>
          </a:solidFill>
          <a:ln w="12700">
            <a:solidFill>
              <a:srgbClr val="D8A73D"/>
            </a:solidFill>
            <a:prstDash val="solid"/>
          </a:ln>
        </p:spPr>
      </p:sp>
      <p:sp>
        <p:nvSpPr>
          <p:cNvPr id="16" name="Text 12"/>
          <p:cNvSpPr/>
          <p:nvPr/>
        </p:nvSpPr>
        <p:spPr>
          <a:xfrm>
            <a:off x="6400800" y="178308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DARK AGE</a:t>
            </a:r>
            <a:endParaRPr lang="en-US" sz="1200" dirty="0"/>
          </a:p>
        </p:txBody>
      </p:sp>
      <p:sp>
        <p:nvSpPr>
          <p:cNvPr id="17" name="Text 13"/>
          <p:cNvSpPr/>
          <p:nvPr/>
        </p:nvSpPr>
        <p:spPr>
          <a:xfrm>
            <a:off x="6400800" y="2148840"/>
            <a:ext cx="4937760" cy="822960"/>
          </a:xfrm>
          <a:prstGeom prst="rect">
            <a:avLst/>
          </a:prstGeom>
          <a:noFill/>
          <a:ln/>
        </p:spPr>
        <p:txBody>
          <a:bodyPr wrap="square" rtlCol="0" anchor="t"/>
          <a:lstStyle/>
          <a:p>
            <a:pPr indent="0" marL="0">
              <a:buNone/>
            </a:pPr>
            <a:r>
              <a:rPr lang="en-US" sz="2000" dirty="0">
                <a:solidFill>
                  <a:srgbClr val="F5F5F3"/>
                </a:solidFill>
                <a:latin typeface="Calibri" pitchFamily="34" charset="0"/>
                <a:ea typeface="Calibri" pitchFamily="34" charset="-122"/>
                <a:cs typeface="Calibri" pitchFamily="34" charset="-120"/>
              </a:rPr>
              <a:t>Which two buildings let you click Feudal?</a:t>
            </a:r>
            <a:endParaRPr lang="en-US" sz="2000" dirty="0"/>
          </a:p>
        </p:txBody>
      </p:sp>
      <p:sp>
        <p:nvSpPr>
          <p:cNvPr id="18" name="Text 14"/>
          <p:cNvSpPr/>
          <p:nvPr/>
        </p:nvSpPr>
        <p:spPr>
          <a:xfrm>
            <a:off x="6400800" y="2880360"/>
            <a:ext cx="4937760" cy="777240"/>
          </a:xfrm>
          <a:prstGeom prst="rect">
            <a:avLst/>
          </a:prstGeom>
          <a:noFill/>
          <a:ln/>
        </p:spPr>
        <p:txBody>
          <a:bodyPr wrap="square" rtlCol="0" anchor="t"/>
          <a:lstStyle/>
          <a:p>
            <a:pPr indent="0" marL="0">
              <a:buNone/>
            </a:pPr>
            <a:r>
              <a:rPr lang="en-US" sz="2200" b="1" dirty="0">
                <a:solidFill>
                  <a:srgbClr val="D8A73D"/>
                </a:solidFill>
                <a:latin typeface="Calibri" pitchFamily="34" charset="0"/>
                <a:ea typeface="Calibri" pitchFamily="34" charset="-122"/>
                <a:cs typeface="Calibri" pitchFamily="34" charset="-120"/>
              </a:rPr>
              <a:t>Any two Dark Age ones</a:t>
            </a:r>
            <a:endParaRPr lang="en-US" sz="2200" dirty="0"/>
          </a:p>
          <a:p>
            <a:pPr indent="0" marL="0">
              <a:buNone/>
            </a:pPr>
            <a:r>
              <a:rPr lang="en-US" sz="1800" dirty="0">
                <a:solidFill>
                  <a:srgbClr val="C8C8CC"/>
                </a:solidFill>
                <a:latin typeface="Calibri" pitchFamily="34" charset="0"/>
                <a:ea typeface="Calibri" pitchFamily="34" charset="-122"/>
                <a:cs typeface="Calibri" pitchFamily="34" charset="-120"/>
              </a:rPr>
              <a:t>e.g. mill + lumber camp (barracks counts too)</a:t>
            </a:r>
            <a:endParaRPr lang="en-US" sz="2200" dirty="0"/>
          </a:p>
        </p:txBody>
      </p:sp>
      <p:sp>
        <p:nvSpPr>
          <p:cNvPr id="19" name="Shape 15"/>
          <p:cNvSpPr/>
          <p:nvPr/>
        </p:nvSpPr>
        <p:spPr>
          <a:xfrm>
            <a:off x="548640" y="3931920"/>
            <a:ext cx="5394960" cy="2148840"/>
          </a:xfrm>
          <a:prstGeom prst="rect">
            <a:avLst/>
          </a:prstGeom>
          <a:solidFill>
            <a:srgbClr val="2A2A33"/>
          </a:solidFill>
          <a:ln w="12700">
            <a:solidFill>
              <a:srgbClr val="3A3A44"/>
            </a:solidFill>
            <a:prstDash val="solid"/>
          </a:ln>
        </p:spPr>
      </p:sp>
      <p:sp>
        <p:nvSpPr>
          <p:cNvPr id="20" name="Shape 16"/>
          <p:cNvSpPr/>
          <p:nvPr/>
        </p:nvSpPr>
        <p:spPr>
          <a:xfrm>
            <a:off x="548640" y="3931920"/>
            <a:ext cx="91440" cy="2148840"/>
          </a:xfrm>
          <a:prstGeom prst="rect">
            <a:avLst/>
          </a:prstGeom>
          <a:solidFill>
            <a:srgbClr val="D8A73D"/>
          </a:solidFill>
          <a:ln w="12700">
            <a:solidFill>
              <a:srgbClr val="D8A73D"/>
            </a:solidFill>
            <a:prstDash val="solid"/>
          </a:ln>
        </p:spPr>
      </p:sp>
      <p:sp>
        <p:nvSpPr>
          <p:cNvPr id="21" name="Shape 17"/>
          <p:cNvSpPr/>
          <p:nvPr/>
        </p:nvSpPr>
        <p:spPr>
          <a:xfrm>
            <a:off x="822960" y="4114800"/>
            <a:ext cx="1737360" cy="310896"/>
          </a:xfrm>
          <a:prstGeom prst="roundRect">
            <a:avLst>
              <a:gd name="adj" fmla="val 50000"/>
            </a:avLst>
          </a:prstGeom>
          <a:solidFill>
            <a:srgbClr val="D8A73D"/>
          </a:solidFill>
          <a:ln w="12700">
            <a:solidFill>
              <a:srgbClr val="D8A73D"/>
            </a:solidFill>
            <a:prstDash val="solid"/>
          </a:ln>
        </p:spPr>
      </p:sp>
      <p:sp>
        <p:nvSpPr>
          <p:cNvPr id="22" name="Text 18"/>
          <p:cNvSpPr/>
          <p:nvPr/>
        </p:nvSpPr>
        <p:spPr>
          <a:xfrm>
            <a:off x="822960" y="411480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ECONOMY</a:t>
            </a:r>
            <a:endParaRPr lang="en-US" sz="1200" dirty="0"/>
          </a:p>
        </p:txBody>
      </p:sp>
      <p:sp>
        <p:nvSpPr>
          <p:cNvPr id="23" name="Text 19"/>
          <p:cNvSpPr/>
          <p:nvPr/>
        </p:nvSpPr>
        <p:spPr>
          <a:xfrm>
            <a:off x="822960" y="4480560"/>
            <a:ext cx="4937760" cy="822960"/>
          </a:xfrm>
          <a:prstGeom prst="rect">
            <a:avLst/>
          </a:prstGeom>
          <a:noFill/>
          <a:ln/>
        </p:spPr>
        <p:txBody>
          <a:bodyPr wrap="square" rtlCol="0" anchor="t"/>
          <a:lstStyle/>
          <a:p>
            <a:pPr indent="0" marL="0">
              <a:buNone/>
            </a:pPr>
            <a:r>
              <a:rPr lang="en-US" sz="2000" dirty="0">
                <a:solidFill>
                  <a:srgbClr val="F5F5F3"/>
                </a:solidFill>
                <a:latin typeface="Calibri" pitchFamily="34" charset="0"/>
                <a:ea typeface="Calibri" pitchFamily="34" charset="-122"/>
                <a:cs typeface="Calibri" pitchFamily="34" charset="-120"/>
              </a:rPr>
              <a:t>A villager costs 50 food. How long does it take?</a:t>
            </a:r>
            <a:endParaRPr lang="en-US" sz="2000" dirty="0"/>
          </a:p>
        </p:txBody>
      </p:sp>
      <p:sp>
        <p:nvSpPr>
          <p:cNvPr id="24" name="Text 20"/>
          <p:cNvSpPr/>
          <p:nvPr/>
        </p:nvSpPr>
        <p:spPr>
          <a:xfrm>
            <a:off x="822960" y="5212080"/>
            <a:ext cx="4937760" cy="777240"/>
          </a:xfrm>
          <a:prstGeom prst="rect">
            <a:avLst/>
          </a:prstGeom>
          <a:noFill/>
          <a:ln/>
        </p:spPr>
        <p:txBody>
          <a:bodyPr wrap="square" rtlCol="0" anchor="t"/>
          <a:lstStyle/>
          <a:p>
            <a:pPr indent="0" marL="0">
              <a:buNone/>
            </a:pPr>
            <a:r>
              <a:rPr lang="en-US" sz="2200" b="1" dirty="0">
                <a:solidFill>
                  <a:srgbClr val="D8A73D"/>
                </a:solidFill>
                <a:latin typeface="Calibri" pitchFamily="34" charset="0"/>
                <a:ea typeface="Calibri" pitchFamily="34" charset="-122"/>
                <a:cs typeface="Calibri" pitchFamily="34" charset="-120"/>
              </a:rPr>
              <a:t>25 seconds</a:t>
            </a:r>
            <a:endParaRPr lang="en-US" sz="2200" dirty="0"/>
          </a:p>
          <a:p>
            <a:pPr indent="0" marL="0">
              <a:buNone/>
            </a:pPr>
            <a:r>
              <a:rPr lang="en-US" sz="1800" dirty="0">
                <a:solidFill>
                  <a:srgbClr val="C8C8CC"/>
                </a:solidFill>
                <a:latin typeface="Calibri" pitchFamily="34" charset="0"/>
                <a:ea typeface="Calibri" pitchFamily="34" charset="-122"/>
                <a:cs typeface="Calibri" pitchFamily="34" charset="-120"/>
              </a:rPr>
              <a:t>~2.4 per minute, every minute</a:t>
            </a:r>
            <a:endParaRPr lang="en-US" sz="2200" dirty="0"/>
          </a:p>
        </p:txBody>
      </p:sp>
      <p:sp>
        <p:nvSpPr>
          <p:cNvPr id="25" name="Shape 21"/>
          <p:cNvSpPr/>
          <p:nvPr/>
        </p:nvSpPr>
        <p:spPr>
          <a:xfrm>
            <a:off x="6126480" y="3931920"/>
            <a:ext cx="5394960" cy="2148840"/>
          </a:xfrm>
          <a:prstGeom prst="rect">
            <a:avLst/>
          </a:prstGeom>
          <a:solidFill>
            <a:srgbClr val="2A2A33"/>
          </a:solidFill>
          <a:ln w="12700">
            <a:solidFill>
              <a:srgbClr val="3A3A44"/>
            </a:solidFill>
            <a:prstDash val="solid"/>
          </a:ln>
        </p:spPr>
      </p:sp>
      <p:sp>
        <p:nvSpPr>
          <p:cNvPr id="26" name="Shape 22"/>
          <p:cNvSpPr/>
          <p:nvPr/>
        </p:nvSpPr>
        <p:spPr>
          <a:xfrm>
            <a:off x="6126480" y="3931920"/>
            <a:ext cx="91440" cy="2148840"/>
          </a:xfrm>
          <a:prstGeom prst="rect">
            <a:avLst/>
          </a:prstGeom>
          <a:solidFill>
            <a:srgbClr val="D8A73D"/>
          </a:solidFill>
          <a:ln w="12700">
            <a:solidFill>
              <a:srgbClr val="D8A73D"/>
            </a:solidFill>
            <a:prstDash val="solid"/>
          </a:ln>
        </p:spPr>
      </p:sp>
      <p:sp>
        <p:nvSpPr>
          <p:cNvPr id="27" name="Shape 23"/>
          <p:cNvSpPr/>
          <p:nvPr/>
        </p:nvSpPr>
        <p:spPr>
          <a:xfrm>
            <a:off x="6400800" y="4114800"/>
            <a:ext cx="1737360" cy="310896"/>
          </a:xfrm>
          <a:prstGeom prst="roundRect">
            <a:avLst>
              <a:gd name="adj" fmla="val 50000"/>
            </a:avLst>
          </a:prstGeom>
          <a:solidFill>
            <a:srgbClr val="D8A73D"/>
          </a:solidFill>
          <a:ln w="12700">
            <a:solidFill>
              <a:srgbClr val="D8A73D"/>
            </a:solidFill>
            <a:prstDash val="solid"/>
          </a:ln>
        </p:spPr>
      </p:sp>
      <p:sp>
        <p:nvSpPr>
          <p:cNvPr id="28" name="Text 24"/>
          <p:cNvSpPr/>
          <p:nvPr/>
        </p:nvSpPr>
        <p:spPr>
          <a:xfrm>
            <a:off x="6400800" y="4114800"/>
            <a:ext cx="1737360" cy="310896"/>
          </a:xfrm>
          <a:prstGeom prst="rect">
            <a:avLst/>
          </a:prstGeom>
          <a:noFill/>
          <a:ln/>
        </p:spPr>
        <p:txBody>
          <a:bodyPr wrap="square" rtlCol="0" anchor="ctr"/>
          <a:lstStyle/>
          <a:p>
            <a:pPr algn="ctr" indent="0" marL="0">
              <a:buNone/>
            </a:pPr>
            <a:r>
              <a:rPr lang="en-US" sz="1200" b="1" dirty="0">
                <a:solidFill>
                  <a:srgbClr val="1E1E24"/>
                </a:solidFill>
                <a:latin typeface="Calibri" pitchFamily="34" charset="0"/>
                <a:ea typeface="Calibri" pitchFamily="34" charset="-122"/>
                <a:cs typeface="Calibri" pitchFamily="34" charset="-120"/>
              </a:rPr>
              <a:t>EMBARRASSING</a:t>
            </a:r>
            <a:endParaRPr lang="en-US" sz="1200" dirty="0"/>
          </a:p>
        </p:txBody>
      </p:sp>
      <p:sp>
        <p:nvSpPr>
          <p:cNvPr id="29" name="Text 25"/>
          <p:cNvSpPr/>
          <p:nvPr/>
        </p:nvSpPr>
        <p:spPr>
          <a:xfrm>
            <a:off x="6400800" y="4480560"/>
            <a:ext cx="4937760" cy="822960"/>
          </a:xfrm>
          <a:prstGeom prst="rect">
            <a:avLst/>
          </a:prstGeom>
          <a:noFill/>
          <a:ln/>
        </p:spPr>
        <p:txBody>
          <a:bodyPr wrap="square" rtlCol="0" anchor="t"/>
          <a:lstStyle/>
          <a:p>
            <a:pPr indent="0" marL="0">
              <a:buNone/>
            </a:pPr>
            <a:r>
              <a:rPr lang="en-US" sz="2000" dirty="0">
                <a:solidFill>
                  <a:srgbClr val="F5F5F3"/>
                </a:solidFill>
                <a:latin typeface="Calibri" pitchFamily="34" charset="0"/>
                <a:ea typeface="Calibri" pitchFamily="34" charset="-122"/>
                <a:cs typeface="Calibri" pitchFamily="34" charset="-120"/>
              </a:rPr>
              <a:t>Your TC has been idle for a minute. How many villagers did you lose?</a:t>
            </a:r>
            <a:endParaRPr lang="en-US" sz="2000" dirty="0"/>
          </a:p>
        </p:txBody>
      </p:sp>
      <p:sp>
        <p:nvSpPr>
          <p:cNvPr id="30" name="Text 26"/>
          <p:cNvSpPr/>
          <p:nvPr/>
        </p:nvSpPr>
        <p:spPr>
          <a:xfrm>
            <a:off x="6400800" y="5212080"/>
            <a:ext cx="4937760" cy="777240"/>
          </a:xfrm>
          <a:prstGeom prst="rect">
            <a:avLst/>
          </a:prstGeom>
          <a:noFill/>
          <a:ln/>
        </p:spPr>
        <p:txBody>
          <a:bodyPr wrap="square" rtlCol="0" anchor="t"/>
          <a:lstStyle/>
          <a:p>
            <a:pPr indent="0" marL="0">
              <a:buNone/>
            </a:pPr>
            <a:r>
              <a:rPr lang="en-US" sz="2200" b="1" dirty="0">
                <a:solidFill>
                  <a:srgbClr val="D8A73D"/>
                </a:solidFill>
                <a:latin typeface="Calibri" pitchFamily="34" charset="0"/>
                <a:ea typeface="Calibri" pitchFamily="34" charset="-122"/>
                <a:cs typeface="Calibri" pitchFamily="34" charset="-120"/>
              </a:rPr>
              <a:t>About 2.4</a:t>
            </a:r>
            <a:endParaRPr lang="en-US" sz="2200" dirty="0"/>
          </a:p>
          <a:p>
            <a:pPr indent="0" marL="0">
              <a:buNone/>
            </a:pPr>
            <a:r>
              <a:rPr lang="en-US" sz="1800" dirty="0">
                <a:solidFill>
                  <a:srgbClr val="C8C8CC"/>
                </a:solidFill>
                <a:latin typeface="Calibri" pitchFamily="34" charset="0"/>
                <a:ea typeface="Calibri" pitchFamily="34" charset="-122"/>
                <a:cs typeface="Calibri" pitchFamily="34" charset="-120"/>
              </a:rPr>
              <a:t>and every resource they would ever have gathered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sp>
        <p:nvSpPr>
          <p:cNvPr id="4" name="Text 1"/>
          <p:cNvSpPr/>
          <p:nvPr/>
        </p:nvSpPr>
        <p:spPr>
          <a:xfrm>
            <a:off x="731520" y="1463040"/>
            <a:ext cx="10515600" cy="365760"/>
          </a:xfrm>
          <a:prstGeom prst="rect">
            <a:avLst/>
          </a:prstGeom>
          <a:noFill/>
          <a:ln/>
        </p:spPr>
        <p:txBody>
          <a:bodyPr wrap="square"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AGE OF EMPIRES II  ·  ADVANCED ECONOMICS  ·  LESSON 1 OF 1</a:t>
            </a:r>
            <a:endParaRPr lang="en-US" sz="1400" dirty="0"/>
          </a:p>
        </p:txBody>
      </p:sp>
      <p:sp>
        <p:nvSpPr>
          <p:cNvPr id="5" name="Text 2"/>
          <p:cNvSpPr/>
          <p:nvPr/>
        </p:nvSpPr>
        <p:spPr>
          <a:xfrm>
            <a:off x="731520" y="1920240"/>
            <a:ext cx="10515600" cy="1097280"/>
          </a:xfrm>
          <a:prstGeom prst="rect">
            <a:avLst/>
          </a:prstGeom>
          <a:noFill/>
          <a:ln/>
        </p:spPr>
        <p:txBody>
          <a:bodyPr wrap="square" rtlCol="0" anchor="ctr"/>
          <a:lstStyle/>
          <a:p>
            <a:pPr indent="0" marL="0">
              <a:buNone/>
            </a:pPr>
            <a:r>
              <a:rPr lang="en-US" sz="5000" b="1" dirty="0">
                <a:solidFill>
                  <a:srgbClr val="F5F5F3"/>
                </a:solidFill>
                <a:latin typeface="Cambria" pitchFamily="34" charset="0"/>
                <a:ea typeface="Cambria" pitchFamily="34" charset="-122"/>
                <a:cs typeface="Cambria" pitchFamily="34" charset="-120"/>
              </a:rPr>
              <a:t>Feudal Is Not the Finish Line</a:t>
            </a:r>
            <a:endParaRPr lang="en-US" sz="5000" dirty="0"/>
          </a:p>
        </p:txBody>
      </p:sp>
      <p:sp>
        <p:nvSpPr>
          <p:cNvPr id="6" name="Text 3"/>
          <p:cNvSpPr/>
          <p:nvPr/>
        </p:nvSpPr>
        <p:spPr>
          <a:xfrm>
            <a:off x="731520" y="3017520"/>
            <a:ext cx="10515600" cy="548640"/>
          </a:xfrm>
          <a:prstGeom prst="rect">
            <a:avLst/>
          </a:prstGeom>
          <a:noFill/>
          <a:ln/>
        </p:spPr>
        <p:txBody>
          <a:bodyPr wrap="square" rtlCol="0" anchor="ctr"/>
          <a:lstStyle/>
          <a:p>
            <a:pPr indent="0" marL="0">
              <a:buNone/>
            </a:pPr>
            <a:r>
              <a:rPr lang="en-US" sz="2600" i="1" dirty="0">
                <a:solidFill>
                  <a:srgbClr val="C8C8CC"/>
                </a:solidFill>
                <a:latin typeface="Cambria" pitchFamily="34" charset="0"/>
                <a:ea typeface="Cambria" pitchFamily="34" charset="-122"/>
                <a:cs typeface="Cambria" pitchFamily="34" charset="-120"/>
              </a:rPr>
              <a:t>Archers into Castle Age without starving your economy</a:t>
            </a:r>
            <a:endParaRPr lang="en-US" sz="2600" dirty="0"/>
          </a:p>
        </p:txBody>
      </p:sp>
      <p:sp>
        <p:nvSpPr>
          <p:cNvPr id="7" name="Shape 4"/>
          <p:cNvSpPr/>
          <p:nvPr/>
        </p:nvSpPr>
        <p:spPr>
          <a:xfrm>
            <a:off x="731520" y="3931920"/>
            <a:ext cx="3657600" cy="0"/>
          </a:xfrm>
          <a:prstGeom prst="line">
            <a:avLst/>
          </a:prstGeom>
          <a:noFill/>
          <a:ln w="25400">
            <a:solidFill>
              <a:srgbClr val="D8A73D"/>
            </a:solidFill>
            <a:prstDash val="solid"/>
          </a:ln>
        </p:spPr>
      </p:sp>
      <p:sp>
        <p:nvSpPr>
          <p:cNvPr id="8" name="Text 5"/>
          <p:cNvSpPr/>
          <p:nvPr/>
        </p:nvSpPr>
        <p:spPr>
          <a:xfrm>
            <a:off x="731520" y="4114800"/>
            <a:ext cx="10058400" cy="457200"/>
          </a:xfrm>
          <a:prstGeom prst="rect">
            <a:avLst/>
          </a:prstGeom>
          <a:noFill/>
          <a:ln/>
        </p:spPr>
        <p:txBody>
          <a:bodyPr wrap="square" rtlCol="0" anchor="ctr"/>
          <a:lstStyle/>
          <a:p>
            <a:pPr indent="0" marL="0">
              <a:buNone/>
            </a:pPr>
            <a:r>
              <a:rPr lang="en-US" sz="2200" dirty="0">
                <a:solidFill>
                  <a:srgbClr val="8A8A94"/>
                </a:solidFill>
                <a:latin typeface="Calibri" pitchFamily="34" charset="0"/>
                <a:ea typeface="Calibri" pitchFamily="34" charset="-122"/>
                <a:cs typeface="Calibri" pitchFamily="34" charset="-120"/>
              </a:rPr>
              <a:t>Featuring  </a:t>
            </a:r>
            <a:pPr indent="0" marL="0">
              <a:buNone/>
            </a:pPr>
            <a:r>
              <a:rPr lang="en-US" sz="2200" b="1" dirty="0">
                <a:solidFill>
                  <a:srgbClr val="E07A7A"/>
                </a:solidFill>
                <a:latin typeface="Calibri" pitchFamily="34" charset="0"/>
                <a:ea typeface="Calibri" pitchFamily="34" charset="-122"/>
                <a:cs typeface="Calibri" pitchFamily="34" charset="-120"/>
              </a:rPr>
              <a:t>Britons</a:t>
            </a:r>
            <a:pPr indent="0" marL="0">
              <a:buNone/>
            </a:pPr>
            <a:r>
              <a:rPr lang="en-US" sz="2200" dirty="0">
                <a:solidFill>
                  <a:srgbClr val="8A8A94"/>
                </a:solidFill>
                <a:latin typeface="Calibri" pitchFamily="34" charset="0"/>
                <a:ea typeface="Calibri" pitchFamily="34" charset="-122"/>
                <a:cs typeface="Calibri" pitchFamily="34" charset="-120"/>
              </a:rPr>
              <a:t>  and  </a:t>
            </a:r>
            <a:pPr indent="0" marL="0">
              <a:buNone/>
            </a:pPr>
            <a:r>
              <a:rPr lang="en-US" sz="2200" b="1" dirty="0">
                <a:solidFill>
                  <a:srgbClr val="7FA8D6"/>
                </a:solidFill>
                <a:latin typeface="Calibri" pitchFamily="34" charset="0"/>
                <a:ea typeface="Calibri" pitchFamily="34" charset="-122"/>
                <a:cs typeface="Calibri" pitchFamily="34" charset="-120"/>
              </a:rPr>
              <a:t>Bohemians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CLARITY OF LEARNING INTENTIONS</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Why are we here?</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ClarityOfLearningIntentions.png">    </p:cNvPr>
          <p:cNvPicPr>
            <a:picLocks noChangeAspect="1"/>
          </p:cNvPicPr>
          <p:nvPr/>
        </p:nvPicPr>
        <p:blipFill>
          <a:blip r:embed="rId1"/>
          <a:stretch>
            <a:fillRect/>
          </a:stretch>
        </p:blipFill>
        <p:spPr>
          <a:xfrm>
            <a:off x="11109960" y="274320"/>
            <a:ext cx="685800" cy="685800"/>
          </a:xfrm>
          <a:prstGeom prst="rect">
            <a:avLst/>
          </a:prstGeom>
        </p:spPr>
      </p:pic>
      <p:sp>
        <p:nvSpPr>
          <p:cNvPr id="7" name="Text 3"/>
          <p:cNvSpPr/>
          <p:nvPr/>
        </p:nvSpPr>
        <p:spPr>
          <a:xfrm>
            <a:off x="548640" y="1645920"/>
            <a:ext cx="5486400" cy="320040"/>
          </a:xfrm>
          <a:prstGeom prst="rect">
            <a:avLst/>
          </a:prstGeom>
          <a:noFill/>
          <a:ln/>
        </p:spPr>
        <p:txBody>
          <a:bodyPr wrap="square" rtlCol="0" anchor="ctr"/>
          <a:lstStyle/>
          <a:p>
            <a:pPr indent="0" marL="0">
              <a:buNone/>
            </a:pPr>
            <a:r>
              <a:rPr lang="en-US" sz="1300" b="1" spc="200" kern="0" dirty="0">
                <a:solidFill>
                  <a:srgbClr val="8A8A94"/>
                </a:solidFill>
                <a:latin typeface="Calibri" pitchFamily="34" charset="0"/>
                <a:ea typeface="Calibri" pitchFamily="34" charset="-122"/>
                <a:cs typeface="Calibri" pitchFamily="34" charset="-120"/>
              </a:rPr>
              <a:t>TOPIC QUESTION</a:t>
            </a:r>
            <a:endParaRPr lang="en-US" sz="1300" dirty="0"/>
          </a:p>
        </p:txBody>
      </p:sp>
      <p:sp>
        <p:nvSpPr>
          <p:cNvPr id="8" name="Text 4"/>
          <p:cNvSpPr/>
          <p:nvPr/>
        </p:nvSpPr>
        <p:spPr>
          <a:xfrm>
            <a:off x="548640" y="1965960"/>
            <a:ext cx="10972800" cy="640080"/>
          </a:xfrm>
          <a:prstGeom prst="rect">
            <a:avLst/>
          </a:prstGeom>
          <a:noFill/>
          <a:ln/>
        </p:spPr>
        <p:txBody>
          <a:bodyPr wrap="square" rtlCol="0" anchor="ctr"/>
          <a:lstStyle/>
          <a:p>
            <a:pPr indent="0" marL="0">
              <a:buNone/>
            </a:pPr>
            <a:r>
              <a:rPr lang="en-US" sz="2400" i="1" dirty="0">
                <a:solidFill>
                  <a:srgbClr val="8A8A94"/>
                </a:solidFill>
                <a:latin typeface="Cambria" pitchFamily="34" charset="0"/>
                <a:ea typeface="Cambria" pitchFamily="34" charset="-122"/>
                <a:cs typeface="Cambria" pitchFamily="34" charset="-120"/>
              </a:rPr>
              <a:t>How do I stop losing to that one friend who "only plays a bit"?</a:t>
            </a:r>
            <a:endParaRPr lang="en-US" sz="2400" dirty="0"/>
          </a:p>
        </p:txBody>
      </p:sp>
      <p:sp>
        <p:nvSpPr>
          <p:cNvPr id="9" name="Shape 5"/>
          <p:cNvSpPr/>
          <p:nvPr/>
        </p:nvSpPr>
        <p:spPr>
          <a:xfrm>
            <a:off x="548640" y="3017520"/>
            <a:ext cx="11064240" cy="2377440"/>
          </a:xfrm>
          <a:prstGeom prst="rect">
            <a:avLst/>
          </a:prstGeom>
          <a:solidFill>
            <a:srgbClr val="FFFFFF"/>
          </a:solidFill>
          <a:ln w="12700">
            <a:solidFill>
              <a:srgbClr val="D9D4C7"/>
            </a:solidFill>
            <a:prstDash val="solid"/>
          </a:ln>
        </p:spPr>
      </p:sp>
      <p:sp>
        <p:nvSpPr>
          <p:cNvPr id="10" name="Shape 6"/>
          <p:cNvSpPr/>
          <p:nvPr/>
        </p:nvSpPr>
        <p:spPr>
          <a:xfrm>
            <a:off x="548640" y="3017520"/>
            <a:ext cx="91440" cy="2377440"/>
          </a:xfrm>
          <a:prstGeom prst="rect">
            <a:avLst/>
          </a:prstGeom>
          <a:solidFill>
            <a:srgbClr val="D8A73D"/>
          </a:solidFill>
          <a:ln w="12700">
            <a:solidFill>
              <a:srgbClr val="D8A73D"/>
            </a:solidFill>
            <a:prstDash val="solid"/>
          </a:ln>
        </p:spPr>
      </p:sp>
      <p:sp>
        <p:nvSpPr>
          <p:cNvPr id="11" name="Text 7"/>
          <p:cNvSpPr/>
          <p:nvPr/>
        </p:nvSpPr>
        <p:spPr>
          <a:xfrm>
            <a:off x="914400" y="3246120"/>
            <a:ext cx="54864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12" name="Text 8"/>
          <p:cNvSpPr/>
          <p:nvPr/>
        </p:nvSpPr>
        <p:spPr>
          <a:xfrm>
            <a:off x="914400" y="3611880"/>
            <a:ext cx="10424160" cy="1463040"/>
          </a:xfrm>
          <a:prstGeom prst="rect">
            <a:avLst/>
          </a:prstGeom>
          <a:noFill/>
          <a:ln/>
        </p:spPr>
        <p:txBody>
          <a:bodyPr wrap="square" rtlCol="0" anchor="t"/>
          <a:lstStyle/>
          <a:p>
            <a:pPr indent="0" marL="0">
              <a:buNone/>
            </a:pPr>
            <a:r>
              <a:rPr lang="en-US" sz="3000" b="1" dirty="0">
                <a:solidFill>
                  <a:srgbClr val="1E1E24"/>
                </a:solidFill>
                <a:latin typeface="Cambria" pitchFamily="34" charset="0"/>
                <a:ea typeface="Cambria" pitchFamily="34" charset="-122"/>
                <a:cs typeface="Cambria" pitchFamily="34" charset="-120"/>
              </a:rPr>
              <a:t>How do you keep booming your economy while you make archers all the way from Feudal into Castle Age?</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Meet the civs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00200"/>
            <a:ext cx="5440680" cy="4572000"/>
          </a:xfrm>
          <a:prstGeom prst="rect">
            <a:avLst/>
          </a:prstGeom>
          <a:solidFill>
            <a:srgbClr val="FFFFFF"/>
          </a:solidFill>
          <a:ln w="12700">
            <a:solidFill>
              <a:srgbClr val="D9D4C7"/>
            </a:solidFill>
            <a:prstDash val="solid"/>
          </a:ln>
        </p:spPr>
      </p:sp>
      <p:sp>
        <p:nvSpPr>
          <p:cNvPr id="8" name="Shape 4"/>
          <p:cNvSpPr/>
          <p:nvPr/>
        </p:nvSpPr>
        <p:spPr>
          <a:xfrm>
            <a:off x="548640" y="1600200"/>
            <a:ext cx="91440" cy="4572000"/>
          </a:xfrm>
          <a:prstGeom prst="rect">
            <a:avLst/>
          </a:prstGeom>
          <a:solidFill>
            <a:srgbClr val="B23A3A"/>
          </a:solidFill>
          <a:ln w="12700">
            <a:solidFill>
              <a:srgbClr val="B23A3A"/>
            </a:solidFill>
            <a:prstDash val="solid"/>
          </a:ln>
        </p:spPr>
      </p:sp>
      <p:sp>
        <p:nvSpPr>
          <p:cNvPr id="9" name="Text 5"/>
          <p:cNvSpPr/>
          <p:nvPr/>
        </p:nvSpPr>
        <p:spPr>
          <a:xfrm>
            <a:off x="868680" y="1737360"/>
            <a:ext cx="4937760" cy="548640"/>
          </a:xfrm>
          <a:prstGeom prst="rect">
            <a:avLst/>
          </a:prstGeom>
          <a:noFill/>
          <a:ln/>
        </p:spPr>
        <p:txBody>
          <a:bodyPr wrap="square" rtlCol="0" anchor="ctr"/>
          <a:lstStyle/>
          <a:p>
            <a:pPr indent="0" marL="0">
              <a:buNone/>
            </a:pPr>
            <a:r>
              <a:rPr lang="en-US" sz="3000" b="1" dirty="0">
                <a:solidFill>
                  <a:srgbClr val="B23A3A"/>
                </a:solidFill>
                <a:latin typeface="Cambria" pitchFamily="34" charset="0"/>
                <a:ea typeface="Cambria" pitchFamily="34" charset="-122"/>
                <a:cs typeface="Cambria" pitchFamily="34" charset="-120"/>
              </a:rPr>
              <a:t>Britons</a:t>
            </a:r>
            <a:endParaRPr lang="en-US" sz="3000" dirty="0"/>
          </a:p>
        </p:txBody>
      </p:sp>
      <p:sp>
        <p:nvSpPr>
          <p:cNvPr id="10" name="Text 6"/>
          <p:cNvSpPr/>
          <p:nvPr/>
        </p:nvSpPr>
        <p:spPr>
          <a:xfrm>
            <a:off x="868680" y="2240280"/>
            <a:ext cx="4937760" cy="365760"/>
          </a:xfrm>
          <a:prstGeom prst="rect">
            <a:avLst/>
          </a:prstGeom>
          <a:noFill/>
          <a:ln/>
        </p:spPr>
        <p:txBody>
          <a:bodyPr wrap="square" rtlCol="0" anchor="ctr"/>
          <a:lstStyle/>
          <a:p>
            <a:pPr indent="0" marL="0">
              <a:buNone/>
            </a:pPr>
            <a:r>
              <a:rPr lang="en-US" sz="1600" i="1" dirty="0">
                <a:solidFill>
                  <a:srgbClr val="8A8A94"/>
                </a:solidFill>
                <a:latin typeface="Calibri" pitchFamily="34" charset="0"/>
                <a:ea typeface="Calibri" pitchFamily="34" charset="-122"/>
                <a:cs typeface="Calibri" pitchFamily="34" charset="-120"/>
              </a:rPr>
              <a:t>The archer civ. Unapologetically.</a:t>
            </a:r>
            <a:endParaRPr lang="en-US" sz="1600" dirty="0"/>
          </a:p>
        </p:txBody>
      </p:sp>
      <p:sp>
        <p:nvSpPr>
          <p:cNvPr id="11" name="Text 7"/>
          <p:cNvSpPr/>
          <p:nvPr/>
        </p:nvSpPr>
        <p:spPr>
          <a:xfrm>
            <a:off x="868680" y="2697480"/>
            <a:ext cx="4937760" cy="2560320"/>
          </a:xfrm>
          <a:prstGeom prst="rect">
            <a:avLst/>
          </a:prstGeom>
          <a:noFill/>
          <a:ln/>
        </p:spPr>
        <p:txBody>
          <a:bodyPr wrap="square" rtlCol="0" anchor="t"/>
          <a:lstStyle/>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Shepherds work 25% faster — a quicker Dark Age</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Foot archers +1 range in Castle, +1 more in Imperial</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Town Centres −50% wood from Castle Age</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Longbowman + Yeomen (even more range)</a:t>
            </a:r>
            <a:endParaRPr lang="en-US" sz="1900" dirty="0"/>
          </a:p>
        </p:txBody>
      </p:sp>
      <p:sp>
        <p:nvSpPr>
          <p:cNvPr id="12" name="Text 8"/>
          <p:cNvSpPr/>
          <p:nvPr/>
        </p:nvSpPr>
        <p:spPr>
          <a:xfrm>
            <a:off x="868680" y="5349240"/>
            <a:ext cx="4937760" cy="685800"/>
          </a:xfrm>
          <a:prstGeom prst="rect">
            <a:avLst/>
          </a:prstGeom>
          <a:noFill/>
          <a:ln/>
        </p:spPr>
        <p:txBody>
          <a:bodyPr wrap="square" rtlCol="0" anchor="t"/>
          <a:lstStyle/>
          <a:p>
            <a:pPr indent="0" marL="0">
              <a:buNone/>
            </a:pPr>
            <a:r>
              <a:rPr lang="en-US" sz="1600" i="1" dirty="0">
                <a:solidFill>
                  <a:srgbClr val="B23A3A"/>
                </a:solidFill>
                <a:latin typeface="Calibri" pitchFamily="34" charset="0"/>
                <a:ea typeface="Calibri" pitchFamily="34" charset="-122"/>
                <a:cs typeface="Calibri" pitchFamily="34" charset="-120"/>
              </a:rPr>
              <a:t>“Why fight them when you can fight them from over there?”</a:t>
            </a:r>
            <a:endParaRPr lang="en-US" sz="1600" dirty="0"/>
          </a:p>
        </p:txBody>
      </p:sp>
      <p:sp>
        <p:nvSpPr>
          <p:cNvPr id="13" name="Shape 9"/>
          <p:cNvSpPr/>
          <p:nvPr/>
        </p:nvSpPr>
        <p:spPr>
          <a:xfrm>
            <a:off x="6172200" y="1600200"/>
            <a:ext cx="5440680" cy="4572000"/>
          </a:xfrm>
          <a:prstGeom prst="rect">
            <a:avLst/>
          </a:prstGeom>
          <a:solidFill>
            <a:srgbClr val="FFFFFF"/>
          </a:solidFill>
          <a:ln w="12700">
            <a:solidFill>
              <a:srgbClr val="D9D4C7"/>
            </a:solidFill>
            <a:prstDash val="solid"/>
          </a:ln>
        </p:spPr>
      </p:sp>
      <p:sp>
        <p:nvSpPr>
          <p:cNvPr id="14" name="Shape 10"/>
          <p:cNvSpPr/>
          <p:nvPr/>
        </p:nvSpPr>
        <p:spPr>
          <a:xfrm>
            <a:off x="6172200" y="1600200"/>
            <a:ext cx="91440" cy="4572000"/>
          </a:xfrm>
          <a:prstGeom prst="rect">
            <a:avLst/>
          </a:prstGeom>
          <a:solidFill>
            <a:srgbClr val="3A6EA5"/>
          </a:solidFill>
          <a:ln w="12700">
            <a:solidFill>
              <a:srgbClr val="3A6EA5"/>
            </a:solidFill>
            <a:prstDash val="solid"/>
          </a:ln>
        </p:spPr>
      </p:sp>
      <p:sp>
        <p:nvSpPr>
          <p:cNvPr id="15" name="Text 11"/>
          <p:cNvSpPr/>
          <p:nvPr/>
        </p:nvSpPr>
        <p:spPr>
          <a:xfrm>
            <a:off x="6492240" y="1737360"/>
            <a:ext cx="4937760" cy="548640"/>
          </a:xfrm>
          <a:prstGeom prst="rect">
            <a:avLst/>
          </a:prstGeom>
          <a:noFill/>
          <a:ln/>
        </p:spPr>
        <p:txBody>
          <a:bodyPr wrap="square" rtlCol="0" anchor="ctr"/>
          <a:lstStyle/>
          <a:p>
            <a:pPr indent="0" marL="0">
              <a:buNone/>
            </a:pPr>
            <a:r>
              <a:rPr lang="en-US" sz="3000" b="1" dirty="0">
                <a:solidFill>
                  <a:srgbClr val="3A6EA5"/>
                </a:solidFill>
                <a:latin typeface="Cambria" pitchFamily="34" charset="0"/>
                <a:ea typeface="Cambria" pitchFamily="34" charset="-122"/>
                <a:cs typeface="Cambria" pitchFamily="34" charset="-120"/>
              </a:rPr>
              <a:t>Bohemians</a:t>
            </a:r>
            <a:endParaRPr lang="en-US" sz="3000" dirty="0"/>
          </a:p>
        </p:txBody>
      </p:sp>
      <p:sp>
        <p:nvSpPr>
          <p:cNvPr id="16" name="Text 12"/>
          <p:cNvSpPr/>
          <p:nvPr/>
        </p:nvSpPr>
        <p:spPr>
          <a:xfrm>
            <a:off x="6492240" y="2240280"/>
            <a:ext cx="4937760" cy="365760"/>
          </a:xfrm>
          <a:prstGeom prst="rect">
            <a:avLst/>
          </a:prstGeom>
          <a:noFill/>
          <a:ln/>
        </p:spPr>
        <p:txBody>
          <a:bodyPr wrap="square" rtlCol="0" anchor="ctr"/>
          <a:lstStyle/>
          <a:p>
            <a:pPr indent="0" marL="0">
              <a:buNone/>
            </a:pPr>
            <a:r>
              <a:rPr lang="en-US" sz="1600" i="1" dirty="0">
                <a:solidFill>
                  <a:srgbClr val="8A8A94"/>
                </a:solidFill>
                <a:latin typeface="Calibri" pitchFamily="34" charset="0"/>
                <a:ea typeface="Calibri" pitchFamily="34" charset="-122"/>
                <a:cs typeface="Calibri" pitchFamily="34" charset="-120"/>
              </a:rPr>
              <a:t>An archer civ, if you squint.</a:t>
            </a:r>
            <a:endParaRPr lang="en-US" sz="1600" dirty="0"/>
          </a:p>
        </p:txBody>
      </p:sp>
      <p:sp>
        <p:nvSpPr>
          <p:cNvPr id="17" name="Text 13"/>
          <p:cNvSpPr/>
          <p:nvPr/>
        </p:nvSpPr>
        <p:spPr>
          <a:xfrm>
            <a:off x="6492240" y="2697480"/>
            <a:ext cx="4937760" cy="2560320"/>
          </a:xfrm>
          <a:prstGeom prst="rect">
            <a:avLst/>
          </a:prstGeom>
          <a:noFill/>
          <a:ln/>
        </p:spPr>
        <p:txBody>
          <a:bodyPr wrap="square" rtlCol="0" anchor="t"/>
          <a:lstStyle/>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Mining Camp technologies are free</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Blacksmith and University cost −100 wood</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Hand Cannoneers available in Castle Age</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Hussite Wagon, Houfnice, Wagenburg Tactics</a:t>
            </a:r>
            <a:endParaRPr lang="en-US" sz="1900" dirty="0"/>
          </a:p>
        </p:txBody>
      </p:sp>
      <p:sp>
        <p:nvSpPr>
          <p:cNvPr id="18" name="Text 14"/>
          <p:cNvSpPr/>
          <p:nvPr/>
        </p:nvSpPr>
        <p:spPr>
          <a:xfrm>
            <a:off x="6492240" y="5349240"/>
            <a:ext cx="4937760" cy="685800"/>
          </a:xfrm>
          <a:prstGeom prst="rect">
            <a:avLst/>
          </a:prstGeom>
          <a:noFill/>
          <a:ln/>
        </p:spPr>
        <p:txBody>
          <a:bodyPr wrap="square" rtlCol="0" anchor="t"/>
          <a:lstStyle/>
          <a:p>
            <a:pPr indent="0" marL="0">
              <a:buNone/>
            </a:pPr>
            <a:r>
              <a:rPr lang="en-US" sz="1600" i="1" dirty="0">
                <a:solidFill>
                  <a:srgbClr val="3A6EA5"/>
                </a:solidFill>
                <a:latin typeface="Calibri" pitchFamily="34" charset="0"/>
                <a:ea typeface="Calibri" pitchFamily="34" charset="-122"/>
                <a:cs typeface="Calibri" pitchFamily="34" charset="-120"/>
              </a:rPr>
              <a:t>“A hand cannoneer is just an archer who discovered chemistry.”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 — DARK AGE</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The bit you think you already know</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463040"/>
                <a:gridCol w="2743200"/>
                <a:gridCol w="6858000"/>
              </a:tblGrid>
              <a:tr h="512064">
                <a:tc>
                  <a:txBody>
                    <a:bodyPr/>
                    <a:lstStyle/>
                    <a:p>
                      <a:pPr indent="0" marL="0">
                        <a:buNone/>
                      </a:pPr>
                      <a:r>
                        <a:rPr lang="en-US" sz="1800" b="1" dirty="0">
                          <a:solidFill>
                            <a:srgbClr val="F5F5F3"/>
                          </a:solidFill>
                          <a:latin typeface="Calibri" pitchFamily="34" charset="0"/>
                          <a:ea typeface="Calibri" pitchFamily="34" charset="-122"/>
                          <a:cs typeface="Calibri" pitchFamily="34" charset="-120"/>
                        </a:rPr>
                        <a:t>Villager</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1E1E24"/>
                    </a:solidFill>
                  </a:tcPr>
                </a:tc>
                <a:tc>
                  <a:txBody>
                    <a:bodyPr/>
                    <a:lstStyle/>
                    <a:p>
                      <a:pPr indent="0" marL="0">
                        <a:buNone/>
                      </a:pPr>
                      <a:r>
                        <a:rPr lang="en-US" sz="1800" b="1" dirty="0">
                          <a:solidFill>
                            <a:srgbClr val="F5F5F3"/>
                          </a:solidFill>
                          <a:latin typeface="Calibri" pitchFamily="34" charset="0"/>
                          <a:ea typeface="Calibri" pitchFamily="34" charset="-122"/>
                          <a:cs typeface="Calibri" pitchFamily="34" charset="-120"/>
                        </a:rPr>
                        <a:t>Job</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1E1E24"/>
                    </a:solidFill>
                  </a:tcPr>
                </a:tc>
                <a:tc>
                  <a:txBody>
                    <a:bodyPr/>
                    <a:lstStyle/>
                    <a:p>
                      <a:pPr indent="0" marL="0">
                        <a:buNone/>
                      </a:pPr>
                      <a:r>
                        <a:rPr lang="en-US" sz="1800" b="1" dirty="0">
                          <a:solidFill>
                            <a:srgbClr val="F5F5F3"/>
                          </a:solidFill>
                          <a:latin typeface="Calibri" pitchFamily="34" charset="0"/>
                          <a:ea typeface="Calibri" pitchFamily="34" charset="-122"/>
                          <a:cs typeface="Calibri" pitchFamily="34" charset="-120"/>
                        </a:rPr>
                        <a:t>Notes</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1E1E24"/>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Sheep</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Scout finds more sheep. Build a house with vil 1–2.</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7–10</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Wood</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Lumber camp on a good tree line.</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Lure boar</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Villager 11 lures the first boar to the TC.</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12–15</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Berries</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Mill + house on the bushes.</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16–17</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Sheep / 2nd boar</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Lure boar 2 when boar 1 is nearly gone.</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18–19</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Wood</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Second lumber camp or more on the first.</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FFFFF"/>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20–21</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Gold</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Mining camp now. Archers cost 45 gold each.</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0EFEB"/>
                    </a:solidFill>
                  </a:tcPr>
                </a:tc>
              </a:tr>
              <a:tr h="512064">
                <a:tc>
                  <a:txBody>
                    <a:bodyPr/>
                    <a:lstStyle/>
                    <a:p>
                      <a:pPr indent="0" marL="0">
                        <a:buNone/>
                      </a:pPr>
                      <a:r>
                        <a:rPr lang="en-US" sz="1800" b="1" dirty="0">
                          <a:solidFill>
                            <a:srgbClr val="D8A73D"/>
                          </a:solidFill>
                          <a:latin typeface="Calibri" pitchFamily="34" charset="0"/>
                          <a:ea typeface="Calibri" pitchFamily="34" charset="-122"/>
                          <a:cs typeface="Calibri" pitchFamily="34" charset="-120"/>
                        </a:rPr>
                        <a:t>22 pop</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7EBC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Loom → click Feudal</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7EBCB"/>
                    </a:solidFill>
                  </a:tcPr>
                </a:tc>
                <a:tc>
                  <a:txBody>
                    <a:bodyPr/>
                    <a:lstStyle/>
                    <a:p>
                      <a:pPr indent="0" marL="0">
                        <a:buNone/>
                      </a:pPr>
                      <a:r>
                        <a:rPr lang="en-US" sz="1800" dirty="0">
                          <a:solidFill>
                            <a:srgbClr val="1E1E24"/>
                          </a:solidFill>
                          <a:latin typeface="Calibri" pitchFamily="34" charset="0"/>
                          <a:ea typeface="Calibri" pitchFamily="34" charset="-122"/>
                          <a:cs typeface="Calibri" pitchFamily="34" charset="-120"/>
                        </a:rPr>
                        <a:t>Barracks must be up (or going up) before you click.</a:t>
                      </a:r>
                      <a:endParaRPr lang="en-US" sz="1800" dirty="0">
                        <a:latin typeface="Calibri" charset="0"/>
                        <a:ea typeface="Calibri" charset="0"/>
                        <a:cs typeface="Calibri" charset="0"/>
                      </a:endParaRPr>
                    </a:p>
                  </a:txBody>
                  <a:tcPr marL="91440" marR="91440" marT="0" marB="0" anchor="ctr">
                    <a:lnL w="6350" cap="flat" cmpd="sng" algn="ctr">
                      <a:solidFill>
                        <a:srgbClr val="D9D4C7"/>
                      </a:solidFill>
                      <a:prstDash val="solid"/>
                      <a:round/>
                      <a:headEnd type="none" w="med" len="med"/>
                      <a:tailEnd type="none" w="med" len="med"/>
                    </a:lnL>
                    <a:lnR w="6350" cap="flat" cmpd="sng" algn="ctr">
                      <a:solidFill>
                        <a:srgbClr val="D9D4C7"/>
                      </a:solidFill>
                      <a:prstDash val="solid"/>
                      <a:round/>
                      <a:headEnd type="none" w="med" len="med"/>
                      <a:tailEnd type="none" w="med" len="med"/>
                    </a:lnR>
                    <a:lnT w="6350" cap="flat" cmpd="sng" algn="ctr">
                      <a:solidFill>
                        <a:srgbClr val="D9D4C7"/>
                      </a:solidFill>
                      <a:prstDash val="solid"/>
                      <a:round/>
                      <a:headEnd type="none" w="med" len="med"/>
                      <a:tailEnd type="none" w="med" len="med"/>
                    </a:lnT>
                    <a:lnB w="6350" cap="flat" cmpd="sng" algn="ctr">
                      <a:solidFill>
                        <a:srgbClr val="D9D4C7"/>
                      </a:solidFill>
                      <a:prstDash val="solid"/>
                      <a:round/>
                      <a:headEnd type="none" w="med" len="med"/>
                      <a:tailEnd type="none" w="med" len="med"/>
                    </a:lnB>
                    <a:solidFill>
                      <a:srgbClr val="F7EBC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 — FEUDAL AGE</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Arriving in Feudal: the first 3 minutes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94360" y="1709928"/>
            <a:ext cx="502920" cy="502920"/>
          </a:xfrm>
          <a:prstGeom prst="ellipse">
            <a:avLst/>
          </a:prstGeom>
          <a:solidFill>
            <a:srgbClr val="D8A73D"/>
          </a:solidFill>
          <a:ln w="12700">
            <a:solidFill>
              <a:srgbClr val="D8A73D"/>
            </a:solidFill>
            <a:prstDash val="solid"/>
          </a:ln>
        </p:spPr>
      </p:sp>
      <p:sp>
        <p:nvSpPr>
          <p:cNvPr id="8" name="Text 4"/>
          <p:cNvSpPr/>
          <p:nvPr/>
        </p:nvSpPr>
        <p:spPr>
          <a:xfrm>
            <a:off x="594360" y="1709928"/>
            <a:ext cx="502920" cy="502920"/>
          </a:xfrm>
          <a:prstGeom prst="rect">
            <a:avLst/>
          </a:prstGeom>
          <a:noFill/>
          <a:ln/>
        </p:spPr>
        <p:txBody>
          <a:bodyPr wrap="square"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9" name="Text 5"/>
          <p:cNvSpPr/>
          <p:nvPr/>
        </p:nvSpPr>
        <p:spPr>
          <a:xfrm>
            <a:off x="1325880" y="1600200"/>
            <a:ext cx="2743200" cy="731520"/>
          </a:xfrm>
          <a:prstGeom prst="rect">
            <a:avLst/>
          </a:prstGeom>
          <a:noFill/>
          <a:ln/>
        </p:spPr>
        <p:txBody>
          <a:bodyPr wrap="square" rtlCol="0" anchor="ctr"/>
          <a:lstStyle/>
          <a:p>
            <a:pPr indent="0" marL="0">
              <a:buNone/>
            </a:pPr>
            <a:r>
              <a:rPr lang="en-US" sz="1400" b="1" spc="100" kern="0" dirty="0">
                <a:solidFill>
                  <a:srgbClr val="8A8A94"/>
                </a:solidFill>
                <a:latin typeface="Calibri" pitchFamily="34" charset="0"/>
                <a:ea typeface="Calibri" pitchFamily="34" charset="-122"/>
                <a:cs typeface="Calibri" pitchFamily="34" charset="-120"/>
              </a:rPr>
              <a:t>ON ARRIVAL</a:t>
            </a:r>
            <a:endParaRPr lang="en-US" sz="1400" dirty="0"/>
          </a:p>
        </p:txBody>
      </p:sp>
      <p:sp>
        <p:nvSpPr>
          <p:cNvPr id="10" name="Text 6"/>
          <p:cNvSpPr/>
          <p:nvPr/>
        </p:nvSpPr>
        <p:spPr>
          <a:xfrm>
            <a:off x="3931920" y="1600200"/>
            <a:ext cx="7680960" cy="731520"/>
          </a:xfrm>
          <a:prstGeom prst="rect">
            <a:avLst/>
          </a:prstGeom>
          <a:noFill/>
          <a:ln/>
        </p:spPr>
        <p:txBody>
          <a:bodyPr wrap="square" rtlCol="0" anchor="ctr"/>
          <a:lstStyle/>
          <a:p>
            <a:pPr indent="0" marL="0">
              <a:buNone/>
            </a:pPr>
            <a:r>
              <a:rPr lang="en-US" sz="2000" dirty="0">
                <a:solidFill>
                  <a:srgbClr val="1E1E24"/>
                </a:solidFill>
                <a:latin typeface="Calibri" pitchFamily="34" charset="0"/>
                <a:ea typeface="Calibri" pitchFamily="34" charset="-122"/>
                <a:cs typeface="Calibri" pitchFamily="34" charset="-120"/>
              </a:rPr>
              <a:t>Two wood villagers build 2 Archery Ranges. Start archers immediately.</a:t>
            </a:r>
            <a:endParaRPr lang="en-US" sz="2000" dirty="0"/>
          </a:p>
        </p:txBody>
      </p:sp>
      <p:sp>
        <p:nvSpPr>
          <p:cNvPr id="11" name="Shape 7"/>
          <p:cNvSpPr/>
          <p:nvPr/>
        </p:nvSpPr>
        <p:spPr>
          <a:xfrm>
            <a:off x="594360" y="2624328"/>
            <a:ext cx="502920" cy="502920"/>
          </a:xfrm>
          <a:prstGeom prst="ellipse">
            <a:avLst/>
          </a:prstGeom>
          <a:solidFill>
            <a:srgbClr val="D8A73D"/>
          </a:solidFill>
          <a:ln w="12700">
            <a:solidFill>
              <a:srgbClr val="D8A73D"/>
            </a:solidFill>
            <a:prstDash val="solid"/>
          </a:ln>
        </p:spPr>
      </p:sp>
      <p:sp>
        <p:nvSpPr>
          <p:cNvPr id="12" name="Text 8"/>
          <p:cNvSpPr/>
          <p:nvPr/>
        </p:nvSpPr>
        <p:spPr>
          <a:xfrm>
            <a:off x="594360" y="2624328"/>
            <a:ext cx="502920" cy="502920"/>
          </a:xfrm>
          <a:prstGeom prst="rect">
            <a:avLst/>
          </a:prstGeom>
          <a:noFill/>
          <a:ln/>
        </p:spPr>
        <p:txBody>
          <a:bodyPr wrap="square"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3" name="Text 9"/>
          <p:cNvSpPr/>
          <p:nvPr/>
        </p:nvSpPr>
        <p:spPr>
          <a:xfrm>
            <a:off x="1325880" y="2514600"/>
            <a:ext cx="2743200" cy="731520"/>
          </a:xfrm>
          <a:prstGeom prst="rect">
            <a:avLst/>
          </a:prstGeom>
          <a:noFill/>
          <a:ln/>
        </p:spPr>
        <p:txBody>
          <a:bodyPr wrap="square" rtlCol="0" anchor="ctr"/>
          <a:lstStyle/>
          <a:p>
            <a:pPr indent="0" marL="0">
              <a:buNone/>
            </a:pPr>
            <a:r>
              <a:rPr lang="en-US" sz="1400" b="1" spc="100" kern="0" dirty="0">
                <a:solidFill>
                  <a:srgbClr val="8A8A94"/>
                </a:solidFill>
                <a:latin typeface="Calibri" pitchFamily="34" charset="0"/>
                <a:ea typeface="Calibri" pitchFamily="34" charset="-122"/>
                <a:cs typeface="Calibri" pitchFamily="34" charset="-120"/>
              </a:rPr>
              <a:t>THEN</a:t>
            </a:r>
            <a:endParaRPr lang="en-US" sz="1400" dirty="0"/>
          </a:p>
        </p:txBody>
      </p:sp>
      <p:sp>
        <p:nvSpPr>
          <p:cNvPr id="14" name="Text 10"/>
          <p:cNvSpPr/>
          <p:nvPr/>
        </p:nvSpPr>
        <p:spPr>
          <a:xfrm>
            <a:off x="3931920" y="2514600"/>
            <a:ext cx="7680960" cy="731520"/>
          </a:xfrm>
          <a:prstGeom prst="rect">
            <a:avLst/>
          </a:prstGeom>
          <a:noFill/>
          <a:ln/>
        </p:spPr>
        <p:txBody>
          <a:bodyPr wrap="square" rtlCol="0" anchor="ctr"/>
          <a:lstStyle/>
          <a:p>
            <a:pPr indent="0" marL="0">
              <a:buNone/>
            </a:pPr>
            <a:r>
              <a:rPr lang="en-US" sz="2000" dirty="0">
                <a:solidFill>
                  <a:srgbClr val="1E1E24"/>
                </a:solidFill>
                <a:latin typeface="Calibri" pitchFamily="34" charset="0"/>
                <a:ea typeface="Calibri" pitchFamily="34" charset="-122"/>
                <a:cs typeface="Calibri" pitchFamily="34" charset="-120"/>
              </a:rPr>
              <a:t>Double-Bit Axe at the lumber camp. Fletching at the Blacksmith.</a:t>
            </a:r>
            <a:endParaRPr lang="en-US" sz="2000" dirty="0"/>
          </a:p>
        </p:txBody>
      </p:sp>
      <p:sp>
        <p:nvSpPr>
          <p:cNvPr id="15" name="Shape 11"/>
          <p:cNvSpPr/>
          <p:nvPr/>
        </p:nvSpPr>
        <p:spPr>
          <a:xfrm>
            <a:off x="594360" y="3538728"/>
            <a:ext cx="502920" cy="502920"/>
          </a:xfrm>
          <a:prstGeom prst="ellipse">
            <a:avLst/>
          </a:prstGeom>
          <a:solidFill>
            <a:srgbClr val="D8A73D"/>
          </a:solidFill>
          <a:ln w="12700">
            <a:solidFill>
              <a:srgbClr val="D8A73D"/>
            </a:solidFill>
            <a:prstDash val="solid"/>
          </a:ln>
        </p:spPr>
      </p:sp>
      <p:sp>
        <p:nvSpPr>
          <p:cNvPr id="16" name="Text 12"/>
          <p:cNvSpPr/>
          <p:nvPr/>
        </p:nvSpPr>
        <p:spPr>
          <a:xfrm>
            <a:off x="594360" y="3538728"/>
            <a:ext cx="502920" cy="502920"/>
          </a:xfrm>
          <a:prstGeom prst="rect">
            <a:avLst/>
          </a:prstGeom>
          <a:noFill/>
          <a:ln/>
        </p:spPr>
        <p:txBody>
          <a:bodyPr wrap="square"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3</a:t>
            </a:r>
            <a:endParaRPr lang="en-US" sz="2000" dirty="0"/>
          </a:p>
        </p:txBody>
      </p:sp>
      <p:sp>
        <p:nvSpPr>
          <p:cNvPr id="17" name="Text 13"/>
          <p:cNvSpPr/>
          <p:nvPr/>
        </p:nvSpPr>
        <p:spPr>
          <a:xfrm>
            <a:off x="1325880" y="3429000"/>
            <a:ext cx="2743200" cy="731520"/>
          </a:xfrm>
          <a:prstGeom prst="rect">
            <a:avLst/>
          </a:prstGeom>
          <a:noFill/>
          <a:ln/>
        </p:spPr>
        <p:txBody>
          <a:bodyPr wrap="square" rtlCol="0" anchor="ctr"/>
          <a:lstStyle/>
          <a:p>
            <a:pPr indent="0" marL="0">
              <a:buNone/>
            </a:pPr>
            <a:r>
              <a:rPr lang="en-US" sz="1400" b="1" spc="100" kern="0" dirty="0">
                <a:solidFill>
                  <a:srgbClr val="8A8A94"/>
                </a:solidFill>
                <a:latin typeface="Calibri" pitchFamily="34" charset="0"/>
                <a:ea typeface="Calibri" pitchFamily="34" charset="-122"/>
                <a:cs typeface="Calibri" pitchFamily="34" charset="-120"/>
              </a:rPr>
              <a:t>ALWAYS</a:t>
            </a:r>
            <a:endParaRPr lang="en-US" sz="1400" dirty="0"/>
          </a:p>
        </p:txBody>
      </p:sp>
      <p:sp>
        <p:nvSpPr>
          <p:cNvPr id="18" name="Text 14"/>
          <p:cNvSpPr/>
          <p:nvPr/>
        </p:nvSpPr>
        <p:spPr>
          <a:xfrm>
            <a:off x="3931920" y="3429000"/>
            <a:ext cx="7680960" cy="731520"/>
          </a:xfrm>
          <a:prstGeom prst="rect">
            <a:avLst/>
          </a:prstGeom>
          <a:noFill/>
          <a:ln/>
        </p:spPr>
        <p:txBody>
          <a:bodyPr wrap="square" rtlCol="0" anchor="ctr"/>
          <a:lstStyle/>
          <a:p>
            <a:pPr indent="0" marL="0">
              <a:buNone/>
            </a:pPr>
            <a:r>
              <a:rPr lang="en-US" sz="2000" dirty="0">
                <a:solidFill>
                  <a:srgbClr val="1E1E24"/>
                </a:solidFill>
                <a:latin typeface="Calibri" pitchFamily="34" charset="0"/>
                <a:ea typeface="Calibri" pitchFamily="34" charset="-122"/>
                <a:cs typeface="Calibri" pitchFamily="34" charset="-120"/>
              </a:rPr>
              <a:t>Villagers from the TC. Every. Single. 25 seconds.</a:t>
            </a:r>
            <a:endParaRPr lang="en-US" sz="2000" dirty="0"/>
          </a:p>
        </p:txBody>
      </p:sp>
      <p:sp>
        <p:nvSpPr>
          <p:cNvPr id="19" name="Shape 15"/>
          <p:cNvSpPr/>
          <p:nvPr/>
        </p:nvSpPr>
        <p:spPr>
          <a:xfrm>
            <a:off x="594360" y="4453128"/>
            <a:ext cx="502920" cy="502920"/>
          </a:xfrm>
          <a:prstGeom prst="ellipse">
            <a:avLst/>
          </a:prstGeom>
          <a:solidFill>
            <a:srgbClr val="D8A73D"/>
          </a:solidFill>
          <a:ln w="12700">
            <a:solidFill>
              <a:srgbClr val="D8A73D"/>
            </a:solidFill>
            <a:prstDash val="solid"/>
          </a:ln>
        </p:spPr>
      </p:sp>
      <p:sp>
        <p:nvSpPr>
          <p:cNvPr id="20" name="Text 16"/>
          <p:cNvSpPr/>
          <p:nvPr/>
        </p:nvSpPr>
        <p:spPr>
          <a:xfrm>
            <a:off x="594360" y="4453128"/>
            <a:ext cx="502920" cy="502920"/>
          </a:xfrm>
          <a:prstGeom prst="rect">
            <a:avLst/>
          </a:prstGeom>
          <a:noFill/>
          <a:ln/>
        </p:spPr>
        <p:txBody>
          <a:bodyPr wrap="square"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4</a:t>
            </a:r>
            <a:endParaRPr lang="en-US" sz="2000" dirty="0"/>
          </a:p>
        </p:txBody>
      </p:sp>
      <p:sp>
        <p:nvSpPr>
          <p:cNvPr id="21" name="Text 17"/>
          <p:cNvSpPr/>
          <p:nvPr/>
        </p:nvSpPr>
        <p:spPr>
          <a:xfrm>
            <a:off x="1325880" y="4343400"/>
            <a:ext cx="2743200" cy="731520"/>
          </a:xfrm>
          <a:prstGeom prst="rect">
            <a:avLst/>
          </a:prstGeom>
          <a:noFill/>
          <a:ln/>
        </p:spPr>
        <p:txBody>
          <a:bodyPr wrap="square" rtlCol="0" anchor="ctr"/>
          <a:lstStyle/>
          <a:p>
            <a:pPr indent="0" marL="0">
              <a:buNone/>
            </a:pPr>
            <a:r>
              <a:rPr lang="en-US" sz="1400" b="1" spc="100" kern="0" dirty="0">
                <a:solidFill>
                  <a:srgbClr val="8A8A94"/>
                </a:solidFill>
                <a:latin typeface="Calibri" pitchFamily="34" charset="0"/>
                <a:ea typeface="Calibri" pitchFamily="34" charset="-122"/>
                <a:cs typeface="Calibri" pitchFamily="34" charset="-120"/>
              </a:rPr>
              <a:t>AS FOOD RUNS OUT</a:t>
            </a:r>
            <a:endParaRPr lang="en-US" sz="1400" dirty="0"/>
          </a:p>
        </p:txBody>
      </p:sp>
      <p:sp>
        <p:nvSpPr>
          <p:cNvPr id="22" name="Text 18"/>
          <p:cNvSpPr/>
          <p:nvPr/>
        </p:nvSpPr>
        <p:spPr>
          <a:xfrm>
            <a:off x="3931920" y="4343400"/>
            <a:ext cx="7680960" cy="731520"/>
          </a:xfrm>
          <a:prstGeom prst="rect">
            <a:avLst/>
          </a:prstGeom>
          <a:noFill/>
          <a:ln/>
        </p:spPr>
        <p:txBody>
          <a:bodyPr wrap="square" rtlCol="0" anchor="ctr"/>
          <a:lstStyle/>
          <a:p>
            <a:pPr indent="0" marL="0">
              <a:buNone/>
            </a:pPr>
            <a:r>
              <a:rPr lang="en-US" sz="2000" dirty="0">
                <a:solidFill>
                  <a:srgbClr val="1E1E24"/>
                </a:solidFill>
                <a:latin typeface="Calibri" pitchFamily="34" charset="0"/>
                <a:ea typeface="Calibri" pitchFamily="34" charset="-122"/>
                <a:cs typeface="Calibri" pitchFamily="34" charset="-120"/>
              </a:rPr>
              <a:t>Reseed food onto farms (60 wood each). Aim for 8–10 farms by Castle click.</a:t>
            </a:r>
            <a:endParaRPr lang="en-US" sz="2000" dirty="0"/>
          </a:p>
        </p:txBody>
      </p:sp>
      <p:sp>
        <p:nvSpPr>
          <p:cNvPr id="23" name="Shape 19"/>
          <p:cNvSpPr/>
          <p:nvPr/>
        </p:nvSpPr>
        <p:spPr>
          <a:xfrm>
            <a:off x="594360" y="5367528"/>
            <a:ext cx="502920" cy="502920"/>
          </a:xfrm>
          <a:prstGeom prst="ellipse">
            <a:avLst/>
          </a:prstGeom>
          <a:solidFill>
            <a:srgbClr val="D8A73D"/>
          </a:solidFill>
          <a:ln w="12700">
            <a:solidFill>
              <a:srgbClr val="D8A73D"/>
            </a:solidFill>
            <a:prstDash val="solid"/>
          </a:ln>
        </p:spPr>
      </p:sp>
      <p:sp>
        <p:nvSpPr>
          <p:cNvPr id="24" name="Text 20"/>
          <p:cNvSpPr/>
          <p:nvPr/>
        </p:nvSpPr>
        <p:spPr>
          <a:xfrm>
            <a:off x="594360" y="5367528"/>
            <a:ext cx="502920" cy="502920"/>
          </a:xfrm>
          <a:prstGeom prst="rect">
            <a:avLst/>
          </a:prstGeom>
          <a:noFill/>
          <a:ln/>
        </p:spPr>
        <p:txBody>
          <a:bodyPr wrap="square"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5</a:t>
            </a:r>
            <a:endParaRPr lang="en-US" sz="2000" dirty="0"/>
          </a:p>
        </p:txBody>
      </p:sp>
      <p:sp>
        <p:nvSpPr>
          <p:cNvPr id="25" name="Text 21"/>
          <p:cNvSpPr/>
          <p:nvPr/>
        </p:nvSpPr>
        <p:spPr>
          <a:xfrm>
            <a:off x="1325880" y="5257800"/>
            <a:ext cx="2743200" cy="731520"/>
          </a:xfrm>
          <a:prstGeom prst="rect">
            <a:avLst/>
          </a:prstGeom>
          <a:noFill/>
          <a:ln/>
        </p:spPr>
        <p:txBody>
          <a:bodyPr wrap="square" rtlCol="0" anchor="ctr"/>
          <a:lstStyle/>
          <a:p>
            <a:pPr indent="0" marL="0">
              <a:buNone/>
            </a:pPr>
            <a:r>
              <a:rPr lang="en-US" sz="1400" b="1" spc="100" kern="0" dirty="0">
                <a:solidFill>
                  <a:srgbClr val="8A8A94"/>
                </a:solidFill>
                <a:latin typeface="Calibri" pitchFamily="34" charset="0"/>
                <a:ea typeface="Calibri" pitchFamily="34" charset="-122"/>
                <a:cs typeface="Calibri" pitchFamily="34" charset="-120"/>
              </a:rPr>
              <a:t>~25 VILLAGERS</a:t>
            </a:r>
            <a:endParaRPr lang="en-US" sz="1400" dirty="0"/>
          </a:p>
        </p:txBody>
      </p:sp>
      <p:sp>
        <p:nvSpPr>
          <p:cNvPr id="26" name="Text 22"/>
          <p:cNvSpPr/>
          <p:nvPr/>
        </p:nvSpPr>
        <p:spPr>
          <a:xfrm>
            <a:off x="3931920" y="5257800"/>
            <a:ext cx="7680960" cy="731520"/>
          </a:xfrm>
          <a:prstGeom prst="rect">
            <a:avLst/>
          </a:prstGeom>
          <a:noFill/>
          <a:ln/>
        </p:spPr>
        <p:txBody>
          <a:bodyPr wrap="square" rtlCol="0" anchor="ctr"/>
          <a:lstStyle/>
          <a:p>
            <a:pPr indent="0" marL="0">
              <a:buNone/>
            </a:pPr>
            <a:r>
              <a:rPr lang="en-US" sz="2000" dirty="0">
                <a:solidFill>
                  <a:srgbClr val="1E1E24"/>
                </a:solidFill>
                <a:latin typeface="Calibri" pitchFamily="34" charset="0"/>
                <a:ea typeface="Calibri" pitchFamily="34" charset="-122"/>
                <a:cs typeface="Calibri" pitchFamily="34" charset="-120"/>
              </a:rPr>
              <a:t>Wheelbarrow + Horse Collar. Add miners up to 6–8 on gold.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 — THE GOLDEN RULE</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F5F5F3"/>
                </a:solidFill>
                <a:latin typeface="Cambria" pitchFamily="34" charset="0"/>
                <a:ea typeface="Cambria" pitchFamily="34" charset="-122"/>
                <a:cs typeface="Cambria" pitchFamily="34" charset="-120"/>
              </a:rPr>
              <a:t>The Town Centre never stops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Text 3"/>
          <p:cNvSpPr/>
          <p:nvPr/>
        </p:nvSpPr>
        <p:spPr>
          <a:xfrm>
            <a:off x="548640" y="1828800"/>
            <a:ext cx="3474720" cy="1097280"/>
          </a:xfrm>
          <a:prstGeom prst="rect">
            <a:avLst/>
          </a:prstGeom>
          <a:noFill/>
          <a:ln/>
        </p:spPr>
        <p:txBody>
          <a:bodyPr wrap="square" rtlCol="0" anchor="ctr"/>
          <a:lstStyle/>
          <a:p>
            <a:pPr algn="ctr" indent="0" marL="0">
              <a:buNone/>
            </a:pPr>
            <a:r>
              <a:rPr lang="en-US" sz="6000" b="1" dirty="0">
                <a:solidFill>
                  <a:srgbClr val="D8A73D"/>
                </a:solidFill>
                <a:latin typeface="Cambria" pitchFamily="34" charset="0"/>
                <a:ea typeface="Cambria" pitchFamily="34" charset="-122"/>
                <a:cs typeface="Cambria" pitchFamily="34" charset="-120"/>
              </a:rPr>
              <a:t>60 s</a:t>
            </a:r>
            <a:endParaRPr lang="en-US" sz="6000" dirty="0"/>
          </a:p>
        </p:txBody>
      </p:sp>
      <p:sp>
        <p:nvSpPr>
          <p:cNvPr id="8" name="Text 4"/>
          <p:cNvSpPr/>
          <p:nvPr/>
        </p:nvSpPr>
        <p:spPr>
          <a:xfrm>
            <a:off x="548640" y="2926080"/>
            <a:ext cx="3474720" cy="822960"/>
          </a:xfrm>
          <a:prstGeom prst="rect">
            <a:avLst/>
          </a:prstGeom>
          <a:noFill/>
          <a:ln/>
        </p:spPr>
        <p:txBody>
          <a:bodyPr wrap="square" rtlCol="0" anchor="t"/>
          <a:lstStyle/>
          <a:p>
            <a:pPr algn="ctr" indent="0" marL="0">
              <a:buNone/>
            </a:pPr>
            <a:r>
              <a:rPr lang="en-US" sz="1900" dirty="0">
                <a:solidFill>
                  <a:srgbClr val="C8C8CC"/>
                </a:solidFill>
                <a:latin typeface="Calibri" pitchFamily="34" charset="0"/>
                <a:ea typeface="Calibri" pitchFamily="34" charset="-122"/>
                <a:cs typeface="Calibri" pitchFamily="34" charset="-120"/>
              </a:rPr>
              <a:t>of idle Town Centre</a:t>
            </a:r>
            <a:endParaRPr lang="en-US" sz="1900" dirty="0"/>
          </a:p>
        </p:txBody>
      </p:sp>
      <p:sp>
        <p:nvSpPr>
          <p:cNvPr id="9" name="Text 5"/>
          <p:cNvSpPr/>
          <p:nvPr/>
        </p:nvSpPr>
        <p:spPr>
          <a:xfrm>
            <a:off x="3931920" y="1828800"/>
            <a:ext cx="548640" cy="1097280"/>
          </a:xfrm>
          <a:prstGeom prst="rect">
            <a:avLst/>
          </a:prstGeom>
          <a:noFill/>
          <a:ln/>
        </p:spPr>
        <p:txBody>
          <a:bodyPr wrap="square" rtlCol="0" anchor="ctr"/>
          <a:lstStyle/>
          <a:p>
            <a:pPr algn="ctr" indent="0" marL="0">
              <a:buNone/>
            </a:pPr>
            <a:r>
              <a:rPr lang="en-US" sz="5000" dirty="0">
                <a:solidFill>
                  <a:srgbClr val="8A8A94"/>
                </a:solidFill>
                <a:latin typeface="Cambria" pitchFamily="34" charset="0"/>
                <a:ea typeface="Cambria" pitchFamily="34" charset="-122"/>
                <a:cs typeface="Cambria" pitchFamily="34" charset="-120"/>
              </a:rPr>
              <a:t>=</a:t>
            </a:r>
            <a:endParaRPr lang="en-US" sz="5000" dirty="0"/>
          </a:p>
        </p:txBody>
      </p:sp>
      <p:sp>
        <p:nvSpPr>
          <p:cNvPr id="10" name="Text 6"/>
          <p:cNvSpPr/>
          <p:nvPr/>
        </p:nvSpPr>
        <p:spPr>
          <a:xfrm>
            <a:off x="4389120" y="1828800"/>
            <a:ext cx="3474720" cy="1097280"/>
          </a:xfrm>
          <a:prstGeom prst="rect">
            <a:avLst/>
          </a:prstGeom>
          <a:noFill/>
          <a:ln/>
        </p:spPr>
        <p:txBody>
          <a:bodyPr wrap="square" rtlCol="0" anchor="ctr"/>
          <a:lstStyle/>
          <a:p>
            <a:pPr algn="ctr" indent="0" marL="0">
              <a:buNone/>
            </a:pPr>
            <a:r>
              <a:rPr lang="en-US" sz="6000" b="1" dirty="0">
                <a:solidFill>
                  <a:srgbClr val="D8A73D"/>
                </a:solidFill>
                <a:latin typeface="Cambria" pitchFamily="34" charset="0"/>
                <a:ea typeface="Cambria" pitchFamily="34" charset="-122"/>
                <a:cs typeface="Cambria" pitchFamily="34" charset="-120"/>
              </a:rPr>
              <a:t>2.4</a:t>
            </a:r>
            <a:endParaRPr lang="en-US" sz="6000" dirty="0"/>
          </a:p>
        </p:txBody>
      </p:sp>
      <p:sp>
        <p:nvSpPr>
          <p:cNvPr id="11" name="Text 7"/>
          <p:cNvSpPr/>
          <p:nvPr/>
        </p:nvSpPr>
        <p:spPr>
          <a:xfrm>
            <a:off x="4389120" y="2926080"/>
            <a:ext cx="3474720" cy="822960"/>
          </a:xfrm>
          <a:prstGeom prst="rect">
            <a:avLst/>
          </a:prstGeom>
          <a:noFill/>
          <a:ln/>
        </p:spPr>
        <p:txBody>
          <a:bodyPr wrap="square" rtlCol="0" anchor="t"/>
          <a:lstStyle/>
          <a:p>
            <a:pPr algn="ctr" indent="0" marL="0">
              <a:buNone/>
            </a:pPr>
            <a:r>
              <a:rPr lang="en-US" sz="1900" dirty="0">
                <a:solidFill>
                  <a:srgbClr val="C8C8CC"/>
                </a:solidFill>
                <a:latin typeface="Calibri" pitchFamily="34" charset="0"/>
                <a:ea typeface="Calibri" pitchFamily="34" charset="-122"/>
                <a:cs typeface="Calibri" pitchFamily="34" charset="-120"/>
              </a:rPr>
              <a:t>villagers who never existed</a:t>
            </a:r>
            <a:endParaRPr lang="en-US" sz="1900" dirty="0"/>
          </a:p>
        </p:txBody>
      </p:sp>
      <p:sp>
        <p:nvSpPr>
          <p:cNvPr id="12" name="Text 8"/>
          <p:cNvSpPr/>
          <p:nvPr/>
        </p:nvSpPr>
        <p:spPr>
          <a:xfrm>
            <a:off x="7772400" y="1828800"/>
            <a:ext cx="548640" cy="1097280"/>
          </a:xfrm>
          <a:prstGeom prst="rect">
            <a:avLst/>
          </a:prstGeom>
          <a:noFill/>
          <a:ln/>
        </p:spPr>
        <p:txBody>
          <a:bodyPr wrap="square" rtlCol="0" anchor="ctr"/>
          <a:lstStyle/>
          <a:p>
            <a:pPr algn="ctr" indent="0" marL="0">
              <a:buNone/>
            </a:pPr>
            <a:r>
              <a:rPr lang="en-US" sz="5000" dirty="0">
                <a:solidFill>
                  <a:srgbClr val="8A8A94"/>
                </a:solidFill>
                <a:latin typeface="Cambria" pitchFamily="34" charset="0"/>
                <a:ea typeface="Cambria" pitchFamily="34" charset="-122"/>
                <a:cs typeface="Cambria" pitchFamily="34" charset="-120"/>
              </a:rPr>
              <a:t>=</a:t>
            </a:r>
            <a:endParaRPr lang="en-US" sz="5000" dirty="0"/>
          </a:p>
        </p:txBody>
      </p:sp>
      <p:sp>
        <p:nvSpPr>
          <p:cNvPr id="13" name="Text 9"/>
          <p:cNvSpPr/>
          <p:nvPr/>
        </p:nvSpPr>
        <p:spPr>
          <a:xfrm>
            <a:off x="8229600" y="1828800"/>
            <a:ext cx="3474720" cy="1097280"/>
          </a:xfrm>
          <a:prstGeom prst="rect">
            <a:avLst/>
          </a:prstGeom>
          <a:noFill/>
          <a:ln/>
        </p:spPr>
        <p:txBody>
          <a:bodyPr wrap="square" rtlCol="0" anchor="ctr"/>
          <a:lstStyle/>
          <a:p>
            <a:pPr algn="ctr" indent="0" marL="0">
              <a:buNone/>
            </a:pPr>
            <a:r>
              <a:rPr lang="en-US" sz="6000" b="1" dirty="0">
                <a:solidFill>
                  <a:srgbClr val="D8A73D"/>
                </a:solidFill>
                <a:latin typeface="Cambria" pitchFamily="34" charset="0"/>
                <a:ea typeface="Cambria" pitchFamily="34" charset="-122"/>
                <a:cs typeface="Cambria" pitchFamily="34" charset="-120"/>
              </a:rPr>
              <a:t>~750</a:t>
            </a:r>
            <a:endParaRPr lang="en-US" sz="6000" dirty="0"/>
          </a:p>
        </p:txBody>
      </p:sp>
      <p:sp>
        <p:nvSpPr>
          <p:cNvPr id="14" name="Text 10"/>
          <p:cNvSpPr/>
          <p:nvPr/>
        </p:nvSpPr>
        <p:spPr>
          <a:xfrm>
            <a:off x="8229600" y="2926080"/>
            <a:ext cx="3474720" cy="822960"/>
          </a:xfrm>
          <a:prstGeom prst="rect">
            <a:avLst/>
          </a:prstGeom>
          <a:noFill/>
          <a:ln/>
        </p:spPr>
        <p:txBody>
          <a:bodyPr wrap="square" rtlCol="0" anchor="t"/>
          <a:lstStyle/>
          <a:p>
            <a:pPr algn="ctr" indent="0" marL="0">
              <a:buNone/>
            </a:pPr>
            <a:r>
              <a:rPr lang="en-US" sz="1900" dirty="0">
                <a:solidFill>
                  <a:srgbClr val="C8C8CC"/>
                </a:solidFill>
                <a:latin typeface="Calibri" pitchFamily="34" charset="0"/>
                <a:ea typeface="Calibri" pitchFamily="34" charset="-122"/>
                <a:cs typeface="Calibri" pitchFamily="34" charset="-120"/>
              </a:rPr>
              <a:t>resources over the next 15 minutes</a:t>
            </a:r>
            <a:endParaRPr lang="en-US" sz="1900" dirty="0"/>
          </a:p>
        </p:txBody>
      </p:sp>
      <p:sp>
        <p:nvSpPr>
          <p:cNvPr id="15" name="Shape 11"/>
          <p:cNvSpPr/>
          <p:nvPr/>
        </p:nvSpPr>
        <p:spPr>
          <a:xfrm>
            <a:off x="548640" y="4297680"/>
            <a:ext cx="11064240" cy="1463040"/>
          </a:xfrm>
          <a:prstGeom prst="rect">
            <a:avLst/>
          </a:prstGeom>
          <a:solidFill>
            <a:srgbClr val="2A2A33"/>
          </a:solidFill>
          <a:ln w="12700">
            <a:solidFill>
              <a:srgbClr val="3A3A44"/>
            </a:solidFill>
            <a:prstDash val="solid"/>
          </a:ln>
        </p:spPr>
      </p:sp>
      <p:sp>
        <p:nvSpPr>
          <p:cNvPr id="16" name="Shape 12"/>
          <p:cNvSpPr/>
          <p:nvPr/>
        </p:nvSpPr>
        <p:spPr>
          <a:xfrm>
            <a:off x="548640" y="4297680"/>
            <a:ext cx="91440" cy="1463040"/>
          </a:xfrm>
          <a:prstGeom prst="rect">
            <a:avLst/>
          </a:prstGeom>
          <a:solidFill>
            <a:srgbClr val="D8A73D"/>
          </a:solidFill>
          <a:ln w="12700">
            <a:solidFill>
              <a:srgbClr val="D8A73D"/>
            </a:solidFill>
            <a:prstDash val="solid"/>
          </a:ln>
        </p:spPr>
      </p:sp>
      <p:sp>
        <p:nvSpPr>
          <p:cNvPr id="17" name="Text 13"/>
          <p:cNvSpPr/>
          <p:nvPr/>
        </p:nvSpPr>
        <p:spPr>
          <a:xfrm>
            <a:off x="914400" y="4434840"/>
            <a:ext cx="10515600" cy="1188720"/>
          </a:xfrm>
          <a:prstGeom prst="rect">
            <a:avLst/>
          </a:prstGeom>
          <a:noFill/>
          <a:ln/>
        </p:spPr>
        <p:txBody>
          <a:bodyPr wrap="square" rtlCol="0" anchor="ctr"/>
          <a:lstStyle/>
          <a:p>
            <a:pPr indent="0" marL="0">
              <a:buNone/>
            </a:pPr>
            <a:r>
              <a:rPr lang="en-US" sz="2300" b="1" dirty="0">
                <a:solidFill>
                  <a:srgbClr val="D8A73D"/>
                </a:solidFill>
                <a:latin typeface="Calibri" pitchFamily="34" charset="0"/>
                <a:ea typeface="Calibri" pitchFamily="34" charset="-122"/>
                <a:cs typeface="Calibri" pitchFamily="34" charset="-120"/>
              </a:rPr>
              <a:t>TURN &amp; TALK  </a:t>
            </a:r>
            <a:pPr indent="0" marL="0">
              <a:buNone/>
            </a:pPr>
            <a:r>
              <a:rPr lang="en-US" sz="2300" dirty="0">
                <a:solidFill>
                  <a:srgbClr val="F5F5F3"/>
                </a:solidFill>
                <a:latin typeface="Calibri" pitchFamily="34" charset="0"/>
                <a:ea typeface="Calibri" pitchFamily="34" charset="-122"/>
                <a:cs typeface="Calibri" pitchFamily="34" charset="-120"/>
              </a:rPr>
              <a:t>When you are busy controlling archers, what is your Town Centre doing? Be honest.</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The Five Idle Sins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45920"/>
            <a:ext cx="3520440" cy="2103120"/>
          </a:xfrm>
          <a:prstGeom prst="rect">
            <a:avLst/>
          </a:prstGeom>
          <a:solidFill>
            <a:srgbClr val="FFFFFF"/>
          </a:solidFill>
          <a:ln w="12700">
            <a:solidFill>
              <a:srgbClr val="D9D4C7"/>
            </a:solidFill>
            <a:prstDash val="solid"/>
          </a:ln>
        </p:spPr>
      </p:sp>
      <p:sp>
        <p:nvSpPr>
          <p:cNvPr id="8" name="Shape 4"/>
          <p:cNvSpPr/>
          <p:nvPr/>
        </p:nvSpPr>
        <p:spPr>
          <a:xfrm>
            <a:off x="548640" y="1645920"/>
            <a:ext cx="91440" cy="2103120"/>
          </a:xfrm>
          <a:prstGeom prst="rect">
            <a:avLst/>
          </a:prstGeom>
          <a:solidFill>
            <a:srgbClr val="B23A3A"/>
          </a:solidFill>
          <a:ln w="12700">
            <a:solidFill>
              <a:srgbClr val="B23A3A"/>
            </a:solidFill>
            <a:prstDash val="solid"/>
          </a:ln>
        </p:spPr>
      </p:sp>
      <p:sp>
        <p:nvSpPr>
          <p:cNvPr id="9" name="Text 5"/>
          <p:cNvSpPr/>
          <p:nvPr/>
        </p:nvSpPr>
        <p:spPr>
          <a:xfrm>
            <a:off x="822960" y="1828800"/>
            <a:ext cx="3108960" cy="548640"/>
          </a:xfrm>
          <a:prstGeom prst="rect">
            <a:avLst/>
          </a:prstGeom>
          <a:noFill/>
          <a:ln/>
        </p:spPr>
        <p:txBody>
          <a:bodyPr wrap="square" rtlCol="0" anchor="ctr"/>
          <a:lstStyle/>
          <a:p>
            <a:pPr indent="0" marL="0">
              <a:buNone/>
            </a:pPr>
            <a:r>
              <a:rPr lang="en-US" sz="2400" b="1" dirty="0">
                <a:solidFill>
                  <a:srgbClr val="B23A3A"/>
                </a:solidFill>
                <a:latin typeface="Cambria" pitchFamily="34" charset="0"/>
                <a:ea typeface="Cambria" pitchFamily="34" charset="-122"/>
                <a:cs typeface="Cambria" pitchFamily="34" charset="-120"/>
              </a:rPr>
              <a:t>1. Idle TC</a:t>
            </a:r>
            <a:endParaRPr lang="en-US" sz="2400" dirty="0"/>
          </a:p>
        </p:txBody>
      </p:sp>
      <p:sp>
        <p:nvSpPr>
          <p:cNvPr id="10" name="Text 6"/>
          <p:cNvSpPr/>
          <p:nvPr/>
        </p:nvSpPr>
        <p:spPr>
          <a:xfrm>
            <a:off x="822960" y="2423160"/>
            <a:ext cx="3108960" cy="1188720"/>
          </a:xfrm>
          <a:prstGeom prst="rect">
            <a:avLst/>
          </a:prstGeom>
          <a:noFill/>
          <a:ln/>
        </p:spPr>
        <p:txBody>
          <a:bodyPr wrap="square" rtlCol="0" anchor="t"/>
          <a:lstStyle/>
          <a:p>
            <a:pPr indent="0" marL="0">
              <a:buNone/>
            </a:pPr>
            <a:r>
              <a:rPr lang="en-US" sz="1900" dirty="0">
                <a:solidFill>
                  <a:srgbClr val="1E1E24"/>
                </a:solidFill>
                <a:latin typeface="Calibri" pitchFamily="34" charset="0"/>
                <a:ea typeface="Calibri" pitchFamily="34" charset="-122"/>
                <a:cs typeface="Calibri" pitchFamily="34" charset="-120"/>
              </a:rPr>
              <a:t>No villager queued. The worst one.</a:t>
            </a:r>
            <a:endParaRPr lang="en-US" sz="1900" dirty="0"/>
          </a:p>
        </p:txBody>
      </p:sp>
      <p:sp>
        <p:nvSpPr>
          <p:cNvPr id="11" name="Shape 7"/>
          <p:cNvSpPr/>
          <p:nvPr/>
        </p:nvSpPr>
        <p:spPr>
          <a:xfrm>
            <a:off x="4270248" y="1645920"/>
            <a:ext cx="3520440" cy="2103120"/>
          </a:xfrm>
          <a:prstGeom prst="rect">
            <a:avLst/>
          </a:prstGeom>
          <a:solidFill>
            <a:srgbClr val="FFFFFF"/>
          </a:solidFill>
          <a:ln w="12700">
            <a:solidFill>
              <a:srgbClr val="D9D4C7"/>
            </a:solidFill>
            <a:prstDash val="solid"/>
          </a:ln>
        </p:spPr>
      </p:sp>
      <p:sp>
        <p:nvSpPr>
          <p:cNvPr id="12" name="Shape 8"/>
          <p:cNvSpPr/>
          <p:nvPr/>
        </p:nvSpPr>
        <p:spPr>
          <a:xfrm>
            <a:off x="4270248" y="1645920"/>
            <a:ext cx="91440" cy="2103120"/>
          </a:xfrm>
          <a:prstGeom prst="rect">
            <a:avLst/>
          </a:prstGeom>
          <a:solidFill>
            <a:srgbClr val="B23A3A"/>
          </a:solidFill>
          <a:ln w="12700">
            <a:solidFill>
              <a:srgbClr val="B23A3A"/>
            </a:solidFill>
            <a:prstDash val="solid"/>
          </a:ln>
        </p:spPr>
      </p:sp>
      <p:sp>
        <p:nvSpPr>
          <p:cNvPr id="13" name="Text 9"/>
          <p:cNvSpPr/>
          <p:nvPr/>
        </p:nvSpPr>
        <p:spPr>
          <a:xfrm>
            <a:off x="4544568" y="1828800"/>
            <a:ext cx="3108960" cy="548640"/>
          </a:xfrm>
          <a:prstGeom prst="rect">
            <a:avLst/>
          </a:prstGeom>
          <a:noFill/>
          <a:ln/>
        </p:spPr>
        <p:txBody>
          <a:bodyPr wrap="square" rtlCol="0" anchor="ctr"/>
          <a:lstStyle/>
          <a:p>
            <a:pPr indent="0" marL="0">
              <a:buNone/>
            </a:pPr>
            <a:r>
              <a:rPr lang="en-US" sz="2400" b="1" dirty="0">
                <a:solidFill>
                  <a:srgbClr val="B23A3A"/>
                </a:solidFill>
                <a:latin typeface="Cambria" pitchFamily="34" charset="0"/>
                <a:ea typeface="Cambria" pitchFamily="34" charset="-122"/>
                <a:cs typeface="Cambria" pitchFamily="34" charset="-120"/>
              </a:rPr>
              <a:t>2. Housed</a:t>
            </a:r>
            <a:endParaRPr lang="en-US" sz="2400" dirty="0"/>
          </a:p>
        </p:txBody>
      </p:sp>
      <p:sp>
        <p:nvSpPr>
          <p:cNvPr id="14" name="Text 10"/>
          <p:cNvSpPr/>
          <p:nvPr/>
        </p:nvSpPr>
        <p:spPr>
          <a:xfrm>
            <a:off x="4544568" y="2423160"/>
            <a:ext cx="3108960" cy="1188720"/>
          </a:xfrm>
          <a:prstGeom prst="rect">
            <a:avLst/>
          </a:prstGeom>
          <a:noFill/>
          <a:ln/>
        </p:spPr>
        <p:txBody>
          <a:bodyPr wrap="square" rtlCol="0" anchor="t"/>
          <a:lstStyle/>
          <a:p>
            <a:pPr indent="0" marL="0">
              <a:buNone/>
            </a:pPr>
            <a:r>
              <a:rPr lang="en-US" sz="1900" dirty="0">
                <a:solidFill>
                  <a:srgbClr val="1E1E24"/>
                </a:solidFill>
                <a:latin typeface="Calibri" pitchFamily="34" charset="0"/>
                <a:ea typeface="Calibri" pitchFamily="34" charset="-122"/>
                <a:cs typeface="Calibri" pitchFamily="34" charset="-120"/>
              </a:rPr>
              <a:t>Population cap reached. Build houses before you need them.</a:t>
            </a:r>
            <a:endParaRPr lang="en-US" sz="1900" dirty="0"/>
          </a:p>
        </p:txBody>
      </p:sp>
      <p:sp>
        <p:nvSpPr>
          <p:cNvPr id="15" name="Shape 11"/>
          <p:cNvSpPr/>
          <p:nvPr/>
        </p:nvSpPr>
        <p:spPr>
          <a:xfrm>
            <a:off x="7991856" y="1645920"/>
            <a:ext cx="3520440" cy="2103120"/>
          </a:xfrm>
          <a:prstGeom prst="rect">
            <a:avLst/>
          </a:prstGeom>
          <a:solidFill>
            <a:srgbClr val="FFFFFF"/>
          </a:solidFill>
          <a:ln w="12700">
            <a:solidFill>
              <a:srgbClr val="D9D4C7"/>
            </a:solidFill>
            <a:prstDash val="solid"/>
          </a:ln>
        </p:spPr>
      </p:sp>
      <p:sp>
        <p:nvSpPr>
          <p:cNvPr id="16" name="Shape 12"/>
          <p:cNvSpPr/>
          <p:nvPr/>
        </p:nvSpPr>
        <p:spPr>
          <a:xfrm>
            <a:off x="7991856" y="1645920"/>
            <a:ext cx="91440" cy="2103120"/>
          </a:xfrm>
          <a:prstGeom prst="rect">
            <a:avLst/>
          </a:prstGeom>
          <a:solidFill>
            <a:srgbClr val="C9822B"/>
          </a:solidFill>
          <a:ln w="12700">
            <a:solidFill>
              <a:srgbClr val="C9822B"/>
            </a:solidFill>
            <a:prstDash val="solid"/>
          </a:ln>
        </p:spPr>
      </p:sp>
      <p:sp>
        <p:nvSpPr>
          <p:cNvPr id="17" name="Text 13"/>
          <p:cNvSpPr/>
          <p:nvPr/>
        </p:nvSpPr>
        <p:spPr>
          <a:xfrm>
            <a:off x="8266176" y="1828800"/>
            <a:ext cx="3108960" cy="548640"/>
          </a:xfrm>
          <a:prstGeom prst="rect">
            <a:avLst/>
          </a:prstGeom>
          <a:noFill/>
          <a:ln/>
        </p:spPr>
        <p:txBody>
          <a:bodyPr wrap="square" rtlCol="0" anchor="ctr"/>
          <a:lstStyle/>
          <a:p>
            <a:pPr indent="0" marL="0">
              <a:buNone/>
            </a:pPr>
            <a:r>
              <a:rPr lang="en-US" sz="2400" b="1" dirty="0">
                <a:solidFill>
                  <a:srgbClr val="C9822B"/>
                </a:solidFill>
                <a:latin typeface="Cambria" pitchFamily="34" charset="0"/>
                <a:ea typeface="Cambria" pitchFamily="34" charset="-122"/>
                <a:cs typeface="Cambria" pitchFamily="34" charset="-120"/>
              </a:rPr>
              <a:t>3. Idle villagers</a:t>
            </a:r>
            <a:endParaRPr lang="en-US" sz="2400" dirty="0"/>
          </a:p>
        </p:txBody>
      </p:sp>
      <p:sp>
        <p:nvSpPr>
          <p:cNvPr id="18" name="Text 14"/>
          <p:cNvSpPr/>
          <p:nvPr/>
        </p:nvSpPr>
        <p:spPr>
          <a:xfrm>
            <a:off x="8266176" y="2423160"/>
            <a:ext cx="3108960" cy="1188720"/>
          </a:xfrm>
          <a:prstGeom prst="rect">
            <a:avLst/>
          </a:prstGeom>
          <a:noFill/>
          <a:ln/>
        </p:spPr>
        <p:txBody>
          <a:bodyPr wrap="square" rtlCol="0" anchor="t"/>
          <a:lstStyle/>
          <a:p>
            <a:pPr indent="0" marL="0">
              <a:buNone/>
            </a:pPr>
            <a:r>
              <a:rPr lang="en-US" sz="1900" dirty="0">
                <a:solidFill>
                  <a:srgbClr val="1E1E24"/>
                </a:solidFill>
                <a:latin typeface="Calibri" pitchFamily="34" charset="0"/>
                <a:ea typeface="Calibri" pitchFamily="34" charset="-122"/>
                <a:cs typeface="Calibri" pitchFamily="34" charset="-120"/>
              </a:rPr>
              <a:t>Berries ran out, nobody noticed.</a:t>
            </a:r>
            <a:endParaRPr lang="en-US" sz="1900" dirty="0"/>
          </a:p>
        </p:txBody>
      </p:sp>
      <p:sp>
        <p:nvSpPr>
          <p:cNvPr id="19" name="Shape 15"/>
          <p:cNvSpPr/>
          <p:nvPr/>
        </p:nvSpPr>
        <p:spPr>
          <a:xfrm>
            <a:off x="548640" y="3977640"/>
            <a:ext cx="3520440" cy="2103120"/>
          </a:xfrm>
          <a:prstGeom prst="rect">
            <a:avLst/>
          </a:prstGeom>
          <a:solidFill>
            <a:srgbClr val="FFFFFF"/>
          </a:solidFill>
          <a:ln w="12700">
            <a:solidFill>
              <a:srgbClr val="D9D4C7"/>
            </a:solidFill>
            <a:prstDash val="solid"/>
          </a:ln>
        </p:spPr>
      </p:sp>
      <p:sp>
        <p:nvSpPr>
          <p:cNvPr id="20" name="Shape 16"/>
          <p:cNvSpPr/>
          <p:nvPr/>
        </p:nvSpPr>
        <p:spPr>
          <a:xfrm>
            <a:off x="548640" y="3977640"/>
            <a:ext cx="91440" cy="2103120"/>
          </a:xfrm>
          <a:prstGeom prst="rect">
            <a:avLst/>
          </a:prstGeom>
          <a:solidFill>
            <a:srgbClr val="C9822B"/>
          </a:solidFill>
          <a:ln w="12700">
            <a:solidFill>
              <a:srgbClr val="C9822B"/>
            </a:solidFill>
            <a:prstDash val="solid"/>
          </a:ln>
        </p:spPr>
      </p:sp>
      <p:sp>
        <p:nvSpPr>
          <p:cNvPr id="21" name="Text 17"/>
          <p:cNvSpPr/>
          <p:nvPr/>
        </p:nvSpPr>
        <p:spPr>
          <a:xfrm>
            <a:off x="822960" y="4160520"/>
            <a:ext cx="3108960" cy="548640"/>
          </a:xfrm>
          <a:prstGeom prst="rect">
            <a:avLst/>
          </a:prstGeom>
          <a:noFill/>
          <a:ln/>
        </p:spPr>
        <p:txBody>
          <a:bodyPr wrap="square" rtlCol="0" anchor="ctr"/>
          <a:lstStyle/>
          <a:p>
            <a:pPr indent="0" marL="0">
              <a:buNone/>
            </a:pPr>
            <a:r>
              <a:rPr lang="en-US" sz="2400" b="1" dirty="0">
                <a:solidFill>
                  <a:srgbClr val="C9822B"/>
                </a:solidFill>
                <a:latin typeface="Cambria" pitchFamily="34" charset="0"/>
                <a:ea typeface="Cambria" pitchFamily="34" charset="-122"/>
                <a:cs typeface="Cambria" pitchFamily="34" charset="-120"/>
              </a:rPr>
              <a:t>4. No farms</a:t>
            </a:r>
            <a:endParaRPr lang="en-US" sz="2400" dirty="0"/>
          </a:p>
        </p:txBody>
      </p:sp>
      <p:sp>
        <p:nvSpPr>
          <p:cNvPr id="22" name="Text 18"/>
          <p:cNvSpPr/>
          <p:nvPr/>
        </p:nvSpPr>
        <p:spPr>
          <a:xfrm>
            <a:off x="822960" y="4754880"/>
            <a:ext cx="3108960" cy="1188720"/>
          </a:xfrm>
          <a:prstGeom prst="rect">
            <a:avLst/>
          </a:prstGeom>
          <a:noFill/>
          <a:ln/>
        </p:spPr>
        <p:txBody>
          <a:bodyPr wrap="square" rtlCol="0" anchor="t"/>
          <a:lstStyle/>
          <a:p>
            <a:pPr indent="0" marL="0">
              <a:buNone/>
            </a:pPr>
            <a:r>
              <a:rPr lang="en-US" sz="1900" dirty="0">
                <a:solidFill>
                  <a:srgbClr val="1E1E24"/>
                </a:solidFill>
                <a:latin typeface="Calibri" pitchFamily="34" charset="0"/>
                <a:ea typeface="Calibri" pitchFamily="34" charset="-122"/>
                <a:cs typeface="Calibri" pitchFamily="34" charset="-120"/>
              </a:rPr>
              <a:t>Natural food is gone and you have 2 farms.</a:t>
            </a:r>
            <a:endParaRPr lang="en-US" sz="1900" dirty="0"/>
          </a:p>
        </p:txBody>
      </p:sp>
      <p:sp>
        <p:nvSpPr>
          <p:cNvPr id="23" name="Shape 19"/>
          <p:cNvSpPr/>
          <p:nvPr/>
        </p:nvSpPr>
        <p:spPr>
          <a:xfrm>
            <a:off x="4270248" y="3977640"/>
            <a:ext cx="3520440" cy="2103120"/>
          </a:xfrm>
          <a:prstGeom prst="rect">
            <a:avLst/>
          </a:prstGeom>
          <a:solidFill>
            <a:srgbClr val="FFFFFF"/>
          </a:solidFill>
          <a:ln w="12700">
            <a:solidFill>
              <a:srgbClr val="D9D4C7"/>
            </a:solidFill>
            <a:prstDash val="solid"/>
          </a:ln>
        </p:spPr>
      </p:sp>
      <p:sp>
        <p:nvSpPr>
          <p:cNvPr id="24" name="Shape 20"/>
          <p:cNvSpPr/>
          <p:nvPr/>
        </p:nvSpPr>
        <p:spPr>
          <a:xfrm>
            <a:off x="4270248" y="3977640"/>
            <a:ext cx="91440" cy="2103120"/>
          </a:xfrm>
          <a:prstGeom prst="rect">
            <a:avLst/>
          </a:prstGeom>
          <a:solidFill>
            <a:srgbClr val="D8A73D"/>
          </a:solidFill>
          <a:ln w="12700">
            <a:solidFill>
              <a:srgbClr val="D8A73D"/>
            </a:solidFill>
            <a:prstDash val="solid"/>
          </a:ln>
        </p:spPr>
      </p:sp>
      <p:sp>
        <p:nvSpPr>
          <p:cNvPr id="25" name="Text 21"/>
          <p:cNvSpPr/>
          <p:nvPr/>
        </p:nvSpPr>
        <p:spPr>
          <a:xfrm>
            <a:off x="4544568" y="4160520"/>
            <a:ext cx="3108960" cy="548640"/>
          </a:xfrm>
          <a:prstGeom prst="rect">
            <a:avLst/>
          </a:prstGeom>
          <a:noFill/>
          <a:ln/>
        </p:spPr>
        <p:txBody>
          <a:bodyPr wrap="square" rtlCol="0" anchor="ctr"/>
          <a:lstStyle/>
          <a:p>
            <a:pPr indent="0" marL="0">
              <a:buNone/>
            </a:pPr>
            <a:r>
              <a:rPr lang="en-US" sz="2400" b="1" dirty="0">
                <a:solidFill>
                  <a:srgbClr val="D8A73D"/>
                </a:solidFill>
                <a:latin typeface="Cambria" pitchFamily="34" charset="0"/>
                <a:ea typeface="Cambria" pitchFamily="34" charset="-122"/>
                <a:cs typeface="Cambria" pitchFamily="34" charset="-120"/>
              </a:rPr>
              <a:t>5. Skipped upgrades</a:t>
            </a:r>
            <a:endParaRPr lang="en-US" sz="2400" dirty="0"/>
          </a:p>
        </p:txBody>
      </p:sp>
      <p:sp>
        <p:nvSpPr>
          <p:cNvPr id="26" name="Text 22"/>
          <p:cNvSpPr/>
          <p:nvPr/>
        </p:nvSpPr>
        <p:spPr>
          <a:xfrm>
            <a:off x="4544568" y="4754880"/>
            <a:ext cx="3108960" cy="1188720"/>
          </a:xfrm>
          <a:prstGeom prst="rect">
            <a:avLst/>
          </a:prstGeom>
          <a:noFill/>
          <a:ln/>
        </p:spPr>
        <p:txBody>
          <a:bodyPr wrap="square" rtlCol="0" anchor="t"/>
          <a:lstStyle/>
          <a:p>
            <a:pPr indent="0" marL="0">
              <a:buNone/>
            </a:pPr>
            <a:r>
              <a:rPr lang="en-US" sz="1900" dirty="0">
                <a:solidFill>
                  <a:srgbClr val="1E1E24"/>
                </a:solidFill>
                <a:latin typeface="Calibri" pitchFamily="34" charset="0"/>
                <a:ea typeface="Calibri" pitchFamily="34" charset="-122"/>
                <a:cs typeface="Calibri" pitchFamily="34" charset="-120"/>
              </a:rPr>
              <a:t>No Double-Bit, Wheelbarrow or Horse Collar.</a:t>
            </a:r>
            <a:endParaRPr lang="en-US" sz="1900" dirty="0"/>
          </a:p>
        </p:txBody>
      </p:sp>
      <p:sp>
        <p:nvSpPr>
          <p:cNvPr id="27" name="Shape 23"/>
          <p:cNvSpPr/>
          <p:nvPr/>
        </p:nvSpPr>
        <p:spPr>
          <a:xfrm>
            <a:off x="7991856" y="3977640"/>
            <a:ext cx="3520440" cy="2103120"/>
          </a:xfrm>
          <a:prstGeom prst="rect">
            <a:avLst/>
          </a:prstGeom>
          <a:solidFill>
            <a:srgbClr val="1E1E24"/>
          </a:solidFill>
          <a:ln w="12700">
            <a:solidFill>
              <a:srgbClr val="1E1E24"/>
            </a:solidFill>
            <a:prstDash val="solid"/>
          </a:ln>
        </p:spPr>
      </p:sp>
      <p:sp>
        <p:nvSpPr>
          <p:cNvPr id="28" name="Text 24"/>
          <p:cNvSpPr/>
          <p:nvPr/>
        </p:nvSpPr>
        <p:spPr>
          <a:xfrm>
            <a:off x="8229600" y="4114800"/>
            <a:ext cx="3108960" cy="1828800"/>
          </a:xfrm>
          <a:prstGeom prst="rect">
            <a:avLst/>
          </a:prstGeom>
          <a:noFill/>
          <a:ln/>
        </p:spPr>
        <p:txBody>
          <a:bodyPr wrap="square" rtlCol="0" anchor="ctr"/>
          <a:lstStyle/>
          <a:p>
            <a:pPr indent="0" marL="0">
              <a:buNone/>
            </a:pPr>
            <a:r>
              <a:rPr lang="en-US" sz="2000" i="1" dirty="0">
                <a:solidFill>
                  <a:srgbClr val="D8A73D"/>
                </a:solidFill>
                <a:latin typeface="Calibri" pitchFamily="34" charset="0"/>
                <a:ea typeface="Calibri" pitchFamily="34" charset="-122"/>
                <a:cs typeface="Calibri" pitchFamily="34" charset="-120"/>
              </a:rPr>
              <a:t>Bonus sin: building a 4th archery range on 22 villagers.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 — CASTLE AGE</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Where does the gold go?</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Text 3"/>
          <p:cNvSpPr/>
          <p:nvPr/>
        </p:nvSpPr>
        <p:spPr>
          <a:xfrm>
            <a:off x="548640" y="1737360"/>
            <a:ext cx="3017520" cy="548640"/>
          </a:xfrm>
          <a:prstGeom prst="rect">
            <a:avLst/>
          </a:prstGeom>
          <a:noFill/>
          <a:ln/>
        </p:spPr>
        <p:txBody>
          <a:bodyPr wrap="square" rtlCol="0" anchor="ctr"/>
          <a:lstStyle/>
          <a:p>
            <a:pPr algn="r" indent="0" marL="0">
              <a:buNone/>
            </a:pPr>
            <a:r>
              <a:rPr lang="en-US" sz="1900" dirty="0">
                <a:solidFill>
                  <a:srgbClr val="1E1E24"/>
                </a:solidFill>
                <a:latin typeface="Calibri" pitchFamily="34" charset="0"/>
                <a:ea typeface="Calibri" pitchFamily="34" charset="-122"/>
                <a:cs typeface="Calibri" pitchFamily="34" charset="-120"/>
              </a:rPr>
              <a:t>Castle Age</a:t>
            </a:r>
            <a:endParaRPr lang="en-US" sz="1900" dirty="0"/>
          </a:p>
        </p:txBody>
      </p:sp>
      <p:sp>
        <p:nvSpPr>
          <p:cNvPr id="8" name="Shape 4"/>
          <p:cNvSpPr/>
          <p:nvPr/>
        </p:nvSpPr>
        <p:spPr>
          <a:xfrm>
            <a:off x="3657600" y="1810512"/>
            <a:ext cx="4389120" cy="411480"/>
          </a:xfrm>
          <a:prstGeom prst="rect">
            <a:avLst/>
          </a:prstGeom>
          <a:solidFill>
            <a:srgbClr val="C0392B"/>
          </a:solidFill>
          <a:ln w="12700">
            <a:solidFill>
              <a:srgbClr val="C0392B"/>
            </a:solidFill>
            <a:prstDash val="solid"/>
          </a:ln>
        </p:spPr>
      </p:sp>
      <p:sp>
        <p:nvSpPr>
          <p:cNvPr id="9" name="Text 5"/>
          <p:cNvSpPr/>
          <p:nvPr/>
        </p:nvSpPr>
        <p:spPr>
          <a:xfrm>
            <a:off x="3657600" y="1810512"/>
            <a:ext cx="43891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800</a:t>
            </a:r>
            <a:endParaRPr lang="en-US" sz="1400" dirty="0"/>
          </a:p>
        </p:txBody>
      </p:sp>
      <p:sp>
        <p:nvSpPr>
          <p:cNvPr id="10" name="Shape 6"/>
          <p:cNvSpPr/>
          <p:nvPr/>
        </p:nvSpPr>
        <p:spPr>
          <a:xfrm>
            <a:off x="8046720" y="1810512"/>
            <a:ext cx="1097280" cy="411480"/>
          </a:xfrm>
          <a:prstGeom prst="rect">
            <a:avLst/>
          </a:prstGeom>
          <a:solidFill>
            <a:srgbClr val="D8A73D"/>
          </a:solidFill>
          <a:ln w="12700">
            <a:solidFill>
              <a:srgbClr val="D8A73D"/>
            </a:solidFill>
            <a:prstDash val="solid"/>
          </a:ln>
        </p:spPr>
      </p:sp>
      <p:sp>
        <p:nvSpPr>
          <p:cNvPr id="11" name="Text 7"/>
          <p:cNvSpPr/>
          <p:nvPr/>
        </p:nvSpPr>
        <p:spPr>
          <a:xfrm>
            <a:off x="8046720" y="1810512"/>
            <a:ext cx="10972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200</a:t>
            </a:r>
            <a:endParaRPr lang="en-US" sz="1400" dirty="0"/>
          </a:p>
        </p:txBody>
      </p:sp>
      <p:sp>
        <p:nvSpPr>
          <p:cNvPr id="12" name="Text 8"/>
          <p:cNvSpPr/>
          <p:nvPr/>
        </p:nvSpPr>
        <p:spPr>
          <a:xfrm>
            <a:off x="548640" y="2606040"/>
            <a:ext cx="3017520" cy="548640"/>
          </a:xfrm>
          <a:prstGeom prst="rect">
            <a:avLst/>
          </a:prstGeom>
          <a:noFill/>
          <a:ln/>
        </p:spPr>
        <p:txBody>
          <a:bodyPr wrap="square" rtlCol="0" anchor="ctr"/>
          <a:lstStyle/>
          <a:p>
            <a:pPr algn="r" indent="0" marL="0">
              <a:buNone/>
            </a:pPr>
            <a:r>
              <a:rPr lang="en-US" sz="1900" dirty="0">
                <a:solidFill>
                  <a:srgbClr val="1E1E24"/>
                </a:solidFill>
                <a:latin typeface="Calibri" pitchFamily="34" charset="0"/>
                <a:ea typeface="Calibri" pitchFamily="34" charset="-122"/>
                <a:cs typeface="Calibri" pitchFamily="34" charset="-120"/>
              </a:rPr>
              <a:t>Crossbowman upgrade</a:t>
            </a:r>
            <a:endParaRPr lang="en-US" sz="1900" dirty="0"/>
          </a:p>
        </p:txBody>
      </p:sp>
      <p:sp>
        <p:nvSpPr>
          <p:cNvPr id="13" name="Shape 9"/>
          <p:cNvSpPr/>
          <p:nvPr/>
        </p:nvSpPr>
        <p:spPr>
          <a:xfrm>
            <a:off x="3657600" y="2679192"/>
            <a:ext cx="685800" cy="411480"/>
          </a:xfrm>
          <a:prstGeom prst="rect">
            <a:avLst/>
          </a:prstGeom>
          <a:solidFill>
            <a:srgbClr val="C0392B"/>
          </a:solidFill>
          <a:ln w="12700">
            <a:solidFill>
              <a:srgbClr val="C0392B"/>
            </a:solidFill>
            <a:prstDash val="solid"/>
          </a:ln>
        </p:spPr>
      </p:sp>
      <p:sp>
        <p:nvSpPr>
          <p:cNvPr id="14" name="Text 10"/>
          <p:cNvSpPr/>
          <p:nvPr/>
        </p:nvSpPr>
        <p:spPr>
          <a:xfrm>
            <a:off x="3657600" y="2679192"/>
            <a:ext cx="68580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125</a:t>
            </a:r>
            <a:endParaRPr lang="en-US" sz="1400" dirty="0"/>
          </a:p>
        </p:txBody>
      </p:sp>
      <p:sp>
        <p:nvSpPr>
          <p:cNvPr id="15" name="Shape 11"/>
          <p:cNvSpPr/>
          <p:nvPr/>
        </p:nvSpPr>
        <p:spPr>
          <a:xfrm>
            <a:off x="4343400" y="2679192"/>
            <a:ext cx="411480" cy="411480"/>
          </a:xfrm>
          <a:prstGeom prst="rect">
            <a:avLst/>
          </a:prstGeom>
          <a:solidFill>
            <a:srgbClr val="D8A73D"/>
          </a:solidFill>
          <a:ln w="12700">
            <a:solidFill>
              <a:srgbClr val="D8A73D"/>
            </a:solidFill>
            <a:prstDash val="solid"/>
          </a:ln>
        </p:spPr>
      </p:sp>
      <p:sp>
        <p:nvSpPr>
          <p:cNvPr id="16" name="Text 12"/>
          <p:cNvSpPr/>
          <p:nvPr/>
        </p:nvSpPr>
        <p:spPr>
          <a:xfrm>
            <a:off x="548640" y="3474720"/>
            <a:ext cx="3017520" cy="548640"/>
          </a:xfrm>
          <a:prstGeom prst="rect">
            <a:avLst/>
          </a:prstGeom>
          <a:noFill/>
          <a:ln/>
        </p:spPr>
        <p:txBody>
          <a:bodyPr wrap="square" rtlCol="0" anchor="ctr"/>
          <a:lstStyle/>
          <a:p>
            <a:pPr algn="r" indent="0" marL="0">
              <a:buNone/>
            </a:pPr>
            <a:r>
              <a:rPr lang="en-US" sz="1900" dirty="0">
                <a:solidFill>
                  <a:srgbClr val="1E1E24"/>
                </a:solidFill>
                <a:latin typeface="Calibri" pitchFamily="34" charset="0"/>
                <a:ea typeface="Calibri" pitchFamily="34" charset="-122"/>
                <a:cs typeface="Calibri" pitchFamily="34" charset="-120"/>
              </a:rPr>
              <a:t>10 archers</a:t>
            </a:r>
            <a:endParaRPr lang="en-US" sz="1900" dirty="0"/>
          </a:p>
        </p:txBody>
      </p:sp>
      <p:sp>
        <p:nvSpPr>
          <p:cNvPr id="17" name="Shape 13"/>
          <p:cNvSpPr/>
          <p:nvPr/>
        </p:nvSpPr>
        <p:spPr>
          <a:xfrm>
            <a:off x="3657600" y="3547872"/>
            <a:ext cx="1371600" cy="411480"/>
          </a:xfrm>
          <a:prstGeom prst="rect">
            <a:avLst/>
          </a:prstGeom>
          <a:solidFill>
            <a:srgbClr val="8B5A2B"/>
          </a:solidFill>
          <a:ln w="12700">
            <a:solidFill>
              <a:srgbClr val="8B5A2B"/>
            </a:solidFill>
            <a:prstDash val="solid"/>
          </a:ln>
        </p:spPr>
      </p:sp>
      <p:sp>
        <p:nvSpPr>
          <p:cNvPr id="18" name="Text 14"/>
          <p:cNvSpPr/>
          <p:nvPr/>
        </p:nvSpPr>
        <p:spPr>
          <a:xfrm>
            <a:off x="3657600" y="3547872"/>
            <a:ext cx="137160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250</a:t>
            </a:r>
            <a:endParaRPr lang="en-US" sz="1400" dirty="0"/>
          </a:p>
        </p:txBody>
      </p:sp>
      <p:sp>
        <p:nvSpPr>
          <p:cNvPr id="19" name="Shape 15"/>
          <p:cNvSpPr/>
          <p:nvPr/>
        </p:nvSpPr>
        <p:spPr>
          <a:xfrm>
            <a:off x="5029200" y="3547872"/>
            <a:ext cx="2468880" cy="411480"/>
          </a:xfrm>
          <a:prstGeom prst="rect">
            <a:avLst/>
          </a:prstGeom>
          <a:solidFill>
            <a:srgbClr val="D8A73D"/>
          </a:solidFill>
          <a:ln w="12700">
            <a:solidFill>
              <a:srgbClr val="D8A73D"/>
            </a:solidFill>
            <a:prstDash val="solid"/>
          </a:ln>
        </p:spPr>
      </p:sp>
      <p:sp>
        <p:nvSpPr>
          <p:cNvPr id="20" name="Text 16"/>
          <p:cNvSpPr/>
          <p:nvPr/>
        </p:nvSpPr>
        <p:spPr>
          <a:xfrm>
            <a:off x="5029200" y="3547872"/>
            <a:ext cx="24688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450</a:t>
            </a:r>
            <a:endParaRPr lang="en-US" sz="1400" dirty="0"/>
          </a:p>
        </p:txBody>
      </p:sp>
      <p:sp>
        <p:nvSpPr>
          <p:cNvPr id="21" name="Text 17"/>
          <p:cNvSpPr/>
          <p:nvPr/>
        </p:nvSpPr>
        <p:spPr>
          <a:xfrm>
            <a:off x="548640" y="4343400"/>
            <a:ext cx="3017520" cy="548640"/>
          </a:xfrm>
          <a:prstGeom prst="rect">
            <a:avLst/>
          </a:prstGeom>
          <a:noFill/>
          <a:ln/>
        </p:spPr>
        <p:txBody>
          <a:bodyPr wrap="square" rtlCol="0" anchor="ctr"/>
          <a:lstStyle/>
          <a:p>
            <a:pPr algn="r" indent="0" marL="0">
              <a:buNone/>
            </a:pPr>
            <a:r>
              <a:rPr lang="en-US" sz="1900" dirty="0">
                <a:solidFill>
                  <a:srgbClr val="1E1E24"/>
                </a:solidFill>
                <a:latin typeface="Calibri" pitchFamily="34" charset="0"/>
                <a:ea typeface="Calibri" pitchFamily="34" charset="-122"/>
                <a:cs typeface="Calibri" pitchFamily="34" charset="-120"/>
              </a:rPr>
              <a:t>8 farms</a:t>
            </a:r>
            <a:endParaRPr lang="en-US" sz="1900" dirty="0"/>
          </a:p>
        </p:txBody>
      </p:sp>
      <p:sp>
        <p:nvSpPr>
          <p:cNvPr id="22" name="Shape 18"/>
          <p:cNvSpPr/>
          <p:nvPr/>
        </p:nvSpPr>
        <p:spPr>
          <a:xfrm>
            <a:off x="3657600" y="4416552"/>
            <a:ext cx="2633472" cy="411480"/>
          </a:xfrm>
          <a:prstGeom prst="rect">
            <a:avLst/>
          </a:prstGeom>
          <a:solidFill>
            <a:srgbClr val="8B5A2B"/>
          </a:solidFill>
          <a:ln w="12700">
            <a:solidFill>
              <a:srgbClr val="8B5A2B"/>
            </a:solidFill>
            <a:prstDash val="solid"/>
          </a:ln>
        </p:spPr>
      </p:sp>
      <p:sp>
        <p:nvSpPr>
          <p:cNvPr id="23" name="Text 19"/>
          <p:cNvSpPr/>
          <p:nvPr/>
        </p:nvSpPr>
        <p:spPr>
          <a:xfrm>
            <a:off x="3657600" y="4416552"/>
            <a:ext cx="2633472"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480</a:t>
            </a:r>
            <a:endParaRPr lang="en-US" sz="1400" dirty="0"/>
          </a:p>
        </p:txBody>
      </p:sp>
      <p:sp>
        <p:nvSpPr>
          <p:cNvPr id="24" name="Shape 20"/>
          <p:cNvSpPr/>
          <p:nvPr/>
        </p:nvSpPr>
        <p:spPr>
          <a:xfrm>
            <a:off x="3657600" y="5349240"/>
            <a:ext cx="274320" cy="274320"/>
          </a:xfrm>
          <a:prstGeom prst="rect">
            <a:avLst/>
          </a:prstGeom>
          <a:solidFill>
            <a:srgbClr val="C0392B"/>
          </a:solidFill>
          <a:ln w="12700">
            <a:solidFill>
              <a:srgbClr val="C0392B"/>
            </a:solidFill>
            <a:prstDash val="solid"/>
          </a:ln>
        </p:spPr>
      </p:sp>
      <p:sp>
        <p:nvSpPr>
          <p:cNvPr id="25" name="Text 21"/>
          <p:cNvSpPr/>
          <p:nvPr/>
        </p:nvSpPr>
        <p:spPr>
          <a:xfrm>
            <a:off x="4023360" y="5257800"/>
            <a:ext cx="1005840" cy="457200"/>
          </a:xfrm>
          <a:prstGeom prst="rect">
            <a:avLst/>
          </a:prstGeom>
          <a:noFill/>
          <a:ln/>
        </p:spPr>
        <p:txBody>
          <a:bodyPr wrap="square" rtlCol="0" anchor="ctr"/>
          <a:lstStyle/>
          <a:p>
            <a:pPr indent="0" marL="0">
              <a:buNone/>
            </a:pPr>
            <a:r>
              <a:rPr lang="en-US" sz="1600" dirty="0">
                <a:solidFill>
                  <a:srgbClr val="1E1E24"/>
                </a:solidFill>
                <a:latin typeface="Calibri" pitchFamily="34" charset="0"/>
                <a:ea typeface="Calibri" pitchFamily="34" charset="-122"/>
                <a:cs typeface="Calibri" pitchFamily="34" charset="-120"/>
              </a:rPr>
              <a:t>Food</a:t>
            </a:r>
            <a:endParaRPr lang="en-US" sz="1600" dirty="0"/>
          </a:p>
        </p:txBody>
      </p:sp>
      <p:sp>
        <p:nvSpPr>
          <p:cNvPr id="26" name="Shape 22"/>
          <p:cNvSpPr/>
          <p:nvPr/>
        </p:nvSpPr>
        <p:spPr>
          <a:xfrm>
            <a:off x="5120640" y="5349240"/>
            <a:ext cx="274320" cy="274320"/>
          </a:xfrm>
          <a:prstGeom prst="rect">
            <a:avLst/>
          </a:prstGeom>
          <a:solidFill>
            <a:srgbClr val="8B5A2B"/>
          </a:solidFill>
          <a:ln w="12700">
            <a:solidFill>
              <a:srgbClr val="8B5A2B"/>
            </a:solidFill>
            <a:prstDash val="solid"/>
          </a:ln>
        </p:spPr>
      </p:sp>
      <p:sp>
        <p:nvSpPr>
          <p:cNvPr id="27" name="Text 23"/>
          <p:cNvSpPr/>
          <p:nvPr/>
        </p:nvSpPr>
        <p:spPr>
          <a:xfrm>
            <a:off x="5486400" y="5257800"/>
            <a:ext cx="1005840" cy="457200"/>
          </a:xfrm>
          <a:prstGeom prst="rect">
            <a:avLst/>
          </a:prstGeom>
          <a:noFill/>
          <a:ln/>
        </p:spPr>
        <p:txBody>
          <a:bodyPr wrap="square" rtlCol="0" anchor="ctr"/>
          <a:lstStyle/>
          <a:p>
            <a:pPr indent="0" marL="0">
              <a:buNone/>
            </a:pPr>
            <a:r>
              <a:rPr lang="en-US" sz="1600" dirty="0">
                <a:solidFill>
                  <a:srgbClr val="1E1E24"/>
                </a:solidFill>
                <a:latin typeface="Calibri" pitchFamily="34" charset="0"/>
                <a:ea typeface="Calibri" pitchFamily="34" charset="-122"/>
                <a:cs typeface="Calibri" pitchFamily="34" charset="-120"/>
              </a:rPr>
              <a:t>Wood</a:t>
            </a:r>
            <a:endParaRPr lang="en-US" sz="1600" dirty="0"/>
          </a:p>
        </p:txBody>
      </p:sp>
      <p:sp>
        <p:nvSpPr>
          <p:cNvPr id="28" name="Shape 24"/>
          <p:cNvSpPr/>
          <p:nvPr/>
        </p:nvSpPr>
        <p:spPr>
          <a:xfrm>
            <a:off x="6583680" y="5349240"/>
            <a:ext cx="274320" cy="274320"/>
          </a:xfrm>
          <a:prstGeom prst="rect">
            <a:avLst/>
          </a:prstGeom>
          <a:solidFill>
            <a:srgbClr val="D8A73D"/>
          </a:solidFill>
          <a:ln w="12700">
            <a:solidFill>
              <a:srgbClr val="D8A73D"/>
            </a:solidFill>
            <a:prstDash val="solid"/>
          </a:ln>
        </p:spPr>
      </p:sp>
      <p:sp>
        <p:nvSpPr>
          <p:cNvPr id="29" name="Text 25"/>
          <p:cNvSpPr/>
          <p:nvPr/>
        </p:nvSpPr>
        <p:spPr>
          <a:xfrm>
            <a:off x="6949440" y="5257800"/>
            <a:ext cx="1005840" cy="457200"/>
          </a:xfrm>
          <a:prstGeom prst="rect">
            <a:avLst/>
          </a:prstGeom>
          <a:noFill/>
          <a:ln/>
        </p:spPr>
        <p:txBody>
          <a:bodyPr wrap="square" rtlCol="0" anchor="ctr"/>
          <a:lstStyle/>
          <a:p>
            <a:pPr indent="0" marL="0">
              <a:buNone/>
            </a:pPr>
            <a:r>
              <a:rPr lang="en-US" sz="1600" dirty="0">
                <a:solidFill>
                  <a:srgbClr val="1E1E24"/>
                </a:solidFill>
                <a:latin typeface="Calibri" pitchFamily="34" charset="0"/>
                <a:ea typeface="Calibri" pitchFamily="34" charset="-122"/>
                <a:cs typeface="Calibri" pitchFamily="34" charset="-120"/>
              </a:rPr>
              <a:t>Gold</a:t>
            </a:r>
            <a:endParaRPr lang="en-US" sz="1600" dirty="0"/>
          </a:p>
        </p:txBody>
      </p:sp>
      <p:sp>
        <p:nvSpPr>
          <p:cNvPr id="30" name="Shape 26"/>
          <p:cNvSpPr/>
          <p:nvPr/>
        </p:nvSpPr>
        <p:spPr>
          <a:xfrm>
            <a:off x="9418320" y="1737360"/>
            <a:ext cx="2194560" cy="3383280"/>
          </a:xfrm>
          <a:prstGeom prst="rect">
            <a:avLst/>
          </a:prstGeom>
          <a:solidFill>
            <a:srgbClr val="1E1E24"/>
          </a:solidFill>
          <a:ln w="12700">
            <a:solidFill>
              <a:srgbClr val="1E1E24"/>
            </a:solidFill>
            <a:prstDash val="solid"/>
          </a:ln>
        </p:spPr>
      </p:sp>
      <p:sp>
        <p:nvSpPr>
          <p:cNvPr id="31" name="Text 27"/>
          <p:cNvSpPr/>
          <p:nvPr/>
        </p:nvSpPr>
        <p:spPr>
          <a:xfrm>
            <a:off x="9555480" y="1828800"/>
            <a:ext cx="1920240" cy="3200400"/>
          </a:xfrm>
          <a:prstGeom prst="rect">
            <a:avLst/>
          </a:prstGeom>
          <a:noFill/>
          <a:ln/>
        </p:spPr>
        <p:txBody>
          <a:bodyPr wrap="square" rtlCol="0" anchor="t"/>
          <a:lstStyle/>
          <a:p>
            <a:pPr indent="0" marL="0">
              <a:buNone/>
            </a:pPr>
            <a:r>
              <a:rPr lang="en-US" sz="1800" b="1" dirty="0">
                <a:solidFill>
                  <a:srgbClr val="D8A73D"/>
                </a:solidFill>
                <a:latin typeface="Calibri" pitchFamily="34" charset="0"/>
                <a:ea typeface="Calibri" pitchFamily="34" charset="-122"/>
                <a:cs typeface="Calibri" pitchFamily="34" charset="-120"/>
              </a:rPr>
              <a:t>Rule of thumb</a:t>
            </a:r>
            <a:endParaRPr lang="en-US" sz="1800" dirty="0"/>
          </a:p>
          <a:p>
            <a:pPr indent="0" marL="0">
              <a:buNone/>
            </a:pPr>
            <a:r>
              <a:rPr lang="en-US" sz="1800" dirty="0">
                <a:solidFill>
                  <a:srgbClr val="F5F5F3"/>
                </a:solidFill>
                <a:latin typeface="Calibri" pitchFamily="34" charset="0"/>
                <a:ea typeface="Calibri" pitchFamily="34" charset="-122"/>
                <a:cs typeface="Calibri" pitchFamily="34" charset="-120"/>
              </a:rPr>
              <a:t>Click Castle at 28–32 villagers with 2 ranges still working.</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NEW INFORMATION — CASTLE AGE PLANS</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What happens when you arrive?</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NewInformation.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00200"/>
            <a:ext cx="5440680" cy="4526280"/>
          </a:xfrm>
          <a:prstGeom prst="rect">
            <a:avLst/>
          </a:prstGeom>
          <a:solidFill>
            <a:srgbClr val="FFFFFF"/>
          </a:solidFill>
          <a:ln w="12700">
            <a:solidFill>
              <a:srgbClr val="D9D4C7"/>
            </a:solidFill>
            <a:prstDash val="solid"/>
          </a:ln>
        </p:spPr>
      </p:sp>
      <p:sp>
        <p:nvSpPr>
          <p:cNvPr id="8" name="Shape 4"/>
          <p:cNvSpPr/>
          <p:nvPr/>
        </p:nvSpPr>
        <p:spPr>
          <a:xfrm>
            <a:off x="548640" y="1600200"/>
            <a:ext cx="91440" cy="4526280"/>
          </a:xfrm>
          <a:prstGeom prst="rect">
            <a:avLst/>
          </a:prstGeom>
          <a:solidFill>
            <a:srgbClr val="B23A3A"/>
          </a:solidFill>
          <a:ln w="12700">
            <a:solidFill>
              <a:srgbClr val="B23A3A"/>
            </a:solidFill>
            <a:prstDash val="solid"/>
          </a:ln>
        </p:spPr>
      </p:sp>
      <p:sp>
        <p:nvSpPr>
          <p:cNvPr id="9" name="Text 5"/>
          <p:cNvSpPr/>
          <p:nvPr/>
        </p:nvSpPr>
        <p:spPr>
          <a:xfrm>
            <a:off x="868680" y="1737360"/>
            <a:ext cx="4937760" cy="548640"/>
          </a:xfrm>
          <a:prstGeom prst="rect">
            <a:avLst/>
          </a:prstGeom>
          <a:noFill/>
          <a:ln/>
        </p:spPr>
        <p:txBody>
          <a:bodyPr wrap="square" rtlCol="0" anchor="ctr"/>
          <a:lstStyle/>
          <a:p>
            <a:pPr indent="0" marL="0">
              <a:buNone/>
            </a:pPr>
            <a:r>
              <a:rPr lang="en-US" sz="2800" b="1" dirty="0">
                <a:solidFill>
                  <a:srgbClr val="B23A3A"/>
                </a:solidFill>
                <a:latin typeface="Cambria" pitchFamily="34" charset="0"/>
                <a:ea typeface="Cambria" pitchFamily="34" charset="-122"/>
                <a:cs typeface="Cambria" pitchFamily="34" charset="-120"/>
              </a:rPr>
              <a:t>Britons</a:t>
            </a:r>
            <a:endParaRPr lang="en-US" sz="2800" dirty="0"/>
          </a:p>
        </p:txBody>
      </p:sp>
      <p:sp>
        <p:nvSpPr>
          <p:cNvPr id="10" name="Text 6"/>
          <p:cNvSpPr/>
          <p:nvPr/>
        </p:nvSpPr>
        <p:spPr>
          <a:xfrm>
            <a:off x="868680" y="2377440"/>
            <a:ext cx="4937760" cy="3566160"/>
          </a:xfrm>
          <a:prstGeom prst="rect">
            <a:avLst/>
          </a:prstGeom>
          <a:noFill/>
          <a:ln/>
        </p:spPr>
        <p:txBody>
          <a:bodyPr wrap="square" rtlCol="0" anchor="t"/>
          <a:lstStyle/>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Crossbowman upgrade first, then Bodkin Arrow</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Drop 1–2 extra TCs (half wood!) behind the army</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Bow Saw, Heavy Plow as wood and food allow</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Your range bonus buys you time: use it to boom</a:t>
            </a:r>
            <a:endParaRPr lang="en-US" sz="1900" dirty="0"/>
          </a:p>
        </p:txBody>
      </p:sp>
      <p:sp>
        <p:nvSpPr>
          <p:cNvPr id="11" name="Shape 7"/>
          <p:cNvSpPr/>
          <p:nvPr/>
        </p:nvSpPr>
        <p:spPr>
          <a:xfrm>
            <a:off x="6172200" y="1600200"/>
            <a:ext cx="5440680" cy="4526280"/>
          </a:xfrm>
          <a:prstGeom prst="rect">
            <a:avLst/>
          </a:prstGeom>
          <a:solidFill>
            <a:srgbClr val="FFFFFF"/>
          </a:solidFill>
          <a:ln w="12700">
            <a:solidFill>
              <a:srgbClr val="D9D4C7"/>
            </a:solidFill>
            <a:prstDash val="solid"/>
          </a:ln>
        </p:spPr>
      </p:sp>
      <p:sp>
        <p:nvSpPr>
          <p:cNvPr id="12" name="Shape 8"/>
          <p:cNvSpPr/>
          <p:nvPr/>
        </p:nvSpPr>
        <p:spPr>
          <a:xfrm>
            <a:off x="6172200" y="1600200"/>
            <a:ext cx="91440" cy="4526280"/>
          </a:xfrm>
          <a:prstGeom prst="rect">
            <a:avLst/>
          </a:prstGeom>
          <a:solidFill>
            <a:srgbClr val="3A6EA5"/>
          </a:solidFill>
          <a:ln w="12700">
            <a:solidFill>
              <a:srgbClr val="3A6EA5"/>
            </a:solidFill>
            <a:prstDash val="solid"/>
          </a:ln>
        </p:spPr>
      </p:sp>
      <p:sp>
        <p:nvSpPr>
          <p:cNvPr id="13" name="Text 9"/>
          <p:cNvSpPr/>
          <p:nvPr/>
        </p:nvSpPr>
        <p:spPr>
          <a:xfrm>
            <a:off x="6492240" y="1737360"/>
            <a:ext cx="4937760" cy="548640"/>
          </a:xfrm>
          <a:prstGeom prst="rect">
            <a:avLst/>
          </a:prstGeom>
          <a:noFill/>
          <a:ln/>
        </p:spPr>
        <p:txBody>
          <a:bodyPr wrap="square" rtlCol="0" anchor="ctr"/>
          <a:lstStyle/>
          <a:p>
            <a:pPr indent="0" marL="0">
              <a:buNone/>
            </a:pPr>
            <a:r>
              <a:rPr lang="en-US" sz="2800" b="1" dirty="0">
                <a:solidFill>
                  <a:srgbClr val="3A6EA5"/>
                </a:solidFill>
                <a:latin typeface="Cambria" pitchFamily="34" charset="0"/>
                <a:ea typeface="Cambria" pitchFamily="34" charset="-122"/>
                <a:cs typeface="Cambria" pitchFamily="34" charset="-120"/>
              </a:rPr>
              <a:t>Bohemians</a:t>
            </a:r>
            <a:endParaRPr lang="en-US" sz="2800" dirty="0"/>
          </a:p>
        </p:txBody>
      </p:sp>
      <p:sp>
        <p:nvSpPr>
          <p:cNvPr id="14" name="Text 10"/>
          <p:cNvSpPr/>
          <p:nvPr/>
        </p:nvSpPr>
        <p:spPr>
          <a:xfrm>
            <a:off x="6492240" y="2377440"/>
            <a:ext cx="4937760" cy="3566160"/>
          </a:xfrm>
          <a:prstGeom prst="rect">
            <a:avLst/>
          </a:prstGeom>
          <a:noFill/>
          <a:ln/>
        </p:spPr>
        <p:txBody>
          <a:bodyPr wrap="square" rtlCol="0" anchor="t"/>
          <a:lstStyle/>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Crossbowman upgrade, then Gold Shaft Mining (free!)</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Cheap Blacksmith and University: armour up early</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Hand Cannoneers in Castle Age to crush infantry</a:t>
            </a:r>
            <a:endParaRPr lang="en-US" sz="1900" dirty="0"/>
          </a:p>
          <a:p>
            <a:pPr marL="228600" indent="-228600">
              <a:spcAft>
                <a:spcPts val="800"/>
              </a:spcAft>
              <a:buSzPct val="100000"/>
              <a:buChar char="•"/>
            </a:pPr>
            <a:r>
              <a:rPr lang="en-US" sz="1900" dirty="0">
                <a:solidFill>
                  <a:srgbClr val="1E1E24"/>
                </a:solidFill>
                <a:latin typeface="Calibri" pitchFamily="34" charset="0"/>
                <a:ea typeface="Calibri" pitchFamily="34" charset="-122"/>
                <a:cs typeface="Calibri" pitchFamily="34" charset="-120"/>
              </a:rPr>
              <a:t>Add a 2nd TC: the gold line will pay for it</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DELIBERATE PRACTICE — WE DO</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Spot the four mistakes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DeliberatePractice.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554480"/>
            <a:ext cx="11064240" cy="4572000"/>
          </a:xfrm>
          <a:prstGeom prst="rect">
            <a:avLst/>
          </a:prstGeom>
          <a:solidFill>
            <a:srgbClr val="1E1E24"/>
          </a:solidFill>
          <a:ln w="12700">
            <a:solidFill>
              <a:srgbClr val="1E1E24"/>
            </a:solidFill>
            <a:prstDash val="solid"/>
          </a:ln>
        </p:spPr>
      </p:sp>
      <p:sp>
        <p:nvSpPr>
          <p:cNvPr id="8" name="Text 4"/>
          <p:cNvSpPr/>
          <p:nvPr/>
        </p:nvSpPr>
        <p:spPr>
          <a:xfrm>
            <a:off x="868680" y="173736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 5:10  </a:t>
            </a:r>
            <a:pPr indent="0" marL="0">
              <a:buNone/>
            </a:pPr>
            <a:r>
              <a:rPr lang="en-US" sz="2000" dirty="0">
                <a:solidFill>
                  <a:srgbClr val="D8D8DC"/>
                </a:solidFill>
                <a:latin typeface="Consolas" pitchFamily="34" charset="0"/>
                <a:ea typeface="Consolas" pitchFamily="34" charset="-122"/>
                <a:cs typeface="Consolas" pitchFamily="34" charset="-120"/>
              </a:rPr>
              <a:t>Mill + 4 on berries</a:t>
            </a:r>
            <a:endParaRPr lang="en-US" sz="2000" dirty="0"/>
          </a:p>
        </p:txBody>
      </p:sp>
      <p:sp>
        <p:nvSpPr>
          <p:cNvPr id="9" name="Text 5"/>
          <p:cNvSpPr/>
          <p:nvPr/>
        </p:nvSpPr>
        <p:spPr>
          <a:xfrm>
            <a:off x="868680" y="233172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 6:40  </a:t>
            </a:r>
            <a:pPr indent="0" marL="0">
              <a:buNone/>
            </a:pPr>
            <a:r>
              <a:rPr lang="en-US" sz="2000" dirty="0">
                <a:solidFill>
                  <a:srgbClr val="D8D8DC"/>
                </a:solidFill>
                <a:latin typeface="Consolas" pitchFamily="34" charset="0"/>
                <a:ea typeface="Consolas" pitchFamily="34" charset="-122"/>
                <a:cs typeface="Consolas" pitchFamily="34" charset="-120"/>
              </a:rPr>
              <a:t>Waiting for 175 wood for barracks… (TC queue empty)</a:t>
            </a:r>
            <a:endParaRPr lang="en-US" sz="2000" dirty="0"/>
          </a:p>
        </p:txBody>
      </p:sp>
      <p:sp>
        <p:nvSpPr>
          <p:cNvPr id="10" name="Text 6"/>
          <p:cNvSpPr/>
          <p:nvPr/>
        </p:nvSpPr>
        <p:spPr>
          <a:xfrm>
            <a:off x="868680" y="292608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 8:30  </a:t>
            </a:r>
            <a:pPr indent="0" marL="0">
              <a:buNone/>
            </a:pPr>
            <a:r>
              <a:rPr lang="en-US" sz="2000" dirty="0">
                <a:solidFill>
                  <a:srgbClr val="D8D8DC"/>
                </a:solidFill>
                <a:latin typeface="Consolas" pitchFamily="34" charset="0"/>
                <a:ea typeface="Consolas" pitchFamily="34" charset="-122"/>
                <a:cs typeface="Consolas" pitchFamily="34" charset="-120"/>
              </a:rPr>
              <a:t>Clicked Feudal at 22 pop</a:t>
            </a:r>
            <a:endParaRPr lang="en-US" sz="2000" dirty="0"/>
          </a:p>
        </p:txBody>
      </p:sp>
      <p:sp>
        <p:nvSpPr>
          <p:cNvPr id="11" name="Text 7"/>
          <p:cNvSpPr/>
          <p:nvPr/>
        </p:nvSpPr>
        <p:spPr>
          <a:xfrm>
            <a:off x="868680" y="352044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10:10  </a:t>
            </a:r>
            <a:pPr indent="0" marL="0">
              <a:buNone/>
            </a:pPr>
            <a:r>
              <a:rPr lang="en-US" sz="2000" dirty="0">
                <a:solidFill>
                  <a:srgbClr val="D8D8DC"/>
                </a:solidFill>
                <a:latin typeface="Consolas" pitchFamily="34" charset="0"/>
                <a:ea typeface="Consolas" pitchFamily="34" charset="-122"/>
                <a:cs typeface="Consolas" pitchFamily="34" charset="-120"/>
              </a:rPr>
              <a:t>Built 2 archery ranges. Pop: 25/25</a:t>
            </a:r>
            <a:endParaRPr lang="en-US" sz="2000" dirty="0"/>
          </a:p>
        </p:txBody>
      </p:sp>
      <p:sp>
        <p:nvSpPr>
          <p:cNvPr id="12" name="Text 8"/>
          <p:cNvSpPr/>
          <p:nvPr/>
        </p:nvSpPr>
        <p:spPr>
          <a:xfrm>
            <a:off x="868680" y="411480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12:00  </a:t>
            </a:r>
            <a:pPr indent="0" marL="0">
              <a:buNone/>
            </a:pPr>
            <a:r>
              <a:rPr lang="en-US" sz="2000" dirty="0">
                <a:solidFill>
                  <a:srgbClr val="D8D8DC"/>
                </a:solidFill>
                <a:latin typeface="Consolas" pitchFamily="34" charset="0"/>
                <a:ea typeface="Consolas" pitchFamily="34" charset="-122"/>
                <a:cs typeface="Consolas" pitchFamily="34" charset="-120"/>
              </a:rPr>
              <a:t>Berries exhausted. Farms: 2</a:t>
            </a:r>
            <a:endParaRPr lang="en-US" sz="2000" dirty="0"/>
          </a:p>
        </p:txBody>
      </p:sp>
      <p:sp>
        <p:nvSpPr>
          <p:cNvPr id="13" name="Text 9"/>
          <p:cNvSpPr/>
          <p:nvPr/>
        </p:nvSpPr>
        <p:spPr>
          <a:xfrm>
            <a:off x="868680" y="470916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13:30  </a:t>
            </a:r>
            <a:pPr indent="0" marL="0">
              <a:buNone/>
            </a:pPr>
            <a:r>
              <a:rPr lang="en-US" sz="2000" dirty="0">
                <a:solidFill>
                  <a:srgbClr val="D8D8DC"/>
                </a:solidFill>
                <a:latin typeface="Consolas" pitchFamily="34" charset="0"/>
                <a:ea typeface="Consolas" pitchFamily="34" charset="-122"/>
                <a:cs typeface="Consolas" pitchFamily="34" charset="-120"/>
              </a:rPr>
              <a:t>Built a 4th archery range. Gold miners: 2</a:t>
            </a:r>
            <a:endParaRPr lang="en-US" sz="2000" dirty="0"/>
          </a:p>
        </p:txBody>
      </p:sp>
      <p:sp>
        <p:nvSpPr>
          <p:cNvPr id="14" name="Text 10"/>
          <p:cNvSpPr/>
          <p:nvPr/>
        </p:nvSpPr>
        <p:spPr>
          <a:xfrm>
            <a:off x="868680" y="5303520"/>
            <a:ext cx="10515600" cy="548640"/>
          </a:xfrm>
          <a:prstGeom prst="rect">
            <a:avLst/>
          </a:prstGeom>
          <a:noFill/>
          <a:ln/>
        </p:spPr>
        <p:txBody>
          <a:bodyPr wrap="square" rtlCol="0" anchor="ctr"/>
          <a:lstStyle/>
          <a:p>
            <a:pPr indent="0" marL="0">
              <a:buNone/>
            </a:pPr>
            <a:r>
              <a:rPr lang="en-US" sz="2000" b="1" dirty="0">
                <a:solidFill>
                  <a:srgbClr val="D8A73D"/>
                </a:solidFill>
                <a:latin typeface="Consolas" pitchFamily="34" charset="0"/>
                <a:ea typeface="Consolas" pitchFamily="34" charset="-122"/>
                <a:cs typeface="Consolas" pitchFamily="34" charset="-120"/>
              </a:rPr>
              <a:t>16:50  </a:t>
            </a:r>
            <a:pPr indent="0" marL="0">
              <a:buNone/>
            </a:pPr>
            <a:r>
              <a:rPr lang="en-US" sz="2000" dirty="0">
                <a:solidFill>
                  <a:srgbClr val="D8D8DC"/>
                </a:solidFill>
                <a:latin typeface="Consolas" pitchFamily="34" charset="0"/>
                <a:ea typeface="Consolas" pitchFamily="34" charset="-122"/>
                <a:cs typeface="Consolas" pitchFamily="34" charset="-120"/>
              </a:rPr>
              <a:t>Clicked Castle with 23 villagers. “Why am I losing?”</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DELIBERATE PRACTICE — YOU DO</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Your three tasks</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DeliberatePractice.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45920"/>
            <a:ext cx="11064240" cy="1325880"/>
          </a:xfrm>
          <a:prstGeom prst="rect">
            <a:avLst/>
          </a:prstGeom>
          <a:solidFill>
            <a:srgbClr val="FFFFFF"/>
          </a:solidFill>
          <a:ln w="12700">
            <a:solidFill>
              <a:srgbClr val="D9D4C7"/>
            </a:solidFill>
            <a:prstDash val="solid"/>
          </a:ln>
        </p:spPr>
      </p:sp>
      <p:sp>
        <p:nvSpPr>
          <p:cNvPr id="8" name="Shape 4"/>
          <p:cNvSpPr/>
          <p:nvPr/>
        </p:nvSpPr>
        <p:spPr>
          <a:xfrm>
            <a:off x="548640" y="1645920"/>
            <a:ext cx="91440" cy="1325880"/>
          </a:xfrm>
          <a:prstGeom prst="rect">
            <a:avLst/>
          </a:prstGeom>
          <a:solidFill>
            <a:srgbClr val="4F9D69"/>
          </a:solidFill>
          <a:ln w="12700">
            <a:solidFill>
              <a:srgbClr val="4F9D69"/>
            </a:solidFill>
            <a:prstDash val="solid"/>
          </a:ln>
        </p:spPr>
      </p:sp>
      <p:sp>
        <p:nvSpPr>
          <p:cNvPr id="9" name="Text 5"/>
          <p:cNvSpPr/>
          <p:nvPr/>
        </p:nvSpPr>
        <p:spPr>
          <a:xfrm>
            <a:off x="822960" y="1645920"/>
            <a:ext cx="731520" cy="1325880"/>
          </a:xfrm>
          <a:prstGeom prst="rect">
            <a:avLst/>
          </a:prstGeom>
          <a:noFill/>
          <a:ln/>
        </p:spPr>
        <p:txBody>
          <a:bodyPr wrap="square" rtlCol="0" anchor="ctr"/>
          <a:lstStyle/>
          <a:p>
            <a:pPr indent="0" marL="0">
              <a:buNone/>
            </a:pPr>
            <a:r>
              <a:rPr lang="en-US" sz="4400" b="1" dirty="0">
                <a:solidFill>
                  <a:srgbClr val="4F9D69"/>
                </a:solidFill>
                <a:latin typeface="Cambria" pitchFamily="34" charset="0"/>
                <a:ea typeface="Cambria" pitchFamily="34" charset="-122"/>
                <a:cs typeface="Cambria" pitchFamily="34" charset="-120"/>
              </a:rPr>
              <a:t>1</a:t>
            </a:r>
            <a:endParaRPr lang="en-US" sz="4400" dirty="0"/>
          </a:p>
        </p:txBody>
      </p:sp>
      <p:sp>
        <p:nvSpPr>
          <p:cNvPr id="10" name="Text 6"/>
          <p:cNvSpPr/>
          <p:nvPr/>
        </p:nvSpPr>
        <p:spPr>
          <a:xfrm>
            <a:off x="1645920" y="1737360"/>
            <a:ext cx="9784080" cy="1143000"/>
          </a:xfrm>
          <a:prstGeom prst="rect">
            <a:avLst/>
          </a:prstGeom>
          <a:noFill/>
          <a:ln/>
        </p:spPr>
        <p:txBody>
          <a:bodyPr wrap="square" rtlCol="0" anchor="ctr"/>
          <a:lstStyle/>
          <a:p>
            <a:pPr indent="0" marL="0">
              <a:buNone/>
            </a:pPr>
            <a:r>
              <a:rPr lang="en-US" sz="2400" b="1" dirty="0">
                <a:solidFill>
                  <a:srgbClr val="1E1E24"/>
                </a:solidFill>
                <a:latin typeface="Calibri" pitchFamily="34" charset="0"/>
                <a:ea typeface="Calibri" pitchFamily="34" charset="-122"/>
                <a:cs typeface="Calibri" pitchFamily="34" charset="-120"/>
              </a:rPr>
              <a:t>Build Order Sequencer</a:t>
            </a:r>
            <a:endParaRPr lang="en-US" sz="2400" dirty="0"/>
          </a:p>
          <a:p>
            <a:pPr indent="0" marL="0">
              <a:buNone/>
            </a:pPr>
            <a:r>
              <a:rPr lang="en-US" sz="1900" dirty="0">
                <a:solidFill>
                  <a:srgbClr val="55555E"/>
                </a:solidFill>
                <a:latin typeface="Calibri" pitchFamily="34" charset="0"/>
                <a:ea typeface="Calibri" pitchFamily="34" charset="-122"/>
                <a:cs typeface="Calibri" pitchFamily="34" charset="-120"/>
              </a:rPr>
              <a:t>Drag the steps of the archer build into the right order, Dark Age to Castle.</a:t>
            </a:r>
            <a:endParaRPr lang="en-US" sz="2400" dirty="0"/>
          </a:p>
        </p:txBody>
      </p:sp>
      <p:sp>
        <p:nvSpPr>
          <p:cNvPr id="11" name="Shape 7"/>
          <p:cNvSpPr/>
          <p:nvPr/>
        </p:nvSpPr>
        <p:spPr>
          <a:xfrm>
            <a:off x="548640" y="3154680"/>
            <a:ext cx="11064240" cy="1325880"/>
          </a:xfrm>
          <a:prstGeom prst="rect">
            <a:avLst/>
          </a:prstGeom>
          <a:solidFill>
            <a:srgbClr val="FFFFFF"/>
          </a:solidFill>
          <a:ln w="12700">
            <a:solidFill>
              <a:srgbClr val="D9D4C7"/>
            </a:solidFill>
            <a:prstDash val="solid"/>
          </a:ln>
        </p:spPr>
      </p:sp>
      <p:sp>
        <p:nvSpPr>
          <p:cNvPr id="12" name="Shape 8"/>
          <p:cNvSpPr/>
          <p:nvPr/>
        </p:nvSpPr>
        <p:spPr>
          <a:xfrm>
            <a:off x="548640" y="3154680"/>
            <a:ext cx="91440" cy="1325880"/>
          </a:xfrm>
          <a:prstGeom prst="rect">
            <a:avLst/>
          </a:prstGeom>
          <a:solidFill>
            <a:srgbClr val="4F9D69"/>
          </a:solidFill>
          <a:ln w="12700">
            <a:solidFill>
              <a:srgbClr val="4F9D69"/>
            </a:solidFill>
            <a:prstDash val="solid"/>
          </a:ln>
        </p:spPr>
      </p:sp>
      <p:sp>
        <p:nvSpPr>
          <p:cNvPr id="13" name="Text 9"/>
          <p:cNvSpPr/>
          <p:nvPr/>
        </p:nvSpPr>
        <p:spPr>
          <a:xfrm>
            <a:off x="822960" y="3154680"/>
            <a:ext cx="731520" cy="1325880"/>
          </a:xfrm>
          <a:prstGeom prst="rect">
            <a:avLst/>
          </a:prstGeom>
          <a:noFill/>
          <a:ln/>
        </p:spPr>
        <p:txBody>
          <a:bodyPr wrap="square" rtlCol="0" anchor="ctr"/>
          <a:lstStyle/>
          <a:p>
            <a:pPr indent="0" marL="0">
              <a:buNone/>
            </a:pPr>
            <a:r>
              <a:rPr lang="en-US" sz="4400" b="1" dirty="0">
                <a:solidFill>
                  <a:srgbClr val="4F9D69"/>
                </a:solidFill>
                <a:latin typeface="Cambria" pitchFamily="34" charset="0"/>
                <a:ea typeface="Cambria" pitchFamily="34" charset="-122"/>
                <a:cs typeface="Cambria" pitchFamily="34" charset="-120"/>
              </a:rPr>
              <a:t>2</a:t>
            </a:r>
            <a:endParaRPr lang="en-US" sz="4400" dirty="0"/>
          </a:p>
        </p:txBody>
      </p:sp>
      <p:sp>
        <p:nvSpPr>
          <p:cNvPr id="14" name="Text 10"/>
          <p:cNvSpPr/>
          <p:nvPr/>
        </p:nvSpPr>
        <p:spPr>
          <a:xfrm>
            <a:off x="1645920" y="3246120"/>
            <a:ext cx="9784080" cy="1143000"/>
          </a:xfrm>
          <a:prstGeom prst="rect">
            <a:avLst/>
          </a:prstGeom>
          <a:noFill/>
          <a:ln/>
        </p:spPr>
        <p:txBody>
          <a:bodyPr wrap="square" rtlCol="0" anchor="ctr"/>
          <a:lstStyle/>
          <a:p>
            <a:pPr indent="0" marL="0">
              <a:buNone/>
            </a:pPr>
            <a:r>
              <a:rPr lang="en-US" sz="2400" b="1" dirty="0">
                <a:solidFill>
                  <a:srgbClr val="1E1E24"/>
                </a:solidFill>
                <a:latin typeface="Calibri" pitchFamily="34" charset="0"/>
                <a:ea typeface="Calibri" pitchFamily="34" charset="-122"/>
                <a:cs typeface="Calibri" pitchFamily="34" charset="-120"/>
              </a:rPr>
              <a:t>Economy Simulator</a:t>
            </a:r>
            <a:endParaRPr lang="en-US" sz="2400" dirty="0"/>
          </a:p>
          <a:p>
            <a:pPr indent="0" marL="0">
              <a:buNone/>
            </a:pPr>
            <a:r>
              <a:rPr lang="en-US" sz="1900" dirty="0">
                <a:solidFill>
                  <a:srgbClr val="55555E"/>
                </a:solidFill>
                <a:latin typeface="Calibri" pitchFamily="34" charset="0"/>
                <a:ea typeface="Calibri" pitchFamily="34" charset="-122"/>
                <a:cs typeface="Calibri" pitchFamily="34" charset="-120"/>
              </a:rPr>
              <a:t>Play Feudal → Castle in 3 minutes of real time. Keep the TC working and the raids out.</a:t>
            </a:r>
            <a:endParaRPr lang="en-US" sz="2400" dirty="0"/>
          </a:p>
        </p:txBody>
      </p:sp>
      <p:sp>
        <p:nvSpPr>
          <p:cNvPr id="15" name="Shape 11"/>
          <p:cNvSpPr/>
          <p:nvPr/>
        </p:nvSpPr>
        <p:spPr>
          <a:xfrm>
            <a:off x="548640" y="4663440"/>
            <a:ext cx="11064240" cy="1325880"/>
          </a:xfrm>
          <a:prstGeom prst="rect">
            <a:avLst/>
          </a:prstGeom>
          <a:solidFill>
            <a:srgbClr val="FFFFFF"/>
          </a:solidFill>
          <a:ln w="12700">
            <a:solidFill>
              <a:srgbClr val="D9D4C7"/>
            </a:solidFill>
            <a:prstDash val="solid"/>
          </a:ln>
        </p:spPr>
      </p:sp>
      <p:sp>
        <p:nvSpPr>
          <p:cNvPr id="16" name="Shape 12"/>
          <p:cNvSpPr/>
          <p:nvPr/>
        </p:nvSpPr>
        <p:spPr>
          <a:xfrm>
            <a:off x="548640" y="4663440"/>
            <a:ext cx="91440" cy="1325880"/>
          </a:xfrm>
          <a:prstGeom prst="rect">
            <a:avLst/>
          </a:prstGeom>
          <a:solidFill>
            <a:srgbClr val="4F9D69"/>
          </a:solidFill>
          <a:ln w="12700">
            <a:solidFill>
              <a:srgbClr val="4F9D69"/>
            </a:solidFill>
            <a:prstDash val="solid"/>
          </a:ln>
        </p:spPr>
      </p:sp>
      <p:sp>
        <p:nvSpPr>
          <p:cNvPr id="17" name="Text 13"/>
          <p:cNvSpPr/>
          <p:nvPr/>
        </p:nvSpPr>
        <p:spPr>
          <a:xfrm>
            <a:off x="822960" y="4663440"/>
            <a:ext cx="731520" cy="1325880"/>
          </a:xfrm>
          <a:prstGeom prst="rect">
            <a:avLst/>
          </a:prstGeom>
          <a:noFill/>
          <a:ln/>
        </p:spPr>
        <p:txBody>
          <a:bodyPr wrap="square" rtlCol="0" anchor="ctr"/>
          <a:lstStyle/>
          <a:p>
            <a:pPr indent="0" marL="0">
              <a:buNone/>
            </a:pPr>
            <a:r>
              <a:rPr lang="en-US" sz="4400" b="1" dirty="0">
                <a:solidFill>
                  <a:srgbClr val="4F9D69"/>
                </a:solidFill>
                <a:latin typeface="Cambria" pitchFamily="34" charset="0"/>
                <a:ea typeface="Cambria" pitchFamily="34" charset="-122"/>
                <a:cs typeface="Cambria" pitchFamily="34" charset="-120"/>
              </a:rPr>
              <a:t>3</a:t>
            </a:r>
            <a:endParaRPr lang="en-US" sz="4400" dirty="0"/>
          </a:p>
        </p:txBody>
      </p:sp>
      <p:sp>
        <p:nvSpPr>
          <p:cNvPr id="18" name="Text 14"/>
          <p:cNvSpPr/>
          <p:nvPr/>
        </p:nvSpPr>
        <p:spPr>
          <a:xfrm>
            <a:off x="1645920" y="4754880"/>
            <a:ext cx="9784080" cy="1143000"/>
          </a:xfrm>
          <a:prstGeom prst="rect">
            <a:avLst/>
          </a:prstGeom>
          <a:noFill/>
          <a:ln/>
        </p:spPr>
        <p:txBody>
          <a:bodyPr wrap="square" rtlCol="0" anchor="ctr"/>
          <a:lstStyle/>
          <a:p>
            <a:pPr indent="0" marL="0">
              <a:buNone/>
            </a:pPr>
            <a:r>
              <a:rPr lang="en-US" sz="2400" b="1" dirty="0">
                <a:solidFill>
                  <a:srgbClr val="1E1E24"/>
                </a:solidFill>
                <a:latin typeface="Calibri" pitchFamily="34" charset="0"/>
                <a:ea typeface="Calibri" pitchFamily="34" charset="-122"/>
                <a:cs typeface="Calibri" pitchFamily="34" charset="-120"/>
              </a:rPr>
              <a:t>Civ Quiz</a:t>
            </a:r>
            <a:endParaRPr lang="en-US" sz="2400" dirty="0"/>
          </a:p>
          <a:p>
            <a:pPr indent="0" marL="0">
              <a:buNone/>
            </a:pPr>
            <a:r>
              <a:rPr lang="en-US" sz="1900" dirty="0">
                <a:solidFill>
                  <a:srgbClr val="55555E"/>
                </a:solidFill>
                <a:latin typeface="Calibri" pitchFamily="34" charset="0"/>
                <a:ea typeface="Calibri" pitchFamily="34" charset="-122"/>
                <a:cs typeface="Calibri" pitchFamily="34" charset="-120"/>
              </a:rPr>
              <a:t>Britons or Bohemians? Ten questions. No googling.</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FEEDBACK</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1E1E24"/>
                </a:solidFill>
                <a:latin typeface="Cambria" pitchFamily="34" charset="0"/>
                <a:ea typeface="Cambria" pitchFamily="34" charset="-122"/>
                <a:cs typeface="Cambria" pitchFamily="34" charset="-120"/>
              </a:rPr>
              <a:t>Read your scorecard</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Feedback.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91640"/>
            <a:ext cx="11064240" cy="777240"/>
          </a:xfrm>
          <a:prstGeom prst="rect">
            <a:avLst/>
          </a:prstGeom>
          <a:solidFill>
            <a:srgbClr val="FFFFFF"/>
          </a:solidFill>
          <a:ln w="12700">
            <a:solidFill>
              <a:srgbClr val="D9D4C7"/>
            </a:solidFill>
            <a:prstDash val="solid"/>
          </a:ln>
        </p:spPr>
      </p:sp>
      <p:sp>
        <p:nvSpPr>
          <p:cNvPr id="8" name="Shape 4"/>
          <p:cNvSpPr/>
          <p:nvPr/>
        </p:nvSpPr>
        <p:spPr>
          <a:xfrm>
            <a:off x="548640" y="1691640"/>
            <a:ext cx="91440" cy="777240"/>
          </a:xfrm>
          <a:prstGeom prst="rect">
            <a:avLst/>
          </a:prstGeom>
          <a:solidFill>
            <a:srgbClr val="3A6EA5"/>
          </a:solidFill>
          <a:ln w="12700">
            <a:solidFill>
              <a:srgbClr val="3A6EA5"/>
            </a:solidFill>
            <a:prstDash val="solid"/>
          </a:ln>
        </p:spPr>
      </p:sp>
      <p:sp>
        <p:nvSpPr>
          <p:cNvPr id="9" name="Text 5"/>
          <p:cNvSpPr/>
          <p:nvPr/>
        </p:nvSpPr>
        <p:spPr>
          <a:xfrm>
            <a:off x="868680" y="1691640"/>
            <a:ext cx="4754880" cy="777240"/>
          </a:xfrm>
          <a:prstGeom prst="rect">
            <a:avLst/>
          </a:prstGeom>
          <a:noFill/>
          <a:ln/>
        </p:spPr>
        <p:txBody>
          <a:bodyPr wrap="square" rtlCol="0" anchor="ctr"/>
          <a:lstStyle/>
          <a:p>
            <a:pPr indent="0" marL="0">
              <a:buNone/>
            </a:pPr>
            <a:r>
              <a:rPr lang="en-US" sz="2100" b="1" dirty="0">
                <a:solidFill>
                  <a:srgbClr val="1E1E24"/>
                </a:solidFill>
                <a:latin typeface="Calibri" pitchFamily="34" charset="0"/>
                <a:ea typeface="Calibri" pitchFamily="34" charset="-122"/>
                <a:cs typeface="Calibri" pitchFamily="34" charset="-120"/>
              </a:rPr>
              <a:t>TC idle under 30 s</a:t>
            </a:r>
            <a:endParaRPr lang="en-US" sz="2100" dirty="0"/>
          </a:p>
        </p:txBody>
      </p:sp>
      <p:sp>
        <p:nvSpPr>
          <p:cNvPr id="10" name="Text 6"/>
          <p:cNvSpPr/>
          <p:nvPr/>
        </p:nvSpPr>
        <p:spPr>
          <a:xfrm>
            <a:off x="5669280" y="1691640"/>
            <a:ext cx="5760720" cy="777240"/>
          </a:xfrm>
          <a:prstGeom prst="rect">
            <a:avLst/>
          </a:prstGeom>
          <a:noFill/>
          <a:ln/>
        </p:spPr>
        <p:txBody>
          <a:bodyPr wrap="square" rtlCol="0" anchor="ctr"/>
          <a:lstStyle/>
          <a:p>
            <a:pPr indent="0" marL="0">
              <a:buNone/>
            </a:pPr>
            <a:r>
              <a:rPr lang="en-US" sz="2000" i="1" dirty="0">
                <a:solidFill>
                  <a:srgbClr val="55555E"/>
                </a:solidFill>
                <a:latin typeface="Calibri" pitchFamily="34" charset="0"/>
                <a:ea typeface="Calibri" pitchFamily="34" charset="-122"/>
                <a:cs typeface="Calibri" pitchFamily="34" charset="-120"/>
              </a:rPr>
              <a:t>You have the hands of a pro</a:t>
            </a:r>
            <a:endParaRPr lang="en-US" sz="2000" dirty="0"/>
          </a:p>
        </p:txBody>
      </p:sp>
      <p:sp>
        <p:nvSpPr>
          <p:cNvPr id="11" name="Shape 7"/>
          <p:cNvSpPr/>
          <p:nvPr/>
        </p:nvSpPr>
        <p:spPr>
          <a:xfrm>
            <a:off x="548640" y="2651760"/>
            <a:ext cx="11064240" cy="777240"/>
          </a:xfrm>
          <a:prstGeom prst="rect">
            <a:avLst/>
          </a:prstGeom>
          <a:solidFill>
            <a:srgbClr val="FFFFFF"/>
          </a:solidFill>
          <a:ln w="12700">
            <a:solidFill>
              <a:srgbClr val="D9D4C7"/>
            </a:solidFill>
            <a:prstDash val="solid"/>
          </a:ln>
        </p:spPr>
      </p:sp>
      <p:sp>
        <p:nvSpPr>
          <p:cNvPr id="12" name="Shape 8"/>
          <p:cNvSpPr/>
          <p:nvPr/>
        </p:nvSpPr>
        <p:spPr>
          <a:xfrm>
            <a:off x="548640" y="2651760"/>
            <a:ext cx="91440" cy="777240"/>
          </a:xfrm>
          <a:prstGeom prst="rect">
            <a:avLst/>
          </a:prstGeom>
          <a:solidFill>
            <a:srgbClr val="3A6EA5"/>
          </a:solidFill>
          <a:ln w="12700">
            <a:solidFill>
              <a:srgbClr val="3A6EA5"/>
            </a:solidFill>
            <a:prstDash val="solid"/>
          </a:ln>
        </p:spPr>
      </p:sp>
      <p:sp>
        <p:nvSpPr>
          <p:cNvPr id="13" name="Text 9"/>
          <p:cNvSpPr/>
          <p:nvPr/>
        </p:nvSpPr>
        <p:spPr>
          <a:xfrm>
            <a:off x="868680" y="2651760"/>
            <a:ext cx="4754880" cy="777240"/>
          </a:xfrm>
          <a:prstGeom prst="rect">
            <a:avLst/>
          </a:prstGeom>
          <a:noFill/>
          <a:ln/>
        </p:spPr>
        <p:txBody>
          <a:bodyPr wrap="square" rtlCol="0" anchor="ctr"/>
          <a:lstStyle/>
          <a:p>
            <a:pPr indent="0" marL="0">
              <a:buNone/>
            </a:pPr>
            <a:r>
              <a:rPr lang="en-US" sz="2100" b="1" dirty="0">
                <a:solidFill>
                  <a:srgbClr val="1E1E24"/>
                </a:solidFill>
                <a:latin typeface="Calibri" pitchFamily="34" charset="0"/>
                <a:ea typeface="Calibri" pitchFamily="34" charset="-122"/>
                <a:cs typeface="Calibri" pitchFamily="34" charset="-120"/>
              </a:rPr>
              <a:t>Never housed</a:t>
            </a:r>
            <a:endParaRPr lang="en-US" sz="2100" dirty="0"/>
          </a:p>
        </p:txBody>
      </p:sp>
      <p:sp>
        <p:nvSpPr>
          <p:cNvPr id="14" name="Text 10"/>
          <p:cNvSpPr/>
          <p:nvPr/>
        </p:nvSpPr>
        <p:spPr>
          <a:xfrm>
            <a:off x="5669280" y="2651760"/>
            <a:ext cx="5760720" cy="777240"/>
          </a:xfrm>
          <a:prstGeom prst="rect">
            <a:avLst/>
          </a:prstGeom>
          <a:noFill/>
          <a:ln/>
        </p:spPr>
        <p:txBody>
          <a:bodyPr wrap="square" rtlCol="0" anchor="ctr"/>
          <a:lstStyle/>
          <a:p>
            <a:pPr indent="0" marL="0">
              <a:buNone/>
            </a:pPr>
            <a:r>
              <a:rPr lang="en-US" sz="2000" i="1" dirty="0">
                <a:solidFill>
                  <a:srgbClr val="55555E"/>
                </a:solidFill>
                <a:latin typeface="Calibri" pitchFamily="34" charset="0"/>
                <a:ea typeface="Calibri" pitchFamily="34" charset="-122"/>
                <a:cs typeface="Calibri" pitchFamily="34" charset="-120"/>
              </a:rPr>
              <a:t>You understand that houses are not optional</a:t>
            </a:r>
            <a:endParaRPr lang="en-US" sz="2000" dirty="0"/>
          </a:p>
        </p:txBody>
      </p:sp>
      <p:sp>
        <p:nvSpPr>
          <p:cNvPr id="15" name="Shape 11"/>
          <p:cNvSpPr/>
          <p:nvPr/>
        </p:nvSpPr>
        <p:spPr>
          <a:xfrm>
            <a:off x="548640" y="3611880"/>
            <a:ext cx="11064240" cy="777240"/>
          </a:xfrm>
          <a:prstGeom prst="rect">
            <a:avLst/>
          </a:prstGeom>
          <a:solidFill>
            <a:srgbClr val="FFFFFF"/>
          </a:solidFill>
          <a:ln w="12700">
            <a:solidFill>
              <a:srgbClr val="D9D4C7"/>
            </a:solidFill>
            <a:prstDash val="solid"/>
          </a:ln>
        </p:spPr>
      </p:sp>
      <p:sp>
        <p:nvSpPr>
          <p:cNvPr id="16" name="Shape 12"/>
          <p:cNvSpPr/>
          <p:nvPr/>
        </p:nvSpPr>
        <p:spPr>
          <a:xfrm>
            <a:off x="548640" y="3611880"/>
            <a:ext cx="91440" cy="777240"/>
          </a:xfrm>
          <a:prstGeom prst="rect">
            <a:avLst/>
          </a:prstGeom>
          <a:solidFill>
            <a:srgbClr val="3A6EA5"/>
          </a:solidFill>
          <a:ln w="12700">
            <a:solidFill>
              <a:srgbClr val="3A6EA5"/>
            </a:solidFill>
            <a:prstDash val="solid"/>
          </a:ln>
        </p:spPr>
      </p:sp>
      <p:sp>
        <p:nvSpPr>
          <p:cNvPr id="17" name="Text 13"/>
          <p:cNvSpPr/>
          <p:nvPr/>
        </p:nvSpPr>
        <p:spPr>
          <a:xfrm>
            <a:off x="868680" y="3611880"/>
            <a:ext cx="4754880" cy="777240"/>
          </a:xfrm>
          <a:prstGeom prst="rect">
            <a:avLst/>
          </a:prstGeom>
          <a:noFill/>
          <a:ln/>
        </p:spPr>
        <p:txBody>
          <a:bodyPr wrap="square" rtlCol="0" anchor="ctr"/>
          <a:lstStyle/>
          <a:p>
            <a:pPr indent="0" marL="0">
              <a:buNone/>
            </a:pPr>
            <a:r>
              <a:rPr lang="en-US" sz="2100" b="1" dirty="0">
                <a:solidFill>
                  <a:srgbClr val="1E1E24"/>
                </a:solidFill>
                <a:latin typeface="Calibri" pitchFamily="34" charset="0"/>
                <a:ea typeface="Calibri" pitchFamily="34" charset="-122"/>
                <a:cs typeface="Calibri" pitchFamily="34" charset="-120"/>
              </a:rPr>
              <a:t>30+ villagers at Castle click</a:t>
            </a:r>
            <a:endParaRPr lang="en-US" sz="2100" dirty="0"/>
          </a:p>
        </p:txBody>
      </p:sp>
      <p:sp>
        <p:nvSpPr>
          <p:cNvPr id="18" name="Text 14"/>
          <p:cNvSpPr/>
          <p:nvPr/>
        </p:nvSpPr>
        <p:spPr>
          <a:xfrm>
            <a:off x="5669280" y="3611880"/>
            <a:ext cx="5760720" cy="777240"/>
          </a:xfrm>
          <a:prstGeom prst="rect">
            <a:avLst/>
          </a:prstGeom>
          <a:noFill/>
          <a:ln/>
        </p:spPr>
        <p:txBody>
          <a:bodyPr wrap="square" rtlCol="0" anchor="ctr"/>
          <a:lstStyle/>
          <a:p>
            <a:pPr indent="0" marL="0">
              <a:buNone/>
            </a:pPr>
            <a:r>
              <a:rPr lang="en-US" sz="2000" i="1" dirty="0">
                <a:solidFill>
                  <a:srgbClr val="55555E"/>
                </a:solidFill>
                <a:latin typeface="Calibri" pitchFamily="34" charset="0"/>
                <a:ea typeface="Calibri" pitchFamily="34" charset="-122"/>
                <a:cs typeface="Calibri" pitchFamily="34" charset="-120"/>
              </a:rPr>
              <a:t>Your economy is real</a:t>
            </a:r>
            <a:endParaRPr lang="en-US" sz="2000" dirty="0"/>
          </a:p>
        </p:txBody>
      </p:sp>
      <p:sp>
        <p:nvSpPr>
          <p:cNvPr id="19" name="Shape 15"/>
          <p:cNvSpPr/>
          <p:nvPr/>
        </p:nvSpPr>
        <p:spPr>
          <a:xfrm>
            <a:off x="548640" y="4572000"/>
            <a:ext cx="11064240" cy="777240"/>
          </a:xfrm>
          <a:prstGeom prst="rect">
            <a:avLst/>
          </a:prstGeom>
          <a:solidFill>
            <a:srgbClr val="FFFFFF"/>
          </a:solidFill>
          <a:ln w="12700">
            <a:solidFill>
              <a:srgbClr val="D9D4C7"/>
            </a:solidFill>
            <a:prstDash val="solid"/>
          </a:ln>
        </p:spPr>
      </p:sp>
      <p:sp>
        <p:nvSpPr>
          <p:cNvPr id="20" name="Shape 16"/>
          <p:cNvSpPr/>
          <p:nvPr/>
        </p:nvSpPr>
        <p:spPr>
          <a:xfrm>
            <a:off x="548640" y="4572000"/>
            <a:ext cx="91440" cy="777240"/>
          </a:xfrm>
          <a:prstGeom prst="rect">
            <a:avLst/>
          </a:prstGeom>
          <a:solidFill>
            <a:srgbClr val="3A6EA5"/>
          </a:solidFill>
          <a:ln w="12700">
            <a:solidFill>
              <a:srgbClr val="3A6EA5"/>
            </a:solidFill>
            <a:prstDash val="solid"/>
          </a:ln>
        </p:spPr>
      </p:sp>
      <p:sp>
        <p:nvSpPr>
          <p:cNvPr id="21" name="Text 17"/>
          <p:cNvSpPr/>
          <p:nvPr/>
        </p:nvSpPr>
        <p:spPr>
          <a:xfrm>
            <a:off x="868680" y="4572000"/>
            <a:ext cx="4754880" cy="777240"/>
          </a:xfrm>
          <a:prstGeom prst="rect">
            <a:avLst/>
          </a:prstGeom>
          <a:noFill/>
          <a:ln/>
        </p:spPr>
        <p:txBody>
          <a:bodyPr wrap="square" rtlCol="0" anchor="ctr"/>
          <a:lstStyle/>
          <a:p>
            <a:pPr indent="0" marL="0">
              <a:buNone/>
            </a:pPr>
            <a:r>
              <a:rPr lang="en-US" sz="2100" b="1" dirty="0">
                <a:solidFill>
                  <a:srgbClr val="1E1E24"/>
                </a:solidFill>
                <a:latin typeface="Calibri" pitchFamily="34" charset="0"/>
                <a:ea typeface="Calibri" pitchFamily="34" charset="-122"/>
                <a:cs typeface="Calibri" pitchFamily="34" charset="-120"/>
              </a:rPr>
              <a:t>No villagers lost to raids</a:t>
            </a:r>
            <a:endParaRPr lang="en-US" sz="2100" dirty="0"/>
          </a:p>
        </p:txBody>
      </p:sp>
      <p:sp>
        <p:nvSpPr>
          <p:cNvPr id="22" name="Text 18"/>
          <p:cNvSpPr/>
          <p:nvPr/>
        </p:nvSpPr>
        <p:spPr>
          <a:xfrm>
            <a:off x="5669280" y="4572000"/>
            <a:ext cx="5760720" cy="777240"/>
          </a:xfrm>
          <a:prstGeom prst="rect">
            <a:avLst/>
          </a:prstGeom>
          <a:noFill/>
          <a:ln/>
        </p:spPr>
        <p:txBody>
          <a:bodyPr wrap="square" rtlCol="0" anchor="ctr"/>
          <a:lstStyle/>
          <a:p>
            <a:pPr indent="0" marL="0">
              <a:buNone/>
            </a:pPr>
            <a:r>
              <a:rPr lang="en-US" sz="2000" i="1" dirty="0">
                <a:solidFill>
                  <a:srgbClr val="55555E"/>
                </a:solidFill>
                <a:latin typeface="Calibri" pitchFamily="34" charset="0"/>
                <a:ea typeface="Calibri" pitchFamily="34" charset="-122"/>
                <a:cs typeface="Calibri" pitchFamily="34" charset="-120"/>
              </a:rPr>
              <a:t>Your archers did their one job</a:t>
            </a:r>
            <a:endParaRPr lang="en-US" sz="2000" dirty="0"/>
          </a:p>
        </p:txBody>
      </p:sp>
      <p:sp>
        <p:nvSpPr>
          <p:cNvPr id="23" name="Text 19"/>
          <p:cNvSpPr/>
          <p:nvPr/>
        </p:nvSpPr>
        <p:spPr>
          <a:xfrm>
            <a:off x="548640" y="5623560"/>
            <a:ext cx="11064240" cy="548640"/>
          </a:xfrm>
          <a:prstGeom prst="rect">
            <a:avLst/>
          </a:prstGeom>
          <a:noFill/>
          <a:ln/>
        </p:spPr>
        <p:txBody>
          <a:bodyPr wrap="square" rtlCol="0" anchor="ctr"/>
          <a:lstStyle/>
          <a:p>
            <a:pPr indent="0" marL="0">
              <a:buNone/>
            </a:pPr>
            <a:r>
              <a:rPr lang="en-US" sz="2200" b="1" dirty="0">
                <a:solidFill>
                  <a:srgbClr val="3A6EA5"/>
                </a:solidFill>
                <a:latin typeface="Cambria" pitchFamily="34" charset="0"/>
                <a:ea typeface="Cambria" pitchFamily="34" charset="-122"/>
                <a:cs typeface="Cambria" pitchFamily="34" charset="-120"/>
              </a:rPr>
              <a:t>Write: my worst sin was ____ , and next game I will ____ .</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320040"/>
            <a:ext cx="9601200" cy="320040"/>
          </a:xfrm>
          <a:prstGeom prst="rect">
            <a:avLst/>
          </a:prstGeom>
          <a:noFill/>
          <a:ln/>
        </p:spPr>
        <p:txBody>
          <a:bodyPr wrap="square"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PLENARY — EXIT TICKET</a:t>
            </a:r>
            <a:endParaRPr lang="en-US" sz="1300" dirty="0"/>
          </a:p>
        </p:txBody>
      </p:sp>
      <p:sp>
        <p:nvSpPr>
          <p:cNvPr id="3" name="Text 1"/>
          <p:cNvSpPr/>
          <p:nvPr/>
        </p:nvSpPr>
        <p:spPr>
          <a:xfrm>
            <a:off x="548640" y="640080"/>
            <a:ext cx="10058400" cy="731520"/>
          </a:xfrm>
          <a:prstGeom prst="rect">
            <a:avLst/>
          </a:prstGeom>
          <a:noFill/>
          <a:ln/>
        </p:spPr>
        <p:txBody>
          <a:bodyPr wrap="square" rtlCol="0" anchor="ctr"/>
          <a:lstStyle/>
          <a:p>
            <a:pPr indent="0" marL="0">
              <a:buNone/>
            </a:pPr>
            <a:r>
              <a:rPr lang="en-US" sz="3400" b="1" dirty="0">
                <a:solidFill>
                  <a:srgbClr val="F5F5F3"/>
                </a:solidFill>
                <a:latin typeface="Cambria" pitchFamily="34" charset="0"/>
                <a:ea typeface="Cambria" pitchFamily="34" charset="-122"/>
                <a:cs typeface="Cambria" pitchFamily="34" charset="-120"/>
              </a:rPr>
              <a:t>Back to the lesson question</a:t>
            </a:r>
            <a:endParaRPr lang="en-US" sz="3400" dirty="0"/>
          </a:p>
        </p:txBody>
      </p:sp>
      <p:sp>
        <p:nvSpPr>
          <p:cNvPr id="4" name="Text 2"/>
          <p:cNvSpPr/>
          <p:nvPr/>
        </p:nvSpPr>
        <p:spPr>
          <a:xfrm>
            <a:off x="548640" y="6400800"/>
            <a:ext cx="9144000" cy="274320"/>
          </a:xfrm>
          <a:prstGeom prst="rect">
            <a:avLst/>
          </a:prstGeom>
          <a:noFill/>
          <a:ln/>
        </p:spPr>
        <p:txBody>
          <a:bodyPr wrap="square" rtlCol="0" anchor="ctr"/>
          <a:lstStyle/>
          <a:p>
            <a:pPr indent="0" marL="0">
              <a:buNone/>
            </a:pPr>
            <a:r>
              <a:rPr lang="en-US" sz="1000" spc="100" kern="0" dirty="0">
                <a:solidFill>
                  <a:srgbClr val="8A8A94"/>
                </a:solidFill>
                <a:latin typeface="Calibri" pitchFamily="34" charset="0"/>
                <a:ea typeface="Calibri" pitchFamily="34" charset="-122"/>
                <a:cs typeface="Calibri" pitchFamily="34" charset="-120"/>
              </a:rPr>
              <a:t>AGE OF EMPIRES II  ·  ARCHERS INTO CASTLE  ·  A LESSON NOBODY ASKED FOR</a:t>
            </a:r>
            <a:endParaRPr lang="en-US" sz="1000" dirty="0"/>
          </a:p>
        </p:txBody>
      </p:sp>
      <p:pic>
        <p:nvPicPr>
          <p:cNvPr id="5" name="Image 0" descr="C:\Users\n.houlton_grange.out\source\repos\interactive\_presentations\Y9_Python\icons\RecapAndRecall.png">    </p:cNvPr>
          <p:cNvPicPr>
            <a:picLocks noChangeAspect="1"/>
          </p:cNvPicPr>
          <p:nvPr/>
        </p:nvPicPr>
        <p:blipFill>
          <a:blip r:embed="rId1"/>
          <a:stretch>
            <a:fillRect/>
          </a:stretch>
        </p:blipFill>
        <p:spPr>
          <a:xfrm>
            <a:off x="11109960" y="274320"/>
            <a:ext cx="685800" cy="685800"/>
          </a:xfrm>
          <a:prstGeom prst="rect">
            <a:avLst/>
          </a:prstGeom>
        </p:spPr>
      </p:pic>
      <p:sp>
        <p:nvSpPr>
          <p:cNvPr id="7" name="Shape 3"/>
          <p:cNvSpPr/>
          <p:nvPr/>
        </p:nvSpPr>
        <p:spPr>
          <a:xfrm>
            <a:off x="548640" y="1645920"/>
            <a:ext cx="11064240" cy="2103120"/>
          </a:xfrm>
          <a:prstGeom prst="rect">
            <a:avLst/>
          </a:prstGeom>
          <a:solidFill>
            <a:srgbClr val="2A2A33"/>
          </a:solidFill>
          <a:ln w="12700">
            <a:solidFill>
              <a:srgbClr val="3A3A44"/>
            </a:solidFill>
            <a:prstDash val="solid"/>
          </a:ln>
        </p:spPr>
      </p:sp>
      <p:sp>
        <p:nvSpPr>
          <p:cNvPr id="8" name="Shape 4"/>
          <p:cNvSpPr/>
          <p:nvPr/>
        </p:nvSpPr>
        <p:spPr>
          <a:xfrm>
            <a:off x="548640" y="1645920"/>
            <a:ext cx="91440" cy="2103120"/>
          </a:xfrm>
          <a:prstGeom prst="rect">
            <a:avLst/>
          </a:prstGeom>
          <a:solidFill>
            <a:srgbClr val="D8A73D"/>
          </a:solidFill>
          <a:ln w="12700">
            <a:solidFill>
              <a:srgbClr val="D8A73D"/>
            </a:solidFill>
            <a:prstDash val="solid"/>
          </a:ln>
        </p:spPr>
      </p:sp>
      <p:sp>
        <p:nvSpPr>
          <p:cNvPr id="9" name="Text 5"/>
          <p:cNvSpPr/>
          <p:nvPr/>
        </p:nvSpPr>
        <p:spPr>
          <a:xfrm>
            <a:off x="914400" y="1783080"/>
            <a:ext cx="10424160" cy="1828800"/>
          </a:xfrm>
          <a:prstGeom prst="rect">
            <a:avLst/>
          </a:prstGeom>
          <a:noFill/>
          <a:ln/>
        </p:spPr>
        <p:txBody>
          <a:bodyPr wrap="square" rtlCol="0" anchor="ctr"/>
          <a:lstStyle/>
          <a:p>
            <a:pPr indent="0" marL="0">
              <a:buNone/>
            </a:pPr>
            <a:r>
              <a:rPr lang="en-US" sz="2800" b="1" dirty="0">
                <a:solidFill>
                  <a:srgbClr val="F5F5F3"/>
                </a:solidFill>
                <a:latin typeface="Cambria" pitchFamily="34" charset="0"/>
                <a:ea typeface="Cambria" pitchFamily="34" charset="-122"/>
                <a:cs typeface="Cambria" pitchFamily="34" charset="-120"/>
              </a:rPr>
              <a:t>How do you keep booming your economy while you make archers all the way from Feudal into Castle Age?</a:t>
            </a:r>
            <a:endParaRPr lang="en-US" sz="2800" dirty="0"/>
          </a:p>
        </p:txBody>
      </p:sp>
      <p:sp>
        <p:nvSpPr>
          <p:cNvPr id="10" name="Text 6"/>
          <p:cNvSpPr/>
          <p:nvPr/>
        </p:nvSpPr>
        <p:spPr>
          <a:xfrm>
            <a:off x="548640" y="4114800"/>
            <a:ext cx="11064240" cy="548640"/>
          </a:xfrm>
          <a:prstGeom prst="rect">
            <a:avLst/>
          </a:prstGeom>
          <a:noFill/>
          <a:ln/>
        </p:spPr>
        <p:txBody>
          <a:bodyPr wrap="square" rtlCol="0" anchor="ctr"/>
          <a:lstStyle/>
          <a:p>
            <a:pPr indent="0" marL="0">
              <a:buNone/>
            </a:pPr>
            <a:r>
              <a:rPr lang="en-US" sz="2200" dirty="0">
                <a:solidFill>
                  <a:srgbClr val="C8C8CC"/>
                </a:solidFill>
                <a:latin typeface="Calibri" pitchFamily="34" charset="0"/>
                <a:ea typeface="Calibri" pitchFamily="34" charset="-122"/>
                <a:cs typeface="Calibri" pitchFamily="34" charset="-120"/>
              </a:rPr>
              <a:t>Answer in one sentence. You must mention the Town Centre.</a:t>
            </a:r>
            <a:endParaRPr lang="en-US" sz="2200" dirty="0"/>
          </a:p>
        </p:txBody>
      </p:sp>
      <p:sp>
        <p:nvSpPr>
          <p:cNvPr id="11" name="Text 7"/>
          <p:cNvSpPr/>
          <p:nvPr/>
        </p:nvSpPr>
        <p:spPr>
          <a:xfrm>
            <a:off x="548640" y="4846320"/>
            <a:ext cx="11064240" cy="457200"/>
          </a:xfrm>
          <a:prstGeom prst="rect">
            <a:avLst/>
          </a:prstGeom>
          <a:noFill/>
          <a:ln/>
        </p:spPr>
        <p:txBody>
          <a:bodyPr wrap="square" rtlCol="0" anchor="ctr"/>
          <a:lstStyle/>
          <a:p>
            <a:pPr indent="0" marL="0">
              <a:buNone/>
            </a:pPr>
            <a:r>
              <a:rPr lang="en-US" sz="1800" i="1" dirty="0">
                <a:solidFill>
                  <a:srgbClr val="8A8A94"/>
                </a:solidFill>
                <a:latin typeface="Calibri" pitchFamily="34" charset="0"/>
                <a:ea typeface="Calibri" pitchFamily="34" charset="-122"/>
                <a:cs typeface="Calibri" pitchFamily="34" charset="-120"/>
              </a:rPr>
              <a:t>(“wololo” is not an answer)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Archers into Castle Age</dc:title>
  <dc:subject>PptxGenJS Presentation</dc:subject>
  <dc:creator>PptxGenJS</dc:creator>
  <cp:lastModifiedBy>PptxGenJS</cp:lastModifiedBy>
  <cp:revision>1</cp:revision>
  <dcterms:created xsi:type="dcterms:W3CDTF">2026-10-14T19:10:22Z</dcterms:created>
  <dcterms:modified xsi:type="dcterms:W3CDTF">2026-10-14T19:10:22Z</dcterms:modified>
</cp:coreProperties>
</file>